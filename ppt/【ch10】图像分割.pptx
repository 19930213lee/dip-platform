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92" r:id="rId2"/>
    <p:sldId id="293" r:id="rId3"/>
    <p:sldId id="256" r:id="rId4"/>
    <p:sldId id="294" r:id="rId5"/>
    <p:sldId id="258" r:id="rId6"/>
    <p:sldId id="260" r:id="rId7"/>
    <p:sldId id="261" r:id="rId8"/>
    <p:sldId id="262" r:id="rId9"/>
    <p:sldId id="302" r:id="rId10"/>
    <p:sldId id="263" r:id="rId11"/>
    <p:sldId id="303" r:id="rId12"/>
    <p:sldId id="264" r:id="rId13"/>
    <p:sldId id="295" r:id="rId14"/>
    <p:sldId id="266" r:id="rId15"/>
    <p:sldId id="304" r:id="rId16"/>
    <p:sldId id="305" r:id="rId17"/>
    <p:sldId id="270" r:id="rId18"/>
    <p:sldId id="272" r:id="rId19"/>
    <p:sldId id="296" r:id="rId20"/>
    <p:sldId id="274" r:id="rId21"/>
    <p:sldId id="275" r:id="rId22"/>
    <p:sldId id="297" r:id="rId23"/>
    <p:sldId id="277" r:id="rId24"/>
    <p:sldId id="278" r:id="rId25"/>
    <p:sldId id="298" r:id="rId26"/>
    <p:sldId id="280" r:id="rId27"/>
    <p:sldId id="281" r:id="rId28"/>
    <p:sldId id="283" r:id="rId29"/>
    <p:sldId id="299" r:id="rId30"/>
    <p:sldId id="286" r:id="rId31"/>
    <p:sldId id="287" r:id="rId32"/>
    <p:sldId id="288" r:id="rId33"/>
    <p:sldId id="300" r:id="rId34"/>
    <p:sldId id="290" r:id="rId35"/>
    <p:sldId id="306" r:id="rId36"/>
    <p:sldId id="301"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4" d="100"/>
          <a:sy n="94" d="100"/>
        </p:scale>
        <p:origin x="114" y="366"/>
      </p:cViewPr>
      <p:guideLst/>
    </p:cSldViewPr>
  </p:slideViewPr>
  <p:notesTextViewPr>
    <p:cViewPr>
      <p:scale>
        <a:sx n="1" d="1"/>
        <a:sy n="1" d="1"/>
      </p:scale>
      <p:origin x="0" y="0"/>
    </p:cViewPr>
  </p:notesTextViewPr>
  <p:sorterViewPr>
    <p:cViewPr varScale="1">
      <p:scale>
        <a:sx n="100" d="100"/>
        <a:sy n="100" d="100"/>
      </p:scale>
      <p:origin x="0" y="-63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475505095"/>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3301030089"/>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基础知识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682122816"/>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基础知识</a:t>
            </a:r>
            <a:endParaRPr lang="zh-CN" altLang="en-US" sz="2800" dirty="0">
              <a:solidFill>
                <a:srgbClr val="0091D9"/>
              </a:solidFill>
            </a:endParaRPr>
          </a:p>
        </p:txBody>
      </p:sp>
    </p:spTree>
    <p:extLst>
      <p:ext uri="{BB962C8B-B14F-4D97-AF65-F5344CB8AC3E}">
        <p14:creationId xmlns:p14="http://schemas.microsoft.com/office/powerpoint/2010/main" val="2089092766"/>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点、线和边缘检测</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34991936"/>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点、线和边缘检测</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91938679"/>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阈值处理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61348162"/>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阈值处理</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28898452"/>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使用区域生长、区域分离与聚合</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749954294"/>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使用区域生长、区域分离与聚合</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305605490"/>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使用聚类和超像素的区域分割</a:t>
            </a:r>
          </a:p>
        </p:txBody>
      </p:sp>
      <p:sp>
        <p:nvSpPr>
          <p:cNvPr id="5" name="内容占位符 13">
            <a:extLst>
              <a:ext uri="{FF2B5EF4-FFF2-40B4-BE49-F238E27FC236}">
                <a16:creationId xmlns:a16="http://schemas.microsoft.com/office/drawing/2014/main" id="{EE8B1640-12C4-DF60-0009-72629FA9856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95680067"/>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使用聚类和超像素的区域分割</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653766670"/>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使用图割分割区域</a:t>
            </a:r>
          </a:p>
        </p:txBody>
      </p:sp>
      <p:sp>
        <p:nvSpPr>
          <p:cNvPr id="5" name="内容占位符 13">
            <a:extLst>
              <a:ext uri="{FF2B5EF4-FFF2-40B4-BE49-F238E27FC236}">
                <a16:creationId xmlns:a16="http://schemas.microsoft.com/office/drawing/2014/main" id="{D4E8DC3C-5373-4E74-8CE0-D41DE92D89E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46888056"/>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使用图割分割区域</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57740130"/>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使用形态学分水岭分割图像</a:t>
            </a:r>
          </a:p>
        </p:txBody>
      </p:sp>
      <p:sp>
        <p:nvSpPr>
          <p:cNvPr id="5" name="内容占位符 13">
            <a:extLst>
              <a:ext uri="{FF2B5EF4-FFF2-40B4-BE49-F238E27FC236}">
                <a16:creationId xmlns:a16="http://schemas.microsoft.com/office/drawing/2014/main" id="{75ED89AF-9D3B-4FDD-3E70-734482206BB1}"/>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18939273"/>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使用形态学分水岭分割图像</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072769675"/>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分割中运动的使用</a:t>
            </a:r>
          </a:p>
        </p:txBody>
      </p:sp>
      <p:sp>
        <p:nvSpPr>
          <p:cNvPr id="5" name="内容占位符 13">
            <a:extLst>
              <a:ext uri="{FF2B5EF4-FFF2-40B4-BE49-F238E27FC236}">
                <a16:creationId xmlns:a16="http://schemas.microsoft.com/office/drawing/2014/main" id="{24874742-19A0-BFF1-0054-C2FE60674EB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09966243"/>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分割中运动的使用</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73175112"/>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函</a:t>
            </a:r>
          </a:p>
        </p:txBody>
      </p:sp>
    </p:spTree>
    <p:extLst>
      <p:ext uri="{BB962C8B-B14F-4D97-AF65-F5344CB8AC3E}">
        <p14:creationId xmlns:p14="http://schemas.microsoft.com/office/powerpoint/2010/main" val="3135513400"/>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3190376"/>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758045482"/>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132751325"/>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275391643"/>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893144850"/>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3806656050"/>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269380019"/>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261C8AEF-5C05-4892-823D-A924CB913A72}" type="datetimeFigureOut">
              <a:rPr lang="zh-CN" altLang="en-US" smtClean="0"/>
              <a:t>2023/10/20</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BD791CA7-4663-4C6F-96A2-37D5EE4C31A6}" type="slidenum">
              <a:rPr lang="zh-CN" altLang="en-US" smtClean="0"/>
              <a:t>‹#›</a:t>
            </a:fld>
            <a:endParaRPr lang="zh-CN" altLang="en-US"/>
          </a:p>
        </p:txBody>
      </p:sp>
    </p:spTree>
    <p:extLst>
      <p:ext uri="{BB962C8B-B14F-4D97-AF65-F5344CB8AC3E}">
        <p14:creationId xmlns:p14="http://schemas.microsoft.com/office/powerpoint/2010/main" val="120534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1291057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3707553" cy="2186039"/>
            <a:chOff x="951801" y="1752810"/>
            <a:chExt cx="3707553" cy="2186039"/>
          </a:xfrm>
        </p:grpSpPr>
        <p:sp>
          <p:nvSpPr>
            <p:cNvPr id="285" name="文本框 284"/>
            <p:cNvSpPr txBox="1"/>
            <p:nvPr/>
          </p:nvSpPr>
          <p:spPr>
            <a:xfrm>
              <a:off x="951801" y="3015519"/>
              <a:ext cx="2909771"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图像分割</a:t>
              </a: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第十章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8610116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基础知识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39290680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BB0A2B0-7ABD-ABFF-C96F-A481FC6E8BDF}"/>
              </a:ext>
            </a:extLst>
          </p:cNvPr>
          <p:cNvSpPr>
            <a:spLocks noGrp="1"/>
          </p:cNvSpPr>
          <p:nvPr>
            <p:ph sz="quarter" idx="12"/>
          </p:nvPr>
        </p:nvSpPr>
        <p:spPr/>
        <p:txBody>
          <a:bodyPr>
            <a:normAutofit/>
          </a:bodyPr>
          <a:lstStyle/>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10.1(a)</a:t>
            </a:r>
            <a:r>
              <a:rPr lang="zh-CN" altLang="en-US" b="0" i="0" u="none" strike="noStrike" baseline="0" dirty="0">
                <a:solidFill>
                  <a:srgbClr val="000000"/>
                </a:solidFill>
                <a:cs typeface="+mn-ea"/>
                <a:sym typeface="+mn-lt"/>
              </a:rPr>
              <a:t>显示了一个恒定灰度区域叠加到一个恒定灰度暗色背景上的一幅图像。这两个区域组成了整幅图像。图</a:t>
            </a:r>
            <a:r>
              <a:rPr lang="en-US" altLang="zh-CN" b="0" i="0" u="none" strike="noStrike" baseline="0" dirty="0">
                <a:solidFill>
                  <a:srgbClr val="000000"/>
                </a:solidFill>
                <a:cs typeface="+mn-ea"/>
                <a:sym typeface="+mn-lt"/>
              </a:rPr>
              <a:t>10.1(b)</a:t>
            </a:r>
            <a:r>
              <a:rPr lang="zh-CN" altLang="en-US" b="0" i="0" u="none" strike="noStrike" baseline="0" dirty="0">
                <a:solidFill>
                  <a:srgbClr val="000000"/>
                </a:solidFill>
                <a:cs typeface="+mn-ea"/>
                <a:sym typeface="+mn-lt"/>
              </a:rPr>
              <a:t>是根据灰度不连续性计算内部区域的边界的结果。图</a:t>
            </a:r>
            <a:r>
              <a:rPr lang="en-US" altLang="zh-CN" b="0" i="0" u="none" strike="noStrike" baseline="0" dirty="0">
                <a:solidFill>
                  <a:srgbClr val="000000"/>
                </a:solidFill>
                <a:cs typeface="+mn-ea"/>
                <a:sym typeface="+mn-lt"/>
              </a:rPr>
              <a:t>10.1(c)</a:t>
            </a:r>
            <a:r>
              <a:rPr lang="zh-CN" altLang="en-US" b="0" i="0" u="none" strike="noStrike" baseline="0" dirty="0">
                <a:solidFill>
                  <a:srgbClr val="000000"/>
                </a:solidFill>
                <a:cs typeface="+mn-ea"/>
                <a:sym typeface="+mn-lt"/>
              </a:rPr>
              <a:t>显示了这一处理的结果。</a:t>
            </a:r>
          </a:p>
        </p:txBody>
      </p:sp>
      <p:sp>
        <p:nvSpPr>
          <p:cNvPr id="2" name="标题 1">
            <a:extLst>
              <a:ext uri="{FF2B5EF4-FFF2-40B4-BE49-F238E27FC236}">
                <a16:creationId xmlns:a16="http://schemas.microsoft.com/office/drawing/2014/main" id="{6032CF82-F0E4-3960-E441-08C9CD2DED3F}"/>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知识</a:t>
            </a:r>
          </a:p>
        </p:txBody>
      </p:sp>
      <p:pic>
        <p:nvPicPr>
          <p:cNvPr id="5" name="图片 4">
            <a:extLst>
              <a:ext uri="{FF2B5EF4-FFF2-40B4-BE49-F238E27FC236}">
                <a16:creationId xmlns:a16="http://schemas.microsoft.com/office/drawing/2014/main" id="{BCAF5BD2-E0B4-B186-4233-7C227660BB87}"/>
              </a:ext>
            </a:extLst>
          </p:cNvPr>
          <p:cNvPicPr>
            <a:picLocks noChangeAspect="1"/>
          </p:cNvPicPr>
          <p:nvPr/>
        </p:nvPicPr>
        <p:blipFill>
          <a:blip r:embed="rId2"/>
          <a:stretch>
            <a:fillRect/>
          </a:stretch>
        </p:blipFill>
        <p:spPr>
          <a:xfrm>
            <a:off x="3819986" y="3532718"/>
            <a:ext cx="4340788" cy="2776873"/>
          </a:xfrm>
          <a:prstGeom prst="rect">
            <a:avLst/>
          </a:prstGeom>
        </p:spPr>
      </p:pic>
    </p:spTree>
    <p:extLst>
      <p:ext uri="{BB962C8B-B14F-4D97-AF65-F5344CB8AC3E}">
        <p14:creationId xmlns:p14="http://schemas.microsoft.com/office/powerpoint/2010/main" val="3886763834"/>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点、线和边缘检测</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30468071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8EC07-EFF4-F988-7B4A-C6D2FDBF548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背景知识</a:t>
            </a:r>
          </a:p>
        </p:txBody>
      </p:sp>
      <p:sp>
        <p:nvSpPr>
          <p:cNvPr id="3" name="文本占位符 2">
            <a:extLst>
              <a:ext uri="{FF2B5EF4-FFF2-40B4-BE49-F238E27FC236}">
                <a16:creationId xmlns:a16="http://schemas.microsoft.com/office/drawing/2014/main" id="{DB7EB965-F4A9-618F-8890-C070259F9762}"/>
              </a:ext>
            </a:extLst>
          </p:cNvPr>
          <p:cNvSpPr>
            <a:spLocks noGrp="1"/>
          </p:cNvSpPr>
          <p:nvPr>
            <p:ph sz="quarter" idx="11"/>
          </p:nvPr>
        </p:nvSpPr>
        <p:spPr/>
        <p:txBody>
          <a:bodyPr/>
          <a:lstStyle/>
          <a:p>
            <a:pPr marR="830"/>
            <a:r>
              <a:rPr lang="zh-CN" altLang="en-US" b="0" i="0" u="none" strike="noStrike" baseline="0" dirty="0">
                <a:solidFill>
                  <a:srgbClr val="000000"/>
                </a:solidFill>
                <a:cs typeface="+mn-ea"/>
                <a:sym typeface="+mn-lt"/>
              </a:rPr>
              <a:t>数字函数的导数可根据有限差分来定义。计算这些差分的方法有多种，但如</a:t>
            </a: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节中解释的那样，我们要求一阶导数的任何近似：</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在恒定灰度区域中必须为零；</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在灰度台阶或斜坡开始处必须不为零；</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在灰度斜坡上的点处必须不为零。</a:t>
            </a:r>
            <a:endParaRPr lang="en-US" altLang="zh-CN" b="0" i="0" u="none" strike="noStrike" baseline="0" dirty="0">
              <a:solidFill>
                <a:srgbClr val="000000"/>
              </a:solidFill>
              <a:cs typeface="+mn-ea"/>
              <a:sym typeface="+mn-lt"/>
            </a:endParaRPr>
          </a:p>
          <a:p>
            <a:pPr marR="830"/>
            <a:r>
              <a:rPr lang="zh-CN" altLang="en-US" b="0" i="0" u="none" strike="noStrike" baseline="0" dirty="0">
                <a:solidFill>
                  <a:srgbClr val="000000"/>
                </a:solidFill>
                <a:cs typeface="+mn-ea"/>
                <a:sym typeface="+mn-lt"/>
              </a:rPr>
              <a:t>类似地，我们要求二阶导数的任何近似：</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在恒定 灰度区域必须为零；</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在灰度台阶或斜坡的开始处和结束处必须不为零；</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在灰度斜坡上的点处必须为零。因为处理的是数字量，而数字量的值是有限的，因此最大可能的灰度变化也是有限的，并且变化能够出现的最短距离在相邻像素之间。</a:t>
            </a:r>
          </a:p>
        </p:txBody>
      </p:sp>
      <p:sp>
        <p:nvSpPr>
          <p:cNvPr id="4" name="矩形 3">
            <a:extLst>
              <a:ext uri="{FF2B5EF4-FFF2-40B4-BE49-F238E27FC236}">
                <a16:creationId xmlns:a16="http://schemas.microsoft.com/office/drawing/2014/main" id="{20AA85CA-E559-2522-6C68-0A826A8FA461}"/>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123764442"/>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656689-8765-6E6C-A8A4-E531DBCB55C0}"/>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线检测</a:t>
            </a:r>
          </a:p>
        </p:txBody>
      </p:sp>
      <p:sp>
        <p:nvSpPr>
          <p:cNvPr id="3" name="文本占位符 2">
            <a:extLst>
              <a:ext uri="{FF2B5EF4-FFF2-40B4-BE49-F238E27FC236}">
                <a16:creationId xmlns:a16="http://schemas.microsoft.com/office/drawing/2014/main" id="{FD733D5D-6B13-41D5-9604-529E4DA28039}"/>
              </a:ext>
            </a:extLst>
          </p:cNvPr>
          <p:cNvSpPr>
            <a:spLocks noGrp="1"/>
          </p:cNvSpPr>
          <p:nvPr>
            <p:ph sz="quarter" idx="12"/>
          </p:nvPr>
        </p:nvSpPr>
        <p:spPr/>
        <p:txBody>
          <a:bodyPr/>
          <a:lstStyle/>
          <a:p>
            <a:pPr marL="0" marR="830" lvl="0" indent="0" rtl="0">
              <a:buNone/>
            </a:pPr>
            <a:r>
              <a:rPr lang="zh-CN" altLang="en-US" b="0" i="0" u="none" strike="noStrike" baseline="0" dirty="0">
                <a:solidFill>
                  <a:srgbClr val="000000"/>
                </a:solidFill>
                <a:cs typeface="+mn-ea"/>
                <a:sym typeface="+mn-lt"/>
              </a:rPr>
              <a:t>复杂度更高的检测是线检测。根据本节前面的讨论，我们知道，对于线检测，可以预计二阶导数将导致更强的滤波器响应，并且产生比一阶导数更细的线。于是，对于线检测，我们也可使用图</a:t>
            </a:r>
            <a:r>
              <a:rPr lang="en-US" altLang="zh-CN" b="0" i="0" u="none" strike="noStrike" baseline="0" dirty="0">
                <a:solidFill>
                  <a:srgbClr val="000000"/>
                </a:solidFill>
                <a:cs typeface="+mn-ea"/>
                <a:sym typeface="+mn-lt"/>
              </a:rPr>
              <a:t>10.4(a)</a:t>
            </a:r>
            <a:r>
              <a:rPr lang="zh-CN" altLang="en-US" b="0" i="0" u="none" strike="noStrike" baseline="0" dirty="0">
                <a:solidFill>
                  <a:srgbClr val="000000"/>
                </a:solidFill>
                <a:cs typeface="+mn-ea"/>
                <a:sym typeface="+mn-lt"/>
              </a:rPr>
              <a:t> 中的拉普拉斯核，但要记住必须正确处理二阶导数的双线效应。下面的例子说明了这一处理过程。</a:t>
            </a:r>
          </a:p>
        </p:txBody>
      </p:sp>
      <p:pic>
        <p:nvPicPr>
          <p:cNvPr id="5" name="图片 4">
            <a:extLst>
              <a:ext uri="{FF2B5EF4-FFF2-40B4-BE49-F238E27FC236}">
                <a16:creationId xmlns:a16="http://schemas.microsoft.com/office/drawing/2014/main" id="{8D81B40E-2C00-DD8B-67A5-6CC19C7CDF58}"/>
              </a:ext>
            </a:extLst>
          </p:cNvPr>
          <p:cNvPicPr>
            <a:picLocks noChangeAspect="1"/>
          </p:cNvPicPr>
          <p:nvPr/>
        </p:nvPicPr>
        <p:blipFill>
          <a:blip r:embed="rId2"/>
          <a:stretch>
            <a:fillRect/>
          </a:stretch>
        </p:blipFill>
        <p:spPr>
          <a:xfrm>
            <a:off x="4475368" y="3964663"/>
            <a:ext cx="3542078" cy="2380353"/>
          </a:xfrm>
          <a:prstGeom prst="rect">
            <a:avLst/>
          </a:prstGeom>
        </p:spPr>
      </p:pic>
    </p:spTree>
    <p:extLst>
      <p:ext uri="{BB962C8B-B14F-4D97-AF65-F5344CB8AC3E}">
        <p14:creationId xmlns:p14="http://schemas.microsoft.com/office/powerpoint/2010/main" val="1822954818"/>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6724C-7D14-C1F8-202A-8013E7F18B0E}"/>
              </a:ext>
            </a:extLst>
          </p:cNvPr>
          <p:cNvSpPr>
            <a:spLocks noGrp="1"/>
          </p:cNvSpPr>
          <p:nvPr>
            <p:ph type="title"/>
          </p:nvPr>
        </p:nvSpPr>
        <p:spPr/>
        <p:txBody>
          <a:bodyPr/>
          <a:lstStyle/>
          <a:p>
            <a:r>
              <a:rPr lang="zh-CN" altLang="en-US" dirty="0">
                <a:solidFill>
                  <a:srgbClr val="0070C0"/>
                </a:solidFill>
                <a:latin typeface="+mn-lt"/>
                <a:ea typeface="+mn-ea"/>
                <a:cs typeface="+mn-ea"/>
                <a:sym typeface="+mn-lt"/>
              </a:rPr>
              <a:t>边缘模型</a:t>
            </a:r>
          </a:p>
        </p:txBody>
      </p:sp>
      <p:sp>
        <p:nvSpPr>
          <p:cNvPr id="3" name="文本占位符 2">
            <a:extLst>
              <a:ext uri="{FF2B5EF4-FFF2-40B4-BE49-F238E27FC236}">
                <a16:creationId xmlns:a16="http://schemas.microsoft.com/office/drawing/2014/main" id="{F0E30437-9964-F6C0-F56B-BE24D5D03523}"/>
              </a:ext>
            </a:extLst>
          </p:cNvPr>
          <p:cNvSpPr>
            <a:spLocks noGrp="1"/>
          </p:cNvSpPr>
          <p:nvPr>
            <p:ph sz="quarter" idx="12"/>
          </p:nvPr>
        </p:nvSpPr>
        <p:spPr/>
        <p:txBody>
          <a:bodyPr/>
          <a:lstStyle/>
          <a:p>
            <a:pPr marL="0" marR="830" lvl="0" indent="0" rtl="0">
              <a:buNone/>
            </a:pPr>
            <a:r>
              <a:rPr lang="zh-CN" altLang="en-US" b="0" i="0" u="none" strike="noStrike" baseline="0" dirty="0">
                <a:solidFill>
                  <a:srgbClr val="000000"/>
                </a:solidFill>
                <a:cs typeface="+mn-ea"/>
                <a:sym typeface="+mn-lt"/>
              </a:rPr>
              <a:t>边缘模型可根据它们的灰度剖面来分类。台阶边缘是指在</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像素距离上的两个灰度级之间出现一个过渡。图</a:t>
            </a:r>
            <a:r>
              <a:rPr lang="en-US" altLang="zh-CN" b="0" i="0" u="none" strike="noStrike" baseline="0" dirty="0">
                <a:solidFill>
                  <a:srgbClr val="000000"/>
                </a:solidFill>
                <a:cs typeface="+mn-ea"/>
                <a:sym typeface="+mn-lt"/>
              </a:rPr>
              <a:t>10.8(a)</a:t>
            </a:r>
            <a:r>
              <a:rPr lang="zh-CN" altLang="en-US" b="0" i="0" u="none" strike="noStrike" baseline="0" dirty="0">
                <a:solidFill>
                  <a:srgbClr val="000000"/>
                </a:solidFill>
                <a:cs typeface="+mn-ea"/>
                <a:sym typeface="+mn-lt"/>
              </a:rPr>
              <a:t>显示了一个垂直台阶边缘的一部分及通过该边缘的一条水平剖面线。</a:t>
            </a:r>
          </a:p>
        </p:txBody>
      </p:sp>
      <p:pic>
        <p:nvPicPr>
          <p:cNvPr id="5" name="图片 4">
            <a:extLst>
              <a:ext uri="{FF2B5EF4-FFF2-40B4-BE49-F238E27FC236}">
                <a16:creationId xmlns:a16="http://schemas.microsoft.com/office/drawing/2014/main" id="{CB0D881D-7493-3ECE-E673-8F84B5EB3D05}"/>
              </a:ext>
            </a:extLst>
          </p:cNvPr>
          <p:cNvPicPr>
            <a:picLocks noChangeAspect="1"/>
          </p:cNvPicPr>
          <p:nvPr/>
        </p:nvPicPr>
        <p:blipFill>
          <a:blip r:embed="rId2"/>
          <a:stretch>
            <a:fillRect/>
          </a:stretch>
        </p:blipFill>
        <p:spPr>
          <a:xfrm>
            <a:off x="2210505" y="3751314"/>
            <a:ext cx="7770987" cy="1996011"/>
          </a:xfrm>
          <a:prstGeom prst="rect">
            <a:avLst/>
          </a:prstGeom>
        </p:spPr>
      </p:pic>
    </p:spTree>
    <p:extLst>
      <p:ext uri="{BB962C8B-B14F-4D97-AF65-F5344CB8AC3E}">
        <p14:creationId xmlns:p14="http://schemas.microsoft.com/office/powerpoint/2010/main" val="1856293740"/>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8BA0A-7E11-CA36-78F9-8ACA090EEE1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基本边缘检测</a:t>
            </a:r>
          </a:p>
        </p:txBody>
      </p:sp>
      <p:sp>
        <p:nvSpPr>
          <p:cNvPr id="3" name="文本占位符 2">
            <a:extLst>
              <a:ext uri="{FF2B5EF4-FFF2-40B4-BE49-F238E27FC236}">
                <a16:creationId xmlns:a16="http://schemas.microsoft.com/office/drawing/2014/main" id="{292410EF-8FCA-4374-AE82-9BA26CD9DCA1}"/>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图像梯度及其性质</a:t>
            </a:r>
          </a:p>
          <a:p>
            <a:pPr marL="0" marR="830" lvl="0" indent="0" rtl="0">
              <a:buNone/>
            </a:pPr>
            <a:r>
              <a:rPr lang="zh-CN" altLang="en-US" b="0" i="0" u="none" strike="noStrike" baseline="0" dirty="0">
                <a:solidFill>
                  <a:srgbClr val="000000"/>
                </a:solidFill>
                <a:cs typeface="+mn-ea"/>
                <a:sym typeface="+mn-lt"/>
              </a:rPr>
              <a:t>求图像</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中任意位置</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处的边缘强度和方向的工具是梯度，梯度用</a:t>
            </a:r>
            <a:r>
              <a:rPr lang="en-US" altLang="zh-CN" b="0" i="0" u="none" strike="noStrike" baseline="0" dirty="0" err="1">
                <a:solidFill>
                  <a:srgbClr val="000000"/>
                </a:solidFill>
                <a:cs typeface="+mn-ea"/>
                <a:sym typeface="+mn-lt"/>
              </a:rPr>
              <a:t>V</a:t>
            </a:r>
            <a:r>
              <a:rPr lang="en-US" altLang="zh-CN" sz="1100" b="0" i="0" u="none" strike="noStrike" baseline="0" dirty="0" err="1">
                <a:solidFill>
                  <a:srgbClr val="000000"/>
                </a:solidFill>
                <a:cs typeface="+mn-ea"/>
                <a:sym typeface="+mn-lt"/>
              </a:rPr>
              <a:t>f</a:t>
            </a:r>
            <a:r>
              <a:rPr lang="zh-CN" altLang="en-US" b="0" i="0" u="none" strike="noStrike" baseline="0" dirty="0">
                <a:solidFill>
                  <a:srgbClr val="000000"/>
                </a:solidFill>
                <a:cs typeface="+mn-ea"/>
                <a:sym typeface="+mn-lt"/>
              </a:rPr>
              <a:t> 表示，并定义为向量</a:t>
            </a:r>
            <a:endParaRPr lang="en-US" altLang="zh-CN" b="0" i="0" u="none" strike="noStrike" baseline="0" dirty="0">
              <a:solidFill>
                <a:srgbClr val="000000"/>
              </a:solidFill>
              <a:cs typeface="+mn-ea"/>
              <a:sym typeface="+mn-lt"/>
            </a:endParaRPr>
          </a:p>
          <a:p>
            <a:pPr marL="0" marR="830" lvl="0" indent="0" rtl="0">
              <a:buNone/>
            </a:pPr>
            <a:endParaRPr lang="zh-CN" altLang="en-US" b="0" i="0" u="none" strike="noStrike" baseline="0" dirty="0">
              <a:solidFill>
                <a:srgbClr val="000000"/>
              </a:solidFill>
              <a:cs typeface="+mn-ea"/>
              <a:sym typeface="+mn-lt"/>
            </a:endParaRPr>
          </a:p>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梯度算子</a:t>
            </a:r>
          </a:p>
          <a:p>
            <a:pPr marL="0" marR="830" lvl="0" indent="0" rtl="0">
              <a:buNone/>
            </a:pPr>
            <a:r>
              <a:rPr lang="zh-CN" altLang="en-US" b="0" i="0" u="none" strike="noStrike" baseline="0" dirty="0">
                <a:solidFill>
                  <a:srgbClr val="000000"/>
                </a:solidFill>
                <a:cs typeface="+mn-ea"/>
                <a:sym typeface="+mn-lt"/>
              </a:rPr>
              <a:t>要得到一幅图像的梯度，就要在图像的每个像素位置计算偏导数</a:t>
            </a:r>
            <a:r>
              <a:rPr lang="en-US" altLang="zh-CN" b="0" i="0" u="none" strike="noStrike" baseline="0" dirty="0">
                <a:solidFill>
                  <a:srgbClr val="000000"/>
                </a:solidFill>
                <a:cs typeface="+mn-ea"/>
                <a:sym typeface="+mn-lt"/>
              </a:rPr>
              <a:t>f/ax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a/ay</a:t>
            </a:r>
            <a:r>
              <a:rPr lang="zh-CN" altLang="en-US" b="0" i="0" u="none" strike="noStrike" baseline="0" dirty="0">
                <a:solidFill>
                  <a:srgbClr val="000000"/>
                </a:solidFill>
                <a:cs typeface="+mn-ea"/>
                <a:sym typeface="+mn-lt"/>
              </a:rPr>
              <a:t>。对于梯度</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我们通常使用前向或中心有限差分</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见表</a:t>
            </a:r>
            <a:r>
              <a:rPr lang="en-US" altLang="zh-CN" b="0" i="0" u="none" strike="noStrike" baseline="0" dirty="0">
                <a:solidFill>
                  <a:srgbClr val="000000"/>
                </a:solidFill>
                <a:cs typeface="+mn-ea"/>
                <a:sym typeface="+mn-lt"/>
              </a:rPr>
              <a:t>10.1)</a:t>
            </a:r>
            <a:r>
              <a:rPr lang="zh-CN" altLang="en-US" b="0" i="0" u="none" strike="noStrike" baseline="0" dirty="0">
                <a:solidFill>
                  <a:srgbClr val="000000"/>
                </a:solidFill>
                <a:cs typeface="+mn-ea"/>
                <a:sym typeface="+mn-lt"/>
              </a:rPr>
              <a:t>。使用前向差分得</a:t>
            </a:r>
          </a:p>
        </p:txBody>
      </p:sp>
      <p:pic>
        <p:nvPicPr>
          <p:cNvPr id="5" name="图片 4">
            <a:extLst>
              <a:ext uri="{FF2B5EF4-FFF2-40B4-BE49-F238E27FC236}">
                <a16:creationId xmlns:a16="http://schemas.microsoft.com/office/drawing/2014/main" id="{83004C8E-82A5-D89A-F2CE-D690D43FDF7E}"/>
              </a:ext>
            </a:extLst>
          </p:cNvPr>
          <p:cNvPicPr>
            <a:picLocks noChangeAspect="1"/>
          </p:cNvPicPr>
          <p:nvPr/>
        </p:nvPicPr>
        <p:blipFill>
          <a:blip r:embed="rId2"/>
          <a:stretch>
            <a:fillRect/>
          </a:stretch>
        </p:blipFill>
        <p:spPr>
          <a:xfrm>
            <a:off x="4447756" y="3556820"/>
            <a:ext cx="3296488" cy="847668"/>
          </a:xfrm>
          <a:prstGeom prst="rect">
            <a:avLst/>
          </a:prstGeom>
        </p:spPr>
      </p:pic>
      <p:pic>
        <p:nvPicPr>
          <p:cNvPr id="7" name="图片 6">
            <a:extLst>
              <a:ext uri="{FF2B5EF4-FFF2-40B4-BE49-F238E27FC236}">
                <a16:creationId xmlns:a16="http://schemas.microsoft.com/office/drawing/2014/main" id="{292330D4-6B4E-3F93-B106-4DCDAD02531A}"/>
              </a:ext>
            </a:extLst>
          </p:cNvPr>
          <p:cNvPicPr>
            <a:picLocks noChangeAspect="1"/>
          </p:cNvPicPr>
          <p:nvPr/>
        </p:nvPicPr>
        <p:blipFill>
          <a:blip r:embed="rId3"/>
          <a:stretch>
            <a:fillRect/>
          </a:stretch>
        </p:blipFill>
        <p:spPr>
          <a:xfrm>
            <a:off x="2535186" y="5814336"/>
            <a:ext cx="2952750" cy="581025"/>
          </a:xfrm>
          <a:prstGeom prst="rect">
            <a:avLst/>
          </a:prstGeom>
        </p:spPr>
      </p:pic>
      <p:pic>
        <p:nvPicPr>
          <p:cNvPr id="9" name="图片 8">
            <a:extLst>
              <a:ext uri="{FF2B5EF4-FFF2-40B4-BE49-F238E27FC236}">
                <a16:creationId xmlns:a16="http://schemas.microsoft.com/office/drawing/2014/main" id="{FFBE1169-33B0-F4B0-2312-482BC90888AF}"/>
              </a:ext>
            </a:extLst>
          </p:cNvPr>
          <p:cNvPicPr>
            <a:picLocks noChangeAspect="1"/>
          </p:cNvPicPr>
          <p:nvPr/>
        </p:nvPicPr>
        <p:blipFill>
          <a:blip r:embed="rId4"/>
          <a:stretch>
            <a:fillRect/>
          </a:stretch>
        </p:blipFill>
        <p:spPr>
          <a:xfrm>
            <a:off x="5487936" y="5810781"/>
            <a:ext cx="3274332" cy="577206"/>
          </a:xfrm>
          <a:prstGeom prst="rect">
            <a:avLst/>
          </a:prstGeom>
        </p:spPr>
      </p:pic>
      <p:sp>
        <p:nvSpPr>
          <p:cNvPr id="10" name="矩形 9">
            <a:extLst>
              <a:ext uri="{FF2B5EF4-FFF2-40B4-BE49-F238E27FC236}">
                <a16:creationId xmlns:a16="http://schemas.microsoft.com/office/drawing/2014/main" id="{DC8052A3-A73A-D479-A29F-9CFBA78ADF00}"/>
              </a:ext>
            </a:extLst>
          </p:cNvPr>
          <p:cNvSpPr/>
          <p:nvPr/>
        </p:nvSpPr>
        <p:spPr>
          <a:xfrm>
            <a:off x="801092" y="2446417"/>
            <a:ext cx="10589815" cy="406253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14200099"/>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8BA0A-7E11-CA36-78F9-8ACA090EEE1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基本边缘检测</a:t>
            </a:r>
          </a:p>
        </p:txBody>
      </p:sp>
      <p:sp>
        <p:nvSpPr>
          <p:cNvPr id="3" name="文本占位符 2">
            <a:extLst>
              <a:ext uri="{FF2B5EF4-FFF2-40B4-BE49-F238E27FC236}">
                <a16:creationId xmlns:a16="http://schemas.microsoft.com/office/drawing/2014/main" id="{292410EF-8FCA-4374-AE82-9BA26CD9DCA1}"/>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梯度与阈值处理相结合</a:t>
            </a:r>
          </a:p>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10.18</a:t>
            </a:r>
            <a:r>
              <a:rPr lang="zh-CN" altLang="en-US" b="0" i="0" u="none" strike="noStrike" baseline="0" dirty="0">
                <a:solidFill>
                  <a:srgbClr val="000000"/>
                </a:solidFill>
                <a:cs typeface="+mn-ea"/>
                <a:sym typeface="+mn-lt"/>
              </a:rPr>
              <a:t>中的结果表明，在计算梯度之前对</a:t>
            </a:r>
            <a:r>
              <a:rPr lang="zh-CN" altLang="en-US" dirty="0">
                <a:solidFill>
                  <a:srgbClr val="000000"/>
                </a:solidFill>
                <a:cs typeface="+mn-ea"/>
                <a:sym typeface="+mn-lt"/>
              </a:rPr>
              <a:t>图像进行平滑处理， 可使边缘检测更有选择性。实现同一目标的另一种方法是，对梯度图像进行阈值处理。</a:t>
            </a:r>
          </a:p>
        </p:txBody>
      </p:sp>
      <p:pic>
        <p:nvPicPr>
          <p:cNvPr id="5" name="图片 4">
            <a:extLst>
              <a:ext uri="{FF2B5EF4-FFF2-40B4-BE49-F238E27FC236}">
                <a16:creationId xmlns:a16="http://schemas.microsoft.com/office/drawing/2014/main" id="{4BE3CDE3-4AAD-0232-C83E-B17A8239B69F}"/>
              </a:ext>
            </a:extLst>
          </p:cNvPr>
          <p:cNvPicPr>
            <a:picLocks noChangeAspect="1"/>
          </p:cNvPicPr>
          <p:nvPr/>
        </p:nvPicPr>
        <p:blipFill>
          <a:blip r:embed="rId2"/>
          <a:stretch>
            <a:fillRect/>
          </a:stretch>
        </p:blipFill>
        <p:spPr>
          <a:xfrm>
            <a:off x="3986059" y="4000630"/>
            <a:ext cx="4219882" cy="2760506"/>
          </a:xfrm>
          <a:prstGeom prst="rect">
            <a:avLst/>
          </a:prstGeom>
        </p:spPr>
      </p:pic>
      <p:sp>
        <p:nvSpPr>
          <p:cNvPr id="6" name="矩形 5">
            <a:extLst>
              <a:ext uri="{FF2B5EF4-FFF2-40B4-BE49-F238E27FC236}">
                <a16:creationId xmlns:a16="http://schemas.microsoft.com/office/drawing/2014/main" id="{F0C8EBAC-26C6-D2B1-5441-1694EA357D0F}"/>
              </a:ext>
            </a:extLst>
          </p:cNvPr>
          <p:cNvSpPr/>
          <p:nvPr/>
        </p:nvSpPr>
        <p:spPr>
          <a:xfrm>
            <a:off x="801092" y="2446417"/>
            <a:ext cx="10589815" cy="155421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477155092"/>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BEE4A4-BDA7-1F11-86BA-747D42A45CF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更先进的边缘检测技术</a:t>
            </a:r>
          </a:p>
        </p:txBody>
      </p:sp>
      <p:sp>
        <p:nvSpPr>
          <p:cNvPr id="3" name="文本占位符 2">
            <a:extLst>
              <a:ext uri="{FF2B5EF4-FFF2-40B4-BE49-F238E27FC236}">
                <a16:creationId xmlns:a16="http://schemas.microsoft.com/office/drawing/2014/main" id="{39CF2257-56D9-8B05-993F-9A952EC3D506}"/>
              </a:ext>
            </a:extLst>
          </p:cNvPr>
          <p:cNvSpPr>
            <a:spLocks noGrp="1"/>
          </p:cNvSpPr>
          <p:nvPr>
            <p:ph sz="quarter" idx="12"/>
          </p:nvPr>
        </p:nvSpPr>
        <p:spPr/>
        <p:txBody>
          <a:bodyPr>
            <a:normAutofit/>
          </a:bodyPr>
          <a:lstStyle/>
          <a:p>
            <a:pPr marL="0" marR="830" lvl="0" indent="0" rtl="0">
              <a:buNone/>
            </a:pPr>
            <a:r>
              <a:rPr lang="en-US" altLang="zh-CN" b="1" i="0" u="none" strike="noStrike" baseline="0" dirty="0">
                <a:solidFill>
                  <a:srgbClr val="000000"/>
                </a:solidFill>
                <a:cs typeface="+mn-ea"/>
                <a:sym typeface="+mn-lt"/>
              </a:rPr>
              <a:t>1.Marr-Hildreth</a:t>
            </a:r>
            <a:r>
              <a:rPr lang="zh-CN" altLang="en-US" b="1" i="0" u="none" strike="noStrike" baseline="0" dirty="0">
                <a:solidFill>
                  <a:srgbClr val="000000"/>
                </a:solidFill>
                <a:cs typeface="+mn-ea"/>
                <a:sym typeface="+mn-lt"/>
              </a:rPr>
              <a:t> 边缘检测子</a:t>
            </a:r>
          </a:p>
          <a:p>
            <a:pPr marL="0" marR="830" lvl="0" indent="0" rtl="0">
              <a:buNone/>
            </a:pPr>
            <a:r>
              <a:rPr lang="zh-CN" altLang="en-US" b="0" i="0" u="none" strike="noStrike" baseline="0" dirty="0">
                <a:solidFill>
                  <a:srgbClr val="000000"/>
                </a:solidFill>
                <a:cs typeface="+mn-ea"/>
                <a:sym typeface="+mn-lt"/>
              </a:rPr>
              <a:t>在边缘发现过程中，纳入更先进分析的最早尝试之一是</a:t>
            </a:r>
            <a:r>
              <a:rPr lang="en-US" altLang="zh-CN" b="0" i="0" u="none" strike="noStrike" baseline="0" dirty="0">
                <a:solidFill>
                  <a:srgbClr val="000000"/>
                </a:solidFill>
                <a:cs typeface="+mn-ea"/>
                <a:sym typeface="+mn-lt"/>
              </a:rPr>
              <a:t>Marr</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and</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Hildreth[1980]</a:t>
            </a:r>
            <a:r>
              <a:rPr lang="zh-CN" altLang="en-US" b="0" i="0" u="none" strike="noStrike" baseline="0" dirty="0">
                <a:solidFill>
                  <a:srgbClr val="000000"/>
                </a:solidFill>
                <a:cs typeface="+mn-ea"/>
                <a:sym typeface="+mn-lt"/>
              </a:rPr>
              <a:t>。当时使用的边缘检测方法基于小算子，如前面讨论的 </a:t>
            </a:r>
            <a:r>
              <a:rPr lang="en-US" altLang="zh-CN" b="0" i="0" u="none" strike="noStrike" baseline="0" dirty="0">
                <a:solidFill>
                  <a:srgbClr val="000000"/>
                </a:solidFill>
                <a:cs typeface="+mn-ea"/>
                <a:sym typeface="+mn-lt"/>
              </a:rPr>
              <a:t>Sobel</a:t>
            </a:r>
            <a:r>
              <a:rPr lang="zh-CN" altLang="en-US" b="0" i="0" u="none" strike="noStrike" baseline="0" dirty="0">
                <a:solidFill>
                  <a:srgbClr val="000000"/>
                </a:solidFill>
                <a:cs typeface="+mn-ea"/>
                <a:sym typeface="+mn-lt"/>
              </a:rPr>
              <a:t>核。</a:t>
            </a:r>
            <a:r>
              <a:rPr lang="en-US" altLang="zh-CN" b="0" i="0" u="none" strike="noStrike" baseline="0" dirty="0">
                <a:solidFill>
                  <a:srgbClr val="000000"/>
                </a:solidFill>
                <a:cs typeface="+mn-ea"/>
                <a:sym typeface="+mn-lt"/>
              </a:rPr>
              <a:t>Marr</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Hildreth</a:t>
            </a:r>
            <a:r>
              <a:rPr lang="zh-CN" altLang="en-US" b="0" i="0" u="none" strike="noStrike" baseline="0" dirty="0">
                <a:solidFill>
                  <a:srgbClr val="000000"/>
                </a:solidFill>
                <a:cs typeface="+mn-ea"/>
                <a:sym typeface="+mn-lt"/>
              </a:rPr>
              <a:t>认为：</a:t>
            </a:r>
            <a:endParaRPr lang="en-US" altLang="zh-CN" b="0" i="0" u="none" strike="noStrike" baseline="0" dirty="0">
              <a:solidFill>
                <a:srgbClr val="000000"/>
              </a:solidFill>
              <a:cs typeface="+mn-ea"/>
              <a:sym typeface="+mn-lt"/>
            </a:endParaRPr>
          </a:p>
          <a:p>
            <a:pPr marL="0" marR="83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灰度变化与图像尺度是相关的，这意味着他们的检测需要使用不同大小的算子；</a:t>
            </a:r>
            <a:endParaRPr lang="en-US" altLang="zh-CN" b="0" i="0" u="none" strike="noStrike" baseline="0" dirty="0">
              <a:solidFill>
                <a:srgbClr val="000000"/>
              </a:solidFill>
              <a:cs typeface="+mn-ea"/>
              <a:sym typeface="+mn-lt"/>
            </a:endParaRPr>
          </a:p>
          <a:p>
            <a:pPr marL="0" marR="83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灰度突变在一阶导数中给出一个峰值或谷值，或等效地在二阶导数中给出过零点。</a:t>
            </a:r>
          </a:p>
        </p:txBody>
      </p:sp>
    </p:spTree>
    <p:extLst>
      <p:ext uri="{BB962C8B-B14F-4D97-AF65-F5344CB8AC3E}">
        <p14:creationId xmlns:p14="http://schemas.microsoft.com/office/powerpoint/2010/main" val="3053900296"/>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BEE4A4-BDA7-1F11-86BA-747D42A45CF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更先进的边缘检测技术</a:t>
            </a:r>
          </a:p>
        </p:txBody>
      </p:sp>
      <p:sp>
        <p:nvSpPr>
          <p:cNvPr id="3" name="文本占位符 2">
            <a:extLst>
              <a:ext uri="{FF2B5EF4-FFF2-40B4-BE49-F238E27FC236}">
                <a16:creationId xmlns:a16="http://schemas.microsoft.com/office/drawing/2014/main" id="{39CF2257-56D9-8B05-993F-9A952EC3D506}"/>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坎尼边缘检测子</a:t>
            </a:r>
          </a:p>
          <a:p>
            <a:pPr marL="0" marR="830" lvl="0" indent="0" rtl="0">
              <a:buNone/>
            </a:pPr>
            <a:r>
              <a:rPr lang="zh-CN" altLang="en-US" b="0" i="0" u="none" strike="noStrike" baseline="0" dirty="0">
                <a:solidFill>
                  <a:srgbClr val="000000"/>
                </a:solidFill>
                <a:cs typeface="+mn-ea"/>
                <a:sym typeface="+mn-lt"/>
              </a:rPr>
              <a:t>坎尼方法基于如下三个基本目标：</a:t>
            </a:r>
          </a:p>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低错误率。</a:t>
            </a:r>
            <a:r>
              <a:rPr lang="zh-CN" altLang="en-US" b="0" i="0" u="none" strike="noStrike" baseline="0" dirty="0">
                <a:solidFill>
                  <a:srgbClr val="000000"/>
                </a:solidFill>
                <a:cs typeface="+mn-ea"/>
                <a:sym typeface="+mn-lt"/>
              </a:rPr>
              <a:t>所有边缘都应被找到，并且不应有虚假响应。</a:t>
            </a:r>
          </a:p>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边缘点应被很好地定位。</a:t>
            </a:r>
            <a:r>
              <a:rPr lang="zh-CN" altLang="en-US" b="0" i="0" u="none" strike="noStrike" baseline="0" dirty="0">
                <a:solidFill>
                  <a:srgbClr val="000000"/>
                </a:solidFill>
                <a:cs typeface="+mn-ea"/>
                <a:sym typeface="+mn-lt"/>
              </a:rPr>
              <a:t>已定位的边缘必须尽可能接近真实边缘。也就是说，由检测子标记 为边缘的一点和真实边缘的中心之间的距离应最小。</a:t>
            </a:r>
          </a:p>
          <a:p>
            <a:pPr marL="0" marR="83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单个边缘点响应。</a:t>
            </a:r>
            <a:r>
              <a:rPr lang="zh-CN" altLang="en-US" b="0" i="0" u="none" strike="noStrike" baseline="0" dirty="0">
                <a:solidFill>
                  <a:srgbClr val="000000"/>
                </a:solidFill>
                <a:cs typeface="+mn-ea"/>
                <a:sym typeface="+mn-lt"/>
              </a:rPr>
              <a:t>对于每个真实的边缘点，检测子应只返回一个点。也就是说，真实边缘周 围的局部最大数应是最小的。这意味着检测子不应识别只存在单个边缘点的多个边缘像素。</a:t>
            </a:r>
          </a:p>
        </p:txBody>
      </p:sp>
      <p:sp>
        <p:nvSpPr>
          <p:cNvPr id="4" name="矩形 3">
            <a:extLst>
              <a:ext uri="{FF2B5EF4-FFF2-40B4-BE49-F238E27FC236}">
                <a16:creationId xmlns:a16="http://schemas.microsoft.com/office/drawing/2014/main" id="{3B665C1F-F493-B73E-3591-7601AED3B867}"/>
              </a:ext>
            </a:extLst>
          </p:cNvPr>
          <p:cNvSpPr/>
          <p:nvPr/>
        </p:nvSpPr>
        <p:spPr>
          <a:xfrm>
            <a:off x="801092" y="2446416"/>
            <a:ext cx="10589815" cy="386589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223571008"/>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7ED726-688D-0F1F-10EE-63BA5A60953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连接边缘点</a:t>
            </a:r>
          </a:p>
        </p:txBody>
      </p:sp>
      <p:sp>
        <p:nvSpPr>
          <p:cNvPr id="3" name="文本占位符 2">
            <a:extLst>
              <a:ext uri="{FF2B5EF4-FFF2-40B4-BE49-F238E27FC236}">
                <a16:creationId xmlns:a16="http://schemas.microsoft.com/office/drawing/2014/main" id="{2B0967A3-525B-E260-F699-186E07A6E1CE}"/>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局部处理</a:t>
            </a:r>
          </a:p>
          <a:p>
            <a:pPr marL="0" marR="830" lvl="0" indent="0" rtl="0">
              <a:buNone/>
            </a:pPr>
            <a:r>
              <a:rPr lang="zh-CN" altLang="en-US" b="0" i="0" u="none" strike="noStrike" baseline="0" dirty="0">
                <a:solidFill>
                  <a:srgbClr val="000000"/>
                </a:solidFill>
                <a:cs typeface="+mn-ea"/>
                <a:sym typeface="+mn-lt"/>
              </a:rPr>
              <a:t>连接边缘点的一种简单方法是，每个点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的一个小邻域内分析像素的特点。根据预定义的准则，将所有相似的点连接起来，形成具有相同性质的像素的一个边缘。</a:t>
            </a:r>
            <a:endParaRPr lang="en-US" altLang="zh-CN" b="0" i="0" u="none" strike="noStrike" baseline="0" dirty="0">
              <a:solidFill>
                <a:srgbClr val="000000"/>
              </a:solidFill>
              <a:cs typeface="+mn-ea"/>
              <a:sym typeface="+mn-lt"/>
            </a:endParaRPr>
          </a:p>
          <a:p>
            <a:pPr marL="0" marR="830" lvl="0" indent="0" rtl="0">
              <a:buNone/>
            </a:pPr>
            <a:r>
              <a:rPr lang="en-US" altLang="zh-CN" b="1" dirty="0">
                <a:solidFill>
                  <a:srgbClr val="000000"/>
                </a:solidFill>
                <a:cs typeface="+mn-ea"/>
                <a:sym typeface="+mn-lt"/>
              </a:rPr>
              <a:t>2. </a:t>
            </a:r>
            <a:r>
              <a:rPr lang="zh-CN" altLang="en-US" b="1" dirty="0">
                <a:solidFill>
                  <a:srgbClr val="000000"/>
                </a:solidFill>
                <a:cs typeface="+mn-ea"/>
                <a:sym typeface="+mn-lt"/>
              </a:rPr>
              <a:t>使用霍夫变换的全局处理</a:t>
            </a:r>
            <a:endParaRPr lang="en-US" altLang="zh-CN" b="1" dirty="0">
              <a:solidFill>
                <a:srgbClr val="000000"/>
              </a:solidFill>
              <a:cs typeface="+mn-ea"/>
              <a:sym typeface="+mn-lt"/>
            </a:endParaRPr>
          </a:p>
          <a:p>
            <a:pPr marL="0" marR="830" lvl="0" indent="0" rtl="0">
              <a:buNone/>
            </a:pPr>
            <a:r>
              <a:rPr lang="zh-CN" altLang="zh-CN" dirty="0">
                <a:effectLst/>
                <a:cs typeface="+mn-ea"/>
                <a:sym typeface="+mn-lt"/>
              </a:rPr>
              <a:t>在这种情况下，所有像素都是连接的候选点，因此必须根据预先定义的全局性质接受或删除某些点。本节介绍一种基于像素集是否在</a:t>
            </a:r>
            <a:r>
              <a:rPr lang="zh-CN" altLang="zh-CN" spc="-55" dirty="0">
                <a:effectLst/>
                <a:cs typeface="+mn-ea"/>
                <a:sym typeface="+mn-lt"/>
              </a:rPr>
              <a:t>规定形状的曲线上的方法</a:t>
            </a:r>
            <a:r>
              <a:rPr lang="zh-CN" altLang="en-US" spc="-55" dirty="0">
                <a:cs typeface="+mn-ea"/>
                <a:sym typeface="+mn-lt"/>
              </a:rPr>
              <a:t>。</a:t>
            </a:r>
            <a:r>
              <a:rPr lang="zh-CN" altLang="zh-CN" spc="-55" dirty="0">
                <a:effectLst/>
                <a:cs typeface="+mn-ea"/>
                <a:sym typeface="+mn-lt"/>
              </a:rPr>
              <a:t>一旦检测到这些曲线，它</a:t>
            </a:r>
            <a:r>
              <a:rPr lang="zh-CN" altLang="zh-CN" spc="-60" dirty="0">
                <a:effectLst/>
                <a:cs typeface="+mn-ea"/>
                <a:sym typeface="+mn-lt"/>
              </a:rPr>
              <a:t>们就会形成边缘或感兴趣的区域边界</a:t>
            </a:r>
            <a:r>
              <a:rPr lang="zh-CN" altLang="en-US" spc="-60" dirty="0">
                <a:effectLst/>
                <a:cs typeface="+mn-ea"/>
                <a:sym typeface="+mn-lt"/>
              </a:rPr>
              <a:t>。</a:t>
            </a:r>
            <a:endParaRPr lang="en-US" altLang="zh-CN" b="0" i="0" u="none" strike="noStrike" baseline="0" dirty="0">
              <a:solidFill>
                <a:srgbClr val="000000"/>
              </a:solidFill>
              <a:cs typeface="+mn-ea"/>
              <a:sym typeface="+mn-lt"/>
            </a:endParaRPr>
          </a:p>
          <a:p>
            <a:pPr marL="0" marR="830" lvl="0" indent="0" rtl="0">
              <a:buNone/>
            </a:pPr>
            <a:endParaRPr lang="zh-CN" altLang="en-US" b="0" i="0" u="none" strike="noStrike" baseline="0" dirty="0">
              <a:solidFill>
                <a:srgbClr val="000000"/>
              </a:solidFill>
              <a:cs typeface="+mn-ea"/>
              <a:sym typeface="+mn-lt"/>
            </a:endParaRPr>
          </a:p>
          <a:p>
            <a:pPr marL="0" marR="830" lvl="0" indent="0" rtl="0">
              <a:buNone/>
            </a:pPr>
            <a:endParaRPr lang="zh-CN" altLang="en-US" b="0" i="0" u="none" strike="noStrike" baseline="0" dirty="0">
              <a:solidFill>
                <a:srgbClr val="000000"/>
              </a:solidFill>
              <a:cs typeface="+mn-ea"/>
              <a:sym typeface="+mn-lt"/>
            </a:endParaRPr>
          </a:p>
        </p:txBody>
      </p:sp>
      <p:sp>
        <p:nvSpPr>
          <p:cNvPr id="4" name="Rectangle 4">
            <a:extLst>
              <a:ext uri="{FF2B5EF4-FFF2-40B4-BE49-F238E27FC236}">
                <a16:creationId xmlns:a16="http://schemas.microsoft.com/office/drawing/2014/main" id="{E0429FF7-7BED-89A2-1D1E-915A9E313E5C}"/>
              </a:ext>
            </a:extLst>
          </p:cNvPr>
          <p:cNvSpPr>
            <a:spLocks noChangeArrowheads="1"/>
          </p:cNvSpPr>
          <p:nvPr/>
        </p:nvSpPr>
        <p:spPr bwMode="auto">
          <a:xfrm>
            <a:off x="0" y="40576"/>
            <a:ext cx="145280" cy="37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2371" rIns="52371" bIns="45720" numCol="1" anchor="ctr" anchorCtr="0" compatLnSpc="1">
            <a:prstTxWarp prst="textNoShape">
              <a:avLst/>
            </a:prstTxWarp>
            <a:spAutoFit/>
          </a:bodyPr>
          <a:lstStyle/>
          <a:p>
            <a:endParaRPr lang="zh-CN" altLang="en-US">
              <a:cs typeface="+mn-ea"/>
              <a:sym typeface="+mn-lt"/>
            </a:endParaRPr>
          </a:p>
        </p:txBody>
      </p:sp>
      <p:sp>
        <p:nvSpPr>
          <p:cNvPr id="6" name="矩形 5">
            <a:extLst>
              <a:ext uri="{FF2B5EF4-FFF2-40B4-BE49-F238E27FC236}">
                <a16:creationId xmlns:a16="http://schemas.microsoft.com/office/drawing/2014/main" id="{821DA7FD-1D36-08B5-E603-4FA37005D09D}"/>
              </a:ext>
            </a:extLst>
          </p:cNvPr>
          <p:cNvSpPr/>
          <p:nvPr/>
        </p:nvSpPr>
        <p:spPr>
          <a:xfrm>
            <a:off x="801092" y="2446416"/>
            <a:ext cx="10589815" cy="3659415"/>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84715615"/>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阈值处理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34133420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53BA9-37F1-C0D9-CFDB-62D150260639}"/>
              </a:ext>
            </a:extLst>
          </p:cNvPr>
          <p:cNvSpPr>
            <a:spLocks noGrp="1"/>
          </p:cNvSpPr>
          <p:nvPr>
            <p:ph type="title"/>
          </p:nvPr>
        </p:nvSpPr>
        <p:spPr/>
        <p:txBody>
          <a:bodyPr/>
          <a:lstStyle/>
          <a:p>
            <a:pPr marR="0" rtl="0"/>
            <a:r>
              <a:rPr lang="zh-CN" altLang="en-US" b="1" dirty="0">
                <a:solidFill>
                  <a:srgbClr val="0070C0"/>
                </a:solidFill>
                <a:latin typeface="+mn-lt"/>
                <a:ea typeface="+mn-ea"/>
                <a:cs typeface="+mn-ea"/>
                <a:sym typeface="+mn-lt"/>
              </a:rPr>
              <a:t>基础知识</a:t>
            </a:r>
            <a:endParaRPr lang="zh-CN" altLang="en-US" b="1" i="0" u="none" strike="noStrike" baseline="0"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EC372E13-17AE-EA13-72AF-C6D201AC89E7}"/>
              </a:ext>
            </a:extLst>
          </p:cNvPr>
          <p:cNvSpPr>
            <a:spLocks noGrp="1"/>
          </p:cNvSpPr>
          <p:nvPr>
            <p:ph sz="quarter" idx="11"/>
          </p:nvPr>
        </p:nvSpPr>
        <p:spPr/>
        <p:txBody>
          <a:bodyPr>
            <a:normAutofit/>
          </a:bodyPr>
          <a:lstStyle/>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灰度阈值处理基础</a:t>
            </a:r>
          </a:p>
          <a:p>
            <a:pPr marL="0" marR="830" lvl="0" indent="0" rtl="0">
              <a:buNone/>
            </a:pPr>
            <a:r>
              <a:rPr lang="zh-CN" altLang="en-US" b="0" i="0" u="none" strike="noStrike" baseline="0" dirty="0">
                <a:solidFill>
                  <a:srgbClr val="000000"/>
                </a:solidFill>
                <a:cs typeface="+mn-ea"/>
                <a:sym typeface="+mn-lt"/>
              </a:rPr>
              <a:t>假设图</a:t>
            </a:r>
            <a:r>
              <a:rPr lang="en-US" altLang="zh-CN" b="0" i="0" u="none" strike="noStrike" baseline="0" dirty="0">
                <a:solidFill>
                  <a:srgbClr val="000000"/>
                </a:solidFill>
                <a:cs typeface="+mn-ea"/>
                <a:sym typeface="+mn-lt"/>
              </a:rPr>
              <a:t>10.32(a)</a:t>
            </a:r>
            <a:r>
              <a:rPr lang="zh-CN" altLang="en-US" b="0" i="0" u="none" strike="noStrike" baseline="0" dirty="0">
                <a:solidFill>
                  <a:srgbClr val="000000"/>
                </a:solidFill>
                <a:cs typeface="+mn-ea"/>
                <a:sym typeface="+mn-lt"/>
              </a:rPr>
              <a:t>中的灰度直方图对应于图像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该图像由暗色背景上的亮目标组成，其中目标像素和背景像素的灰度值组合成了两种主导模式。</a:t>
            </a:r>
          </a:p>
        </p:txBody>
      </p:sp>
      <p:pic>
        <p:nvPicPr>
          <p:cNvPr id="5" name="图片 4">
            <a:extLst>
              <a:ext uri="{FF2B5EF4-FFF2-40B4-BE49-F238E27FC236}">
                <a16:creationId xmlns:a16="http://schemas.microsoft.com/office/drawing/2014/main" id="{3F26E1AC-B307-9768-0F8E-9B2FFDD94568}"/>
              </a:ext>
            </a:extLst>
          </p:cNvPr>
          <p:cNvPicPr>
            <a:picLocks noChangeAspect="1"/>
          </p:cNvPicPr>
          <p:nvPr/>
        </p:nvPicPr>
        <p:blipFill>
          <a:blip r:embed="rId2"/>
          <a:stretch>
            <a:fillRect/>
          </a:stretch>
        </p:blipFill>
        <p:spPr>
          <a:xfrm>
            <a:off x="2729218" y="4065966"/>
            <a:ext cx="6733561" cy="2688828"/>
          </a:xfrm>
          <a:prstGeom prst="rect">
            <a:avLst/>
          </a:prstGeom>
        </p:spPr>
      </p:pic>
      <p:sp>
        <p:nvSpPr>
          <p:cNvPr id="6" name="矩形 5">
            <a:extLst>
              <a:ext uri="{FF2B5EF4-FFF2-40B4-BE49-F238E27FC236}">
                <a16:creationId xmlns:a16="http://schemas.microsoft.com/office/drawing/2014/main" id="{FF5DBD05-F856-3C5D-FB47-C45CD8C205F7}"/>
              </a:ext>
            </a:extLst>
          </p:cNvPr>
          <p:cNvSpPr/>
          <p:nvPr/>
        </p:nvSpPr>
        <p:spPr>
          <a:xfrm>
            <a:off x="801092" y="2446417"/>
            <a:ext cx="10589815" cy="151139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710373862"/>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53BA9-37F1-C0D9-CFDB-62D150260639}"/>
              </a:ext>
            </a:extLst>
          </p:cNvPr>
          <p:cNvSpPr>
            <a:spLocks noGrp="1"/>
          </p:cNvSpPr>
          <p:nvPr>
            <p:ph type="title"/>
          </p:nvPr>
        </p:nvSpPr>
        <p:spPr/>
        <p:txBody>
          <a:bodyPr/>
          <a:lstStyle/>
          <a:p>
            <a:pPr marR="0" rtl="0"/>
            <a:r>
              <a:rPr lang="zh-CN" altLang="en-US" b="1" dirty="0">
                <a:solidFill>
                  <a:srgbClr val="0070C0"/>
                </a:solidFill>
                <a:latin typeface="+mn-lt"/>
                <a:ea typeface="+mn-ea"/>
                <a:cs typeface="+mn-ea"/>
                <a:sym typeface="+mn-lt"/>
              </a:rPr>
              <a:t>基础知识</a:t>
            </a:r>
            <a:endParaRPr lang="zh-CN" altLang="en-US" b="1" i="0" u="none" strike="noStrike" baseline="0"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EC372E13-17AE-EA13-72AF-C6D201AC89E7}"/>
              </a:ext>
            </a:extLst>
          </p:cNvPr>
          <p:cNvSpPr>
            <a:spLocks noGrp="1"/>
          </p:cNvSpPr>
          <p:nvPr>
            <p:ph sz="quarter" idx="11"/>
          </p:nvPr>
        </p:nvSpPr>
        <p:spPr/>
        <p:txBody>
          <a:bodyPr>
            <a:normAutofit/>
          </a:bodyPr>
          <a:lstStyle/>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图像阈值处理中噪声的作用</a:t>
            </a:r>
          </a:p>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10.33(a)</a:t>
            </a:r>
            <a:r>
              <a:rPr lang="zh-CN" altLang="en-US" b="0" i="0" u="none" strike="noStrike" baseline="0" dirty="0">
                <a:solidFill>
                  <a:srgbClr val="000000"/>
                </a:solidFill>
                <a:cs typeface="+mn-ea"/>
                <a:sym typeface="+mn-lt"/>
              </a:rPr>
              <a:t>中的简单合成图像中没有噪声，因此其直方图由两个波峰模式组成，如图</a:t>
            </a:r>
            <a:r>
              <a:rPr lang="en-US" altLang="zh-CN" b="0" i="0" u="none" strike="noStrike" baseline="0" dirty="0">
                <a:solidFill>
                  <a:srgbClr val="000000"/>
                </a:solidFill>
                <a:cs typeface="+mn-ea"/>
                <a:sym typeface="+mn-lt"/>
              </a:rPr>
              <a:t>10.33(d)</a:t>
            </a:r>
            <a:r>
              <a:rPr lang="zh-CN" altLang="en-US" b="0" i="0" u="none" strike="noStrike" baseline="0" dirty="0">
                <a:solidFill>
                  <a:srgbClr val="000000"/>
                </a:solidFill>
                <a:cs typeface="+mn-ea"/>
                <a:sym typeface="+mn-lt"/>
              </a:rPr>
              <a:t>所示。 将该图像分割为两个区域很简单：我们只需在两个模式之间的任何位置选择一个阈值。</a:t>
            </a:r>
          </a:p>
        </p:txBody>
      </p:sp>
      <p:pic>
        <p:nvPicPr>
          <p:cNvPr id="5" name="图片 4">
            <a:extLst>
              <a:ext uri="{FF2B5EF4-FFF2-40B4-BE49-F238E27FC236}">
                <a16:creationId xmlns:a16="http://schemas.microsoft.com/office/drawing/2014/main" id="{9633DB78-0337-0B28-0E81-BED08D27070E}"/>
              </a:ext>
            </a:extLst>
          </p:cNvPr>
          <p:cNvPicPr>
            <a:picLocks noChangeAspect="1"/>
          </p:cNvPicPr>
          <p:nvPr/>
        </p:nvPicPr>
        <p:blipFill>
          <a:blip r:embed="rId2"/>
          <a:stretch>
            <a:fillRect/>
          </a:stretch>
        </p:blipFill>
        <p:spPr>
          <a:xfrm>
            <a:off x="4057725" y="4077661"/>
            <a:ext cx="4076547" cy="2665435"/>
          </a:xfrm>
          <a:prstGeom prst="rect">
            <a:avLst/>
          </a:prstGeom>
        </p:spPr>
      </p:pic>
      <p:sp>
        <p:nvSpPr>
          <p:cNvPr id="6" name="矩形 5">
            <a:extLst>
              <a:ext uri="{FF2B5EF4-FFF2-40B4-BE49-F238E27FC236}">
                <a16:creationId xmlns:a16="http://schemas.microsoft.com/office/drawing/2014/main" id="{60A8B4B7-04D0-9878-BB21-966A18AF2606}"/>
              </a:ext>
            </a:extLst>
          </p:cNvPr>
          <p:cNvSpPr/>
          <p:nvPr/>
        </p:nvSpPr>
        <p:spPr>
          <a:xfrm>
            <a:off x="801092" y="2446417"/>
            <a:ext cx="10589815" cy="152309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345331908"/>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53BA9-37F1-C0D9-CFDB-62D150260639}"/>
              </a:ext>
            </a:extLst>
          </p:cNvPr>
          <p:cNvSpPr>
            <a:spLocks noGrp="1"/>
          </p:cNvSpPr>
          <p:nvPr>
            <p:ph type="title"/>
          </p:nvPr>
        </p:nvSpPr>
        <p:spPr/>
        <p:txBody>
          <a:bodyPr/>
          <a:lstStyle/>
          <a:p>
            <a:pPr marR="0" rtl="0"/>
            <a:r>
              <a:rPr lang="zh-CN" altLang="en-US" b="1" dirty="0">
                <a:solidFill>
                  <a:srgbClr val="0070C0"/>
                </a:solidFill>
                <a:latin typeface="+mn-lt"/>
                <a:ea typeface="+mn-ea"/>
                <a:cs typeface="+mn-ea"/>
                <a:sym typeface="+mn-lt"/>
              </a:rPr>
              <a:t>基础知识</a:t>
            </a:r>
            <a:endParaRPr lang="zh-CN" altLang="en-US" b="1" i="0" u="none" strike="noStrike" baseline="0"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EC372E13-17AE-EA13-72AF-C6D201AC89E7}"/>
              </a:ext>
            </a:extLst>
          </p:cNvPr>
          <p:cNvSpPr>
            <a:spLocks noGrp="1"/>
          </p:cNvSpPr>
          <p:nvPr>
            <p:ph sz="quarter" idx="12"/>
          </p:nvPr>
        </p:nvSpPr>
        <p:spPr/>
        <p:txBody>
          <a:bodyPr>
            <a:normAutofit/>
          </a:bodyPr>
          <a:lstStyle/>
          <a:p>
            <a:pPr marL="0" marR="83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图像直方图处理中光照和反射的作用</a:t>
            </a:r>
          </a:p>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10.34</a:t>
            </a:r>
            <a:r>
              <a:rPr lang="zh-CN" altLang="en-US" b="0" i="0" u="none" strike="noStrike" baseline="0" dirty="0">
                <a:solidFill>
                  <a:srgbClr val="000000"/>
                </a:solidFill>
                <a:cs typeface="+mn-ea"/>
                <a:sym typeface="+mn-lt"/>
              </a:rPr>
              <a:t>说明了光照对图像直方图的影响。图</a:t>
            </a:r>
            <a:r>
              <a:rPr lang="en-US" altLang="zh-CN" b="0" i="0" u="none" strike="noStrike" baseline="0" dirty="0">
                <a:solidFill>
                  <a:srgbClr val="000000"/>
                </a:solidFill>
                <a:cs typeface="+mn-ea"/>
                <a:sym typeface="+mn-lt"/>
              </a:rPr>
              <a:t>10.34(a)</a:t>
            </a:r>
            <a:r>
              <a:rPr lang="zh-CN" altLang="en-US" b="0" i="0" u="none" strike="noStrike" baseline="0" dirty="0">
                <a:solidFill>
                  <a:srgbClr val="000000"/>
                </a:solidFill>
                <a:cs typeface="+mn-ea"/>
                <a:sym typeface="+mn-lt"/>
              </a:rPr>
              <a:t>是来自图</a:t>
            </a:r>
            <a:r>
              <a:rPr lang="en-US" altLang="zh-CN" b="0" i="0" u="none" strike="noStrike" baseline="0" dirty="0">
                <a:solidFill>
                  <a:srgbClr val="000000"/>
                </a:solidFill>
                <a:cs typeface="+mn-ea"/>
                <a:sym typeface="+mn-lt"/>
              </a:rPr>
              <a:t>10.33(b)</a:t>
            </a:r>
            <a:r>
              <a:rPr lang="zh-CN" altLang="en-US" b="0" i="0" u="none" strike="noStrike" baseline="0" dirty="0">
                <a:solidFill>
                  <a:srgbClr val="000000"/>
                </a:solidFill>
                <a:cs typeface="+mn-ea"/>
                <a:sym typeface="+mn-lt"/>
              </a:rPr>
              <a:t>的带噪声图像，图</a:t>
            </a:r>
            <a:r>
              <a:rPr lang="en-US" altLang="zh-CN" b="0" i="0" u="none" strike="noStrike" baseline="0" dirty="0">
                <a:solidFill>
                  <a:srgbClr val="000000"/>
                </a:solidFill>
                <a:cs typeface="+mn-ea"/>
                <a:sym typeface="+mn-lt"/>
              </a:rPr>
              <a:t>10.34(d)</a:t>
            </a:r>
            <a:r>
              <a:rPr lang="zh-CN" altLang="en-US" b="0" i="0" u="none" strike="noStrike" baseline="0" dirty="0">
                <a:solidFill>
                  <a:srgbClr val="000000"/>
                </a:solidFill>
                <a:cs typeface="+mn-ea"/>
                <a:sym typeface="+mn-lt"/>
              </a:rPr>
              <a:t>显示了它的直方图。</a:t>
            </a:r>
          </a:p>
        </p:txBody>
      </p:sp>
      <p:pic>
        <p:nvPicPr>
          <p:cNvPr id="5" name="图片 4">
            <a:extLst>
              <a:ext uri="{FF2B5EF4-FFF2-40B4-BE49-F238E27FC236}">
                <a16:creationId xmlns:a16="http://schemas.microsoft.com/office/drawing/2014/main" id="{F9972948-262B-33FE-5681-9EBB811688A0}"/>
              </a:ext>
            </a:extLst>
          </p:cNvPr>
          <p:cNvPicPr>
            <a:picLocks noChangeAspect="1"/>
          </p:cNvPicPr>
          <p:nvPr/>
        </p:nvPicPr>
        <p:blipFill>
          <a:blip r:embed="rId2"/>
          <a:stretch>
            <a:fillRect/>
          </a:stretch>
        </p:blipFill>
        <p:spPr>
          <a:xfrm>
            <a:off x="4360374" y="3924010"/>
            <a:ext cx="3805546" cy="2450502"/>
          </a:xfrm>
          <a:prstGeom prst="rect">
            <a:avLst/>
          </a:prstGeom>
        </p:spPr>
      </p:pic>
    </p:spTree>
    <p:extLst>
      <p:ext uri="{BB962C8B-B14F-4D97-AF65-F5344CB8AC3E}">
        <p14:creationId xmlns:p14="http://schemas.microsoft.com/office/powerpoint/2010/main" val="3198918063"/>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335229-7465-FE59-4D8F-07803735C30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使用边缘改进全局阈值处理</a:t>
            </a:r>
          </a:p>
        </p:txBody>
      </p:sp>
      <p:sp>
        <p:nvSpPr>
          <p:cNvPr id="3" name="文本占位符 2">
            <a:extLst>
              <a:ext uri="{FF2B5EF4-FFF2-40B4-BE49-F238E27FC236}">
                <a16:creationId xmlns:a16="http://schemas.microsoft.com/office/drawing/2014/main" id="{35C9A843-EA74-E44C-797F-F82C4E774C1A}"/>
              </a:ext>
            </a:extLst>
          </p:cNvPr>
          <p:cNvSpPr>
            <a:spLocks noGrp="1"/>
          </p:cNvSpPr>
          <p:nvPr>
            <p:ph sz="quarter" idx="11"/>
          </p:nvPr>
        </p:nvSpPr>
        <p:spPr/>
        <p:txBody>
          <a:bodyPr/>
          <a:lstStyle/>
          <a:p>
            <a:pPr marL="0" marR="830" lvl="0" indent="0" rtl="0">
              <a:buNone/>
            </a:pPr>
            <a:r>
              <a:rPr lang="zh-CN" altLang="en-US" b="0" i="0" u="none" strike="noStrike" baseline="0" dirty="0">
                <a:solidFill>
                  <a:srgbClr val="000000"/>
                </a:solidFill>
                <a:cs typeface="+mn-ea"/>
                <a:sym typeface="+mn-lt"/>
              </a:rPr>
              <a:t>根据迄今为止的讨论，我们得出如下结论：若直方图的波峰是高的、窄的、对称的，并且被较深 的波谷分开，则找到一个“好”阈值的机会大大增加。例如，由大背景区域上的一个小目标组成的图像的直方图会受到大波峰的控制</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反之亦然</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因为有一类像素高度集中。在图</a:t>
            </a:r>
            <a:r>
              <a:rPr lang="en-US" altLang="zh-CN" b="0" i="0" u="none" strike="noStrike" baseline="0" dirty="0">
                <a:solidFill>
                  <a:srgbClr val="000000"/>
                </a:solidFill>
                <a:cs typeface="+mn-ea"/>
                <a:sym typeface="+mn-lt"/>
              </a:rPr>
              <a:t>10.38</a:t>
            </a:r>
            <a:r>
              <a:rPr lang="zh-CN" altLang="en-US" b="0" i="0" u="none" strike="noStrike" baseline="0" dirty="0">
                <a:solidFill>
                  <a:srgbClr val="000000"/>
                </a:solidFill>
                <a:cs typeface="+mn-ea"/>
                <a:sym typeface="+mn-lt"/>
              </a:rPr>
              <a:t>中我们看到，这可能会导致阈值处理失败。</a:t>
            </a:r>
          </a:p>
        </p:txBody>
      </p:sp>
      <p:pic>
        <p:nvPicPr>
          <p:cNvPr id="5" name="图片 4">
            <a:extLst>
              <a:ext uri="{FF2B5EF4-FFF2-40B4-BE49-F238E27FC236}">
                <a16:creationId xmlns:a16="http://schemas.microsoft.com/office/drawing/2014/main" id="{703AB3A9-4F90-668D-3403-82502C722D44}"/>
              </a:ext>
            </a:extLst>
          </p:cNvPr>
          <p:cNvPicPr>
            <a:picLocks noChangeAspect="1"/>
          </p:cNvPicPr>
          <p:nvPr/>
        </p:nvPicPr>
        <p:blipFill>
          <a:blip r:embed="rId2"/>
          <a:stretch>
            <a:fillRect/>
          </a:stretch>
        </p:blipFill>
        <p:spPr>
          <a:xfrm>
            <a:off x="4342932" y="4405750"/>
            <a:ext cx="3506134" cy="2332857"/>
          </a:xfrm>
          <a:prstGeom prst="rect">
            <a:avLst/>
          </a:prstGeom>
        </p:spPr>
      </p:pic>
      <p:sp>
        <p:nvSpPr>
          <p:cNvPr id="6" name="矩形 5">
            <a:extLst>
              <a:ext uri="{FF2B5EF4-FFF2-40B4-BE49-F238E27FC236}">
                <a16:creationId xmlns:a16="http://schemas.microsoft.com/office/drawing/2014/main" id="{1F91D80D-0F99-A714-377E-ED3BF35C6EF9}"/>
              </a:ext>
            </a:extLst>
          </p:cNvPr>
          <p:cNvSpPr/>
          <p:nvPr/>
        </p:nvSpPr>
        <p:spPr>
          <a:xfrm>
            <a:off x="801092" y="2446417"/>
            <a:ext cx="10589815" cy="189683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156359356"/>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F69E0-0A22-CE19-EA96-FA75C271456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可变阈值处理</a:t>
            </a:r>
          </a:p>
        </p:txBody>
      </p:sp>
      <p:sp>
        <p:nvSpPr>
          <p:cNvPr id="3" name="文本占位符 2">
            <a:extLst>
              <a:ext uri="{FF2B5EF4-FFF2-40B4-BE49-F238E27FC236}">
                <a16:creationId xmlns:a16="http://schemas.microsoft.com/office/drawing/2014/main" id="{2525F60C-6243-A764-BF5C-13AC7AB05526}"/>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基于局部图像性质的可变阈值处理</a:t>
            </a:r>
          </a:p>
          <a:p>
            <a:pPr marL="0" marR="830" lvl="0" indent="0" rtl="0">
              <a:buNone/>
            </a:pPr>
            <a:r>
              <a:rPr lang="zh-CN" altLang="en-US" b="0" i="0" u="none" strike="noStrike" baseline="0" dirty="0">
                <a:solidFill>
                  <a:srgbClr val="000000"/>
                </a:solidFill>
                <a:cs typeface="+mn-ea"/>
                <a:sym typeface="+mn-lt"/>
              </a:rPr>
              <a:t>可变阈值处理的基本方法是在图像中的每个点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根据</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的一个邻域的一条或多条规定性 质计算阈值。</a:t>
            </a:r>
            <a:endParaRPr lang="en-US" altLang="zh-CN" b="0" i="0" u="none" strike="noStrike" baseline="0" dirty="0">
              <a:solidFill>
                <a:srgbClr val="000000"/>
              </a:solidFill>
              <a:cs typeface="+mn-ea"/>
              <a:sym typeface="+mn-lt"/>
            </a:endParaRPr>
          </a:p>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基于移动平均的可变阈值处理</a:t>
            </a:r>
          </a:p>
          <a:p>
            <a:pPr marL="0" marR="830" lvl="0" indent="0" rtl="0">
              <a:buNone/>
            </a:pPr>
            <a:r>
              <a:rPr lang="zh-CN" altLang="en-US" b="0" i="0" u="none" strike="noStrike" baseline="0" dirty="0">
                <a:solidFill>
                  <a:srgbClr val="000000"/>
                </a:solidFill>
                <a:cs typeface="+mn-ea"/>
                <a:sym typeface="+mn-lt"/>
              </a:rPr>
              <a:t>通常，为减少光照偏差，扫描是以</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字形模式逐行执行的。令</a:t>
            </a:r>
            <a:r>
              <a:rPr lang="en-US" altLang="zh-CN" b="0" i="0" u="none" strike="noStrike" baseline="0" dirty="0">
                <a:solidFill>
                  <a:srgbClr val="000000"/>
                </a:solidFill>
                <a:cs typeface="+mn-ea"/>
                <a:sym typeface="+mn-lt"/>
              </a:rPr>
              <a:t>z</a:t>
            </a:r>
            <a:r>
              <a:rPr lang="en-US" altLang="zh-CN" sz="1100" b="0" i="0" u="none" strike="noStrike" baseline="0" dirty="0">
                <a:solidFill>
                  <a:srgbClr val="000000"/>
                </a:solidFill>
                <a:cs typeface="+mn-ea"/>
                <a:sym typeface="+mn-lt"/>
              </a:rPr>
              <a:t>k-1</a:t>
            </a:r>
            <a:r>
              <a:rPr lang="zh-CN" altLang="en-US" b="0" i="0" u="none" strike="noStrike" baseline="0" dirty="0">
                <a:solidFill>
                  <a:srgbClr val="000000"/>
                </a:solidFill>
                <a:cs typeface="+mn-ea"/>
                <a:sym typeface="+mn-lt"/>
              </a:rPr>
              <a:t>表示步</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扫描序列中遇到的点的灰度。这个新点处的移动平均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平均灰度</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为</a:t>
            </a:r>
          </a:p>
          <a:p>
            <a:pPr marL="0" marR="830" lvl="0" indent="0" rtl="0">
              <a:buNone/>
            </a:pP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9D7B945A-F82D-09B7-EF90-AE77A5D7F6C5}"/>
              </a:ext>
            </a:extLst>
          </p:cNvPr>
          <p:cNvPicPr>
            <a:picLocks noChangeAspect="1"/>
          </p:cNvPicPr>
          <p:nvPr/>
        </p:nvPicPr>
        <p:blipFill rotWithShape="1">
          <a:blip r:embed="rId2"/>
          <a:srcRect b="4651"/>
          <a:stretch/>
        </p:blipFill>
        <p:spPr>
          <a:xfrm>
            <a:off x="6096000" y="5131056"/>
            <a:ext cx="3181350" cy="935448"/>
          </a:xfrm>
          <a:prstGeom prst="rect">
            <a:avLst/>
          </a:prstGeom>
        </p:spPr>
      </p:pic>
      <p:sp>
        <p:nvSpPr>
          <p:cNvPr id="6" name="矩形 5">
            <a:extLst>
              <a:ext uri="{FF2B5EF4-FFF2-40B4-BE49-F238E27FC236}">
                <a16:creationId xmlns:a16="http://schemas.microsoft.com/office/drawing/2014/main" id="{443896CA-FBAF-6C93-C2CB-A98A1847C639}"/>
              </a:ext>
            </a:extLst>
          </p:cNvPr>
          <p:cNvSpPr/>
          <p:nvPr/>
        </p:nvSpPr>
        <p:spPr>
          <a:xfrm>
            <a:off x="801092" y="2446417"/>
            <a:ext cx="10589815" cy="376757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74762986"/>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使用区域生长、区域分离与聚合</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5111810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3C905-5C04-4801-50F5-5796BDAB81D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区域生长</a:t>
            </a:r>
          </a:p>
        </p:txBody>
      </p:sp>
      <p:sp>
        <p:nvSpPr>
          <p:cNvPr id="3" name="文本占位符 2">
            <a:extLst>
              <a:ext uri="{FF2B5EF4-FFF2-40B4-BE49-F238E27FC236}">
                <a16:creationId xmlns:a16="http://schemas.microsoft.com/office/drawing/2014/main" id="{67F557AD-63C0-E2CD-1074-7E561208D126}"/>
              </a:ext>
            </a:extLst>
          </p:cNvPr>
          <p:cNvSpPr>
            <a:spLocks noGrp="1"/>
          </p:cNvSpPr>
          <p:nvPr>
            <p:ph sz="quarter" idx="11"/>
          </p:nvPr>
        </p:nvSpPr>
        <p:spPr>
          <a:xfrm>
            <a:off x="801093" y="2432500"/>
            <a:ext cx="10614159" cy="3540427"/>
          </a:xfrm>
        </p:spPr>
        <p:txBody>
          <a:bodyPr/>
          <a:lstStyle/>
          <a:p>
            <a:pPr marR="830" lvl="0" rtl="0"/>
            <a:r>
              <a:rPr lang="zh-CN" altLang="en-US" b="0" i="0" u="none" strike="noStrike" baseline="0" dirty="0">
                <a:solidFill>
                  <a:srgbClr val="000000"/>
                </a:solidFill>
                <a:cs typeface="+mn-ea"/>
                <a:sym typeface="+mn-lt"/>
              </a:rPr>
              <a:t>区域生长是指根据预定义的生长准则，将像素或子区域组合为更大的区域的过程。基本方法是，对于一组“种子”点，通过把那些与种子具有相同预定义性质</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如灰度或颜色范围</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的邻域像素添加到每个种子上，来形成增长区域。</a:t>
            </a:r>
          </a:p>
          <a:p>
            <a:pPr marR="830" lvl="0" rtl="0"/>
            <a:r>
              <a:rPr lang="zh-CN" altLang="en-US" b="0" i="0" u="none" strike="noStrike" baseline="0" dirty="0">
                <a:solidFill>
                  <a:srgbClr val="000000"/>
                </a:solidFill>
                <a:cs typeface="+mn-ea"/>
                <a:sym typeface="+mn-lt"/>
              </a:rPr>
              <a:t>如稍后例</a:t>
            </a:r>
            <a:r>
              <a:rPr lang="en-US" altLang="zh-CN" b="0" i="0" u="none" strike="noStrike" baseline="0" dirty="0">
                <a:solidFill>
                  <a:srgbClr val="000000"/>
                </a:solidFill>
                <a:cs typeface="+mn-ea"/>
                <a:sym typeface="+mn-lt"/>
              </a:rPr>
              <a:t>10.20</a:t>
            </a:r>
            <a:r>
              <a:rPr lang="zh-CN" altLang="en-US" b="0" i="0" u="none" strike="noStrike" baseline="0" dirty="0">
                <a:solidFill>
                  <a:srgbClr val="000000"/>
                </a:solidFill>
                <a:cs typeface="+mn-ea"/>
                <a:sym typeface="+mn-lt"/>
              </a:rPr>
              <a:t> 中介绍的那样，根据问题的性质，我们通常可以选择一组或多组起始点。不存在先验知识时，这一过程是，首先在每个像素位置计算相同的属性集，然后在生长过程中使用这些属性集将像素分配给不同的区域。这些计算的结果显示了一簇值时，就将属性靠近这簇值的中心的像素作为种子。</a:t>
            </a:r>
          </a:p>
        </p:txBody>
      </p:sp>
      <p:sp>
        <p:nvSpPr>
          <p:cNvPr id="4" name="矩形 3">
            <a:extLst>
              <a:ext uri="{FF2B5EF4-FFF2-40B4-BE49-F238E27FC236}">
                <a16:creationId xmlns:a16="http://schemas.microsoft.com/office/drawing/2014/main" id="{5CD59069-1EE3-668F-3EE1-C9A84F388499}"/>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252516719"/>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711FB7-25B5-6FA7-CDAF-AAFA19BA56C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区域分离与聚合</a:t>
            </a:r>
          </a:p>
        </p:txBody>
      </p:sp>
      <p:sp>
        <p:nvSpPr>
          <p:cNvPr id="3" name="文本占位符 2">
            <a:extLst>
              <a:ext uri="{FF2B5EF4-FFF2-40B4-BE49-F238E27FC236}">
                <a16:creationId xmlns:a16="http://schemas.microsoft.com/office/drawing/2014/main" id="{F71B36FB-3273-A72F-8C65-74BC2CD3D40E}"/>
              </a:ext>
            </a:extLst>
          </p:cNvPr>
          <p:cNvSpPr>
            <a:spLocks noGrp="1"/>
          </p:cNvSpPr>
          <p:nvPr>
            <p:ph sz="quarter" idx="11"/>
          </p:nvPr>
        </p:nvSpPr>
        <p:spPr>
          <a:xfrm>
            <a:off x="801094" y="2432500"/>
            <a:ext cx="10589814" cy="3540427"/>
          </a:xfrm>
        </p:spPr>
        <p:txBody>
          <a:bodyPr>
            <a:noAutofit/>
          </a:bodyPr>
          <a:lstStyle/>
          <a:p>
            <a:pPr marR="830" lvl="0" rtl="0"/>
            <a:r>
              <a:rPr lang="zh-CN" altLang="en-US" b="0" i="0" u="none" strike="noStrike" baseline="0" dirty="0">
                <a:solidFill>
                  <a:srgbClr val="000000"/>
                </a:solidFill>
                <a:cs typeface="+mn-ea"/>
                <a:sym typeface="+mn-lt"/>
              </a:rPr>
              <a:t>令</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 表示整个图像区域并选择一个谓词逻辑</a:t>
            </a:r>
            <a:r>
              <a:rPr lang="en-US" altLang="zh-CN" b="0" i="0" u="none" strike="noStrike" baseline="0" dirty="0">
                <a:solidFill>
                  <a:srgbClr val="000000"/>
                </a:solidFill>
                <a:cs typeface="+mn-ea"/>
                <a:sym typeface="+mn-lt"/>
              </a:rPr>
              <a:t>Q</a:t>
            </a:r>
            <a:r>
              <a:rPr lang="zh-CN" altLang="en-US" b="0" i="0" u="none" strike="noStrike" baseline="0" dirty="0">
                <a:solidFill>
                  <a:srgbClr val="000000"/>
                </a:solidFill>
                <a:cs typeface="+mn-ea"/>
                <a:sym typeface="+mn-lt"/>
              </a:rPr>
              <a:t>。分割</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 的一种方法是，依次将它细分为越来越小 的四象限区域，以便对于任何区域</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有</a:t>
            </a:r>
            <a:r>
              <a:rPr lang="en-US" altLang="zh-CN" b="0" i="0" u="none" strike="noStrike" baseline="0" dirty="0">
                <a:solidFill>
                  <a:srgbClr val="000000"/>
                </a:solidFill>
                <a:cs typeface="+mn-ea"/>
                <a:sym typeface="+mn-lt"/>
              </a:rPr>
              <a:t>Q(R</a:t>
            </a:r>
            <a:r>
              <a:rPr lang="zh-CN" altLang="en-US" b="0" i="0" u="none" strike="noStrike" baseline="0" dirty="0">
                <a:solidFill>
                  <a:srgbClr val="000000"/>
                </a:solidFill>
                <a:cs typeface="+mn-ea"/>
                <a:sym typeface="+mn-lt"/>
              </a:rPr>
              <a:t>₁</a:t>
            </a:r>
            <a:r>
              <a:rPr lang="en-US" altLang="zh-CN" b="0" i="0" u="none" strike="noStrike" baseline="0" dirty="0">
                <a:solidFill>
                  <a:srgbClr val="000000"/>
                </a:solidFill>
                <a:cs typeface="+mn-ea"/>
                <a:sym typeface="+mn-lt"/>
              </a:rPr>
              <a:t>)=TRUE</a:t>
            </a:r>
            <a:r>
              <a:rPr lang="zh-CN" altLang="en-US" b="0" i="0" u="none" strike="noStrike" baseline="0" dirty="0">
                <a:solidFill>
                  <a:srgbClr val="000000"/>
                </a:solidFill>
                <a:cs typeface="+mn-ea"/>
                <a:sym typeface="+mn-lt"/>
              </a:rPr>
              <a:t>。下面从整个区域</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 开始。</a:t>
            </a:r>
            <a:r>
              <a:rPr lang="en-US" altLang="zh-CN" b="0" i="0" u="none" strike="noStrike" baseline="0" dirty="0">
                <a:solidFill>
                  <a:srgbClr val="000000"/>
                </a:solidFill>
                <a:cs typeface="+mn-ea"/>
                <a:sym typeface="+mn-lt"/>
              </a:rPr>
              <a:t>Q(R)=FALSE</a:t>
            </a:r>
            <a:r>
              <a:rPr lang="zh-CN" altLang="en-US" b="0" i="0" u="none" strike="noStrike" baseline="0" dirty="0">
                <a:solidFill>
                  <a:srgbClr val="000000"/>
                </a:solidFill>
                <a:cs typeface="+mn-ea"/>
                <a:sym typeface="+mn-lt"/>
              </a:rPr>
              <a:t>时，将图像细分为</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个子象限区域。如果对任何子象限区域</a:t>
            </a:r>
            <a:r>
              <a:rPr lang="en-US" altLang="zh-CN" b="0" i="0" u="none" strike="noStrike" baseline="0" dirty="0">
                <a:solidFill>
                  <a:srgbClr val="000000"/>
                </a:solidFill>
                <a:cs typeface="+mn-ea"/>
                <a:sym typeface="+mn-lt"/>
              </a:rPr>
              <a:t>Q</a:t>
            </a:r>
            <a:r>
              <a:rPr lang="zh-CN" altLang="en-US" b="0" i="0" u="none" strike="noStrike" baseline="0" dirty="0">
                <a:solidFill>
                  <a:srgbClr val="000000"/>
                </a:solidFill>
                <a:cs typeface="+mn-ea"/>
                <a:sym typeface="+mn-lt"/>
              </a:rPr>
              <a:t>为</a:t>
            </a:r>
            <a:r>
              <a:rPr lang="en-US" altLang="zh-CN" b="0" i="0" u="none" strike="noStrike" baseline="0" dirty="0">
                <a:solidFill>
                  <a:srgbClr val="000000"/>
                </a:solidFill>
                <a:cs typeface="+mn-ea"/>
                <a:sym typeface="+mn-lt"/>
              </a:rPr>
              <a:t>FALSE,</a:t>
            </a:r>
            <a:r>
              <a:rPr lang="zh-CN" altLang="en-US" b="0" i="0" u="none" strike="noStrike" baseline="0" dirty="0">
                <a:solidFill>
                  <a:srgbClr val="000000"/>
                </a:solidFill>
                <a:cs typeface="+mn-ea"/>
                <a:sym typeface="+mn-lt"/>
              </a:rPr>
              <a:t> 那么将这个子象限区域细分为 </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个子子象限区域，以此类推。</a:t>
            </a:r>
            <a:endParaRPr lang="en-US" altLang="zh-CN" b="0" i="0" u="none" strike="noStrike" baseline="0" dirty="0">
              <a:solidFill>
                <a:srgbClr val="000000"/>
              </a:solidFill>
              <a:cs typeface="+mn-ea"/>
              <a:sym typeface="+mn-lt"/>
            </a:endParaRPr>
          </a:p>
          <a:p>
            <a:pPr marR="830" lvl="0" rtl="0"/>
            <a:r>
              <a:rPr lang="zh-CN" altLang="en-US" b="0" i="0" u="none" strike="noStrike" baseline="0" dirty="0">
                <a:solidFill>
                  <a:srgbClr val="000000"/>
                </a:solidFill>
                <a:cs typeface="+mn-ea"/>
                <a:sym typeface="+mn-lt"/>
              </a:rPr>
              <a:t>这种分离技术有一种方便的表示形式，即所谓的四叉树；也就是说，每个节点都刚好有</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个后代，如图</a:t>
            </a:r>
            <a:r>
              <a:rPr lang="en-US" altLang="zh-CN" b="0" i="0" u="none" strike="noStrike" baseline="0" dirty="0">
                <a:solidFill>
                  <a:srgbClr val="000000"/>
                </a:solidFill>
                <a:cs typeface="+mn-ea"/>
                <a:sym typeface="+mn-lt"/>
              </a:rPr>
              <a:t>10.47</a:t>
            </a:r>
            <a:r>
              <a:rPr lang="zh-CN" altLang="en-US" b="0" i="0" u="none" strike="noStrike" baseline="0" dirty="0">
                <a:solidFill>
                  <a:srgbClr val="000000"/>
                </a:solidFill>
                <a:cs typeface="+mn-ea"/>
                <a:sym typeface="+mn-lt"/>
              </a:rPr>
              <a:t>所示</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对应于一个四叉树的节点的图像，有时称为四分区域或四分图像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。注意，树根对应于整幅图像，而每个节点对应于该节点的</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个细分子节点。在这种情况下，只有</a:t>
            </a:r>
            <a:r>
              <a:rPr lang="en-US" altLang="zh-CN" b="0" i="0" u="none" strike="noStrike" baseline="0" dirty="0">
                <a:solidFill>
                  <a:srgbClr val="000000"/>
                </a:solidFill>
                <a:cs typeface="+mn-ea"/>
                <a:sym typeface="+mn-lt"/>
              </a:rPr>
              <a:t>R4</a:t>
            </a:r>
            <a:r>
              <a:rPr lang="zh-CN" altLang="en-US" b="0" i="0" u="none" strike="noStrike" baseline="0" dirty="0">
                <a:solidFill>
                  <a:srgbClr val="000000"/>
                </a:solidFill>
                <a:cs typeface="+mn-ea"/>
                <a:sym typeface="+mn-lt"/>
              </a:rPr>
              <a:t>被进一步细分。</a:t>
            </a:r>
          </a:p>
        </p:txBody>
      </p:sp>
      <p:sp>
        <p:nvSpPr>
          <p:cNvPr id="4" name="矩形 3">
            <a:extLst>
              <a:ext uri="{FF2B5EF4-FFF2-40B4-BE49-F238E27FC236}">
                <a16:creationId xmlns:a16="http://schemas.microsoft.com/office/drawing/2014/main" id="{B959B028-0D45-5BF9-8AEC-A16739B6C982}"/>
              </a:ext>
            </a:extLst>
          </p:cNvPr>
          <p:cNvSpPr/>
          <p:nvPr/>
        </p:nvSpPr>
        <p:spPr>
          <a:xfrm>
            <a:off x="801092" y="2446416"/>
            <a:ext cx="10589815" cy="381673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54989318"/>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使用聚类和超像素的区域分割</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24060735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CDD95-6469-CE2F-4DA3-76A967DD61A6}"/>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用</a:t>
            </a:r>
            <a:r>
              <a:rPr lang="en-US" altLang="zh-CN" b="1" i="0" u="none" strike="noStrike" baseline="0" dirty="0">
                <a:solidFill>
                  <a:srgbClr val="0070C0"/>
                </a:solidFill>
                <a:latin typeface="+mn-lt"/>
                <a:ea typeface="+mn-ea"/>
                <a:cs typeface="+mn-ea"/>
                <a:sym typeface="+mn-lt"/>
              </a:rPr>
              <a:t>k</a:t>
            </a:r>
            <a:r>
              <a:rPr lang="zh-CN" altLang="en-US" b="1" i="0" u="none" strike="noStrike" baseline="0" dirty="0">
                <a:solidFill>
                  <a:srgbClr val="0070C0"/>
                </a:solidFill>
                <a:latin typeface="+mn-lt"/>
                <a:ea typeface="+mn-ea"/>
                <a:cs typeface="+mn-ea"/>
                <a:sym typeface="+mn-lt"/>
              </a:rPr>
              <a:t>均值聚类的区域分割</a:t>
            </a:r>
          </a:p>
        </p:txBody>
      </p:sp>
      <p:sp>
        <p:nvSpPr>
          <p:cNvPr id="3" name="文本占位符 2">
            <a:extLst>
              <a:ext uri="{FF2B5EF4-FFF2-40B4-BE49-F238E27FC236}">
                <a16:creationId xmlns:a16="http://schemas.microsoft.com/office/drawing/2014/main" id="{05F1DB9E-D494-5AE4-E323-ACF6E76ACA6A}"/>
              </a:ext>
            </a:extLst>
          </p:cNvPr>
          <p:cNvSpPr>
            <a:spLocks noGrp="1"/>
          </p:cNvSpPr>
          <p:nvPr>
            <p:ph sz="quarter" idx="12"/>
          </p:nvPr>
        </p:nvSpPr>
        <p:spPr/>
        <p:txBody>
          <a:bodyPr/>
          <a:lstStyle/>
          <a:p>
            <a:pPr marL="0" marR="830" lvl="0" indent="0" rtl="0">
              <a:buNone/>
            </a:pPr>
            <a:r>
              <a:rPr lang="zh-CN" altLang="en-US" b="0" i="0" u="none" strike="noStrike" baseline="0" dirty="0">
                <a:solidFill>
                  <a:srgbClr val="000000"/>
                </a:solidFill>
                <a:cs typeface="+mn-ea"/>
                <a:sym typeface="+mn-lt"/>
              </a:rPr>
              <a:t>本章所用聚类方法的基本思想是，将向量观测值集合</a:t>
            </a:r>
            <a:r>
              <a:rPr lang="en-US" altLang="zh-CN" b="0" i="0" u="none" strike="noStrike" baseline="0" dirty="0">
                <a:solidFill>
                  <a:srgbClr val="000000"/>
                </a:solidFill>
                <a:cs typeface="+mn-ea"/>
                <a:sym typeface="+mn-lt"/>
              </a:rPr>
              <a:t>Q</a:t>
            </a:r>
            <a:r>
              <a:rPr lang="zh-CN" altLang="en-US" b="0" i="0" u="none" strike="noStrike" baseline="0" dirty="0">
                <a:solidFill>
                  <a:srgbClr val="000000"/>
                </a:solidFill>
                <a:cs typeface="+mn-ea"/>
                <a:sym typeface="+mn-lt"/>
              </a:rPr>
              <a:t>划分为规定数量</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的聚类。在</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均值聚类中，每个观测值都被分配给具有最近均值的聚类</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该方法因此而得名</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因此每个均值称为其聚类的原型。 </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 均值算法是一个迭代过程，它不断地细化均值，直到均值收敛。</a:t>
            </a:r>
          </a:p>
          <a:p>
            <a:pPr marL="0" marR="830" lvl="0" indent="0" rtl="0">
              <a:buNone/>
            </a:pPr>
            <a:r>
              <a:rPr lang="zh-CN" altLang="en-US" b="0" i="0" u="none" strike="noStrike" baseline="0" dirty="0">
                <a:solidFill>
                  <a:srgbClr val="000000"/>
                </a:solidFill>
                <a:cs typeface="+mn-ea"/>
                <a:sym typeface="+mn-lt"/>
              </a:rPr>
              <a:t>令 </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z,z</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a:t>
            </a:r>
            <a:r>
              <a:rPr lang="en-US" altLang="zh-CN" dirty="0" err="1">
                <a:solidFill>
                  <a:srgbClr val="000000"/>
                </a:solidFill>
                <a:cs typeface="+mn-ea"/>
                <a:sym typeface="+mn-lt"/>
              </a:rPr>
              <a:t>z</a:t>
            </a:r>
            <a:r>
              <a:rPr lang="en-US" altLang="zh-CN" sz="1100" b="0" i="0" u="none" strike="noStrike" baseline="0" dirty="0" err="1">
                <a:solidFill>
                  <a:srgbClr val="000000"/>
                </a:solidFill>
                <a:cs typeface="+mn-ea"/>
                <a:sym typeface="+mn-lt"/>
              </a:rPr>
              <a:t>Q</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是向量观测值集合</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样本</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。这些向量的形式为</a:t>
            </a:r>
          </a:p>
        </p:txBody>
      </p:sp>
      <p:pic>
        <p:nvPicPr>
          <p:cNvPr id="5" name="图片 4">
            <a:extLst>
              <a:ext uri="{FF2B5EF4-FFF2-40B4-BE49-F238E27FC236}">
                <a16:creationId xmlns:a16="http://schemas.microsoft.com/office/drawing/2014/main" id="{30B9022D-9CA5-53D4-33D0-454C57D2B814}"/>
              </a:ext>
            </a:extLst>
          </p:cNvPr>
          <p:cNvPicPr>
            <a:picLocks noChangeAspect="1"/>
          </p:cNvPicPr>
          <p:nvPr/>
        </p:nvPicPr>
        <p:blipFill>
          <a:blip r:embed="rId2"/>
          <a:stretch>
            <a:fillRect/>
          </a:stretch>
        </p:blipFill>
        <p:spPr>
          <a:xfrm>
            <a:off x="5243879" y="4560322"/>
            <a:ext cx="1704239" cy="1814190"/>
          </a:xfrm>
          <a:prstGeom prst="rect">
            <a:avLst/>
          </a:prstGeom>
        </p:spPr>
      </p:pic>
    </p:spTree>
    <p:extLst>
      <p:ext uri="{BB962C8B-B14F-4D97-AF65-F5344CB8AC3E}">
        <p14:creationId xmlns:p14="http://schemas.microsoft.com/office/powerpoint/2010/main" val="2718205835"/>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B1B8DD-0CAD-37BC-4D94-18A5B9A8946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 用 超 像 素 的 区 域 分 割</a:t>
            </a:r>
          </a:p>
        </p:txBody>
      </p:sp>
      <p:sp>
        <p:nvSpPr>
          <p:cNvPr id="3" name="文本占位符 2">
            <a:extLst>
              <a:ext uri="{FF2B5EF4-FFF2-40B4-BE49-F238E27FC236}">
                <a16:creationId xmlns:a16="http://schemas.microsoft.com/office/drawing/2014/main" id="{1637E6C3-3FDF-4F34-6F58-DAEFA7C5AF19}"/>
              </a:ext>
            </a:extLst>
          </p:cNvPr>
          <p:cNvSpPr>
            <a:spLocks noGrp="1"/>
          </p:cNvSpPr>
          <p:nvPr>
            <p:ph sz="quarter" idx="11"/>
          </p:nvPr>
        </p:nvSpPr>
        <p:spPr>
          <a:xfrm>
            <a:off x="801094" y="2432500"/>
            <a:ext cx="10589814" cy="3540427"/>
          </a:xfrm>
        </p:spPr>
        <p:txBody>
          <a:bodyPr>
            <a:noAutofit/>
          </a:bodyPr>
          <a:lstStyle/>
          <a:p>
            <a:pPr marL="0" marR="830" lvl="0" indent="0" rtl="0">
              <a:buNone/>
            </a:pPr>
            <a:r>
              <a:rPr lang="en-US" altLang="zh-CN" b="1" i="0" u="none" strike="noStrike" baseline="0" dirty="0">
                <a:solidFill>
                  <a:srgbClr val="000000"/>
                </a:solidFill>
                <a:cs typeface="+mn-ea"/>
                <a:sym typeface="+mn-lt"/>
              </a:rPr>
              <a:t>1.SLIC</a:t>
            </a:r>
            <a:r>
              <a:rPr lang="zh-CN" altLang="en-US" b="1" i="0" u="none" strike="noStrike" baseline="0" dirty="0">
                <a:solidFill>
                  <a:srgbClr val="000000"/>
                </a:solidFill>
                <a:cs typeface="+mn-ea"/>
                <a:sym typeface="+mn-lt"/>
              </a:rPr>
              <a:t> 超像素算法</a:t>
            </a:r>
          </a:p>
          <a:p>
            <a:pPr marL="0" marR="830" lvl="0" indent="0" rtl="0">
              <a:buNone/>
            </a:pPr>
            <a:r>
              <a:rPr lang="zh-CN" altLang="en-US" b="0" i="0" u="none" strike="noStrike" baseline="0" dirty="0">
                <a:solidFill>
                  <a:srgbClr val="000000"/>
                </a:solidFill>
                <a:cs typeface="+mn-ea"/>
                <a:sym typeface="+mn-lt"/>
              </a:rPr>
              <a:t>本节讨论生成超像素的一种算法，即简单线性迭代聚类 </a:t>
            </a:r>
            <a:r>
              <a:rPr lang="en-US" altLang="zh-CN" b="0" i="0" u="none" strike="noStrike" baseline="0" dirty="0">
                <a:solidFill>
                  <a:srgbClr val="000000"/>
                </a:solidFill>
                <a:cs typeface="+mn-ea"/>
                <a:sym typeface="+mn-lt"/>
              </a:rPr>
              <a:t>(SLIC)</a:t>
            </a:r>
            <a:r>
              <a:rPr lang="zh-CN" altLang="en-US" b="0" i="0" u="none" strike="noStrike" baseline="0" dirty="0">
                <a:solidFill>
                  <a:srgbClr val="000000"/>
                </a:solidFill>
                <a:cs typeface="+mn-ea"/>
                <a:sym typeface="+mn-lt"/>
              </a:rPr>
              <a:t>。 由</a:t>
            </a:r>
            <a:r>
              <a:rPr lang="en-US" altLang="zh-CN" b="0" i="0" u="none" strike="noStrike" baseline="0" dirty="0">
                <a:solidFill>
                  <a:srgbClr val="000000"/>
                </a:solidFill>
                <a:cs typeface="+mn-ea"/>
                <a:sym typeface="+mn-lt"/>
              </a:rPr>
              <a:t>Achanta</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et</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al.[2012]</a:t>
            </a:r>
            <a:r>
              <a:rPr lang="zh-CN" altLang="en-US" b="0" i="0" u="none" strike="noStrike" baseline="0" dirty="0">
                <a:solidFill>
                  <a:srgbClr val="000000"/>
                </a:solidFill>
                <a:cs typeface="+mn-ea"/>
                <a:sym typeface="+mn-lt"/>
              </a:rPr>
              <a:t>开发的这个算法原理简单，与其他超像素技术相比具有计算优势和其他性能优势</a:t>
            </a:r>
            <a:r>
              <a:rPr lang="zh-CN" altLang="en-US" dirty="0">
                <a:solidFill>
                  <a:srgbClr val="000000"/>
                </a:solidFill>
                <a:cs typeface="+mn-ea"/>
                <a:sym typeface="+mn-lt"/>
              </a:rPr>
              <a:t>。</a:t>
            </a:r>
            <a:endParaRPr lang="zh-CN" altLang="en-US" b="0" i="0" u="none" strike="noStrike" baseline="0" dirty="0">
              <a:solidFill>
                <a:srgbClr val="000000"/>
              </a:solidFill>
              <a:cs typeface="+mn-ea"/>
              <a:sym typeface="+mn-lt"/>
            </a:endParaRPr>
          </a:p>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规定距离测度</a:t>
            </a:r>
          </a:p>
          <a:p>
            <a:pPr marL="0" marR="830" lvl="0" indent="0" rtl="0">
              <a:buNone/>
            </a:pPr>
            <a:r>
              <a:rPr lang="en-US" altLang="zh-CN" b="0" i="0" u="none" strike="noStrike" baseline="0" dirty="0">
                <a:solidFill>
                  <a:srgbClr val="000000"/>
                </a:solidFill>
                <a:cs typeface="+mn-ea"/>
                <a:sym typeface="+mn-lt"/>
              </a:rPr>
              <a:t>SLIC</a:t>
            </a:r>
            <a:r>
              <a:rPr lang="zh-CN" altLang="en-US" b="0" i="0" u="none" strike="noStrike" baseline="0" dirty="0">
                <a:solidFill>
                  <a:srgbClr val="000000"/>
                </a:solidFill>
                <a:cs typeface="+mn-ea"/>
                <a:sym typeface="+mn-lt"/>
              </a:rPr>
              <a:t>超像素对应于一个空间中的聚类，这个空间的坐标是颜色和空间变量。在这种情况下，使用单个欧氏距离是没有意义的，因为这个坐标系的轴的尺度是不同的，并且是不相关的。换句话说，空间距离和颜色距离必须分开处理。</a:t>
            </a:r>
          </a:p>
        </p:txBody>
      </p:sp>
      <p:sp>
        <p:nvSpPr>
          <p:cNvPr id="4" name="矩形 3">
            <a:extLst>
              <a:ext uri="{FF2B5EF4-FFF2-40B4-BE49-F238E27FC236}">
                <a16:creationId xmlns:a16="http://schemas.microsoft.com/office/drawing/2014/main" id="{CCF42E16-3BCD-B3DE-237E-FCE70E3111B9}"/>
              </a:ext>
            </a:extLst>
          </p:cNvPr>
          <p:cNvSpPr/>
          <p:nvPr/>
        </p:nvSpPr>
        <p:spPr>
          <a:xfrm>
            <a:off x="801092" y="2446417"/>
            <a:ext cx="10589815" cy="36987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441939373"/>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使用图割分割区域</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65719475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26E5A7-0977-2443-77D3-9AD8424F92B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作为图的图像</a:t>
            </a:r>
          </a:p>
        </p:txBody>
      </p:sp>
      <p:sp>
        <p:nvSpPr>
          <p:cNvPr id="3" name="文本占位符 2">
            <a:extLst>
              <a:ext uri="{FF2B5EF4-FFF2-40B4-BE49-F238E27FC236}">
                <a16:creationId xmlns:a16="http://schemas.microsoft.com/office/drawing/2014/main" id="{A79F730E-A9FC-35BD-3218-EB23C510FF3B}"/>
              </a:ext>
            </a:extLst>
          </p:cNvPr>
          <p:cNvSpPr>
            <a:spLocks noGrp="1"/>
          </p:cNvSpPr>
          <p:nvPr>
            <p:ph sz="quarter" idx="11"/>
          </p:nvPr>
        </p:nvSpPr>
        <p:spPr/>
        <p:txBody>
          <a:bodyPr/>
          <a:lstStyle/>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10.53</a:t>
            </a:r>
            <a:r>
              <a:rPr lang="zh-CN" altLang="en-US" b="0" i="0" u="none" strike="noStrike" baseline="0" dirty="0">
                <a:solidFill>
                  <a:srgbClr val="000000"/>
                </a:solidFill>
                <a:cs typeface="+mn-ea"/>
                <a:sym typeface="+mn-lt"/>
              </a:rPr>
              <a:t>显示了由图像生成图的一种简化方法。图中的节点对应于图像中的像素，为便于说明， 我们只允许相邻像素之间的边使用</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连通，这意味着不存在连接这些像素的对角边。</a:t>
            </a:r>
          </a:p>
        </p:txBody>
      </p:sp>
      <p:pic>
        <p:nvPicPr>
          <p:cNvPr id="5" name="图片 4">
            <a:extLst>
              <a:ext uri="{FF2B5EF4-FFF2-40B4-BE49-F238E27FC236}">
                <a16:creationId xmlns:a16="http://schemas.microsoft.com/office/drawing/2014/main" id="{24C9729B-6AF2-95C1-FE56-601B35F63463}"/>
              </a:ext>
            </a:extLst>
          </p:cNvPr>
          <p:cNvPicPr>
            <a:picLocks noChangeAspect="1"/>
          </p:cNvPicPr>
          <p:nvPr/>
        </p:nvPicPr>
        <p:blipFill>
          <a:blip r:embed="rId2"/>
          <a:stretch>
            <a:fillRect/>
          </a:stretch>
        </p:blipFill>
        <p:spPr>
          <a:xfrm>
            <a:off x="3441108" y="3517490"/>
            <a:ext cx="5309781" cy="3099619"/>
          </a:xfrm>
          <a:prstGeom prst="rect">
            <a:avLst/>
          </a:prstGeom>
        </p:spPr>
      </p:pic>
      <p:sp>
        <p:nvSpPr>
          <p:cNvPr id="7" name="矩形 6">
            <a:extLst>
              <a:ext uri="{FF2B5EF4-FFF2-40B4-BE49-F238E27FC236}">
                <a16:creationId xmlns:a16="http://schemas.microsoft.com/office/drawing/2014/main" id="{3AEE115D-DBD1-93F1-144F-2F13D3A00411}"/>
              </a:ext>
            </a:extLst>
          </p:cNvPr>
          <p:cNvSpPr/>
          <p:nvPr/>
        </p:nvSpPr>
        <p:spPr>
          <a:xfrm>
            <a:off x="801092" y="2446417"/>
            <a:ext cx="10589815" cy="98258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948366532"/>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55285-BC88-D3D1-4A80-E3C4704E900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最小图割</a:t>
            </a:r>
          </a:p>
        </p:txBody>
      </p:sp>
      <p:sp>
        <p:nvSpPr>
          <p:cNvPr id="3" name="文本占位符 2">
            <a:extLst>
              <a:ext uri="{FF2B5EF4-FFF2-40B4-BE49-F238E27FC236}">
                <a16:creationId xmlns:a16="http://schemas.microsoft.com/office/drawing/2014/main" id="{8849CDAB-D5D9-95FB-DFD9-F7B75CA41101}"/>
              </a:ext>
            </a:extLst>
          </p:cNvPr>
          <p:cNvSpPr>
            <a:spLocks noGrp="1"/>
          </p:cNvSpPr>
          <p:nvPr>
            <p:ph sz="quarter" idx="11"/>
          </p:nvPr>
        </p:nvSpPr>
        <p:spPr>
          <a:xfrm>
            <a:off x="801093" y="2432500"/>
            <a:ext cx="5943835" cy="3540427"/>
          </a:xfrm>
        </p:spPr>
        <p:txBody>
          <a:bodyPr/>
          <a:lstStyle/>
          <a:p>
            <a:pPr marL="0" marR="830" lvl="0" indent="0" rtl="0">
              <a:buNone/>
            </a:pPr>
            <a:r>
              <a:rPr lang="zh-CN" altLang="en-US" b="0" i="0" u="none" strike="noStrike" baseline="0" dirty="0">
                <a:solidFill>
                  <a:srgbClr val="000000"/>
                </a:solidFill>
                <a:cs typeface="+mn-ea"/>
                <a:sym typeface="+mn-lt"/>
              </a:rPr>
              <a:t>基于图</a:t>
            </a:r>
            <a:r>
              <a:rPr lang="en-US" altLang="zh-CN" b="0" i="0" u="none" strike="noStrike" baseline="0" dirty="0">
                <a:solidFill>
                  <a:srgbClr val="000000"/>
                </a:solidFill>
                <a:cs typeface="+mn-ea"/>
                <a:sym typeface="+mn-lt"/>
              </a:rPr>
              <a:t>10.54</a:t>
            </a:r>
            <a:r>
              <a:rPr lang="zh-CN" altLang="en-US" b="0" i="0" u="none" strike="noStrike" baseline="0" dirty="0">
                <a:solidFill>
                  <a:srgbClr val="000000"/>
                </a:solidFill>
                <a:cs typeface="+mn-ea"/>
                <a:sym typeface="+mn-lt"/>
              </a:rPr>
              <a:t>的方法，依赖于将图解释为流网络</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如管道</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并得到通常称为最小图割的内容。这一表述依据的是所谓的最大流、最小割定理。这个定理指出，在流网络中，从源终端节点传递到汇聚终端节点的最大流量等于最小割。最小割定义为边的最小总权重，若删除它，则会断开汇聚终端节点与源终端节点：</a:t>
            </a:r>
          </a:p>
        </p:txBody>
      </p:sp>
      <p:pic>
        <p:nvPicPr>
          <p:cNvPr id="5" name="图片 4">
            <a:extLst>
              <a:ext uri="{FF2B5EF4-FFF2-40B4-BE49-F238E27FC236}">
                <a16:creationId xmlns:a16="http://schemas.microsoft.com/office/drawing/2014/main" id="{A1AE7650-91EC-3F36-383B-63AA7DFAB316}"/>
              </a:ext>
            </a:extLst>
          </p:cNvPr>
          <p:cNvPicPr>
            <a:picLocks noChangeAspect="1"/>
          </p:cNvPicPr>
          <p:nvPr/>
        </p:nvPicPr>
        <p:blipFill rotWithShape="1">
          <a:blip r:embed="rId2"/>
          <a:srcRect b="9379"/>
          <a:stretch/>
        </p:blipFill>
        <p:spPr>
          <a:xfrm>
            <a:off x="2357165" y="5302225"/>
            <a:ext cx="2541350" cy="647719"/>
          </a:xfrm>
          <a:prstGeom prst="rect">
            <a:avLst/>
          </a:prstGeom>
        </p:spPr>
      </p:pic>
      <p:pic>
        <p:nvPicPr>
          <p:cNvPr id="7" name="图片 6">
            <a:extLst>
              <a:ext uri="{FF2B5EF4-FFF2-40B4-BE49-F238E27FC236}">
                <a16:creationId xmlns:a16="http://schemas.microsoft.com/office/drawing/2014/main" id="{D4B2C0F0-48D5-DF48-2DA3-CA5E709ADDFD}"/>
              </a:ext>
            </a:extLst>
          </p:cNvPr>
          <p:cNvPicPr>
            <a:picLocks noChangeAspect="1"/>
          </p:cNvPicPr>
          <p:nvPr/>
        </p:nvPicPr>
        <p:blipFill>
          <a:blip r:embed="rId3"/>
          <a:stretch>
            <a:fillRect/>
          </a:stretch>
        </p:blipFill>
        <p:spPr>
          <a:xfrm>
            <a:off x="6933045" y="2641633"/>
            <a:ext cx="4156912" cy="3308311"/>
          </a:xfrm>
          <a:prstGeom prst="rect">
            <a:avLst/>
          </a:prstGeom>
        </p:spPr>
      </p:pic>
      <p:sp>
        <p:nvSpPr>
          <p:cNvPr id="8" name="矩形 7">
            <a:extLst>
              <a:ext uri="{FF2B5EF4-FFF2-40B4-BE49-F238E27FC236}">
                <a16:creationId xmlns:a16="http://schemas.microsoft.com/office/drawing/2014/main" id="{98D9B322-0A45-E84A-4EA6-825183DFA32C}"/>
              </a:ext>
            </a:extLst>
          </p:cNvPr>
          <p:cNvSpPr/>
          <p:nvPr/>
        </p:nvSpPr>
        <p:spPr>
          <a:xfrm>
            <a:off x="801092" y="2446417"/>
            <a:ext cx="10589815" cy="36987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042949718"/>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07424E-6523-C483-E9B7-2FD662426F1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图割分割算法</a:t>
            </a:r>
          </a:p>
        </p:txBody>
      </p:sp>
      <p:sp>
        <p:nvSpPr>
          <p:cNvPr id="3" name="文本占位符 2">
            <a:extLst>
              <a:ext uri="{FF2B5EF4-FFF2-40B4-BE49-F238E27FC236}">
                <a16:creationId xmlns:a16="http://schemas.microsoft.com/office/drawing/2014/main" id="{1DE4065C-E27F-120F-0F10-A8588DADBE98}"/>
              </a:ext>
            </a:extLst>
          </p:cNvPr>
          <p:cNvSpPr>
            <a:spLocks noGrp="1"/>
          </p:cNvSpPr>
          <p:nvPr>
            <p:ph sz="quarter" idx="11"/>
          </p:nvPr>
        </p:nvSpPr>
        <p:spPr/>
        <p:txBody>
          <a:bodyPr>
            <a:normAutofit/>
          </a:bodyPr>
          <a:lstStyle/>
          <a:p>
            <a:pPr marL="0" marR="83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给定一组特征，规定一个加权图 </a:t>
            </a:r>
            <a:r>
              <a:rPr lang="en-US" altLang="zh-CN" b="0" i="0" u="none" strike="noStrike" baseline="0" dirty="0">
                <a:solidFill>
                  <a:srgbClr val="000000"/>
                </a:solidFill>
                <a:cs typeface="+mn-ea"/>
                <a:sym typeface="+mn-lt"/>
              </a:rPr>
              <a:t>G=(V,E),</a:t>
            </a:r>
            <a:r>
              <a:rPr lang="zh-CN" altLang="en-US" b="0" i="0" u="none" strike="noStrike" baseline="0" dirty="0">
                <a:solidFill>
                  <a:srgbClr val="000000"/>
                </a:solidFill>
                <a:cs typeface="+mn-ea"/>
                <a:sym typeface="+mn-lt"/>
              </a:rPr>
              <a:t>  其中</a:t>
            </a:r>
            <a:r>
              <a:rPr lang="en-US" altLang="zh-CN" b="0" i="0" u="none" strike="noStrike" baseline="0" dirty="0">
                <a:solidFill>
                  <a:srgbClr val="000000"/>
                </a:solidFill>
                <a:cs typeface="+mn-ea"/>
                <a:sym typeface="+mn-lt"/>
              </a:rPr>
              <a:t>V</a:t>
            </a:r>
            <a:r>
              <a:rPr lang="zh-CN" altLang="en-US" b="0" i="0" u="none" strike="noStrike" baseline="0" dirty="0">
                <a:solidFill>
                  <a:srgbClr val="000000"/>
                </a:solidFill>
                <a:cs typeface="+mn-ea"/>
                <a:sym typeface="+mn-lt"/>
              </a:rPr>
              <a:t> 包含特征空间中的点，</a:t>
            </a:r>
            <a:r>
              <a:rPr lang="en-US" altLang="zh-CN" b="0" i="0" u="none" strike="noStrike" baseline="0" dirty="0">
                <a:solidFill>
                  <a:srgbClr val="000000"/>
                </a:solidFill>
                <a:cs typeface="+mn-ea"/>
                <a:sym typeface="+mn-lt"/>
              </a:rPr>
              <a:t>E</a:t>
            </a:r>
            <a:r>
              <a:rPr lang="zh-CN" altLang="en-US" b="0" i="0" u="none" strike="noStrike" baseline="0" dirty="0">
                <a:solidFill>
                  <a:srgbClr val="000000"/>
                </a:solidFill>
                <a:cs typeface="+mn-ea"/>
                <a:sym typeface="+mn-lt"/>
              </a:rPr>
              <a:t>包含图的边。计算边的权值，并用它们构建矩阵</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 令</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表示图中所需的分区数量。</a:t>
            </a:r>
          </a:p>
          <a:p>
            <a:pPr marL="0" marR="83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解本征值系统</a:t>
            </a:r>
            <a:r>
              <a:rPr lang="en-US" altLang="zh-CN" b="0" i="0" u="none" strike="noStrike" baseline="0" dirty="0">
                <a:solidFill>
                  <a:srgbClr val="000000"/>
                </a:solidFill>
                <a:cs typeface="+mn-ea"/>
                <a:sym typeface="+mn-lt"/>
              </a:rPr>
              <a:t>(D-W)y=</a:t>
            </a:r>
            <a:r>
              <a:rPr lang="en-US" altLang="zh-CN" b="0" i="0" u="none" strike="noStrike" baseline="0" dirty="0" err="1">
                <a:solidFill>
                  <a:srgbClr val="000000"/>
                </a:solidFill>
                <a:cs typeface="+mn-ea"/>
                <a:sym typeface="+mn-lt"/>
              </a:rPr>
              <a:t>ADy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求出具有第二最小本征值的特征向量。</a:t>
            </a:r>
          </a:p>
          <a:p>
            <a:pPr marL="0" marR="83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使用步骤</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中的本征向量，通过求使得 </a:t>
            </a:r>
            <a:r>
              <a:rPr lang="en-US" altLang="zh-CN" b="0" i="0" u="none" strike="noStrike" baseline="0" dirty="0" err="1">
                <a:solidFill>
                  <a:srgbClr val="000000"/>
                </a:solidFill>
                <a:cs typeface="+mn-ea"/>
                <a:sym typeface="+mn-lt"/>
              </a:rPr>
              <a:t>Ncut</a:t>
            </a:r>
            <a:r>
              <a:rPr lang="en-US" altLang="zh-CN" b="0" i="0" u="none" strike="noStrike" baseline="0" dirty="0">
                <a:solidFill>
                  <a:srgbClr val="000000"/>
                </a:solidFill>
                <a:cs typeface="+mn-ea"/>
                <a:sym typeface="+mn-lt"/>
              </a:rPr>
              <a:t>(A,B)</a:t>
            </a:r>
            <a:r>
              <a:rPr lang="zh-CN" altLang="en-US" b="0" i="0" u="none" strike="noStrike" baseline="0" dirty="0">
                <a:solidFill>
                  <a:srgbClr val="000000"/>
                </a:solidFill>
                <a:cs typeface="+mn-ea"/>
                <a:sym typeface="+mn-lt"/>
              </a:rPr>
              <a:t>最小的分离点，对图进行二分。</a:t>
            </a:r>
          </a:p>
          <a:p>
            <a:pPr marL="0" marR="830" lvl="0" indent="0" rtl="0">
              <a:buNone/>
            </a:pP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 如果切割数未达到</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 那么通过检查切割的稳定性来确定是否应细分当前的分区。</a:t>
            </a:r>
          </a:p>
          <a:p>
            <a:pPr marL="0" marR="830" lvl="0" indent="0" rtl="0">
              <a:buNone/>
            </a:pPr>
            <a:r>
              <a:rPr lang="en-US" altLang="zh-CN" b="0" i="0" u="none" strike="noStrike" baseline="0" dirty="0">
                <a:solidFill>
                  <a:srgbClr val="000000"/>
                </a:solidFill>
                <a:cs typeface="+mn-ea"/>
                <a:sym typeface="+mn-lt"/>
              </a:rPr>
              <a:t>5.</a:t>
            </a:r>
            <a:r>
              <a:rPr lang="zh-CN" altLang="en-US" b="0" i="0" u="none" strike="noStrike" baseline="0" dirty="0">
                <a:solidFill>
                  <a:srgbClr val="000000"/>
                </a:solidFill>
                <a:cs typeface="+mn-ea"/>
                <a:sym typeface="+mn-lt"/>
              </a:rPr>
              <a:t> 必要时，递归地重新划分已分割部分。</a:t>
            </a:r>
          </a:p>
        </p:txBody>
      </p:sp>
      <p:sp>
        <p:nvSpPr>
          <p:cNvPr id="4" name="矩形 3">
            <a:extLst>
              <a:ext uri="{FF2B5EF4-FFF2-40B4-BE49-F238E27FC236}">
                <a16:creationId xmlns:a16="http://schemas.microsoft.com/office/drawing/2014/main" id="{F77282D8-3FF0-B879-CB2A-3B4849C52E46}"/>
              </a:ext>
            </a:extLst>
          </p:cNvPr>
          <p:cNvSpPr/>
          <p:nvPr/>
        </p:nvSpPr>
        <p:spPr>
          <a:xfrm>
            <a:off x="801092" y="2446417"/>
            <a:ext cx="10589815" cy="36987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100450911"/>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46991" y="2221637"/>
            <a:ext cx="5087013" cy="3091835"/>
            <a:chOff x="6265924" y="2292214"/>
            <a:chExt cx="5087013"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265924" y="3937499"/>
              <a:ext cx="508701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使用形态学分水岭分割图像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6403788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467E5-F25C-A5E5-674E-93EA1667A4D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构建水坝</a:t>
            </a:r>
          </a:p>
        </p:txBody>
      </p:sp>
      <p:sp>
        <p:nvSpPr>
          <p:cNvPr id="3" name="文本占位符 2">
            <a:extLst>
              <a:ext uri="{FF2B5EF4-FFF2-40B4-BE49-F238E27FC236}">
                <a16:creationId xmlns:a16="http://schemas.microsoft.com/office/drawing/2014/main" id="{6DD46958-5ABA-DC94-3E9B-88219A0C0DC2}"/>
              </a:ext>
            </a:extLst>
          </p:cNvPr>
          <p:cNvSpPr>
            <a:spLocks noGrp="1"/>
          </p:cNvSpPr>
          <p:nvPr>
            <p:ph sz="quarter" idx="11"/>
          </p:nvPr>
        </p:nvSpPr>
        <p:spPr>
          <a:xfrm>
            <a:off x="801093" y="2432500"/>
            <a:ext cx="6120817" cy="3540427"/>
          </a:xfrm>
        </p:spPr>
        <p:txBody>
          <a:bodyPr/>
          <a:lstStyle/>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10.58</a:t>
            </a:r>
            <a:r>
              <a:rPr lang="zh-CN" altLang="en-US" b="0" i="0" u="none" strike="noStrike" baseline="0" dirty="0">
                <a:solidFill>
                  <a:srgbClr val="000000"/>
                </a:solidFill>
                <a:cs typeface="+mn-ea"/>
                <a:sym typeface="+mn-lt"/>
              </a:rPr>
              <a:t>说明了使用形态学膨胀来构建水坝的基础知识。</a:t>
            </a:r>
            <a:endParaRPr lang="en-US" altLang="zh-CN" b="0" i="0" u="none" strike="noStrike" baseline="0" dirty="0">
              <a:solidFill>
                <a:srgbClr val="000000"/>
              </a:solidFill>
              <a:cs typeface="+mn-ea"/>
              <a:sym typeface="+mn-lt"/>
            </a:endParaRPr>
          </a:p>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10.58(a)</a:t>
            </a:r>
            <a:r>
              <a:rPr lang="zh-CN" altLang="en-US" b="0" i="0" u="none" strike="noStrike" baseline="0" dirty="0">
                <a:solidFill>
                  <a:srgbClr val="000000"/>
                </a:solidFill>
                <a:cs typeface="+mn-ea"/>
                <a:sym typeface="+mn-lt"/>
              </a:rPr>
              <a:t>显示了洪水泛滥第</a:t>
            </a:r>
            <a:r>
              <a:rPr lang="en-US" altLang="zh-CN" b="0" i="0" u="none" strike="noStrike" baseline="0" dirty="0">
                <a:solidFill>
                  <a:srgbClr val="000000"/>
                </a:solidFill>
                <a:cs typeface="+mn-ea"/>
                <a:sym typeface="+mn-lt"/>
              </a:rPr>
              <a:t>n-1</a:t>
            </a:r>
            <a:r>
              <a:rPr lang="zh-CN" altLang="en-US" b="0" i="0" u="none" strike="noStrike" baseline="0" dirty="0">
                <a:solidFill>
                  <a:srgbClr val="000000"/>
                </a:solidFill>
                <a:cs typeface="+mn-ea"/>
                <a:sym typeface="+mn-lt"/>
              </a:rPr>
              <a:t>步时的两个汇水盆地的一部分。</a:t>
            </a:r>
            <a:endParaRPr lang="en-US" altLang="zh-CN" b="0" i="0" u="none" strike="noStrike" baseline="0" dirty="0">
              <a:solidFill>
                <a:srgbClr val="000000"/>
              </a:solidFill>
              <a:cs typeface="+mn-ea"/>
              <a:sym typeface="+mn-lt"/>
            </a:endParaRPr>
          </a:p>
          <a:p>
            <a:pPr marL="0" marR="83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10.58(b)</a:t>
            </a:r>
            <a:r>
              <a:rPr lang="zh-CN" altLang="en-US" b="0" i="0" u="none" strike="noStrike" baseline="0" dirty="0">
                <a:solidFill>
                  <a:srgbClr val="000000"/>
                </a:solidFill>
                <a:cs typeface="+mn-ea"/>
                <a:sym typeface="+mn-lt"/>
              </a:rPr>
              <a:t>显示了洪水泛滥第</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步的结果。</a:t>
            </a:r>
          </a:p>
        </p:txBody>
      </p:sp>
      <p:pic>
        <p:nvPicPr>
          <p:cNvPr id="5" name="图片 4">
            <a:extLst>
              <a:ext uri="{FF2B5EF4-FFF2-40B4-BE49-F238E27FC236}">
                <a16:creationId xmlns:a16="http://schemas.microsoft.com/office/drawing/2014/main" id="{3340B0C9-11B4-886D-13BD-26D21C5F66E4}"/>
              </a:ext>
            </a:extLst>
          </p:cNvPr>
          <p:cNvPicPr>
            <a:picLocks noChangeAspect="1"/>
          </p:cNvPicPr>
          <p:nvPr/>
        </p:nvPicPr>
        <p:blipFill>
          <a:blip r:embed="rId2"/>
          <a:stretch>
            <a:fillRect/>
          </a:stretch>
        </p:blipFill>
        <p:spPr>
          <a:xfrm>
            <a:off x="7602912" y="2447231"/>
            <a:ext cx="3106992" cy="3739897"/>
          </a:xfrm>
          <a:prstGeom prst="rect">
            <a:avLst/>
          </a:prstGeom>
        </p:spPr>
      </p:pic>
      <p:sp>
        <p:nvSpPr>
          <p:cNvPr id="6" name="矩形 5">
            <a:extLst>
              <a:ext uri="{FF2B5EF4-FFF2-40B4-BE49-F238E27FC236}">
                <a16:creationId xmlns:a16="http://schemas.microsoft.com/office/drawing/2014/main" id="{086B9335-7D9F-19BA-1569-27E7B42F5B94}"/>
              </a:ext>
            </a:extLst>
          </p:cNvPr>
          <p:cNvSpPr/>
          <p:nvPr/>
        </p:nvSpPr>
        <p:spPr>
          <a:xfrm>
            <a:off x="801092" y="2446417"/>
            <a:ext cx="10589815" cy="36987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18277076"/>
      </p:ext>
    </p:extLst>
  </p:cSld>
  <p:clrMapOvr>
    <a:masterClrMapping/>
  </p:clrMapOvr>
  <p:transition spd="slow" advTm="0">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D5A85-34B6-08A8-393E-0B4968594E7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分水岭分割算法</a:t>
            </a:r>
          </a:p>
        </p:txBody>
      </p:sp>
      <p:sp>
        <p:nvSpPr>
          <p:cNvPr id="3" name="文本占位符 2">
            <a:extLst>
              <a:ext uri="{FF2B5EF4-FFF2-40B4-BE49-F238E27FC236}">
                <a16:creationId xmlns:a16="http://schemas.microsoft.com/office/drawing/2014/main" id="{95FD9CFB-42C3-BA27-1EA5-ED174343AEEB}"/>
              </a:ext>
            </a:extLst>
          </p:cNvPr>
          <p:cNvSpPr>
            <a:spLocks noGrp="1"/>
          </p:cNvSpPr>
          <p:nvPr>
            <p:ph sz="quarter" idx="12"/>
          </p:nvPr>
        </p:nvSpPr>
        <p:spPr/>
        <p:txBody>
          <a:bodyPr/>
          <a:lstStyle/>
          <a:p>
            <a:pPr marL="0" marR="830" lvl="0" indent="0" rtl="0">
              <a:buNone/>
            </a:pPr>
            <a:r>
              <a:rPr lang="zh-CN" altLang="en-US" b="0" i="0" u="none" strike="noStrike" baseline="0" dirty="0">
                <a:solidFill>
                  <a:srgbClr val="000000"/>
                </a:solidFill>
                <a:cs typeface="+mn-ea"/>
                <a:sym typeface="+mn-lt"/>
              </a:rPr>
              <a:t>令</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₁</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,…,Mg</a:t>
            </a:r>
            <a:r>
              <a:rPr lang="zh-CN" altLang="en-US" b="0" i="0" u="none" strike="noStrike" baseline="0" dirty="0">
                <a:solidFill>
                  <a:srgbClr val="000000"/>
                </a:solidFill>
                <a:cs typeface="+mn-ea"/>
                <a:sym typeface="+mn-lt"/>
              </a:rPr>
              <a:t> 是图像</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的区域极小值中的点的坐标集。如前所述，这通常是一幅梯度图像。令</a:t>
            </a:r>
            <a:r>
              <a:rPr lang="en-US" altLang="zh-CN" b="0" i="0" u="none" strike="noStrike" baseline="0" dirty="0">
                <a:solidFill>
                  <a:srgbClr val="000000"/>
                </a:solidFill>
                <a:cs typeface="+mn-ea"/>
                <a:sym typeface="+mn-lt"/>
              </a:rPr>
              <a:t>C(M</a:t>
            </a:r>
            <a:r>
              <a:rPr lang="en-US" altLang="zh-CN" sz="1100" dirty="0">
                <a:solidFill>
                  <a:srgbClr val="000000"/>
                </a:solidFill>
                <a:cs typeface="+mn-ea"/>
                <a:sym typeface="+mn-lt"/>
              </a:rPr>
              <a:t>i</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是与区域极小值</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相关联的汇水盆地中的点的坐标集</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回顾可知任何汇水盆地中的点形成一个连通分量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。符号</a:t>
            </a:r>
            <a:r>
              <a:rPr lang="en-US" altLang="zh-CN" b="0" i="0" u="none" strike="noStrike" baseline="0" dirty="0">
                <a:solidFill>
                  <a:srgbClr val="000000"/>
                </a:solidFill>
                <a:cs typeface="+mn-ea"/>
                <a:sym typeface="+mn-lt"/>
              </a:rPr>
              <a:t>min</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max</a:t>
            </a:r>
            <a:r>
              <a:rPr lang="zh-CN" altLang="en-US" b="0" i="0" u="none" strike="noStrike" baseline="0" dirty="0">
                <a:solidFill>
                  <a:srgbClr val="000000"/>
                </a:solidFill>
                <a:cs typeface="+mn-ea"/>
                <a:sym typeface="+mn-lt"/>
              </a:rPr>
              <a:t>表示</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的极小值和极大值。最后，令</a:t>
            </a:r>
            <a:r>
              <a:rPr lang="en-US" altLang="zh-CN" b="0" i="0" u="none" strike="noStrike" baseline="0" dirty="0">
                <a:solidFill>
                  <a:srgbClr val="000000"/>
                </a:solidFill>
                <a:cs typeface="+mn-ea"/>
                <a:sym typeface="+mn-lt"/>
              </a:rPr>
              <a:t>T[n]</a:t>
            </a:r>
            <a:r>
              <a:rPr lang="zh-CN" altLang="en-US" b="0" i="0" u="none" strike="noStrike" baseline="0" dirty="0">
                <a:solidFill>
                  <a:srgbClr val="000000"/>
                </a:solidFill>
                <a:cs typeface="+mn-ea"/>
                <a:sym typeface="+mn-lt"/>
              </a:rPr>
              <a:t>表示满足</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s,t</a:t>
            </a:r>
            <a:r>
              <a:rPr lang="en-US" altLang="zh-CN" b="0" i="0" u="none" strike="noStrike" baseline="0" dirty="0">
                <a:solidFill>
                  <a:srgbClr val="000000"/>
                </a:solidFill>
                <a:cs typeface="+mn-ea"/>
                <a:sym typeface="+mn-lt"/>
              </a:rPr>
              <a:t>)&lt;n</a:t>
            </a:r>
            <a:r>
              <a:rPr lang="zh-CN" altLang="en-US" b="0" i="0" u="none" strike="noStrike" baseline="0" dirty="0">
                <a:solidFill>
                  <a:srgbClr val="000000"/>
                </a:solidFill>
                <a:cs typeface="+mn-ea"/>
                <a:sym typeface="+mn-lt"/>
              </a:rPr>
              <a:t> 的坐标</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s,t</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的集合，即</a:t>
            </a:r>
          </a:p>
        </p:txBody>
      </p:sp>
      <p:pic>
        <p:nvPicPr>
          <p:cNvPr id="5" name="图片 4">
            <a:extLst>
              <a:ext uri="{FF2B5EF4-FFF2-40B4-BE49-F238E27FC236}">
                <a16:creationId xmlns:a16="http://schemas.microsoft.com/office/drawing/2014/main" id="{69C2ECE7-1CF2-C821-F21D-4B1275156F3A}"/>
              </a:ext>
            </a:extLst>
          </p:cNvPr>
          <p:cNvPicPr>
            <a:picLocks noChangeAspect="1"/>
          </p:cNvPicPr>
          <p:nvPr/>
        </p:nvPicPr>
        <p:blipFill>
          <a:blip r:embed="rId2"/>
          <a:stretch>
            <a:fillRect/>
          </a:stretch>
        </p:blipFill>
        <p:spPr>
          <a:xfrm>
            <a:off x="4219716" y="4738226"/>
            <a:ext cx="3752566" cy="716399"/>
          </a:xfrm>
          <a:prstGeom prst="rect">
            <a:avLst/>
          </a:prstGeom>
        </p:spPr>
      </p:pic>
    </p:spTree>
    <p:extLst>
      <p:ext uri="{BB962C8B-B14F-4D97-AF65-F5344CB8AC3E}">
        <p14:creationId xmlns:p14="http://schemas.microsoft.com/office/powerpoint/2010/main" val="185208681"/>
      </p:ext>
    </p:extLst>
  </p:cSld>
  <p:clrMapOvr>
    <a:masterClrMapping/>
  </p:clrMapOvr>
  <p:transition spd="slow" advTm="0">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857563-8B67-5A04-4B0B-BC372835F5D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标记的使用</a:t>
            </a:r>
          </a:p>
        </p:txBody>
      </p:sp>
      <p:sp>
        <p:nvSpPr>
          <p:cNvPr id="3" name="文本占位符 2">
            <a:extLst>
              <a:ext uri="{FF2B5EF4-FFF2-40B4-BE49-F238E27FC236}">
                <a16:creationId xmlns:a16="http://schemas.microsoft.com/office/drawing/2014/main" id="{BC579DEB-BA0E-D3E5-5BC4-0072EC234C9F}"/>
              </a:ext>
            </a:extLst>
          </p:cNvPr>
          <p:cNvSpPr>
            <a:spLocks noGrp="1"/>
          </p:cNvSpPr>
          <p:nvPr>
            <p:ph sz="quarter" idx="11"/>
          </p:nvPr>
        </p:nvSpPr>
        <p:spPr/>
        <p:txBody>
          <a:bodyPr/>
          <a:lstStyle/>
          <a:p>
            <a:pPr marL="0" marR="830" lvl="0" indent="0" rtl="0">
              <a:buNone/>
            </a:pPr>
            <a:r>
              <a:rPr lang="zh-CN" altLang="en-US" b="0" i="0" u="none" strike="noStrike" baseline="0" dirty="0">
                <a:solidFill>
                  <a:srgbClr val="000000"/>
                </a:solidFill>
                <a:cs typeface="+mn-ea"/>
                <a:sym typeface="+mn-lt"/>
              </a:rPr>
              <a:t>直接应用前一节中讨论的分水岭分割算法时，通常会因噪声和梯度的其他局部不规则性导致过度 分割。如图</a:t>
            </a:r>
            <a:r>
              <a:rPr lang="en-US" altLang="zh-CN" b="0" i="0" u="none" strike="noStrike" baseline="0" dirty="0">
                <a:solidFill>
                  <a:srgbClr val="000000"/>
                </a:solidFill>
                <a:cs typeface="+mn-ea"/>
                <a:sym typeface="+mn-lt"/>
              </a:rPr>
              <a:t>10.60</a:t>
            </a:r>
            <a:r>
              <a:rPr lang="zh-CN" altLang="en-US" b="0" i="0" u="none" strike="noStrike" baseline="0" dirty="0">
                <a:solidFill>
                  <a:srgbClr val="000000"/>
                </a:solidFill>
                <a:cs typeface="+mn-ea"/>
                <a:sym typeface="+mn-lt"/>
              </a:rPr>
              <a:t>所示，过度分割会严重到足以令算法得到的结果变得毫无用处。在这种情况下，这意味着存在大量分割后的区域。这个问题的一个实际解决方案是，在分割过程中加入一个预处理阶段来限制允许区域的数量，进而为分割过程提供更多额外的知识。</a:t>
            </a:r>
          </a:p>
        </p:txBody>
      </p:sp>
      <p:pic>
        <p:nvPicPr>
          <p:cNvPr id="5" name="图片 4">
            <a:extLst>
              <a:ext uri="{FF2B5EF4-FFF2-40B4-BE49-F238E27FC236}">
                <a16:creationId xmlns:a16="http://schemas.microsoft.com/office/drawing/2014/main" id="{3DF92B79-A180-1A78-C83A-1E06363499B3}"/>
              </a:ext>
            </a:extLst>
          </p:cNvPr>
          <p:cNvPicPr>
            <a:picLocks noChangeAspect="1"/>
          </p:cNvPicPr>
          <p:nvPr/>
        </p:nvPicPr>
        <p:blipFill>
          <a:blip r:embed="rId2"/>
          <a:stretch>
            <a:fillRect/>
          </a:stretch>
        </p:blipFill>
        <p:spPr>
          <a:xfrm>
            <a:off x="3442327" y="4316361"/>
            <a:ext cx="5320106" cy="2519377"/>
          </a:xfrm>
          <a:prstGeom prst="rect">
            <a:avLst/>
          </a:prstGeom>
        </p:spPr>
      </p:pic>
      <p:sp>
        <p:nvSpPr>
          <p:cNvPr id="6" name="矩形 5">
            <a:extLst>
              <a:ext uri="{FF2B5EF4-FFF2-40B4-BE49-F238E27FC236}">
                <a16:creationId xmlns:a16="http://schemas.microsoft.com/office/drawing/2014/main" id="{00A217E5-D746-5DF7-6AB0-8BFE2812FAFC}"/>
              </a:ext>
            </a:extLst>
          </p:cNvPr>
          <p:cNvSpPr/>
          <p:nvPr/>
        </p:nvSpPr>
        <p:spPr>
          <a:xfrm>
            <a:off x="801092" y="2446417"/>
            <a:ext cx="10589815" cy="18699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933506486"/>
      </p:ext>
    </p:extLst>
  </p:cSld>
  <p:clrMapOvr>
    <a:masterClrMapping/>
  </p:clrMapOvr>
  <p:transition spd="slow" advTm="0">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分割中运动的使用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83517468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CEA0C-865F-4F02-B0EF-EA4E31F2C2B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空间域技术</a:t>
            </a:r>
          </a:p>
        </p:txBody>
      </p:sp>
      <p:sp>
        <p:nvSpPr>
          <p:cNvPr id="3" name="文本占位符 2">
            <a:extLst>
              <a:ext uri="{FF2B5EF4-FFF2-40B4-BE49-F238E27FC236}">
                <a16:creationId xmlns:a16="http://schemas.microsoft.com/office/drawing/2014/main" id="{5AD49ECB-3DB3-E600-66F5-CAE7DF31A0C2}"/>
              </a:ext>
            </a:extLst>
          </p:cNvPr>
          <p:cNvSpPr>
            <a:spLocks noGrp="1"/>
          </p:cNvSpPr>
          <p:nvPr>
            <p:ph sz="quarter" idx="11"/>
          </p:nvPr>
        </p:nvSpPr>
        <p:spPr/>
        <p:txBody>
          <a:bodyPr>
            <a:noAutofit/>
          </a:bodyPr>
          <a:lstStyle/>
          <a:p>
            <a:pPr marL="0" marR="83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基本方法</a:t>
            </a:r>
          </a:p>
          <a:p>
            <a:pPr marL="0" marR="830" lvl="0" indent="0" rtl="0">
              <a:buNone/>
            </a:pPr>
            <a:r>
              <a:rPr lang="zh-CN" altLang="en-US" b="0" i="0" u="none" strike="noStrike" baseline="0" dirty="0">
                <a:solidFill>
                  <a:srgbClr val="000000"/>
                </a:solidFill>
                <a:cs typeface="+mn-ea"/>
                <a:sym typeface="+mn-lt"/>
              </a:rPr>
              <a:t>检测在时刻和</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得到的两帧图像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x,y,t</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x,y,t</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之间的变化的最简方法之一，是逐像素地比较这两幅图像。这样做后得到的是一幅差值图像。</a:t>
            </a:r>
            <a:endParaRPr lang="en-US" altLang="zh-CN" b="0" i="0" u="none" strike="noStrike" baseline="0" dirty="0">
              <a:solidFill>
                <a:srgbClr val="000000"/>
              </a:solidFill>
              <a:cs typeface="+mn-ea"/>
              <a:sym typeface="+mn-lt"/>
            </a:endParaRPr>
          </a:p>
          <a:p>
            <a:pPr marL="0" marR="83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累积差值</a:t>
            </a:r>
          </a:p>
          <a:p>
            <a:pPr marL="0" marR="830" lvl="0" indent="0" rtl="0">
              <a:buNone/>
            </a:pPr>
            <a:r>
              <a:rPr lang="zh-CN" altLang="en-US" b="0" i="0" u="none" strike="noStrike" baseline="0" dirty="0">
                <a:solidFill>
                  <a:srgbClr val="000000"/>
                </a:solidFill>
                <a:cs typeface="+mn-ea"/>
                <a:sym typeface="+mn-lt"/>
              </a:rPr>
              <a:t>考虑由</a:t>
            </a:r>
            <a:r>
              <a:rPr lang="es-ES" altLang="zh-CN" b="0" i="0" u="none" strike="noStrike" baseline="0" dirty="0">
                <a:solidFill>
                  <a:srgbClr val="000000"/>
                </a:solidFill>
                <a:cs typeface="+mn-ea"/>
                <a:sym typeface="+mn-lt"/>
              </a:rPr>
              <a:t>f(x,y,4),f(x,y,t</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x,y,b</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表示的图像帧序列，并令</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x,y,t</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为参考图像。累积差值图像 </a:t>
            </a:r>
            <a:r>
              <a:rPr lang="en-US" altLang="zh-CN" b="0" i="0" u="none" strike="noStrike" baseline="0" dirty="0">
                <a:solidFill>
                  <a:srgbClr val="000000"/>
                </a:solidFill>
                <a:cs typeface="+mn-ea"/>
                <a:sym typeface="+mn-lt"/>
              </a:rPr>
              <a:t>(ADI)</a:t>
            </a:r>
            <a:r>
              <a:rPr lang="zh-CN" altLang="en-US" b="0" i="0" u="none" strike="noStrike" baseline="0" dirty="0">
                <a:solidFill>
                  <a:srgbClr val="000000"/>
                </a:solidFill>
                <a:cs typeface="+mn-ea"/>
                <a:sym typeface="+mn-lt"/>
              </a:rPr>
              <a:t> 是通过将参考图像与序列中的每幅后续图像进行比较形成的。每次参考图像和序列中 的一幅图像在一个像素位置出现一个差值时，累积图像中每个像素位置的计数器计数</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次。</a:t>
            </a:r>
          </a:p>
        </p:txBody>
      </p:sp>
      <p:sp>
        <p:nvSpPr>
          <p:cNvPr id="4" name="矩形 3">
            <a:extLst>
              <a:ext uri="{FF2B5EF4-FFF2-40B4-BE49-F238E27FC236}">
                <a16:creationId xmlns:a16="http://schemas.microsoft.com/office/drawing/2014/main" id="{6F2C0AE6-66A8-C1F3-E58A-01D14F104548}"/>
              </a:ext>
            </a:extLst>
          </p:cNvPr>
          <p:cNvSpPr/>
          <p:nvPr/>
        </p:nvSpPr>
        <p:spPr>
          <a:xfrm>
            <a:off x="801092" y="2446417"/>
            <a:ext cx="10589815" cy="369874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639855173"/>
      </p:ext>
    </p:extLst>
  </p:cSld>
  <p:clrMapOvr>
    <a:masterClrMapping/>
  </p:clrMapOvr>
  <p:transition spd="slow" advTm="0">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CEA0C-865F-4F02-B0EF-EA4E31F2C2B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空间域技术</a:t>
            </a:r>
          </a:p>
        </p:txBody>
      </p:sp>
      <p:sp>
        <p:nvSpPr>
          <p:cNvPr id="3" name="文本占位符 2">
            <a:extLst>
              <a:ext uri="{FF2B5EF4-FFF2-40B4-BE49-F238E27FC236}">
                <a16:creationId xmlns:a16="http://schemas.microsoft.com/office/drawing/2014/main" id="{5AD49ECB-3DB3-E600-66F5-CAE7DF31A0C2}"/>
              </a:ext>
            </a:extLst>
          </p:cNvPr>
          <p:cNvSpPr>
            <a:spLocks noGrp="1"/>
          </p:cNvSpPr>
          <p:nvPr>
            <p:ph sz="quarter" idx="12"/>
          </p:nvPr>
        </p:nvSpPr>
        <p:spPr/>
        <p:txBody>
          <a:bodyPr>
            <a:noAutofit/>
          </a:bodyPr>
          <a:lstStyle/>
          <a:p>
            <a:pPr marL="0" marR="83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建立参考图像</a:t>
            </a:r>
          </a:p>
          <a:p>
            <a:pPr marR="830"/>
            <a:r>
              <a:rPr lang="zh-CN" altLang="en-US" b="0" i="0" u="none" strike="noStrike" baseline="0" dirty="0">
                <a:solidFill>
                  <a:srgbClr val="000000"/>
                </a:solidFill>
                <a:cs typeface="+mn-ea"/>
                <a:sym typeface="+mn-lt"/>
              </a:rPr>
              <a:t>上述技术成功的关键是要有一幅参考图像，以便后续图像能与之进行比较。在动态成像问题中，两幅图像之间的差值倾向于消除图像中的所有固定分量，而只留下对应于噪声和运动目标的图像元素。</a:t>
            </a:r>
          </a:p>
          <a:p>
            <a:pPr marR="830"/>
            <a:r>
              <a:rPr lang="zh-CN" altLang="en-US" b="0" i="0" u="none" strike="noStrike" baseline="0" dirty="0">
                <a:solidFill>
                  <a:srgbClr val="000000"/>
                </a:solidFill>
                <a:cs typeface="+mn-ea"/>
                <a:sym typeface="+mn-lt"/>
              </a:rPr>
              <a:t>只用固定元素得到一幅参考图像并不总是可行的，因此有必要根据一组包含一个或多个运动目标的图像来构建参考图像。描述频繁变化的场景或需要频繁更新的场景时，尤其要这样做。</a:t>
            </a:r>
          </a:p>
        </p:txBody>
      </p:sp>
    </p:spTree>
    <p:extLst>
      <p:ext uri="{BB962C8B-B14F-4D97-AF65-F5344CB8AC3E}">
        <p14:creationId xmlns:p14="http://schemas.microsoft.com/office/powerpoint/2010/main" val="4250340040"/>
      </p:ext>
    </p:extLst>
  </p:cSld>
  <p:clrMapOvr>
    <a:masterClrMapping/>
  </p:clrMapOvr>
  <p:transition spd="slow" advTm="0">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26556027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hpkyvznt">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62</TotalTime>
  <Words>2813</Words>
  <Application>Microsoft Office PowerPoint</Application>
  <PresentationFormat>宽屏</PresentationFormat>
  <Paragraphs>114</Paragraphs>
  <Slides>36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36</vt:i4>
      </vt:variant>
    </vt:vector>
  </HeadingPairs>
  <TitlesOfParts>
    <vt:vector size="40" baseType="lpstr">
      <vt:lpstr>阿里巴巴普惠体</vt:lpstr>
      <vt:lpstr>Arial</vt:lpstr>
      <vt:lpstr>Wingdings</vt:lpstr>
      <vt:lpstr>Office 主题</vt:lpstr>
      <vt:lpstr>PowerPoint 演示文稿</vt:lpstr>
      <vt:lpstr>PowerPoint 演示文稿</vt:lpstr>
      <vt:lpstr>知识</vt:lpstr>
      <vt:lpstr>PowerPoint 演示文稿</vt:lpstr>
      <vt:lpstr>背景知识</vt:lpstr>
      <vt:lpstr>线检测</vt:lpstr>
      <vt:lpstr>边缘模型</vt:lpstr>
      <vt:lpstr>基本边缘检测</vt:lpstr>
      <vt:lpstr>基本边缘检测</vt:lpstr>
      <vt:lpstr>更先进的边缘检测技术</vt:lpstr>
      <vt:lpstr>更先进的边缘检测技术</vt:lpstr>
      <vt:lpstr>连接边缘点</vt:lpstr>
      <vt:lpstr>PowerPoint 演示文稿</vt:lpstr>
      <vt:lpstr>基础知识</vt:lpstr>
      <vt:lpstr>基础知识</vt:lpstr>
      <vt:lpstr>基础知识</vt:lpstr>
      <vt:lpstr>使用边缘改进全局阈值处理</vt:lpstr>
      <vt:lpstr>可变阈值处理</vt:lpstr>
      <vt:lpstr>PowerPoint 演示文稿</vt:lpstr>
      <vt:lpstr>区域生长</vt:lpstr>
      <vt:lpstr>区域分离与聚合</vt:lpstr>
      <vt:lpstr>PowerPoint 演示文稿</vt:lpstr>
      <vt:lpstr>用k均值聚类的区域分割</vt:lpstr>
      <vt:lpstr>使 用 超 像 素 的 区 域 分 割</vt:lpstr>
      <vt:lpstr>PowerPoint 演示文稿</vt:lpstr>
      <vt:lpstr>作为图的图像</vt:lpstr>
      <vt:lpstr>最小图割</vt:lpstr>
      <vt:lpstr>图割分割算法</vt:lpstr>
      <vt:lpstr>PowerPoint 演示文稿</vt:lpstr>
      <vt:lpstr>构建水坝</vt:lpstr>
      <vt:lpstr>分水岭分割算法</vt:lpstr>
      <vt:lpstr>标记的使用</vt:lpstr>
      <vt:lpstr>PowerPoint 演示文稿</vt:lpstr>
      <vt:lpstr>空间域技术</vt:lpstr>
      <vt:lpstr>空间域技术</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 基础知识</dc:title>
  <dc:creator>娜 王</dc:creator>
  <cp:lastModifiedBy>Administrator</cp:lastModifiedBy>
  <cp:revision>4</cp:revision>
  <dcterms:created xsi:type="dcterms:W3CDTF">2023-10-17T02:10:20Z</dcterms:created>
  <dcterms:modified xsi:type="dcterms:W3CDTF">2023-10-20T01:18:28Z</dcterms:modified>
</cp:coreProperties>
</file>