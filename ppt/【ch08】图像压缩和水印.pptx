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91" r:id="rId2"/>
    <p:sldId id="292" r:id="rId3"/>
    <p:sldId id="258" r:id="rId4"/>
    <p:sldId id="259" r:id="rId5"/>
    <p:sldId id="260" r:id="rId6"/>
    <p:sldId id="261" r:id="rId7"/>
    <p:sldId id="262" r:id="rId8"/>
    <p:sldId id="263" r:id="rId9"/>
    <p:sldId id="264" r:id="rId10"/>
    <p:sldId id="293" r:id="rId11"/>
    <p:sldId id="265" r:id="rId12"/>
    <p:sldId id="294" r:id="rId13"/>
    <p:sldId id="266" r:id="rId14"/>
    <p:sldId id="295" r:id="rId15"/>
    <p:sldId id="268" r:id="rId16"/>
    <p:sldId id="296" r:id="rId17"/>
    <p:sldId id="269" r:id="rId18"/>
    <p:sldId id="297" r:id="rId19"/>
    <p:sldId id="271" r:id="rId20"/>
    <p:sldId id="272" r:id="rId21"/>
    <p:sldId id="298" r:id="rId22"/>
    <p:sldId id="274" r:id="rId23"/>
    <p:sldId id="299" r:id="rId24"/>
    <p:sldId id="275" r:id="rId25"/>
    <p:sldId id="300" r:id="rId26"/>
    <p:sldId id="277" r:id="rId27"/>
    <p:sldId id="278" r:id="rId28"/>
    <p:sldId id="279" r:id="rId29"/>
    <p:sldId id="301" r:id="rId30"/>
    <p:sldId id="281" r:id="rId31"/>
    <p:sldId id="282" r:id="rId32"/>
    <p:sldId id="283" r:id="rId33"/>
    <p:sldId id="284" r:id="rId34"/>
    <p:sldId id="302" r:id="rId35"/>
    <p:sldId id="286" r:id="rId36"/>
    <p:sldId id="287" r:id="rId37"/>
    <p:sldId id="288" r:id="rId38"/>
    <p:sldId id="289" r:id="rId39"/>
    <p:sldId id="303" r:id="rId40"/>
    <p:sldId id="290" r:id="rId41"/>
    <p:sldId id="304"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autoAdjust="0"/>
    <p:restoredTop sz="94660"/>
  </p:normalViewPr>
  <p:slideViewPr>
    <p:cSldViewPr snapToGrid="0">
      <p:cViewPr varScale="1">
        <p:scale>
          <a:sx n="66" d="100"/>
          <a:sy n="66" d="100"/>
        </p:scale>
        <p:origin x="3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首页">
    <p:spTree>
      <p:nvGrpSpPr>
        <p:cNvPr id="1" name=""/>
        <p:cNvGrpSpPr/>
        <p:nvPr/>
      </p:nvGrpSpPr>
      <p:grpSpPr>
        <a:xfrm>
          <a:off x="0" y="0"/>
          <a:ext cx="0" cy="0"/>
          <a:chOff x="0" y="0"/>
          <a:chExt cx="0" cy="0"/>
        </a:xfrm>
      </p:grpSpPr>
      <p:sp>
        <p:nvSpPr>
          <p:cNvPr id="17" name="任意多边形: 形状 16"/>
          <p:cNvSpPr/>
          <p:nvPr/>
        </p:nvSpPr>
        <p:spPr>
          <a:xfrm>
            <a:off x="0"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a:off x="2733914" y="5295998"/>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nvGrpSpPr>
          <p:cNvPr id="22" name="组合 21"/>
          <p:cNvGrpSpPr/>
          <p:nvPr/>
        </p:nvGrpSpPr>
        <p:grpSpPr>
          <a:xfrm>
            <a:off x="5389245" y="-304800"/>
            <a:ext cx="7221855" cy="6395720"/>
            <a:chOff x="5389435" y="-304798"/>
            <a:chExt cx="7221666" cy="6395847"/>
          </a:xfrm>
        </p:grpSpPr>
        <p:grpSp>
          <p:nvGrpSpPr>
            <p:cNvPr id="16" name="组合 15"/>
            <p:cNvGrpSpPr/>
            <p:nvPr userDrawn="1"/>
          </p:nvGrpSpPr>
          <p:grpSpPr>
            <a:xfrm>
              <a:off x="5389435" y="-304798"/>
              <a:ext cx="7221666" cy="6395847"/>
              <a:chOff x="4970335" y="-304798"/>
              <a:chExt cx="7221666" cy="6395847"/>
            </a:xfrm>
          </p:grpSpPr>
          <p:sp>
            <p:nvSpPr>
              <p:cNvPr id="9" name="任意多边形: 形状 8"/>
              <p:cNvSpPr/>
              <p:nvPr/>
            </p:nvSpPr>
            <p:spPr>
              <a:xfrm rot="16200000">
                <a:off x="5383244" y="-717707"/>
                <a:ext cx="6395847"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0" name="任意多边形: 形状 9"/>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1" name="椭圆 10"/>
              <p:cNvSpPr/>
              <p:nvPr/>
            </p:nvSpPr>
            <p:spPr>
              <a:xfrm>
                <a:off x="6781800" y="2709637"/>
                <a:ext cx="2438400" cy="2438400"/>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2" name="任意多边形: 形状 11"/>
              <p:cNvSpPr/>
              <p:nvPr/>
            </p:nvSpPr>
            <p:spPr>
              <a:xfrm rot="16200000">
                <a:off x="9418682" y="1817763"/>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cxnSp>
          <p:nvCxnSpPr>
            <p:cNvPr id="21" name="直接连接符 20"/>
            <p:cNvCxnSpPr/>
            <p:nvPr userDrawn="1"/>
          </p:nvCxnSpPr>
          <p:spPr>
            <a:xfrm>
              <a:off x="5427535" y="1957388"/>
              <a:ext cx="168404" cy="328612"/>
            </a:xfrm>
            <a:prstGeom prst="line">
              <a:avLst/>
            </a:prstGeom>
            <a:ln w="12700">
              <a:solidFill>
                <a:srgbClr val="C8CBCD"/>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3357852411"/>
      </p:ext>
    </p:extLst>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3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6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序号页">
    <p:spTree>
      <p:nvGrpSpPr>
        <p:cNvPr id="1" name=""/>
        <p:cNvGrpSpPr/>
        <p:nvPr/>
      </p:nvGrpSpPr>
      <p:grpSpPr>
        <a:xfrm>
          <a:off x="0" y="0"/>
          <a:ext cx="0" cy="0"/>
          <a:chOff x="0" y="0"/>
          <a:chExt cx="0" cy="0"/>
        </a:xfrm>
      </p:grpSpPr>
      <p:grpSp>
        <p:nvGrpSpPr>
          <p:cNvPr id="12" name="组合 11"/>
          <p:cNvGrpSpPr/>
          <p:nvPr/>
        </p:nvGrpSpPr>
        <p:grpSpPr>
          <a:xfrm flipH="1">
            <a:off x="-1697057" y="-344712"/>
            <a:ext cx="7221666" cy="7232166"/>
            <a:chOff x="4970334" y="-304798"/>
            <a:chExt cx="7221666" cy="6431342"/>
          </a:xfrm>
          <a:effectLst>
            <a:outerShdw blurRad="50800" dist="38100" dir="2700000" algn="tl" rotWithShape="0">
              <a:prstClr val="black">
                <a:alpha val="20000"/>
              </a:prstClr>
            </a:outerShdw>
          </a:effectLst>
        </p:grpSpPr>
        <p:sp>
          <p:nvSpPr>
            <p:cNvPr id="13" name="任意多边形: 形状 12"/>
            <p:cNvSpPr/>
            <p:nvPr/>
          </p:nvSpPr>
          <p:spPr>
            <a:xfrm rot="16200000">
              <a:off x="5365496" y="-699960"/>
              <a:ext cx="6431342"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4" name="任意多边形: 形状 13"/>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5" name="椭圆 14"/>
            <p:cNvSpPr/>
            <p:nvPr/>
          </p:nvSpPr>
          <p:spPr>
            <a:xfrm>
              <a:off x="6690135" y="2426414"/>
              <a:ext cx="1961282" cy="1961282"/>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6" name="任意多边形: 形状 15"/>
            <p:cNvSpPr/>
            <p:nvPr/>
          </p:nvSpPr>
          <p:spPr>
            <a:xfrm rot="16200000">
              <a:off x="8765537" y="2166106"/>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sp>
        <p:nvSpPr>
          <p:cNvPr id="23" name="任意多边形: 形状 22"/>
          <p:cNvSpPr/>
          <p:nvPr/>
        </p:nvSpPr>
        <p:spPr>
          <a:xfrm flipH="1">
            <a:off x="10602589"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flipV="1">
            <a:off x="8128592" y="-1372"/>
            <a:ext cx="2978956" cy="1146672"/>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9" name="任意多边形: 形状 18"/>
          <p:cNvSpPr/>
          <p:nvPr/>
        </p:nvSpPr>
        <p:spPr>
          <a:xfrm flipH="1">
            <a:off x="4294452" y="5266545"/>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1124338880"/>
      </p:ext>
    </p:extLst>
  </p:cSld>
  <p:clrMapOvr>
    <a:masterClrMapping/>
  </p:clrMapOvr>
  <p:transition spd="slow" advTm="0">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7"/>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基础</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4219240655"/>
      </p:ext>
    </p:extLst>
  </p:cSld>
  <p:clrMapOvr>
    <a:masterClrMapping/>
  </p:clrMapOvr>
  <p:transition spd="slow" advTm="0">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3" name="内容占位符 22"/>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基础</a:t>
            </a:r>
            <a:endParaRPr lang="zh-CN" altLang="en-US" sz="2800" dirty="0">
              <a:solidFill>
                <a:srgbClr val="0091D9"/>
              </a:solidFill>
            </a:endParaRPr>
          </a:p>
        </p:txBody>
      </p:sp>
    </p:spTree>
    <p:extLst>
      <p:ext uri="{BB962C8B-B14F-4D97-AF65-F5344CB8AC3E}">
        <p14:creationId xmlns:p14="http://schemas.microsoft.com/office/powerpoint/2010/main" val="3986041498"/>
      </p:ext>
    </p:extLst>
  </p:cSld>
  <p:clrMapOvr>
    <a:masterClrMapping/>
  </p:clrMapOvr>
  <p:transition spd="slow" advTm="0">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1">
    <p:spTree>
      <p:nvGrpSpPr>
        <p:cNvPr id="1" name=""/>
        <p:cNvGrpSpPr/>
        <p:nvPr/>
      </p:nvGrpSpPr>
      <p:grpSpPr>
        <a:xfrm>
          <a:off x="0" y="0"/>
          <a:ext cx="0" cy="0"/>
          <a:chOff x="0" y="0"/>
          <a:chExt cx="0" cy="0"/>
        </a:xfrm>
      </p:grpSpPr>
      <p:sp>
        <p:nvSpPr>
          <p:cNvPr id="3" name="矩形 2"/>
          <p:cNvSpPr/>
          <p:nvPr/>
        </p:nvSpPr>
        <p:spPr>
          <a:xfrm>
            <a:off x="0" y="150640"/>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霍夫曼编码</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62AED257-6608-F684-FDF7-453FCBCDB899}"/>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227045466"/>
      </p:ext>
    </p:extLst>
  </p:cSld>
  <p:clrMapOvr>
    <a:masterClrMapping/>
  </p:clrMapOvr>
  <p:transition spd="slow" advTm="0">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霍夫曼编码</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A93AFA8-1552-A5E1-62B6-A0D6CA73065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418032434"/>
      </p:ext>
    </p:extLst>
  </p:cSld>
  <p:clrMapOvr>
    <a:masterClrMapping/>
  </p:clrMapOvr>
  <p:transition spd="slow" advTm="0">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en-US" altLang="zh-CN" sz="2800" b="1" kern="1200" dirty="0" err="1">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Golomb</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编码</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466479E4-8403-CE56-FD03-D3FF95C8F40C}"/>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246879157"/>
      </p:ext>
    </p:extLst>
  </p:cSld>
  <p:clrMapOvr>
    <a:masterClrMapping/>
  </p:clrMapOvr>
  <p:transition spd="slow" advTm="0">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en-US" altLang="zh-CN" sz="2800" b="1" kern="1200" dirty="0" err="1">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Golomb</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编码</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18984225"/>
      </p:ext>
    </p:extLst>
  </p:cSld>
  <p:clrMapOvr>
    <a:masterClrMapping/>
  </p:clrMapOvr>
  <p:transition spd="slow" advTm="0">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算术编码</a:t>
            </a:r>
            <a:endParaRPr lang="zh-CN" altLang="en-US" sz="2800" dirty="0">
              <a:solidFill>
                <a:srgbClr val="0091D9"/>
              </a:solidFill>
            </a:endParaRPr>
          </a:p>
        </p:txBody>
      </p:sp>
      <p:sp>
        <p:nvSpPr>
          <p:cNvPr id="5" name="内容占位符 13">
            <a:extLst>
              <a:ext uri="{FF2B5EF4-FFF2-40B4-BE49-F238E27FC236}">
                <a16:creationId xmlns:a16="http://schemas.microsoft.com/office/drawing/2014/main" id="{DD6272E6-0B32-CAD6-9441-D69B3FD5D0A5}"/>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973742348"/>
      </p:ext>
    </p:extLst>
  </p:cSld>
  <p:clrMapOvr>
    <a:masterClrMapping/>
  </p:clrMapOvr>
  <p:transition spd="slow" advTm="0">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算术编码</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255304540"/>
      </p:ext>
    </p:extLst>
  </p:cSld>
  <p:clrMapOvr>
    <a:masterClrMapping/>
  </p:clrMapOvr>
  <p:transition spd="slow" advTm="0">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LZW</a:t>
            </a:r>
            <a:r>
              <a:rPr lang="zh-CN" altLang="en-US" sz="2800" dirty="0">
                <a:solidFill>
                  <a:srgbClr val="0091D9"/>
                </a:solidFill>
              </a:rPr>
              <a:t>编码</a:t>
            </a:r>
          </a:p>
        </p:txBody>
      </p:sp>
      <p:sp>
        <p:nvSpPr>
          <p:cNvPr id="5" name="内容占位符 13">
            <a:extLst>
              <a:ext uri="{FF2B5EF4-FFF2-40B4-BE49-F238E27FC236}">
                <a16:creationId xmlns:a16="http://schemas.microsoft.com/office/drawing/2014/main" id="{AF237EAB-BCDB-293D-58CD-7BDA75A37A6E}"/>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260173111"/>
      </p:ext>
    </p:extLst>
  </p:cSld>
  <p:clrMapOvr>
    <a:masterClrMapping/>
  </p:clrMapOvr>
  <p:transition spd="slow" advTm="0">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LZW</a:t>
            </a:r>
            <a:r>
              <a:rPr lang="zh-CN" altLang="en-US" sz="2800" dirty="0">
                <a:solidFill>
                  <a:srgbClr val="0091D9"/>
                </a:solidFill>
              </a:rPr>
              <a:t>编码</a:t>
            </a: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116355150"/>
      </p:ext>
    </p:extLst>
  </p:cSld>
  <p:clrMapOvr>
    <a:masterClrMapping/>
  </p:clrMapOvr>
  <p:transition spd="slow" advTm="0">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行程编码</a:t>
            </a:r>
          </a:p>
        </p:txBody>
      </p:sp>
      <p:sp>
        <p:nvSpPr>
          <p:cNvPr id="5" name="内容占位符 13">
            <a:extLst>
              <a:ext uri="{FF2B5EF4-FFF2-40B4-BE49-F238E27FC236}">
                <a16:creationId xmlns:a16="http://schemas.microsoft.com/office/drawing/2014/main" id="{47DBDD51-A52C-7D05-9931-3DBEA522B29E}"/>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423615716"/>
      </p:ext>
    </p:extLst>
  </p:cSld>
  <p:clrMapOvr>
    <a:masterClrMapping/>
  </p:clrMapOvr>
  <p:transition spd="slow" advTm="0">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行程编码</a:t>
            </a: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275157215"/>
      </p:ext>
    </p:extLst>
  </p:cSld>
  <p:clrMapOvr>
    <a:masterClrMapping/>
  </p:clrMapOvr>
  <p:transition spd="slow" advTm="0">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dirty="0">
                <a:solidFill>
                  <a:srgbClr val="0091D9"/>
                </a:solidFill>
              </a:rPr>
              <a:t>基于符号的编码</a:t>
            </a:r>
          </a:p>
        </p:txBody>
      </p:sp>
      <p:sp>
        <p:nvSpPr>
          <p:cNvPr id="5" name="内容占位符 13">
            <a:extLst>
              <a:ext uri="{FF2B5EF4-FFF2-40B4-BE49-F238E27FC236}">
                <a16:creationId xmlns:a16="http://schemas.microsoft.com/office/drawing/2014/main" id="{8E7FF773-B8F0-B61C-FA19-8FD5D5A5A7FD}"/>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561364897"/>
      </p:ext>
    </p:extLst>
  </p:cSld>
  <p:clrMapOvr>
    <a:masterClrMapping/>
  </p:clrMapOvr>
  <p:transition spd="slow" advTm="0">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7-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基于符号的编码</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604630629"/>
      </p:ext>
    </p:extLst>
  </p:cSld>
  <p:clrMapOvr>
    <a:masterClrMapping/>
  </p:clrMapOvr>
  <p:transition spd="slow" advTm="0">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dirty="0">
                <a:solidFill>
                  <a:srgbClr val="0091D9"/>
                </a:solidFill>
              </a:rPr>
              <a:t>比特平面编码</a:t>
            </a:r>
          </a:p>
        </p:txBody>
      </p:sp>
      <p:sp>
        <p:nvSpPr>
          <p:cNvPr id="5" name="内容占位符 13">
            <a:extLst>
              <a:ext uri="{FF2B5EF4-FFF2-40B4-BE49-F238E27FC236}">
                <a16:creationId xmlns:a16="http://schemas.microsoft.com/office/drawing/2014/main" id="{77F82BB9-8C80-4B51-0BF3-02FF4380432C}"/>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665535384"/>
      </p:ext>
    </p:extLst>
  </p:cSld>
  <p:clrMapOvr>
    <a:masterClrMapping/>
  </p:clrMapOvr>
  <p:transition spd="slow" advTm="0">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8-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比特平面编码</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315096634"/>
      </p:ext>
    </p:extLst>
  </p:cSld>
  <p:clrMapOvr>
    <a:masterClrMapping/>
  </p:clrMapOvr>
  <p:transition spd="slow" advTm="0">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dirty="0">
                <a:solidFill>
                  <a:srgbClr val="0091D9"/>
                </a:solidFill>
              </a:rPr>
              <a:t>块变换编码</a:t>
            </a:r>
          </a:p>
        </p:txBody>
      </p:sp>
      <p:sp>
        <p:nvSpPr>
          <p:cNvPr id="5" name="内容占位符 13">
            <a:extLst>
              <a:ext uri="{FF2B5EF4-FFF2-40B4-BE49-F238E27FC236}">
                <a16:creationId xmlns:a16="http://schemas.microsoft.com/office/drawing/2014/main" id="{AB2CF265-15E6-D2F2-9794-ED22EB9F5FC4}"/>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09269587"/>
      </p:ext>
    </p:extLst>
  </p:cSld>
  <p:clrMapOvr>
    <a:masterClrMapping/>
  </p:clrMapOvr>
  <p:transition spd="slow" advTm="0">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9-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块变换编码</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45310473"/>
      </p:ext>
    </p:extLst>
  </p:cSld>
  <p:clrMapOvr>
    <a:masterClrMapping/>
  </p:clrMapOvr>
  <p:transition spd="slow" advTm="0">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0-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dirty="0">
                <a:solidFill>
                  <a:srgbClr val="0091D9"/>
                </a:solidFill>
              </a:rPr>
              <a:t>预测编码</a:t>
            </a:r>
          </a:p>
        </p:txBody>
      </p:sp>
      <p:sp>
        <p:nvSpPr>
          <p:cNvPr id="5" name="内容占位符 13">
            <a:extLst>
              <a:ext uri="{FF2B5EF4-FFF2-40B4-BE49-F238E27FC236}">
                <a16:creationId xmlns:a16="http://schemas.microsoft.com/office/drawing/2014/main" id="{FE905C68-FE3F-9E6F-802F-9E7C61DCA9B9}"/>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708862396"/>
      </p:ext>
    </p:extLst>
  </p:cSld>
  <p:clrMapOvr>
    <a:masterClrMapping/>
  </p:clrMapOvr>
  <p:transition spd="slow" advTm="0">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0-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编码</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568855339"/>
      </p:ext>
    </p:extLst>
  </p:cSld>
  <p:clrMapOvr>
    <a:masterClrMapping/>
  </p:clrMapOvr>
  <p:transition spd="slow" advTm="0">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dirty="0">
                <a:solidFill>
                  <a:srgbClr val="0091D9"/>
                </a:solidFill>
              </a:rPr>
              <a:t>小波编码</a:t>
            </a:r>
          </a:p>
        </p:txBody>
      </p:sp>
      <p:sp>
        <p:nvSpPr>
          <p:cNvPr id="5" name="内容占位符 13">
            <a:extLst>
              <a:ext uri="{FF2B5EF4-FFF2-40B4-BE49-F238E27FC236}">
                <a16:creationId xmlns:a16="http://schemas.microsoft.com/office/drawing/2014/main" id="{DE604E95-196E-5AA6-5E71-07E977CB565C}"/>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371349059"/>
      </p:ext>
    </p:extLst>
  </p:cSld>
  <p:clrMapOvr>
    <a:masterClrMapping/>
  </p:clrMapOvr>
  <p:transition spd="slow" advTm="0">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小波编码</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519084710"/>
      </p:ext>
    </p:extLst>
  </p:cSld>
  <p:clrMapOvr>
    <a:masterClrMapping/>
  </p:clrMapOvr>
  <p:transition spd="slow" advTm="0">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2-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dirty="0">
                <a:solidFill>
                  <a:srgbClr val="0091D9"/>
                </a:solidFill>
              </a:rPr>
              <a:t>数字图像水印</a:t>
            </a:r>
          </a:p>
        </p:txBody>
      </p:sp>
      <p:sp>
        <p:nvSpPr>
          <p:cNvPr id="5" name="内容占位符 13">
            <a:extLst>
              <a:ext uri="{FF2B5EF4-FFF2-40B4-BE49-F238E27FC236}">
                <a16:creationId xmlns:a16="http://schemas.microsoft.com/office/drawing/2014/main" id="{7154666D-D151-D09B-3A8B-2A25BEDE2EF0}"/>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56266823"/>
      </p:ext>
    </p:extLst>
  </p:cSld>
  <p:clrMapOvr>
    <a:masterClrMapping/>
  </p:clrMapOvr>
  <p:transition spd="slow" advTm="0">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数字图像水印</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763123861"/>
      </p:ext>
    </p:extLst>
  </p:cSld>
  <p:clrMapOvr>
    <a:masterClrMapping/>
  </p:clrMapOvr>
  <p:transition spd="slow" advTm="0">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8860BB-E3C5-4D22-8BEC-68FDB1E314FC}"/>
              </a:ext>
            </a:extLst>
          </p:cNvPr>
          <p:cNvSpPr>
            <a:spLocks noGrp="1"/>
          </p:cNvSpPr>
          <p:nvPr>
            <p:ph type="title"/>
          </p:nvPr>
        </p:nvSpPr>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564C3A6-28A5-477B-8FD3-82774CA65DB8}"/>
              </a:ext>
            </a:extLst>
          </p:cNvPr>
          <p:cNvSpPr>
            <a:spLocks noGrp="1"/>
          </p:cNvSpPr>
          <p:nvPr>
            <p:ph type="body"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360E54-6845-42DD-84DC-A39854FA1A77}"/>
              </a:ext>
            </a:extLst>
          </p:cNvPr>
          <p:cNvSpPr>
            <a:spLocks noGrp="1"/>
          </p:cNvSpPr>
          <p:nvPr>
            <p:ph type="dt" sz="half" idx="10"/>
          </p:nvPr>
        </p:nvSpPr>
        <p:spPr/>
        <p:txBody>
          <a:bodyPr/>
          <a:lstStyle/>
          <a:p>
            <a:fld id="{0918402B-AED4-49A3-A775-73A106F2373F}" type="datetimeFigureOut">
              <a:rPr lang="zh-CN" altLang="en-US" smtClean="0"/>
              <a:t>2023/10/19</a:t>
            </a:fld>
            <a:endParaRPr lang="zh-CN" altLang="en-US"/>
          </a:p>
        </p:txBody>
      </p:sp>
      <p:sp>
        <p:nvSpPr>
          <p:cNvPr id="5" name="页脚占位符 4">
            <a:extLst>
              <a:ext uri="{FF2B5EF4-FFF2-40B4-BE49-F238E27FC236}">
                <a16:creationId xmlns:a16="http://schemas.microsoft.com/office/drawing/2014/main" id="{9ADABCB2-5F2D-434F-8110-4656AF3E9F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4DEC2A-E2D0-43AA-976A-170C369B5040}"/>
              </a:ext>
            </a:extLst>
          </p:cNvPr>
          <p:cNvSpPr>
            <a:spLocks noGrp="1"/>
          </p:cNvSpPr>
          <p:nvPr>
            <p:ph type="sldNum" sz="quarter" idx="12"/>
          </p:nvPr>
        </p:nvSpPr>
        <p:spPr/>
        <p:txBody>
          <a:bodyPr/>
          <a:lstStyle/>
          <a:p>
            <a:fld id="{7691DF63-E020-446F-A281-F0066DDFE8A6}" type="slidenum">
              <a:rPr lang="zh-CN" altLang="en-US" smtClean="0"/>
              <a:t>‹#›</a:t>
            </a:fld>
            <a:endParaRPr lang="zh-CN" altLang="en-US"/>
          </a:p>
        </p:txBody>
      </p:sp>
    </p:spTree>
    <p:extLst>
      <p:ext uri="{BB962C8B-B14F-4D97-AF65-F5344CB8AC3E}">
        <p14:creationId xmlns:p14="http://schemas.microsoft.com/office/powerpoint/2010/main" val="1296934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矩形 6"/>
          <p:cNvSpPr/>
          <p:nvPr/>
        </p:nvSpPr>
        <p:spPr>
          <a:xfrm>
            <a:off x="0" y="0"/>
            <a:ext cx="12192000" cy="6858000"/>
          </a:xfrm>
          <a:prstGeom prst="rect">
            <a:avLst/>
          </a:prstGeom>
          <a:solidFill>
            <a:srgbClr val="EAF2F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9111252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Lst>
  <p:transition spd="slow" advTm="0">
    <p:wipe dir="r"/>
  </p:transition>
  <p:txStyles>
    <p:titleStyle>
      <a:lvl1pPr algn="l" defTabSz="914400" rtl="0" eaLnBrk="1" latinLnBrk="0" hangingPunct="1">
        <a:lnSpc>
          <a:spcPct val="90000"/>
        </a:lnSpc>
        <a:spcBef>
          <a:spcPct val="0"/>
        </a:spcBef>
        <a:buNone/>
        <a:defRPr sz="2400" b="1" kern="1200">
          <a:solidFill>
            <a:schemeClr val="accent1">
              <a:lumMod val="75000"/>
            </a:schemeClr>
          </a:solidFill>
          <a:latin typeface="+mj-lt"/>
          <a:ea typeface="+mj-ea"/>
          <a:cs typeface="+mj-cs"/>
        </a:defRPr>
      </a:lvl1pPr>
    </p:titleStyle>
    <p:bodyStyle>
      <a:lvl1pPr marL="228600" indent="-228600" algn="l" defTabSz="914400" rtl="0" eaLnBrk="1" fontAlgn="auto" latinLnBrk="0" hangingPunct="1">
        <a:lnSpc>
          <a:spcPct val="15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 name="组合 285"/>
          <p:cNvGrpSpPr/>
          <p:nvPr/>
        </p:nvGrpSpPr>
        <p:grpSpPr>
          <a:xfrm>
            <a:off x="1142271" y="4495729"/>
            <a:ext cx="4142910" cy="479114"/>
            <a:chOff x="5646962" y="4937787"/>
            <a:chExt cx="1453481" cy="482463"/>
          </a:xfrm>
          <a:effectLst/>
        </p:grpSpPr>
        <p:sp>
          <p:nvSpPr>
            <p:cNvPr id="287" name="任意多边形: 形状 12"/>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8" name="文本框 287"/>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grpSp>
        <p:nvGrpSpPr>
          <p:cNvPr id="302" name="组合 301"/>
          <p:cNvGrpSpPr/>
          <p:nvPr/>
        </p:nvGrpSpPr>
        <p:grpSpPr>
          <a:xfrm>
            <a:off x="1027366" y="1310600"/>
            <a:ext cx="4953600" cy="2186039"/>
            <a:chOff x="951801" y="1752810"/>
            <a:chExt cx="4953600" cy="2186039"/>
          </a:xfrm>
        </p:grpSpPr>
        <p:sp>
          <p:nvSpPr>
            <p:cNvPr id="285" name="文本框 284"/>
            <p:cNvSpPr txBox="1"/>
            <p:nvPr/>
          </p:nvSpPr>
          <p:spPr>
            <a:xfrm>
              <a:off x="951801" y="3015519"/>
              <a:ext cx="4953600"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5400" b="1" dirty="0">
                  <a:solidFill>
                    <a:prstClr val="black">
                      <a:lumMod val="85000"/>
                      <a:lumOff val="15000"/>
                    </a:prst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图像压缩和水印</a:t>
              </a:r>
              <a:endParaRPr lang="zh-CN" altLang="en-US" sz="5400" b="1" dirty="0">
                <a:solidFill>
                  <a:prstClr val="black">
                    <a:lumMod val="85000"/>
                    <a:lumOff val="15000"/>
                  </a:prst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nvGrpSpPr>
            <p:cNvPr id="301" name="组合 300"/>
            <p:cNvGrpSpPr/>
            <p:nvPr/>
          </p:nvGrpSpPr>
          <p:grpSpPr>
            <a:xfrm>
              <a:off x="951801" y="1752810"/>
              <a:ext cx="3707553" cy="1252400"/>
              <a:chOff x="951801" y="1680239"/>
              <a:chExt cx="3707553" cy="1252400"/>
            </a:xfrm>
          </p:grpSpPr>
          <p:sp>
            <p:nvSpPr>
              <p:cNvPr id="290" name="文本框 289"/>
              <p:cNvSpPr txBox="1"/>
              <p:nvPr/>
            </p:nvSpPr>
            <p:spPr>
              <a:xfrm>
                <a:off x="951801" y="2009309"/>
                <a:ext cx="2228495"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第八章</a:t>
                </a:r>
                <a:endParaRPr kumimoji="0" lang="en-US" altLang="zh-CN"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95" name="椭圆 294"/>
              <p:cNvSpPr/>
              <p:nvPr/>
            </p:nvSpPr>
            <p:spPr>
              <a:xfrm>
                <a:off x="3440154" y="1680239"/>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grpSp>
      <p:sp>
        <p:nvSpPr>
          <p:cNvPr id="2" name="Freeform 24">
            <a:extLst>
              <a:ext uri="{FF2B5EF4-FFF2-40B4-BE49-F238E27FC236}">
                <a16:creationId xmlns:a16="http://schemas.microsoft.com/office/drawing/2014/main" id="{05D286A2-ECB7-9BA2-9D1F-172FDB772080}"/>
              </a:ext>
            </a:extLst>
          </p:cNvPr>
          <p:cNvSpPr>
            <a:spLocks/>
          </p:cNvSpPr>
          <p:nvPr/>
        </p:nvSpPr>
        <p:spPr bwMode="auto">
          <a:xfrm>
            <a:off x="1142271" y="3743277"/>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 name="Inhaltsplatzhalter 4">
            <a:extLst>
              <a:ext uri="{FF2B5EF4-FFF2-40B4-BE49-F238E27FC236}">
                <a16:creationId xmlns:a16="http://schemas.microsoft.com/office/drawing/2014/main" id="{61215E34-C4A2-0714-4A5F-AD7D334A7606}"/>
              </a:ext>
            </a:extLst>
          </p:cNvPr>
          <p:cNvSpPr txBox="1">
            <a:spLocks/>
          </p:cNvSpPr>
          <p:nvPr/>
        </p:nvSpPr>
        <p:spPr>
          <a:xfrm>
            <a:off x="1444494" y="3819549"/>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endParaRPr kumimoji="0" lang="zh-CN" altLang="en-US" sz="1800" b="1" i="0" u="none" strike="noStrike" kern="1200" cap="none" spc="0" normalizeH="0" baseline="0" noProof="0" dirty="0">
              <a:ln>
                <a:noFill/>
              </a:ln>
              <a:solidFill>
                <a:srgbClr val="0463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5934165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86"/>
                                        </p:tgtEl>
                                        <p:attrNameLst>
                                          <p:attrName>style.visibility</p:attrName>
                                        </p:attrNameLst>
                                      </p:cBhvr>
                                      <p:to>
                                        <p:strVal val="visible"/>
                                      </p:to>
                                    </p:set>
                                    <p:anim calcmode="lin" valueType="num">
                                      <p:cBhvr additive="base">
                                        <p:cTn id="20" dur="500" fill="hold"/>
                                        <p:tgtEl>
                                          <p:spTgt spid="286"/>
                                        </p:tgtEl>
                                        <p:attrNameLst>
                                          <p:attrName>ppt_x</p:attrName>
                                        </p:attrNameLst>
                                      </p:cBhvr>
                                      <p:tavLst>
                                        <p:tav tm="0">
                                          <p:val>
                                            <p:strVal val="#ppt_x"/>
                                          </p:val>
                                        </p:tav>
                                        <p:tav tm="100000">
                                          <p:val>
                                            <p:strVal val="#ppt_x"/>
                                          </p:val>
                                        </p:tav>
                                      </p:tavLst>
                                    </p:anim>
                                    <p:anim calcmode="lin" valueType="num">
                                      <p:cBhvr additive="base">
                                        <p:cTn id="21" dur="500" fill="hold"/>
                                        <p:tgtEl>
                                          <p:spTgt spid="2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01</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基础</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56881861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81AD9D1-2E20-19C3-80AF-4F4E800E7D91}"/>
              </a:ext>
            </a:extLst>
          </p:cNvPr>
          <p:cNvSpPr>
            <a:spLocks noGrp="1"/>
          </p:cNvSpPr>
          <p:nvPr>
            <p:ph sz="quarter" idx="12"/>
          </p:nvPr>
        </p:nvSpPr>
        <p:spPr/>
        <p:txBody>
          <a:bodyPr/>
          <a:lstStyle/>
          <a:p>
            <a:pPr marL="0" marR="0" lvl="0" indent="0" rtl="0">
              <a:buNone/>
            </a:pPr>
            <a:r>
              <a:rPr lang="zh-CN" altLang="en-US" b="0" i="0" u="none" strike="noStrike" baseline="0" dirty="0">
                <a:solidFill>
                  <a:srgbClr val="000000"/>
                </a:solidFill>
                <a:cs typeface="+mn-ea"/>
                <a:sym typeface="+mn-lt"/>
              </a:rPr>
              <a:t>假设我们用区间</a:t>
            </a:r>
            <a:r>
              <a:rPr lang="en-US" altLang="zh-CN" b="0" i="0" u="none" strike="noStrike" baseline="0" dirty="0">
                <a:solidFill>
                  <a:srgbClr val="000000"/>
                </a:solidFill>
                <a:cs typeface="+mn-ea"/>
                <a:sym typeface="+mn-lt"/>
              </a:rPr>
              <a:t>[0,L-</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内的一个离散随机变量</a:t>
            </a:r>
            <a:r>
              <a:rPr lang="en-US" altLang="zh-CN" b="0" i="0" u="none" strike="noStrike" baseline="0" dirty="0" err="1">
                <a:solidFill>
                  <a:srgbClr val="000000"/>
                </a:solidFill>
                <a:cs typeface="+mn-ea"/>
                <a:sym typeface="+mn-lt"/>
              </a:rPr>
              <a:t>r</a:t>
            </a:r>
            <a:r>
              <a:rPr lang="en-US" altLang="zh-CN" sz="1100" b="0" i="0" u="none" strike="noStrike" baseline="0" dirty="0" err="1">
                <a:solidFill>
                  <a:srgbClr val="000000"/>
                </a:solidFill>
                <a:cs typeface="+mn-ea"/>
                <a:sym typeface="+mn-lt"/>
              </a:rPr>
              <a:t>k</a:t>
            </a:r>
            <a:r>
              <a:rPr lang="zh-CN" altLang="en-US" b="0" i="0" u="none" strike="noStrike" baseline="0" dirty="0">
                <a:solidFill>
                  <a:srgbClr val="000000"/>
                </a:solidFill>
                <a:cs typeface="+mn-ea"/>
                <a:sym typeface="+mn-lt"/>
              </a:rPr>
              <a:t>来表示一幅</a:t>
            </a:r>
            <a:r>
              <a:rPr lang="en-US" altLang="zh-CN" b="0" i="0" u="none" strike="noStrike" baseline="0" dirty="0">
                <a:solidFill>
                  <a:srgbClr val="000000"/>
                </a:solidFill>
                <a:cs typeface="+mn-ea"/>
                <a:sym typeface="+mn-lt"/>
              </a:rPr>
              <a:t>M×N</a:t>
            </a:r>
            <a:r>
              <a:rPr lang="zh-CN" altLang="en-US" b="0" i="0" u="none" strike="noStrike" baseline="0" dirty="0">
                <a:solidFill>
                  <a:srgbClr val="000000"/>
                </a:solidFill>
                <a:cs typeface="+mn-ea"/>
                <a:sym typeface="+mn-lt"/>
              </a:rPr>
              <a:t> 图像的灰度，且每个</a:t>
            </a:r>
            <a:r>
              <a:rPr lang="en-US" altLang="zh-CN" b="0" i="0" u="none" strike="noStrike" baseline="0" dirty="0" err="1">
                <a:solidFill>
                  <a:srgbClr val="000000"/>
                </a:solidFill>
                <a:cs typeface="+mn-ea"/>
                <a:sym typeface="+mn-lt"/>
              </a:rPr>
              <a:t>r</a:t>
            </a:r>
            <a:r>
              <a:rPr lang="en-US" altLang="zh-CN" sz="1100" b="0" i="0" u="none" strike="noStrike" baseline="0" dirty="0" err="1">
                <a:solidFill>
                  <a:srgbClr val="000000"/>
                </a:solidFill>
                <a:cs typeface="+mn-ea"/>
                <a:sym typeface="+mn-lt"/>
              </a:rPr>
              <a:t>k</a:t>
            </a:r>
            <a:r>
              <a:rPr lang="zh-CN" altLang="en-US" b="0" i="0" u="none" strike="noStrike" baseline="0" dirty="0">
                <a:solidFill>
                  <a:srgbClr val="000000"/>
                </a:solidFill>
                <a:cs typeface="+mn-ea"/>
                <a:sym typeface="+mn-lt"/>
              </a:rPr>
              <a:t>出现的概率为</a:t>
            </a:r>
            <a:r>
              <a:rPr lang="en-US" altLang="zh-CN" b="0" i="0" u="none" strike="noStrike" baseline="0" dirty="0">
                <a:solidFill>
                  <a:srgbClr val="000000"/>
                </a:solidFill>
                <a:cs typeface="+mn-ea"/>
                <a:sym typeface="+mn-lt"/>
              </a:rPr>
              <a:t>p</a:t>
            </a:r>
            <a:r>
              <a:rPr lang="en-US" altLang="zh-CN" sz="1100" b="0" i="0" u="none" strike="noStrike" baseline="0" dirty="0">
                <a:solidFill>
                  <a:srgbClr val="000000"/>
                </a:solidFill>
                <a:cs typeface="+mn-ea"/>
                <a:sym typeface="+mn-lt"/>
              </a:rPr>
              <a:t>r</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r</a:t>
            </a:r>
            <a:r>
              <a:rPr lang="en-US" altLang="zh-CN" sz="1100" b="0" i="0" u="none" strike="noStrike" baseline="0" dirty="0" err="1">
                <a:solidFill>
                  <a:srgbClr val="000000"/>
                </a:solidFill>
                <a:cs typeface="+mn-ea"/>
                <a:sym typeface="+mn-lt"/>
              </a:rPr>
              <a:t>k</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。与</a:t>
            </a:r>
            <a:r>
              <a:rPr lang="en-US" altLang="zh-CN" b="0" i="0" u="none" strike="noStrike" baseline="0" dirty="0">
                <a:solidFill>
                  <a:srgbClr val="000000"/>
                </a:solidFill>
                <a:cs typeface="+mn-ea"/>
                <a:sym typeface="+mn-lt"/>
              </a:rPr>
              <a:t>3.3</a:t>
            </a:r>
            <a:r>
              <a:rPr lang="zh-CN" altLang="en-US" b="0" i="0" u="none" strike="noStrike" baseline="0" dirty="0">
                <a:solidFill>
                  <a:srgbClr val="000000"/>
                </a:solidFill>
                <a:cs typeface="+mn-ea"/>
                <a:sym typeface="+mn-lt"/>
              </a:rPr>
              <a:t>节中一样，有</a:t>
            </a:r>
          </a:p>
          <a:p>
            <a:pPr marL="0" marR="0" lvl="0" indent="0" rtl="0">
              <a:buNone/>
            </a:pPr>
            <a:endParaRPr lang="en-US" altLang="zh-CN" b="0" i="0" u="none" strike="noStrike" baseline="0" dirty="0">
              <a:solidFill>
                <a:srgbClr val="000000"/>
              </a:solidFill>
              <a:cs typeface="+mn-ea"/>
              <a:sym typeface="+mn-lt"/>
            </a:endParaRPr>
          </a:p>
          <a:p>
            <a:pPr marL="0" marR="0" lvl="0" indent="0" rtl="0">
              <a:buNone/>
            </a:pPr>
            <a:r>
              <a:rPr lang="zh-CN" altLang="en-US" b="0" i="0" u="none" strike="noStrike" baseline="0" dirty="0">
                <a:solidFill>
                  <a:srgbClr val="000000"/>
                </a:solidFill>
                <a:cs typeface="+mn-ea"/>
                <a:sym typeface="+mn-lt"/>
              </a:rPr>
              <a:t>式中，</a:t>
            </a:r>
            <a:r>
              <a:rPr lang="en-US" altLang="zh-CN" b="0" i="0" u="none" strike="noStrike" baseline="0" dirty="0">
                <a:solidFill>
                  <a:srgbClr val="000000"/>
                </a:solidFill>
                <a:cs typeface="+mn-ea"/>
                <a:sym typeface="+mn-lt"/>
              </a:rPr>
              <a:t>L</a:t>
            </a:r>
            <a:r>
              <a:rPr lang="zh-CN" altLang="en-US" b="0" i="0" u="none" strike="noStrike" baseline="0" dirty="0">
                <a:solidFill>
                  <a:srgbClr val="000000"/>
                </a:solidFill>
                <a:cs typeface="+mn-ea"/>
                <a:sym typeface="+mn-lt"/>
              </a:rPr>
              <a:t> 是灰度值的数量</a:t>
            </a:r>
            <a:r>
              <a:rPr lang="zh-CN" altLang="en-US" dirty="0">
                <a:solidFill>
                  <a:srgbClr val="000000"/>
                </a:solidFill>
                <a:cs typeface="+mn-ea"/>
                <a:sym typeface="+mn-lt"/>
              </a:rPr>
              <a:t>，</a:t>
            </a:r>
            <a:r>
              <a:rPr lang="en-US" altLang="zh-CN" b="0" i="0" u="none" strike="noStrike" baseline="0" dirty="0" err="1">
                <a:solidFill>
                  <a:srgbClr val="000000"/>
                </a:solidFill>
                <a:cs typeface="+mn-ea"/>
                <a:sym typeface="+mn-lt"/>
              </a:rPr>
              <a:t>n</a:t>
            </a:r>
            <a:r>
              <a:rPr lang="en-US" altLang="zh-CN" sz="1100" b="0" i="0" u="none" strike="noStrike" baseline="0" dirty="0" err="1">
                <a:solidFill>
                  <a:srgbClr val="000000"/>
                </a:solidFill>
                <a:cs typeface="+mn-ea"/>
                <a:sym typeface="+mn-lt"/>
              </a:rPr>
              <a:t>k</a:t>
            </a:r>
            <a:r>
              <a:rPr lang="zh-CN" altLang="en-US" b="0" i="0" u="none" strike="noStrike" baseline="0" dirty="0">
                <a:solidFill>
                  <a:srgbClr val="000000"/>
                </a:solidFill>
                <a:cs typeface="+mn-ea"/>
                <a:sym typeface="+mn-lt"/>
              </a:rPr>
              <a:t>是第</a:t>
            </a:r>
            <a:r>
              <a:rPr lang="en-US" altLang="zh-CN" b="0" i="0" u="none" strike="noStrike" baseline="0" dirty="0">
                <a:solidFill>
                  <a:srgbClr val="000000"/>
                </a:solidFill>
                <a:cs typeface="+mn-ea"/>
                <a:sym typeface="+mn-lt"/>
              </a:rPr>
              <a:t>k</a:t>
            </a:r>
            <a:r>
              <a:rPr lang="zh-CN" altLang="en-US" b="0" i="0" u="none" strike="noStrike" baseline="0" dirty="0">
                <a:solidFill>
                  <a:srgbClr val="000000"/>
                </a:solidFill>
                <a:cs typeface="+mn-ea"/>
                <a:sym typeface="+mn-lt"/>
              </a:rPr>
              <a:t>级灰度在图像中出现的次数。若用于表示每个</a:t>
            </a:r>
            <a:r>
              <a:rPr lang="en-US" altLang="zh-CN" b="0" i="0" u="none" strike="noStrike" baseline="0" dirty="0" err="1">
                <a:solidFill>
                  <a:srgbClr val="000000"/>
                </a:solidFill>
                <a:cs typeface="+mn-ea"/>
                <a:sym typeface="+mn-lt"/>
              </a:rPr>
              <a:t>r</a:t>
            </a:r>
            <a:r>
              <a:rPr lang="en-US" altLang="zh-CN" sz="1100" b="0" i="0" u="none" strike="noStrike" baseline="0" dirty="0" err="1">
                <a:solidFill>
                  <a:srgbClr val="000000"/>
                </a:solidFill>
                <a:cs typeface="+mn-ea"/>
                <a:sym typeface="+mn-lt"/>
              </a:rPr>
              <a:t>k</a:t>
            </a:r>
            <a:r>
              <a:rPr lang="zh-CN" altLang="en-US" b="0" i="0" u="none" strike="noStrike" baseline="0" dirty="0">
                <a:solidFill>
                  <a:srgbClr val="000000"/>
                </a:solidFill>
                <a:cs typeface="+mn-ea"/>
                <a:sym typeface="+mn-lt"/>
              </a:rPr>
              <a:t>值的比特数为 </a:t>
            </a:r>
            <a:r>
              <a:rPr lang="en-US" altLang="zh-CN" b="0" i="0" u="none" strike="noStrike" baseline="0" dirty="0">
                <a:solidFill>
                  <a:srgbClr val="000000"/>
                </a:solidFill>
                <a:cs typeface="+mn-ea"/>
                <a:sym typeface="+mn-lt"/>
              </a:rPr>
              <a:t>l(</a:t>
            </a:r>
            <a:r>
              <a:rPr lang="en-US" altLang="zh-CN" b="0" i="0" u="none" strike="noStrike" baseline="0" dirty="0" err="1">
                <a:solidFill>
                  <a:srgbClr val="000000"/>
                </a:solidFill>
                <a:cs typeface="+mn-ea"/>
                <a:sym typeface="+mn-lt"/>
              </a:rPr>
              <a:t>r</a:t>
            </a:r>
            <a:r>
              <a:rPr lang="en-US" altLang="zh-CN" sz="1100" b="0" i="0" u="none" strike="noStrike" baseline="0" dirty="0" err="1">
                <a:solidFill>
                  <a:srgbClr val="000000"/>
                </a:solidFill>
                <a:cs typeface="+mn-ea"/>
                <a:sym typeface="+mn-lt"/>
              </a:rPr>
              <a:t>k</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则表示每个像素所需的平均比特数为</a:t>
            </a:r>
          </a:p>
        </p:txBody>
      </p:sp>
      <p:sp>
        <p:nvSpPr>
          <p:cNvPr id="2" name="标题 1">
            <a:extLst>
              <a:ext uri="{FF2B5EF4-FFF2-40B4-BE49-F238E27FC236}">
                <a16:creationId xmlns:a16="http://schemas.microsoft.com/office/drawing/2014/main" id="{F0C8D7C6-1926-2401-A59F-6C25D36E1F5B}"/>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编码冗余</a:t>
            </a:r>
          </a:p>
        </p:txBody>
      </p:sp>
      <p:pic>
        <p:nvPicPr>
          <p:cNvPr id="5" name="图片 4">
            <a:extLst>
              <a:ext uri="{FF2B5EF4-FFF2-40B4-BE49-F238E27FC236}">
                <a16:creationId xmlns:a16="http://schemas.microsoft.com/office/drawing/2014/main" id="{C46D5136-4C97-7330-B46C-FB6C6563919E}"/>
              </a:ext>
            </a:extLst>
          </p:cNvPr>
          <p:cNvPicPr>
            <a:picLocks noChangeAspect="1"/>
          </p:cNvPicPr>
          <p:nvPr/>
        </p:nvPicPr>
        <p:blipFill>
          <a:blip r:embed="rId2"/>
          <a:stretch>
            <a:fillRect/>
          </a:stretch>
        </p:blipFill>
        <p:spPr>
          <a:xfrm>
            <a:off x="4652961" y="3646291"/>
            <a:ext cx="2886075" cy="485775"/>
          </a:xfrm>
          <a:prstGeom prst="rect">
            <a:avLst/>
          </a:prstGeom>
        </p:spPr>
      </p:pic>
      <p:pic>
        <p:nvPicPr>
          <p:cNvPr id="7" name="图片 6">
            <a:extLst>
              <a:ext uri="{FF2B5EF4-FFF2-40B4-BE49-F238E27FC236}">
                <a16:creationId xmlns:a16="http://schemas.microsoft.com/office/drawing/2014/main" id="{3F290997-8E64-551F-1EE3-199C1999C1A4}"/>
              </a:ext>
            </a:extLst>
          </p:cNvPr>
          <p:cNvPicPr>
            <a:picLocks noChangeAspect="1"/>
          </p:cNvPicPr>
          <p:nvPr/>
        </p:nvPicPr>
        <p:blipFill>
          <a:blip r:embed="rId3"/>
          <a:stretch>
            <a:fillRect/>
          </a:stretch>
        </p:blipFill>
        <p:spPr>
          <a:xfrm>
            <a:off x="5195885" y="5147250"/>
            <a:ext cx="1800225" cy="600075"/>
          </a:xfrm>
          <a:prstGeom prst="rect">
            <a:avLst/>
          </a:prstGeom>
        </p:spPr>
      </p:pic>
    </p:spTree>
    <p:extLst>
      <p:ext uri="{BB962C8B-B14F-4D97-AF65-F5344CB8AC3E}">
        <p14:creationId xmlns:p14="http://schemas.microsoft.com/office/powerpoint/2010/main" val="1465589463"/>
      </p:ext>
    </p:extLst>
  </p:cSld>
  <p:clrMapOvr>
    <a:masterClrMapping/>
  </p:clrMapOvr>
  <p:transition spd="slow" advTm="0">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F7E0A3-0CD5-18C8-C795-83ABF0514701}"/>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空间冗余和时间冗余</a:t>
            </a:r>
          </a:p>
        </p:txBody>
      </p:sp>
      <p:sp>
        <p:nvSpPr>
          <p:cNvPr id="3" name="文本占位符 2">
            <a:extLst>
              <a:ext uri="{FF2B5EF4-FFF2-40B4-BE49-F238E27FC236}">
                <a16:creationId xmlns:a16="http://schemas.microsoft.com/office/drawing/2014/main" id="{621C4F81-5C5B-737B-E927-88D5EDF86E87}"/>
              </a:ext>
            </a:extLst>
          </p:cNvPr>
          <p:cNvSpPr>
            <a:spLocks noGrp="1"/>
          </p:cNvSpPr>
          <p:nvPr>
            <p:ph sz="quarter" idx="11"/>
          </p:nvPr>
        </p:nvSpPr>
        <p:spPr/>
        <p:txBody>
          <a:bodyPr/>
          <a:lstStyle/>
          <a:p>
            <a:pPr marL="0" marR="0" lvl="0" indent="0" rtl="0">
              <a:buNone/>
            </a:pPr>
            <a:r>
              <a:rPr lang="zh-CN" altLang="en-US" b="0" i="0" u="none" strike="noStrike" baseline="0" dirty="0">
                <a:solidFill>
                  <a:srgbClr val="000000"/>
                </a:solidFill>
                <a:cs typeface="+mn-ea"/>
                <a:sym typeface="+mn-lt"/>
              </a:rPr>
              <a:t>考虑图</a:t>
            </a:r>
            <a:r>
              <a:rPr lang="en-US" altLang="zh-CN" b="0" i="0" u="none" strike="noStrike" baseline="0" dirty="0">
                <a:solidFill>
                  <a:srgbClr val="000000"/>
                </a:solidFill>
                <a:cs typeface="+mn-ea"/>
                <a:sym typeface="+mn-lt"/>
              </a:rPr>
              <a:t>8.1(b)</a:t>
            </a:r>
            <a:r>
              <a:rPr lang="zh-CN" altLang="en-US" b="0" i="0" u="none" strike="noStrike" baseline="0" dirty="0">
                <a:solidFill>
                  <a:srgbClr val="000000"/>
                </a:solidFill>
                <a:cs typeface="+mn-ea"/>
                <a:sym typeface="+mn-lt"/>
              </a:rPr>
              <a:t>中由计算机生成的一组恒定灰度线。在对应的二维灰度阵列中：</a:t>
            </a:r>
          </a:p>
          <a:p>
            <a:pPr marL="0" marR="0" lvl="0" indent="0" rtl="0">
              <a:buNone/>
            </a:pP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 所有</a:t>
            </a:r>
            <a:r>
              <a:rPr lang="en-US" altLang="zh-CN" b="0" i="0" u="none" strike="noStrike" baseline="0" dirty="0">
                <a:solidFill>
                  <a:srgbClr val="000000"/>
                </a:solidFill>
                <a:cs typeface="+mn-ea"/>
                <a:sym typeface="+mn-lt"/>
              </a:rPr>
              <a:t>256</a:t>
            </a:r>
            <a:r>
              <a:rPr lang="zh-CN" altLang="en-US" b="0" i="0" u="none" strike="noStrike" baseline="0" dirty="0">
                <a:solidFill>
                  <a:srgbClr val="000000"/>
                </a:solidFill>
                <a:cs typeface="+mn-ea"/>
                <a:sym typeface="+mn-lt"/>
              </a:rPr>
              <a:t>种灰度都是等可能出现的。如图</a:t>
            </a:r>
            <a:r>
              <a:rPr lang="en-US" altLang="zh-CN" b="0" i="0" u="none" strike="noStrike" baseline="0" dirty="0">
                <a:solidFill>
                  <a:srgbClr val="000000"/>
                </a:solidFill>
                <a:cs typeface="+mn-ea"/>
                <a:sym typeface="+mn-lt"/>
              </a:rPr>
              <a:t>8.2</a:t>
            </a:r>
            <a:r>
              <a:rPr lang="zh-CN" altLang="en-US" b="0" i="0" u="none" strike="noStrike" baseline="0" dirty="0">
                <a:solidFill>
                  <a:srgbClr val="000000"/>
                </a:solidFill>
                <a:cs typeface="+mn-ea"/>
                <a:sym typeface="+mn-lt"/>
              </a:rPr>
              <a:t>所示，图像的直方图是均匀的。</a:t>
            </a:r>
          </a:p>
          <a:p>
            <a:pPr marL="0" marR="0" lvl="0" indent="0" rtl="0">
              <a:buNone/>
            </a:pP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 因为每条线的灰度是随机选择的，因此在垂直方向上每条线的像素彼此无关。</a:t>
            </a:r>
          </a:p>
          <a:p>
            <a:pPr marL="0" marR="0" lvl="0" indent="0" rtl="0">
              <a:buNone/>
            </a:pP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 因为每条线上的像素是相同的，因此在水平方向上它们是最大相关的</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彼此完全依赖</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a:t>
            </a:r>
          </a:p>
        </p:txBody>
      </p:sp>
      <p:pic>
        <p:nvPicPr>
          <p:cNvPr id="5" name="图片 4">
            <a:extLst>
              <a:ext uri="{FF2B5EF4-FFF2-40B4-BE49-F238E27FC236}">
                <a16:creationId xmlns:a16="http://schemas.microsoft.com/office/drawing/2014/main" id="{B9B59AE8-E6D2-7CFF-BF79-459DA00A812B}"/>
              </a:ext>
            </a:extLst>
          </p:cNvPr>
          <p:cNvPicPr>
            <a:picLocks noChangeAspect="1"/>
          </p:cNvPicPr>
          <p:nvPr/>
        </p:nvPicPr>
        <p:blipFill>
          <a:blip r:embed="rId2"/>
          <a:stretch>
            <a:fillRect/>
          </a:stretch>
        </p:blipFill>
        <p:spPr>
          <a:xfrm>
            <a:off x="4027665" y="4827792"/>
            <a:ext cx="4136667" cy="1942980"/>
          </a:xfrm>
          <a:prstGeom prst="rect">
            <a:avLst/>
          </a:prstGeom>
        </p:spPr>
      </p:pic>
      <p:sp>
        <p:nvSpPr>
          <p:cNvPr id="6" name="矩形 5">
            <a:extLst>
              <a:ext uri="{FF2B5EF4-FFF2-40B4-BE49-F238E27FC236}">
                <a16:creationId xmlns:a16="http://schemas.microsoft.com/office/drawing/2014/main" id="{928638CA-1F25-E8A7-1CEF-757ACFC53DDA}"/>
              </a:ext>
            </a:extLst>
          </p:cNvPr>
          <p:cNvSpPr/>
          <p:nvPr/>
        </p:nvSpPr>
        <p:spPr>
          <a:xfrm>
            <a:off x="801092" y="2446417"/>
            <a:ext cx="10589815" cy="2285123"/>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634508147"/>
      </p:ext>
    </p:extLst>
  </p:cSld>
  <p:clrMapOvr>
    <a:masterClrMapping/>
  </p:clrMapOvr>
  <p:transition spd="slow" advTm="0">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C909D-E706-9E6B-5D6F-157F230B7610}"/>
              </a:ext>
            </a:extLst>
          </p:cNvPr>
          <p:cNvSpPr>
            <a:spLocks noGrp="1"/>
          </p:cNvSpPr>
          <p:nvPr>
            <p:ph sz="quarter" idx="12"/>
          </p:nvPr>
        </p:nvSpPr>
        <p:spPr/>
        <p:txBody>
          <a:bodyPr>
            <a:normAutofit/>
          </a:bodyPr>
          <a:lstStyle/>
          <a:p>
            <a:pPr marL="0" marR="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8.3(a)</a:t>
            </a:r>
            <a:r>
              <a:rPr lang="zh-CN" altLang="en-US" b="0" i="0" u="none" strike="noStrike" baseline="0" dirty="0">
                <a:solidFill>
                  <a:srgbClr val="000000"/>
                </a:solidFill>
                <a:cs typeface="+mn-ea"/>
                <a:sym typeface="+mn-lt"/>
              </a:rPr>
              <a:t>显示了图</a:t>
            </a:r>
            <a:r>
              <a:rPr lang="en-US" altLang="zh-CN" b="0" i="0" u="none" strike="noStrike" baseline="0" dirty="0">
                <a:solidFill>
                  <a:srgbClr val="000000"/>
                </a:solidFill>
                <a:cs typeface="+mn-ea"/>
                <a:sym typeface="+mn-lt"/>
              </a:rPr>
              <a:t>8.1(c)</a:t>
            </a:r>
            <a:r>
              <a:rPr lang="zh-CN" altLang="en-US" b="0" i="0" u="none" strike="noStrike" baseline="0" dirty="0">
                <a:solidFill>
                  <a:srgbClr val="000000"/>
                </a:solidFill>
                <a:cs typeface="+mn-ea"/>
                <a:sym typeface="+mn-lt"/>
              </a:rPr>
              <a:t>中的图像的直方图。注意，实际出现了一些灰度值</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从</a:t>
            </a:r>
            <a:r>
              <a:rPr lang="en-US" altLang="zh-CN" b="0" i="0" u="none" strike="noStrike" baseline="0" dirty="0">
                <a:solidFill>
                  <a:srgbClr val="000000"/>
                </a:solidFill>
                <a:cs typeface="+mn-ea"/>
                <a:sym typeface="+mn-lt"/>
              </a:rPr>
              <a:t>125</a:t>
            </a:r>
            <a:r>
              <a:rPr lang="zh-CN" altLang="en-US" b="0" i="0" u="none" strike="noStrike" baseline="0" dirty="0">
                <a:solidFill>
                  <a:srgbClr val="000000"/>
                </a:solidFill>
                <a:cs typeface="+mn-ea"/>
                <a:sym typeface="+mn-lt"/>
              </a:rPr>
              <a:t>到</a:t>
            </a:r>
            <a:r>
              <a:rPr lang="en-US" altLang="zh-CN" b="0" i="0" u="none" strike="noStrike" baseline="0" dirty="0">
                <a:solidFill>
                  <a:srgbClr val="000000"/>
                </a:solidFill>
                <a:cs typeface="+mn-ea"/>
                <a:sym typeface="+mn-lt"/>
              </a:rPr>
              <a:t>131)</a:t>
            </a:r>
            <a:r>
              <a:rPr lang="zh-CN" altLang="en-US" b="0" i="0" u="none" strike="noStrike" baseline="0" dirty="0">
                <a:solidFill>
                  <a:srgbClr val="000000"/>
                </a:solidFill>
                <a:cs typeface="+mn-ea"/>
                <a:sym typeface="+mn-lt"/>
              </a:rPr>
              <a:t>。人的视觉系统会平均这些灰度值，并只感知这个平均值，而忽略这种情况下的小灰度变化。图</a:t>
            </a:r>
            <a:r>
              <a:rPr lang="en-US" altLang="zh-CN" b="0" i="0" u="none" strike="noStrike" baseline="0" dirty="0">
                <a:solidFill>
                  <a:srgbClr val="000000"/>
                </a:solidFill>
                <a:cs typeface="+mn-ea"/>
                <a:sym typeface="+mn-lt"/>
              </a:rPr>
              <a:t>8.3(b)</a:t>
            </a:r>
            <a:r>
              <a:rPr lang="zh-CN" altLang="en-US" b="0" i="0" u="none" strike="noStrike" baseline="0" dirty="0">
                <a:solidFill>
                  <a:srgbClr val="000000"/>
                </a:solidFill>
                <a:cs typeface="+mn-ea"/>
                <a:sym typeface="+mn-lt"/>
              </a:rPr>
              <a:t>是对图</a:t>
            </a:r>
            <a:r>
              <a:rPr lang="en-US" altLang="zh-CN" b="0" i="0" u="none" strike="noStrike" baseline="0" dirty="0">
                <a:solidFill>
                  <a:srgbClr val="000000"/>
                </a:solidFill>
                <a:cs typeface="+mn-ea"/>
                <a:sym typeface="+mn-lt"/>
              </a:rPr>
              <a:t>8.1(c)</a:t>
            </a:r>
            <a:r>
              <a:rPr lang="zh-CN" altLang="en-US" b="0" i="0" u="none" strike="noStrike" baseline="0" dirty="0">
                <a:solidFill>
                  <a:srgbClr val="000000"/>
                </a:solidFill>
                <a:cs typeface="+mn-ea"/>
                <a:sym typeface="+mn-lt"/>
              </a:rPr>
              <a:t>中的图像进行直方图均衡化处理后的结果，结果中的灰度变化很明显，并且显示了两个先前 不可检测的恒定灰度区域： 一个垂直区域和一个水平区域。</a:t>
            </a:r>
          </a:p>
        </p:txBody>
      </p:sp>
      <p:sp>
        <p:nvSpPr>
          <p:cNvPr id="2" name="标题 1">
            <a:extLst>
              <a:ext uri="{FF2B5EF4-FFF2-40B4-BE49-F238E27FC236}">
                <a16:creationId xmlns:a16="http://schemas.microsoft.com/office/drawing/2014/main" id="{A9994493-74A2-0E56-FFB0-44F6BDFE0A3C}"/>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无关信息</a:t>
            </a:r>
          </a:p>
        </p:txBody>
      </p:sp>
      <p:pic>
        <p:nvPicPr>
          <p:cNvPr id="5" name="图片 4">
            <a:extLst>
              <a:ext uri="{FF2B5EF4-FFF2-40B4-BE49-F238E27FC236}">
                <a16:creationId xmlns:a16="http://schemas.microsoft.com/office/drawing/2014/main" id="{CF6D4351-291D-A04C-8FFF-9675882734C4}"/>
              </a:ext>
            </a:extLst>
          </p:cNvPr>
          <p:cNvPicPr>
            <a:picLocks noChangeAspect="1"/>
          </p:cNvPicPr>
          <p:nvPr/>
        </p:nvPicPr>
        <p:blipFill>
          <a:blip r:embed="rId2"/>
          <a:stretch>
            <a:fillRect/>
          </a:stretch>
        </p:blipFill>
        <p:spPr>
          <a:xfrm>
            <a:off x="3798244" y="4290049"/>
            <a:ext cx="4595512" cy="2024352"/>
          </a:xfrm>
          <a:prstGeom prst="rect">
            <a:avLst/>
          </a:prstGeom>
        </p:spPr>
      </p:pic>
    </p:spTree>
    <p:extLst>
      <p:ext uri="{BB962C8B-B14F-4D97-AF65-F5344CB8AC3E}">
        <p14:creationId xmlns:p14="http://schemas.microsoft.com/office/powerpoint/2010/main" val="3042975876"/>
      </p:ext>
    </p:extLst>
  </p:cSld>
  <p:clrMapOvr>
    <a:masterClrMapping/>
  </p:clrMapOvr>
  <p:transition spd="slow" advTm="0">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9FD6C-53B9-9FDA-CD8B-685E69AEC69A}"/>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度量图像信息</a:t>
            </a:r>
          </a:p>
        </p:txBody>
      </p:sp>
      <p:sp>
        <p:nvSpPr>
          <p:cNvPr id="3" name="文本占位符 2">
            <a:extLst>
              <a:ext uri="{FF2B5EF4-FFF2-40B4-BE49-F238E27FC236}">
                <a16:creationId xmlns:a16="http://schemas.microsoft.com/office/drawing/2014/main" id="{F23BF544-DCD6-0618-1E39-7FD912655BA1}"/>
              </a:ext>
            </a:extLst>
          </p:cNvPr>
          <p:cNvSpPr>
            <a:spLocks noGrp="1"/>
          </p:cNvSpPr>
          <p:nvPr>
            <p:ph sz="quarter" idx="11"/>
          </p:nvPr>
        </p:nvSpPr>
        <p:spPr/>
        <p:txBody>
          <a:bodyPr/>
          <a:lstStyle/>
          <a:p>
            <a:pPr marL="0" marR="0" lvl="0" indent="0" rtl="0">
              <a:buNone/>
            </a:pPr>
            <a:r>
              <a:rPr lang="zh-CN" altLang="en-US" b="1" i="0" u="none" strike="noStrike" baseline="0" dirty="0">
                <a:solidFill>
                  <a:srgbClr val="000000"/>
                </a:solidFill>
                <a:cs typeface="+mn-ea"/>
                <a:sym typeface="+mn-lt"/>
              </a:rPr>
              <a:t>山农第一定理</a:t>
            </a:r>
          </a:p>
          <a:p>
            <a:pPr marL="0" marR="0" lvl="0" indent="0" rtl="0">
              <a:buNone/>
            </a:pPr>
            <a:r>
              <a:rPr lang="zh-CN" altLang="en-US" b="0" i="0" u="none" strike="noStrike" baseline="0" dirty="0">
                <a:solidFill>
                  <a:srgbClr val="000000"/>
                </a:solidFill>
                <a:cs typeface="+mn-ea"/>
                <a:sym typeface="+mn-lt"/>
              </a:rPr>
              <a:t>回顾可知，例</a:t>
            </a:r>
            <a:r>
              <a:rPr lang="en-US" altLang="zh-CN" b="0" i="0" u="none" strike="noStrike" baseline="0" dirty="0">
                <a:solidFill>
                  <a:srgbClr val="000000"/>
                </a:solidFill>
                <a:cs typeface="+mn-ea"/>
                <a:sym typeface="+mn-lt"/>
              </a:rPr>
              <a:t>8.1</a:t>
            </a:r>
            <a:r>
              <a:rPr lang="zh-CN" altLang="en-US" b="0" i="0" u="none" strike="noStrike" baseline="0" dirty="0">
                <a:solidFill>
                  <a:srgbClr val="000000"/>
                </a:solidFill>
                <a:cs typeface="+mn-ea"/>
                <a:sym typeface="+mn-lt"/>
              </a:rPr>
              <a:t>中的变长编码能够只用</a:t>
            </a:r>
            <a:r>
              <a:rPr lang="en-US" altLang="zh-CN" b="0" i="0" u="none" strike="noStrike" baseline="0" dirty="0">
                <a:solidFill>
                  <a:srgbClr val="000000"/>
                </a:solidFill>
                <a:cs typeface="+mn-ea"/>
                <a:sym typeface="+mn-lt"/>
              </a:rPr>
              <a:t>1.81</a:t>
            </a:r>
            <a:r>
              <a:rPr lang="zh-CN" altLang="en-US" b="0" i="0" u="none" strike="noStrike" baseline="0" dirty="0">
                <a:solidFill>
                  <a:srgbClr val="000000"/>
                </a:solidFill>
                <a:cs typeface="+mn-ea"/>
                <a:sym typeface="+mn-lt"/>
              </a:rPr>
              <a:t> 比特</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像素来表示图</a:t>
            </a:r>
            <a:r>
              <a:rPr lang="en-US" altLang="zh-CN" b="0" i="0" u="none" strike="noStrike" baseline="0" dirty="0">
                <a:solidFill>
                  <a:srgbClr val="000000"/>
                </a:solidFill>
                <a:cs typeface="+mn-ea"/>
                <a:sym typeface="+mn-lt"/>
              </a:rPr>
              <a:t>8.1(a)</a:t>
            </a:r>
            <a:r>
              <a:rPr lang="zh-CN" altLang="en-US" b="0" i="0" u="none" strike="noStrike" baseline="0" dirty="0">
                <a:solidFill>
                  <a:srgbClr val="000000"/>
                </a:solidFill>
                <a:cs typeface="+mn-ea"/>
                <a:sym typeface="+mn-lt"/>
              </a:rPr>
              <a:t>中图像的灰度。为了用一般的方法来证明它， 山农使用单个码字</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而不是每个信源符号一个码字</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研究了</a:t>
            </a:r>
            <a:r>
              <a:rPr lang="en-US" altLang="zh-CN" b="0" i="0" u="none" strike="noStrike" baseline="0" dirty="0">
                <a:solidFill>
                  <a:srgbClr val="000000"/>
                </a:solidFill>
                <a:cs typeface="+mn-ea"/>
                <a:sym typeface="+mn-lt"/>
              </a:rPr>
              <a:t>n</a:t>
            </a:r>
            <a:r>
              <a:rPr lang="zh-CN" altLang="en-US" b="0" i="0" u="none" strike="noStrike" baseline="0" dirty="0">
                <a:solidFill>
                  <a:srgbClr val="000000"/>
                </a:solidFill>
                <a:cs typeface="+mn-ea"/>
                <a:sym typeface="+mn-lt"/>
              </a:rPr>
              <a:t> 个连续信源符号的代表组合，证明了</a:t>
            </a:r>
          </a:p>
        </p:txBody>
      </p:sp>
      <p:pic>
        <p:nvPicPr>
          <p:cNvPr id="5" name="图片 4">
            <a:extLst>
              <a:ext uri="{FF2B5EF4-FFF2-40B4-BE49-F238E27FC236}">
                <a16:creationId xmlns:a16="http://schemas.microsoft.com/office/drawing/2014/main" id="{63303941-E984-AE20-771C-196EA6EAB84B}"/>
              </a:ext>
            </a:extLst>
          </p:cNvPr>
          <p:cNvPicPr>
            <a:picLocks noChangeAspect="1"/>
          </p:cNvPicPr>
          <p:nvPr/>
        </p:nvPicPr>
        <p:blipFill>
          <a:blip r:embed="rId2"/>
          <a:stretch>
            <a:fillRect/>
          </a:stretch>
        </p:blipFill>
        <p:spPr>
          <a:xfrm>
            <a:off x="3409048" y="3921427"/>
            <a:ext cx="1360249" cy="562572"/>
          </a:xfrm>
          <a:prstGeom prst="rect">
            <a:avLst/>
          </a:prstGeom>
        </p:spPr>
      </p:pic>
      <p:pic>
        <p:nvPicPr>
          <p:cNvPr id="7" name="图片 6">
            <a:extLst>
              <a:ext uri="{FF2B5EF4-FFF2-40B4-BE49-F238E27FC236}">
                <a16:creationId xmlns:a16="http://schemas.microsoft.com/office/drawing/2014/main" id="{2F029759-DEAA-A8B4-C8A4-EC9C29165E0F}"/>
              </a:ext>
            </a:extLst>
          </p:cNvPr>
          <p:cNvPicPr>
            <a:picLocks noChangeAspect="1"/>
          </p:cNvPicPr>
          <p:nvPr/>
        </p:nvPicPr>
        <p:blipFill>
          <a:blip r:embed="rId3"/>
          <a:stretch>
            <a:fillRect/>
          </a:stretch>
        </p:blipFill>
        <p:spPr>
          <a:xfrm>
            <a:off x="3653113" y="4577258"/>
            <a:ext cx="4885774" cy="2055702"/>
          </a:xfrm>
          <a:prstGeom prst="rect">
            <a:avLst/>
          </a:prstGeom>
        </p:spPr>
      </p:pic>
      <p:sp>
        <p:nvSpPr>
          <p:cNvPr id="8" name="矩形 7">
            <a:extLst>
              <a:ext uri="{FF2B5EF4-FFF2-40B4-BE49-F238E27FC236}">
                <a16:creationId xmlns:a16="http://schemas.microsoft.com/office/drawing/2014/main" id="{43404433-10FA-F2C6-6230-C8126373E24A}"/>
              </a:ext>
            </a:extLst>
          </p:cNvPr>
          <p:cNvSpPr/>
          <p:nvPr/>
        </p:nvSpPr>
        <p:spPr>
          <a:xfrm>
            <a:off x="801092" y="2446417"/>
            <a:ext cx="10589815" cy="2055702"/>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482423266"/>
      </p:ext>
    </p:extLst>
  </p:cSld>
  <p:clrMapOvr>
    <a:masterClrMapping/>
  </p:clrMapOvr>
  <p:transition spd="slow" advTm="0">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E829C09F-E42E-F5F8-B0DC-78E26A1D3436}"/>
              </a:ext>
            </a:extLst>
          </p:cNvPr>
          <p:cNvSpPr>
            <a:spLocks noGrp="1"/>
          </p:cNvSpPr>
          <p:nvPr>
            <p:ph sz="quarter" idx="12"/>
          </p:nvPr>
        </p:nvSpPr>
        <p:spPr/>
        <p:txBody>
          <a:bodyPr>
            <a:normAutofit/>
          </a:bodyPr>
          <a:lstStyle/>
          <a:p>
            <a:pPr marR="0" lvl="0" rtl="0"/>
            <a:r>
              <a:rPr lang="zh-CN" altLang="en-US" b="0" i="0" u="none" strike="noStrike" baseline="0" dirty="0">
                <a:solidFill>
                  <a:srgbClr val="000000"/>
                </a:solidFill>
                <a:cs typeface="+mn-ea"/>
                <a:sym typeface="+mn-lt"/>
              </a:rPr>
              <a:t>前面提到，删除“无关视觉”信息会损失真实或定量的图像信息。由于出现了信息损失，因此需要一种方法来量化信息的损失。这种评价采用的标准有两个：</a:t>
            </a:r>
            <a:endParaRPr lang="en-US" altLang="zh-CN" b="0" i="0" u="none" strike="noStrike" baseline="0" dirty="0">
              <a:solidFill>
                <a:srgbClr val="000000"/>
              </a:solidFill>
              <a:cs typeface="+mn-ea"/>
              <a:sym typeface="+mn-lt"/>
            </a:endParaRPr>
          </a:p>
          <a:p>
            <a:pPr marL="0" marR="0" lvl="0" indent="0" rtl="0">
              <a:buNone/>
            </a:pP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客观保真度准则；</a:t>
            </a:r>
            <a:endParaRPr lang="en-US" altLang="zh-CN" b="0" i="0" u="none" strike="noStrike" baseline="0" dirty="0">
              <a:solidFill>
                <a:srgbClr val="000000"/>
              </a:solidFill>
              <a:cs typeface="+mn-ea"/>
              <a:sym typeface="+mn-lt"/>
            </a:endParaRPr>
          </a:p>
          <a:p>
            <a:pPr marL="0" marR="0" lvl="0" indent="0" rtl="0">
              <a:buNone/>
            </a:pP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主观保真度准则。</a:t>
            </a:r>
          </a:p>
          <a:p>
            <a:pPr marR="0" lvl="0" rtl="0"/>
            <a:r>
              <a:rPr lang="zh-CN" altLang="en-US" b="0" i="0" u="none" strike="noStrike" baseline="0" dirty="0">
                <a:solidFill>
                  <a:srgbClr val="000000"/>
                </a:solidFill>
                <a:cs typeface="+mn-ea"/>
                <a:sym typeface="+mn-lt"/>
              </a:rPr>
              <a:t>当信息损失能够表示为压缩处理的输入和输出的数学函数时，我们称它是以客观保真度准则为基础的。 一个例子是两幅图像之间的均方根误差。</a:t>
            </a:r>
          </a:p>
        </p:txBody>
      </p:sp>
      <p:sp>
        <p:nvSpPr>
          <p:cNvPr id="2" name="标题 1">
            <a:extLst>
              <a:ext uri="{FF2B5EF4-FFF2-40B4-BE49-F238E27FC236}">
                <a16:creationId xmlns:a16="http://schemas.microsoft.com/office/drawing/2014/main" id="{4EA314BA-CA9D-C90C-3FF4-ECE1611AE5C4}"/>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保真度准则</a:t>
            </a:r>
          </a:p>
        </p:txBody>
      </p:sp>
    </p:spTree>
    <p:extLst>
      <p:ext uri="{BB962C8B-B14F-4D97-AF65-F5344CB8AC3E}">
        <p14:creationId xmlns:p14="http://schemas.microsoft.com/office/powerpoint/2010/main" val="2745744457"/>
      </p:ext>
    </p:extLst>
  </p:cSld>
  <p:clrMapOvr>
    <a:masterClrMapping/>
  </p:clrMapOvr>
  <p:transition spd="slow" advTm="0">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192739-F9FC-BE38-EEF9-C31C70A7C08D}"/>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图像压缩模型</a:t>
            </a:r>
          </a:p>
        </p:txBody>
      </p:sp>
      <p:sp>
        <p:nvSpPr>
          <p:cNvPr id="3" name="文本占位符 2">
            <a:extLst>
              <a:ext uri="{FF2B5EF4-FFF2-40B4-BE49-F238E27FC236}">
                <a16:creationId xmlns:a16="http://schemas.microsoft.com/office/drawing/2014/main" id="{061E854A-BCE4-3334-EFF4-958E1FB77BAB}"/>
              </a:ext>
            </a:extLst>
          </p:cNvPr>
          <p:cNvSpPr>
            <a:spLocks noGrp="1"/>
          </p:cNvSpPr>
          <p:nvPr>
            <p:ph sz="quarter" idx="11"/>
          </p:nvPr>
        </p:nvSpPr>
        <p:spPr/>
        <p:txBody>
          <a:bodyPr>
            <a:normAutofit/>
          </a:bodyPr>
          <a:lstStyle/>
          <a:p>
            <a:pPr marL="0" marR="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编码或压缩过程</a:t>
            </a:r>
          </a:p>
          <a:p>
            <a:pPr marL="0" marR="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8.5</a:t>
            </a:r>
            <a:r>
              <a:rPr lang="zh-CN" altLang="en-US" b="0" i="0" u="none" strike="noStrike" baseline="0" dirty="0">
                <a:solidFill>
                  <a:srgbClr val="000000"/>
                </a:solidFill>
                <a:cs typeface="+mn-ea"/>
                <a:sym typeface="+mn-lt"/>
              </a:rPr>
              <a:t> 中的编码器通过一系列的三个独立操作，去除前几节中描述的冗余。</a:t>
            </a:r>
            <a:endParaRPr lang="en-US" altLang="zh-CN" b="0" i="0" u="none" strike="noStrike" baseline="0" dirty="0">
              <a:solidFill>
                <a:srgbClr val="000000"/>
              </a:solidFill>
              <a:cs typeface="+mn-ea"/>
              <a:sym typeface="+mn-lt"/>
            </a:endParaRPr>
          </a:p>
          <a:p>
            <a:pPr marL="0" marR="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 解码或解压缩过程</a:t>
            </a:r>
          </a:p>
          <a:p>
            <a:pPr marL="0" marR="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8.5</a:t>
            </a:r>
            <a:r>
              <a:rPr lang="zh-CN" altLang="en-US" b="0" i="0" u="none" strike="noStrike" baseline="0" dirty="0">
                <a:solidFill>
                  <a:srgbClr val="000000"/>
                </a:solidFill>
                <a:cs typeface="+mn-ea"/>
                <a:sym typeface="+mn-lt"/>
              </a:rPr>
              <a:t> 中的解码器只包含两个部分： 一个符号解码器和一个反映射器。</a:t>
            </a:r>
          </a:p>
        </p:txBody>
      </p:sp>
      <p:pic>
        <p:nvPicPr>
          <p:cNvPr id="5" name="图片 4">
            <a:extLst>
              <a:ext uri="{FF2B5EF4-FFF2-40B4-BE49-F238E27FC236}">
                <a16:creationId xmlns:a16="http://schemas.microsoft.com/office/drawing/2014/main" id="{C066D1C9-C057-EAA0-2DA4-68B911E9B27D}"/>
              </a:ext>
            </a:extLst>
          </p:cNvPr>
          <p:cNvPicPr>
            <a:picLocks noChangeAspect="1"/>
          </p:cNvPicPr>
          <p:nvPr/>
        </p:nvPicPr>
        <p:blipFill>
          <a:blip r:embed="rId2"/>
          <a:stretch>
            <a:fillRect/>
          </a:stretch>
        </p:blipFill>
        <p:spPr>
          <a:xfrm>
            <a:off x="4143906" y="4816922"/>
            <a:ext cx="3967343" cy="1940360"/>
          </a:xfrm>
          <a:prstGeom prst="rect">
            <a:avLst/>
          </a:prstGeom>
        </p:spPr>
      </p:pic>
      <p:sp>
        <p:nvSpPr>
          <p:cNvPr id="6" name="矩形 5">
            <a:extLst>
              <a:ext uri="{FF2B5EF4-FFF2-40B4-BE49-F238E27FC236}">
                <a16:creationId xmlns:a16="http://schemas.microsoft.com/office/drawing/2014/main" id="{C5FEA375-2F3B-997D-28F7-74CA1503199B}"/>
              </a:ext>
            </a:extLst>
          </p:cNvPr>
          <p:cNvSpPr/>
          <p:nvPr/>
        </p:nvSpPr>
        <p:spPr>
          <a:xfrm>
            <a:off x="801092" y="2446417"/>
            <a:ext cx="10589815" cy="2318088"/>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979496629"/>
      </p:ext>
    </p:extLst>
  </p:cSld>
  <p:clrMapOvr>
    <a:masterClrMapping/>
  </p:clrMapOvr>
  <p:transition spd="slow" advTm="0">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7DF4387E-5F76-72D5-B849-8F685482C2ED}"/>
              </a:ext>
            </a:extLst>
          </p:cNvPr>
          <p:cNvSpPr>
            <a:spLocks noGrp="1"/>
          </p:cNvSpPr>
          <p:nvPr>
            <p:ph sz="quarter" idx="12"/>
          </p:nvPr>
        </p:nvSpPr>
        <p:spPr/>
        <p:txBody>
          <a:bodyPr/>
          <a:lstStyle/>
          <a:p>
            <a:pPr marL="0" marR="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8.6</a:t>
            </a:r>
            <a:r>
              <a:rPr lang="zh-CN" altLang="en-US" b="0" i="0" u="none" strike="noStrike" baseline="0" dirty="0">
                <a:solidFill>
                  <a:srgbClr val="000000"/>
                </a:solidFill>
                <a:cs typeface="+mn-ea"/>
                <a:sym typeface="+mn-lt"/>
              </a:rPr>
              <a:t>列出了今天所用的最重要的图像压缩标准、文件格式和容器，并按处理的图像类型进行了分类。</a:t>
            </a:r>
          </a:p>
        </p:txBody>
      </p:sp>
      <p:sp>
        <p:nvSpPr>
          <p:cNvPr id="2" name="标题 1">
            <a:extLst>
              <a:ext uri="{FF2B5EF4-FFF2-40B4-BE49-F238E27FC236}">
                <a16:creationId xmlns:a16="http://schemas.microsoft.com/office/drawing/2014/main" id="{DB51A0D8-09C7-9BC8-DF0F-22EC2172CE05}"/>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图像格式、存储器</a:t>
            </a:r>
            <a:r>
              <a:rPr lang="en-US" altLang="zh-CN" b="1" i="0" u="none" strike="noStrike" baseline="0">
                <a:solidFill>
                  <a:srgbClr val="0070C0"/>
                </a:solidFill>
                <a:latin typeface="+mn-lt"/>
                <a:ea typeface="+mn-ea"/>
                <a:cs typeface="+mn-ea"/>
                <a:sym typeface="+mn-lt"/>
              </a:rPr>
              <a:t>(</a:t>
            </a:r>
            <a:r>
              <a:rPr lang="zh-CN" altLang="en-US" b="1" i="0" u="none" strike="noStrike" baseline="0">
                <a:solidFill>
                  <a:srgbClr val="0070C0"/>
                </a:solidFill>
                <a:latin typeface="+mn-lt"/>
                <a:ea typeface="+mn-ea"/>
                <a:cs typeface="+mn-ea"/>
                <a:sym typeface="+mn-lt"/>
              </a:rPr>
              <a:t>容器</a:t>
            </a:r>
            <a:r>
              <a:rPr lang="en-US" altLang="zh-CN" b="1" i="0" u="none" strike="noStrike" baseline="0">
                <a:solidFill>
                  <a:srgbClr val="0070C0"/>
                </a:solidFill>
                <a:latin typeface="+mn-lt"/>
                <a:ea typeface="+mn-ea"/>
                <a:cs typeface="+mn-ea"/>
                <a:sym typeface="+mn-lt"/>
              </a:rPr>
              <a:t>)</a:t>
            </a:r>
            <a:r>
              <a:rPr lang="zh-CN" altLang="en-US" b="1" i="0" u="none" strike="noStrike" baseline="0">
                <a:solidFill>
                  <a:srgbClr val="0070C0"/>
                </a:solidFill>
                <a:latin typeface="+mn-lt"/>
                <a:ea typeface="+mn-ea"/>
                <a:cs typeface="+mn-ea"/>
                <a:sym typeface="+mn-lt"/>
              </a:rPr>
              <a:t>和压缩标准</a:t>
            </a:r>
          </a:p>
        </p:txBody>
      </p:sp>
      <p:pic>
        <p:nvPicPr>
          <p:cNvPr id="5" name="图片 4">
            <a:extLst>
              <a:ext uri="{FF2B5EF4-FFF2-40B4-BE49-F238E27FC236}">
                <a16:creationId xmlns:a16="http://schemas.microsoft.com/office/drawing/2014/main" id="{B107E982-C264-999F-E772-8A4D7AE89A1B}"/>
              </a:ext>
            </a:extLst>
          </p:cNvPr>
          <p:cNvPicPr>
            <a:picLocks noChangeAspect="1"/>
          </p:cNvPicPr>
          <p:nvPr/>
        </p:nvPicPr>
        <p:blipFill>
          <a:blip r:embed="rId2"/>
          <a:stretch>
            <a:fillRect/>
          </a:stretch>
        </p:blipFill>
        <p:spPr>
          <a:xfrm>
            <a:off x="2801005" y="3565307"/>
            <a:ext cx="6589989" cy="2681386"/>
          </a:xfrm>
          <a:prstGeom prst="rect">
            <a:avLst/>
          </a:prstGeom>
        </p:spPr>
      </p:pic>
    </p:spTree>
    <p:extLst>
      <p:ext uri="{BB962C8B-B14F-4D97-AF65-F5344CB8AC3E}">
        <p14:creationId xmlns:p14="http://schemas.microsoft.com/office/powerpoint/2010/main" val="1406874864"/>
      </p:ext>
    </p:extLst>
  </p:cSld>
  <p:clrMapOvr>
    <a:masterClrMapping/>
  </p:clrMapOvr>
  <p:transition spd="slow" advTm="0">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02</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霍夫曼编码</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84101780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504965-E1CA-96A3-3C09-A46C526F0E5C}"/>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概述</a:t>
            </a:r>
          </a:p>
        </p:txBody>
      </p:sp>
      <p:sp>
        <p:nvSpPr>
          <p:cNvPr id="3" name="文本占位符 2">
            <a:extLst>
              <a:ext uri="{FF2B5EF4-FFF2-40B4-BE49-F238E27FC236}">
                <a16:creationId xmlns:a16="http://schemas.microsoft.com/office/drawing/2014/main" id="{D29D4512-A48A-3851-065F-8FAA0E9A6F25}"/>
              </a:ext>
            </a:extLst>
          </p:cNvPr>
          <p:cNvSpPr>
            <a:spLocks noGrp="1"/>
          </p:cNvSpPr>
          <p:nvPr>
            <p:ph sz="quarter" idx="12"/>
          </p:nvPr>
        </p:nvSpPr>
        <p:spPr/>
        <p:txBody>
          <a:bodyPr/>
          <a:lstStyle/>
          <a:p>
            <a:pPr marL="0" marR="0" lvl="0" indent="0" rtl="0">
              <a:buNone/>
            </a:pPr>
            <a:r>
              <a:rPr lang="zh-CN" altLang="en-US" b="0" i="0" u="none" strike="noStrike" baseline="0" dirty="0">
                <a:solidFill>
                  <a:srgbClr val="000000"/>
                </a:solidFill>
                <a:cs typeface="+mn-ea"/>
                <a:sym typeface="+mn-lt"/>
              </a:rPr>
              <a:t>霍夫曼编码过程的第一步是，首先对所考虑符号的概率进行排序，创建一系列简化信源，然后将概率最低的符号合并为一个符号，并在下一次信源化简中替代那些概率最低的符号。图</a:t>
            </a:r>
            <a:r>
              <a:rPr lang="en-US" altLang="zh-CN" b="0" i="0" u="none" strike="noStrike" baseline="0" dirty="0">
                <a:solidFill>
                  <a:srgbClr val="000000"/>
                </a:solidFill>
                <a:cs typeface="+mn-ea"/>
                <a:sym typeface="+mn-lt"/>
              </a:rPr>
              <a:t>8.7</a:t>
            </a:r>
            <a:r>
              <a:rPr lang="zh-CN" altLang="en-US" b="0" i="0" u="none" strike="noStrike" baseline="0" dirty="0">
                <a:solidFill>
                  <a:srgbClr val="000000"/>
                </a:solidFill>
                <a:cs typeface="+mn-ea"/>
                <a:sym typeface="+mn-lt"/>
              </a:rPr>
              <a:t>说明了二进制编码的这一处理过程</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也可构建</a:t>
            </a:r>
            <a:r>
              <a:rPr lang="en-US" altLang="zh-CN" b="0" i="0" u="none" strike="noStrike" baseline="0" dirty="0">
                <a:solidFill>
                  <a:srgbClr val="000000"/>
                </a:solidFill>
                <a:cs typeface="+mn-ea"/>
                <a:sym typeface="+mn-lt"/>
              </a:rPr>
              <a:t>K</a:t>
            </a:r>
            <a:r>
              <a:rPr lang="zh-CN" altLang="en-US" b="0" i="0" u="none" strike="noStrike" baseline="0" dirty="0">
                <a:solidFill>
                  <a:srgbClr val="000000"/>
                </a:solidFill>
                <a:cs typeface="+mn-ea"/>
                <a:sym typeface="+mn-lt"/>
              </a:rPr>
              <a:t>元霍夫曼编码</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a:t>
            </a:r>
          </a:p>
        </p:txBody>
      </p:sp>
      <p:pic>
        <p:nvPicPr>
          <p:cNvPr id="5" name="图片 4">
            <a:extLst>
              <a:ext uri="{FF2B5EF4-FFF2-40B4-BE49-F238E27FC236}">
                <a16:creationId xmlns:a16="http://schemas.microsoft.com/office/drawing/2014/main" id="{BDCD567B-4757-10BD-01CA-72B985A2891D}"/>
              </a:ext>
            </a:extLst>
          </p:cNvPr>
          <p:cNvPicPr>
            <a:picLocks noChangeAspect="1"/>
          </p:cNvPicPr>
          <p:nvPr/>
        </p:nvPicPr>
        <p:blipFill>
          <a:blip r:embed="rId2"/>
          <a:stretch>
            <a:fillRect/>
          </a:stretch>
        </p:blipFill>
        <p:spPr>
          <a:xfrm>
            <a:off x="2797867" y="3973609"/>
            <a:ext cx="6596263" cy="2350086"/>
          </a:xfrm>
          <a:prstGeom prst="rect">
            <a:avLst/>
          </a:prstGeom>
        </p:spPr>
      </p:pic>
    </p:spTree>
    <p:extLst>
      <p:ext uri="{BB962C8B-B14F-4D97-AF65-F5344CB8AC3E}">
        <p14:creationId xmlns:p14="http://schemas.microsoft.com/office/powerpoint/2010/main" val="745774010"/>
      </p:ext>
    </p:extLst>
  </p:cSld>
  <p:clrMapOvr>
    <a:masterClrMapping/>
  </p:clrMapOvr>
  <p:transition spd="slow" advTm="0">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724545" y="2221637"/>
            <a:ext cx="5731905" cy="2414726"/>
            <a:chOff x="5943478" y="2292214"/>
            <a:chExt cx="5731905"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03</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5943478" y="3937499"/>
              <a:ext cx="5731905"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4400" b="1" dirty="0" err="1">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Golomb</a:t>
              </a: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编码</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80515360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1C8720-685A-3797-6581-38B7EA67593A}"/>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概述</a:t>
            </a: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043979C5-B426-ECCE-5EF3-21D78081E0EE}"/>
                  </a:ext>
                </a:extLst>
              </p:cNvPr>
              <p:cNvSpPr>
                <a:spLocks noGrp="1"/>
              </p:cNvSpPr>
              <p:nvPr>
                <p:ph sz="quarter" idx="11"/>
              </p:nvPr>
            </p:nvSpPr>
            <p:spPr/>
            <p:txBody>
              <a:bodyPr>
                <a:noAutofit/>
              </a:bodyPr>
              <a:lstStyle/>
              <a:p>
                <a:pPr marL="0" marR="0" lvl="0" indent="0" rtl="0">
                  <a:buNone/>
                </a:pPr>
                <a:r>
                  <a:rPr lang="zh-CN" altLang="en-US" b="0" i="0" u="none" strike="noStrike" baseline="0" dirty="0">
                    <a:solidFill>
                      <a:srgbClr val="000000"/>
                    </a:solidFill>
                    <a:cs typeface="+mn-ea"/>
                    <a:sym typeface="+mn-lt"/>
                  </a:rPr>
                  <a:t>已知一个非负整数</a:t>
                </a:r>
                <a:r>
                  <a:rPr lang="en-US" altLang="zh-CN" b="0" i="0" u="none" strike="noStrike" baseline="0" dirty="0">
                    <a:solidFill>
                      <a:srgbClr val="000000"/>
                    </a:solidFill>
                    <a:cs typeface="+mn-ea"/>
                    <a:sym typeface="+mn-lt"/>
                  </a:rPr>
                  <a:t>n</a:t>
                </a:r>
                <a:r>
                  <a:rPr lang="zh-CN" altLang="en-US" b="0" i="0" u="none" strike="noStrike" baseline="0" dirty="0">
                    <a:solidFill>
                      <a:srgbClr val="000000"/>
                    </a:solidFill>
                    <a:cs typeface="+mn-ea"/>
                    <a:sym typeface="+mn-lt"/>
                  </a:rPr>
                  <a:t> 和一个正整数除数</a:t>
                </a:r>
                <a:r>
                  <a:rPr lang="en-US" altLang="zh-CN" b="0" i="0" u="none" strike="noStrike" baseline="0" dirty="0">
                    <a:solidFill>
                      <a:srgbClr val="000000"/>
                    </a:solidFill>
                    <a:cs typeface="+mn-ea"/>
                    <a:sym typeface="+mn-lt"/>
                  </a:rPr>
                  <a:t>m&gt;0,</a:t>
                </a:r>
                <a:r>
                  <a:rPr lang="zh-CN" altLang="en-US" b="0" i="0" u="none" strike="noStrike" baseline="0" dirty="0">
                    <a:solidFill>
                      <a:srgbClr val="000000"/>
                    </a:solidFill>
                    <a:cs typeface="+mn-ea"/>
                    <a:sym typeface="+mn-lt"/>
                  </a:rPr>
                  <a:t> 则 </a:t>
                </a:r>
                <a:r>
                  <a:rPr lang="en-US" altLang="zh-CN" b="0" i="0" u="none" strike="noStrike" baseline="0" dirty="0">
                    <a:solidFill>
                      <a:srgbClr val="000000"/>
                    </a:solidFill>
                    <a:cs typeface="+mn-ea"/>
                    <a:sym typeface="+mn-lt"/>
                  </a:rPr>
                  <a:t>n</a:t>
                </a:r>
                <a:r>
                  <a:rPr lang="zh-CN" altLang="en-US" b="0" i="0" u="none" strike="noStrike" baseline="0" dirty="0">
                    <a:solidFill>
                      <a:srgbClr val="000000"/>
                    </a:solidFill>
                    <a:cs typeface="+mn-ea"/>
                    <a:sym typeface="+mn-lt"/>
                  </a:rPr>
                  <a:t> 关于</a:t>
                </a:r>
                <a:r>
                  <a:rPr lang="en-US" altLang="zh-CN" b="0" i="0" u="none" strike="noStrike" baseline="0" dirty="0">
                    <a:solidFill>
                      <a:srgbClr val="000000"/>
                    </a:solidFill>
                    <a:cs typeface="+mn-ea"/>
                    <a:sym typeface="+mn-lt"/>
                  </a:rPr>
                  <a:t>m</a:t>
                </a:r>
                <a:r>
                  <a:rPr lang="zh-CN" altLang="en-US" b="0" i="0" u="none" strike="noStrike" baseline="0" dirty="0">
                    <a:solidFill>
                      <a:srgbClr val="000000"/>
                    </a:solidFill>
                    <a:cs typeface="+mn-ea"/>
                    <a:sym typeface="+mn-lt"/>
                  </a:rPr>
                  <a:t> 的 </a:t>
                </a:r>
                <a:r>
                  <a:rPr lang="en-US" altLang="zh-CN" b="0" i="0" u="none" strike="noStrike" baseline="0" dirty="0" err="1">
                    <a:solidFill>
                      <a:srgbClr val="000000"/>
                    </a:solidFill>
                    <a:cs typeface="+mn-ea"/>
                    <a:sym typeface="+mn-lt"/>
                  </a:rPr>
                  <a:t>Golomb</a:t>
                </a:r>
                <a:r>
                  <a:rPr lang="zh-CN" altLang="en-US" b="0" i="0" u="none" strike="noStrike" baseline="0" dirty="0">
                    <a:solidFill>
                      <a:srgbClr val="000000"/>
                    </a:solidFill>
                    <a:cs typeface="+mn-ea"/>
                    <a:sym typeface="+mn-lt"/>
                  </a:rPr>
                  <a:t> 码 </a:t>
                </a:r>
                <a:r>
                  <a:rPr lang="en-US" altLang="zh-CN" b="0" i="0" u="none" strike="noStrike" baseline="0" dirty="0">
                    <a:solidFill>
                      <a:srgbClr val="000000"/>
                    </a:solidFill>
                    <a:cs typeface="+mn-ea"/>
                    <a:sym typeface="+mn-lt"/>
                  </a:rPr>
                  <a:t>G(n)</a:t>
                </a:r>
                <a:r>
                  <a:rPr lang="zh-CN" altLang="en-US" b="0" i="0" u="none" strike="noStrike" baseline="0" dirty="0">
                    <a:solidFill>
                      <a:srgbClr val="000000"/>
                    </a:solidFill>
                    <a:cs typeface="+mn-ea"/>
                    <a:sym typeface="+mn-lt"/>
                  </a:rPr>
                  <a:t> 是商</a:t>
                </a:r>
                <a:r>
                  <a:rPr lang="en-US" altLang="zh-CN" b="0" i="0" u="none" strike="noStrike" baseline="0" dirty="0">
                    <a:solidFill>
                      <a:srgbClr val="000000"/>
                    </a:solidFill>
                    <a:cs typeface="+mn-ea"/>
                    <a:sym typeface="+mn-lt"/>
                  </a:rPr>
                  <a:t>[Ln/m]</a:t>
                </a:r>
                <a:r>
                  <a:rPr lang="zh-CN" altLang="en-US" b="0" i="0" u="none" strike="noStrike" baseline="0" dirty="0">
                    <a:solidFill>
                      <a:srgbClr val="000000"/>
                    </a:solidFill>
                    <a:cs typeface="+mn-ea"/>
                    <a:sym typeface="+mn-lt"/>
                  </a:rPr>
                  <a:t>的一元编码和余数</a:t>
                </a:r>
                <a:r>
                  <a:rPr lang="en-US" altLang="zh-CN" b="0" i="0" u="none" strike="noStrike" baseline="0" dirty="0">
                    <a:solidFill>
                      <a:srgbClr val="000000"/>
                    </a:solidFill>
                    <a:cs typeface="+mn-ea"/>
                    <a:sym typeface="+mn-lt"/>
                  </a:rPr>
                  <a:t>n mod m</a:t>
                </a:r>
                <a:r>
                  <a:rPr lang="zh-CN" altLang="en-US" b="0" i="0" u="none" strike="noStrike" baseline="0" dirty="0">
                    <a:solidFill>
                      <a:srgbClr val="000000"/>
                    </a:solidFill>
                    <a:cs typeface="+mn-ea"/>
                    <a:sym typeface="+mn-lt"/>
                  </a:rPr>
                  <a:t>的二值表示的组合。 </a:t>
                </a:r>
                <a:r>
                  <a:rPr lang="en-US" altLang="zh-CN" b="0" i="0" u="none" strike="noStrike" baseline="0" dirty="0">
                    <a:solidFill>
                      <a:srgbClr val="000000"/>
                    </a:solidFill>
                    <a:cs typeface="+mn-ea"/>
                    <a:sym typeface="+mn-lt"/>
                  </a:rPr>
                  <a:t>Gm(n)</a:t>
                </a:r>
                <a:r>
                  <a:rPr lang="zh-CN" altLang="en-US" b="0" i="0" u="none" strike="noStrike" baseline="0" dirty="0">
                    <a:solidFill>
                      <a:srgbClr val="000000"/>
                    </a:solidFill>
                    <a:cs typeface="+mn-ea"/>
                    <a:sym typeface="+mn-lt"/>
                  </a:rPr>
                  <a:t>的构建过程如下：</a:t>
                </a:r>
              </a:p>
              <a:p>
                <a:pPr marL="0" marR="0" lvl="0" indent="0" rtl="0">
                  <a:buNone/>
                </a:pP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 形成商</a:t>
                </a:r>
                <a:r>
                  <a:rPr lang="en-US" altLang="zh-CN" b="0" i="0" u="none" strike="noStrike" baseline="0" dirty="0">
                    <a:solidFill>
                      <a:srgbClr val="000000"/>
                    </a:solidFill>
                    <a:cs typeface="+mn-ea"/>
                    <a:sym typeface="+mn-lt"/>
                  </a:rPr>
                  <a:t>[n/m]</a:t>
                </a:r>
                <a:r>
                  <a:rPr lang="zh-CN" altLang="en-US" b="0" i="0" u="none" strike="noStrike" baseline="0" dirty="0">
                    <a:solidFill>
                      <a:srgbClr val="000000"/>
                    </a:solidFill>
                    <a:cs typeface="+mn-ea"/>
                    <a:sym typeface="+mn-lt"/>
                  </a:rPr>
                  <a:t> 的一元编码</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整数</a:t>
                </a:r>
                <a:r>
                  <a:rPr lang="en-US" altLang="zh-CN" b="0" i="0" u="none" strike="noStrike" baseline="0" dirty="0">
                    <a:solidFill>
                      <a:srgbClr val="000000"/>
                    </a:solidFill>
                    <a:cs typeface="+mn-ea"/>
                    <a:sym typeface="+mn-lt"/>
                  </a:rPr>
                  <a:t>q</a:t>
                </a:r>
                <a:r>
                  <a:rPr lang="zh-CN" altLang="en-US" b="0" i="0" u="none" strike="noStrike" baseline="0" dirty="0">
                    <a:solidFill>
                      <a:srgbClr val="000000"/>
                    </a:solidFill>
                    <a:cs typeface="+mn-ea"/>
                    <a:sym typeface="+mn-lt"/>
                  </a:rPr>
                  <a:t> 的一元编码定义为</a:t>
                </a:r>
                <a:r>
                  <a:rPr lang="en-US" altLang="zh-CN" b="0" i="0" u="none" strike="noStrike" baseline="0" dirty="0">
                    <a:solidFill>
                      <a:srgbClr val="000000"/>
                    </a:solidFill>
                    <a:cs typeface="+mn-ea"/>
                    <a:sym typeface="+mn-lt"/>
                  </a:rPr>
                  <a:t>q</a:t>
                </a:r>
                <a:r>
                  <a:rPr lang="zh-CN" altLang="en-US" b="0" i="0" u="none" strike="noStrike" baseline="0" dirty="0">
                    <a:solidFill>
                      <a:srgbClr val="000000"/>
                    </a:solidFill>
                    <a:cs typeface="+mn-ea"/>
                    <a:sym typeface="+mn-lt"/>
                  </a:rPr>
                  <a:t> 个</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后跟一个</a:t>
                </a:r>
                <a:r>
                  <a:rPr lang="en-US" altLang="zh-CN" b="0" i="0" u="none" strike="noStrike" baseline="0" dirty="0">
                    <a:solidFill>
                      <a:srgbClr val="000000"/>
                    </a:solidFill>
                    <a:cs typeface="+mn-ea"/>
                    <a:sym typeface="+mn-lt"/>
                  </a:rPr>
                  <a:t>0)</a:t>
                </a:r>
                <a:r>
                  <a:rPr lang="zh-CN" altLang="en-US" b="0" i="0" u="none" strike="noStrike" baseline="0" dirty="0">
                    <a:solidFill>
                      <a:srgbClr val="000000"/>
                    </a:solidFill>
                    <a:cs typeface="+mn-ea"/>
                    <a:sym typeface="+mn-lt"/>
                  </a:rPr>
                  <a:t>。</a:t>
                </a:r>
              </a:p>
              <a:p>
                <a:pPr marL="0" marR="0" lvl="0" indent="0" rtl="0">
                  <a:buNone/>
                </a:pP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 令 </a:t>
                </a:r>
                <a:r>
                  <a:rPr lang="en-US" altLang="zh-CN" b="0" i="0" u="none" strike="noStrike" baseline="0" dirty="0">
                    <a:solidFill>
                      <a:srgbClr val="000000"/>
                    </a:solidFill>
                    <a:cs typeface="+mn-ea"/>
                    <a:sym typeface="+mn-lt"/>
                  </a:rPr>
                  <a:t>k=[log</a:t>
                </a:r>
                <a:r>
                  <a:rPr lang="zh-CN" altLang="en-US" b="0" i="0" u="none" strike="noStrike" baseline="0" dirty="0">
                    <a:solidFill>
                      <a:srgbClr val="000000"/>
                    </a:solidFill>
                    <a:cs typeface="+mn-ea"/>
                    <a:sym typeface="+mn-lt"/>
                  </a:rPr>
                  <a:t>₂</a:t>
                </a:r>
                <a:r>
                  <a:rPr lang="en-US" altLang="zh-CN" b="0" i="0" u="none" strike="noStrike" baseline="0" dirty="0">
                    <a:solidFill>
                      <a:srgbClr val="000000"/>
                    </a:solidFill>
                    <a:cs typeface="+mn-ea"/>
                    <a:sym typeface="+mn-lt"/>
                  </a:rPr>
                  <a:t>m],c=</a:t>
                </a:r>
                <a14:m>
                  <m:oMath xmlns:m="http://schemas.openxmlformats.org/officeDocument/2006/math">
                    <m:sSup>
                      <m:sSupPr>
                        <m:ctrlPr>
                          <a:rPr lang="en-US" altLang="zh-CN" b="0" i="1" u="none" strike="noStrike" baseline="0" smtClean="0">
                            <a:solidFill>
                              <a:srgbClr val="000000"/>
                            </a:solidFill>
                            <a:latin typeface="Cambria Math" panose="02040503050406030204" pitchFamily="18" charset="0"/>
                            <a:cs typeface="+mn-ea"/>
                            <a:sym typeface="+mn-lt"/>
                          </a:rPr>
                        </m:ctrlPr>
                      </m:sSupPr>
                      <m:e>
                        <m:r>
                          <a:rPr lang="en-US" altLang="zh-CN" b="0" i="1" u="none" strike="noStrike" baseline="0" smtClean="0">
                            <a:solidFill>
                              <a:srgbClr val="000000"/>
                            </a:solidFill>
                            <a:latin typeface="Cambria Math" panose="02040503050406030204" pitchFamily="18" charset="0"/>
                            <a:cs typeface="+mn-ea"/>
                            <a:sym typeface="+mn-lt"/>
                          </a:rPr>
                          <m:t>2</m:t>
                        </m:r>
                      </m:e>
                      <m:sup>
                        <m:r>
                          <a:rPr lang="en-US" altLang="zh-CN" b="0" i="1" u="none" strike="noStrike" baseline="0" smtClean="0">
                            <a:solidFill>
                              <a:srgbClr val="000000"/>
                            </a:solidFill>
                            <a:latin typeface="Cambria Math" panose="02040503050406030204" pitchFamily="18" charset="0"/>
                            <a:cs typeface="+mn-ea"/>
                            <a:sym typeface="+mn-lt"/>
                          </a:rPr>
                          <m:t>𝑘</m:t>
                        </m:r>
                      </m:sup>
                    </m:sSup>
                  </m:oMath>
                </a14:m>
                <a:r>
                  <a:rPr lang="en-US" altLang="zh-CN" b="0" i="0" u="none" strike="noStrike" baseline="0" dirty="0">
                    <a:solidFill>
                      <a:srgbClr val="000000"/>
                    </a:solidFill>
                    <a:cs typeface="+mn-ea"/>
                    <a:sym typeface="+mn-lt"/>
                  </a:rPr>
                  <a:t>-m,r=n</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mod m,</a:t>
                </a:r>
                <a:r>
                  <a:rPr lang="zh-CN" altLang="en-US" b="0" i="0" u="none" strike="noStrike" baseline="0" dirty="0">
                    <a:solidFill>
                      <a:srgbClr val="000000"/>
                    </a:solidFill>
                    <a:cs typeface="+mn-ea"/>
                    <a:sym typeface="+mn-lt"/>
                  </a:rPr>
                  <a:t>并按如下方式计算截断的余数：</a:t>
                </a:r>
                <a:endParaRPr lang="en-US" altLang="zh-CN" b="0" i="0" u="none" strike="noStrike" baseline="0" dirty="0">
                  <a:solidFill>
                    <a:srgbClr val="000000"/>
                  </a:solidFill>
                  <a:cs typeface="+mn-ea"/>
                  <a:sym typeface="+mn-lt"/>
                </a:endParaRPr>
              </a:p>
              <a:p>
                <a:pPr marL="0" marR="0" lvl="0" indent="0" rtl="0">
                  <a:buNone/>
                </a:pPr>
                <a:endParaRPr lang="zh-CN" altLang="en-US" b="0" i="0" u="none" strike="noStrike" baseline="0" dirty="0">
                  <a:solidFill>
                    <a:srgbClr val="000000"/>
                  </a:solidFill>
                  <a:cs typeface="+mn-ea"/>
                  <a:sym typeface="+mn-lt"/>
                </a:endParaRPr>
              </a:p>
              <a:p>
                <a:pPr marL="0" marR="0" lvl="0" indent="0" rtl="0">
                  <a:buNone/>
                </a:pP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 连接步骤</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和步骤</a:t>
                </a: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的结果。</a:t>
                </a:r>
              </a:p>
            </p:txBody>
          </p:sp>
        </mc:Choice>
        <mc:Fallback>
          <p:sp>
            <p:nvSpPr>
              <p:cNvPr id="3" name="文本占位符 2">
                <a:extLst>
                  <a:ext uri="{FF2B5EF4-FFF2-40B4-BE49-F238E27FC236}">
                    <a16:creationId xmlns:a16="http://schemas.microsoft.com/office/drawing/2014/main" id="{043979C5-B426-ECCE-5EF3-21D78081E0EE}"/>
                  </a:ext>
                </a:extLst>
              </p:cNvPr>
              <p:cNvSpPr>
                <a:spLocks noGrp="1" noRot="1" noChangeAspect="1" noMove="1" noResize="1" noEditPoints="1" noAdjustHandles="1" noChangeArrowheads="1" noChangeShapeType="1" noTextEdit="1"/>
              </p:cNvSpPr>
              <p:nvPr>
                <p:ph sz="quarter" idx="11"/>
              </p:nvPr>
            </p:nvSpPr>
            <p:spPr>
              <a:blipFill>
                <a:blip r:embed="rId2"/>
                <a:stretch>
                  <a:fillRect l="-572"/>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0BA5A289-25E2-A425-CC8D-4C44F9A6C619}"/>
              </a:ext>
            </a:extLst>
          </p:cNvPr>
          <p:cNvPicPr>
            <a:picLocks noChangeAspect="1"/>
          </p:cNvPicPr>
          <p:nvPr/>
        </p:nvPicPr>
        <p:blipFill>
          <a:blip r:embed="rId3"/>
          <a:stretch>
            <a:fillRect/>
          </a:stretch>
        </p:blipFill>
        <p:spPr>
          <a:xfrm>
            <a:off x="4470228" y="4645000"/>
            <a:ext cx="3314700" cy="657225"/>
          </a:xfrm>
          <a:prstGeom prst="rect">
            <a:avLst/>
          </a:prstGeom>
        </p:spPr>
      </p:pic>
      <p:sp>
        <p:nvSpPr>
          <p:cNvPr id="6" name="矩形 5">
            <a:extLst>
              <a:ext uri="{FF2B5EF4-FFF2-40B4-BE49-F238E27FC236}">
                <a16:creationId xmlns:a16="http://schemas.microsoft.com/office/drawing/2014/main" id="{9DB3226D-4FB3-C4ED-CB09-DFE886DE6DE3}"/>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4069215884"/>
      </p:ext>
    </p:extLst>
  </p:cSld>
  <p:clrMapOvr>
    <a:masterClrMapping/>
  </p:clrMapOvr>
  <p:transition spd="slow" advTm="0">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04</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算术编码</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62657213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8CA92F-8AE7-77D8-978E-97C8520AB7F1}"/>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自适应上下文相关概率估计</a:t>
            </a:r>
          </a:p>
        </p:txBody>
      </p:sp>
      <p:sp>
        <p:nvSpPr>
          <p:cNvPr id="3" name="文本占位符 2">
            <a:extLst>
              <a:ext uri="{FF2B5EF4-FFF2-40B4-BE49-F238E27FC236}">
                <a16:creationId xmlns:a16="http://schemas.microsoft.com/office/drawing/2014/main" id="{5E108F42-6024-5CCB-FFCD-E1B112FAA48D}"/>
              </a:ext>
            </a:extLst>
          </p:cNvPr>
          <p:cNvSpPr>
            <a:spLocks noGrp="1"/>
          </p:cNvSpPr>
          <p:nvPr>
            <p:ph sz="quarter" idx="11"/>
          </p:nvPr>
        </p:nvSpPr>
        <p:spPr>
          <a:xfrm>
            <a:off x="801094" y="2432500"/>
            <a:ext cx="10589814" cy="3540427"/>
          </a:xfrm>
        </p:spPr>
        <p:txBody>
          <a:bodyPr>
            <a:normAutofit/>
          </a:bodyPr>
          <a:lstStyle/>
          <a:p>
            <a:pPr marL="0" marR="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8.13(a)</a:t>
            </a:r>
            <a:r>
              <a:rPr lang="zh-CN" altLang="en-US" b="0" i="0" u="none" strike="noStrike" baseline="0" dirty="0">
                <a:solidFill>
                  <a:srgbClr val="000000"/>
                </a:solidFill>
                <a:cs typeface="+mn-ea"/>
                <a:sym typeface="+mn-lt"/>
              </a:rPr>
              <a:t>给出了二值信源符号自</a:t>
            </a:r>
            <a:r>
              <a:rPr lang="zh-CN" altLang="en-US" b="0" i="0" u="sng" strike="noStrike" baseline="0" dirty="0">
                <a:solidFill>
                  <a:srgbClr val="000000"/>
                </a:solidFill>
                <a:cs typeface="+mn-ea"/>
                <a:sym typeface="+mn-lt"/>
              </a:rPr>
              <a:t>适应上</a:t>
            </a:r>
            <a:r>
              <a:rPr lang="zh-CN" altLang="en-US" b="0" i="0" u="none" strike="noStrike" baseline="0" dirty="0">
                <a:solidFill>
                  <a:srgbClr val="000000"/>
                </a:solidFill>
                <a:cs typeface="+mn-ea"/>
                <a:sym typeface="+mn-lt"/>
              </a:rPr>
              <a:t>下文相关算术编码包括的步骤。图</a:t>
            </a:r>
            <a:r>
              <a:rPr lang="en-US" altLang="zh-CN" b="0" i="0" u="none" strike="noStrike" baseline="0" dirty="0">
                <a:solidFill>
                  <a:srgbClr val="000000"/>
                </a:solidFill>
                <a:cs typeface="+mn-ea"/>
                <a:sym typeface="+mn-lt"/>
              </a:rPr>
              <a:t>8.13(b)</a:t>
            </a:r>
            <a:r>
              <a:rPr lang="zh-CN" altLang="en-US" b="0" i="0" u="none" strike="noStrike" baseline="0" dirty="0">
                <a:solidFill>
                  <a:srgbClr val="000000"/>
                </a:solidFill>
                <a:cs typeface="+mn-ea"/>
                <a:sym typeface="+mn-lt"/>
              </a:rPr>
              <a:t>到</a:t>
            </a:r>
            <a:r>
              <a:rPr lang="en-US" altLang="zh-CN" b="0" i="0" u="none" strike="noStrike" baseline="0" dirty="0">
                <a:solidFill>
                  <a:srgbClr val="000000"/>
                </a:solidFill>
                <a:cs typeface="+mn-ea"/>
                <a:sym typeface="+mn-lt"/>
              </a:rPr>
              <a:t>(d)</a:t>
            </a:r>
            <a:r>
              <a:rPr lang="zh-CN" altLang="en-US" b="0" i="0" u="none" strike="noStrike" baseline="0" dirty="0">
                <a:solidFill>
                  <a:srgbClr val="000000"/>
                </a:solidFill>
                <a:cs typeface="+mn-ea"/>
                <a:sym typeface="+mn-lt"/>
              </a:rPr>
              <a:t>显示了</a:t>
            </a: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种可被使用的上下文：</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前一个符号；</a:t>
            </a: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前一组符号；</a:t>
            </a: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前一些符号加上前一扫描行上的符号。对于所示的三种情况，概率估计块必须管理</a:t>
            </a:r>
            <a:r>
              <a:rPr lang="en-US" altLang="zh-CN" b="0" i="0" u="none" strike="noStrike" baseline="0" dirty="0">
                <a:solidFill>
                  <a:srgbClr val="000000"/>
                </a:solidFill>
                <a:cs typeface="+mn-ea"/>
                <a:sym typeface="+mn-lt"/>
              </a:rPr>
              <a:t>21(</a:t>
            </a:r>
            <a:r>
              <a:rPr lang="zh-CN" altLang="en-US" b="0" i="0" u="none" strike="noStrike" baseline="0" dirty="0">
                <a:solidFill>
                  <a:srgbClr val="000000"/>
                </a:solidFill>
                <a:cs typeface="+mn-ea"/>
                <a:sym typeface="+mn-lt"/>
              </a:rPr>
              <a:t>或</a:t>
            </a: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个、</a:t>
            </a:r>
            <a:r>
              <a:rPr lang="en-US" altLang="zh-CN" b="0" i="0" u="none" strike="noStrike" baseline="0" dirty="0">
                <a:solidFill>
                  <a:srgbClr val="000000"/>
                </a:solidFill>
                <a:cs typeface="+mn-ea"/>
                <a:sym typeface="+mn-lt"/>
              </a:rPr>
              <a:t>28(</a:t>
            </a:r>
            <a:r>
              <a:rPr lang="zh-CN" altLang="en-US" b="0" i="0" u="none" strike="noStrike" baseline="0" dirty="0">
                <a:solidFill>
                  <a:srgbClr val="000000"/>
                </a:solidFill>
                <a:cs typeface="+mn-ea"/>
                <a:sym typeface="+mn-lt"/>
              </a:rPr>
              <a:t>或</a:t>
            </a:r>
            <a:r>
              <a:rPr lang="en-US" altLang="zh-CN" b="0" i="0" u="none" strike="noStrike" baseline="0" dirty="0">
                <a:solidFill>
                  <a:srgbClr val="000000"/>
                </a:solidFill>
                <a:cs typeface="+mn-ea"/>
                <a:sym typeface="+mn-lt"/>
              </a:rPr>
              <a:t>256)</a:t>
            </a:r>
            <a:r>
              <a:rPr lang="zh-CN" altLang="en-US" b="0" i="0" u="none" strike="noStrike" baseline="0" dirty="0">
                <a:solidFill>
                  <a:srgbClr val="000000"/>
                </a:solidFill>
                <a:cs typeface="+mn-ea"/>
                <a:sym typeface="+mn-lt"/>
              </a:rPr>
              <a:t>个和 </a:t>
            </a:r>
            <a:r>
              <a:rPr lang="en-US" altLang="zh-CN" b="0" i="0" u="none" strike="noStrike" baseline="0" dirty="0">
                <a:solidFill>
                  <a:srgbClr val="000000"/>
                </a:solidFill>
                <a:cs typeface="+mn-ea"/>
                <a:sym typeface="+mn-lt"/>
              </a:rPr>
              <a:t>25(</a:t>
            </a:r>
            <a:r>
              <a:rPr lang="zh-CN" altLang="en-US" b="0" i="0" u="none" strike="noStrike" baseline="0" dirty="0">
                <a:solidFill>
                  <a:srgbClr val="000000"/>
                </a:solidFill>
                <a:cs typeface="+mn-ea"/>
                <a:sym typeface="+mn-lt"/>
              </a:rPr>
              <a:t>或</a:t>
            </a:r>
            <a:r>
              <a:rPr lang="en-US" altLang="zh-CN" b="0" i="0" u="none" strike="noStrike" baseline="0" dirty="0">
                <a:solidFill>
                  <a:srgbClr val="000000"/>
                </a:solidFill>
                <a:cs typeface="+mn-ea"/>
                <a:sym typeface="+mn-lt"/>
              </a:rPr>
              <a:t>32)</a:t>
            </a:r>
            <a:r>
              <a:rPr lang="zh-CN" altLang="en-US" b="0" i="0" u="none" strike="noStrike" baseline="0" dirty="0">
                <a:solidFill>
                  <a:srgbClr val="000000"/>
                </a:solidFill>
                <a:cs typeface="+mn-ea"/>
                <a:sym typeface="+mn-lt"/>
              </a:rPr>
              <a:t>个上下文及与它们关联的概率。</a:t>
            </a:r>
          </a:p>
        </p:txBody>
      </p:sp>
      <p:pic>
        <p:nvPicPr>
          <p:cNvPr id="5" name="图片 4">
            <a:extLst>
              <a:ext uri="{FF2B5EF4-FFF2-40B4-BE49-F238E27FC236}">
                <a16:creationId xmlns:a16="http://schemas.microsoft.com/office/drawing/2014/main" id="{BEEEA5AC-127F-83A7-3004-B56EA94D6A52}"/>
              </a:ext>
            </a:extLst>
          </p:cNvPr>
          <p:cNvPicPr>
            <a:picLocks noChangeAspect="1"/>
          </p:cNvPicPr>
          <p:nvPr/>
        </p:nvPicPr>
        <p:blipFill>
          <a:blip r:embed="rId2"/>
          <a:stretch>
            <a:fillRect/>
          </a:stretch>
        </p:blipFill>
        <p:spPr>
          <a:xfrm>
            <a:off x="3592841" y="4416875"/>
            <a:ext cx="5006315" cy="2316263"/>
          </a:xfrm>
          <a:prstGeom prst="rect">
            <a:avLst/>
          </a:prstGeom>
        </p:spPr>
      </p:pic>
      <p:sp>
        <p:nvSpPr>
          <p:cNvPr id="6" name="矩形 5">
            <a:extLst>
              <a:ext uri="{FF2B5EF4-FFF2-40B4-BE49-F238E27FC236}">
                <a16:creationId xmlns:a16="http://schemas.microsoft.com/office/drawing/2014/main" id="{9742EF71-E139-DEF5-6F1F-4EC20E51FE9C}"/>
              </a:ext>
            </a:extLst>
          </p:cNvPr>
          <p:cNvSpPr/>
          <p:nvPr/>
        </p:nvSpPr>
        <p:spPr>
          <a:xfrm>
            <a:off x="801092" y="2446417"/>
            <a:ext cx="10589815" cy="1846450"/>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849573957"/>
      </p:ext>
    </p:extLst>
  </p:cSld>
  <p:clrMapOvr>
    <a:masterClrMapping/>
  </p:clrMapOvr>
  <p:transition spd="slow" advTm="0">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05</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LZW</a:t>
              </a: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编码</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5835053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DFB4DD-ABD6-B184-C493-6BB81BF691DD}"/>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概述</a:t>
            </a:r>
          </a:p>
        </p:txBody>
      </p:sp>
      <p:sp>
        <p:nvSpPr>
          <p:cNvPr id="3" name="文本占位符 2">
            <a:extLst>
              <a:ext uri="{FF2B5EF4-FFF2-40B4-BE49-F238E27FC236}">
                <a16:creationId xmlns:a16="http://schemas.microsoft.com/office/drawing/2014/main" id="{F323FF5D-80B1-2AA9-8E99-7F81956A1497}"/>
              </a:ext>
            </a:extLst>
          </p:cNvPr>
          <p:cNvSpPr>
            <a:spLocks noGrp="1"/>
          </p:cNvSpPr>
          <p:nvPr>
            <p:ph sz="quarter" idx="12"/>
          </p:nvPr>
        </p:nvSpPr>
        <p:spPr/>
        <p:txBody>
          <a:bodyPr/>
          <a:lstStyle/>
          <a:p>
            <a:pPr marR="0" lvl="0" rtl="0"/>
            <a:r>
              <a:rPr lang="zh-CN" altLang="en-US" b="0" i="0" u="none" strike="noStrike" baseline="0" dirty="0">
                <a:solidFill>
                  <a:srgbClr val="000000"/>
                </a:solidFill>
                <a:cs typeface="+mn-ea"/>
                <a:sym typeface="+mn-lt"/>
              </a:rPr>
              <a:t>回顾前面关于图像信息度量的一节可知，在第一定理的证明中，山农使用的是信源符号编码序列而不是各个信源符号的思想。 </a:t>
            </a:r>
            <a:r>
              <a:rPr lang="en-US" altLang="zh-CN" b="0" i="0" u="none" strike="noStrike" baseline="0" dirty="0">
                <a:solidFill>
                  <a:srgbClr val="000000"/>
                </a:solidFill>
                <a:cs typeface="+mn-ea"/>
                <a:sym typeface="+mn-lt"/>
              </a:rPr>
              <a:t>LZW</a:t>
            </a:r>
            <a:r>
              <a:rPr lang="zh-CN" altLang="en-US" b="0" i="0" u="none" strike="noStrike" baseline="0" dirty="0">
                <a:solidFill>
                  <a:srgbClr val="000000"/>
                </a:solidFill>
                <a:cs typeface="+mn-ea"/>
                <a:sym typeface="+mn-lt"/>
              </a:rPr>
              <a:t>编码的关键特征是，它不需要被编码符号出现的概率的先验知识。</a:t>
            </a:r>
            <a:endParaRPr lang="en-US" altLang="zh-CN" b="0" i="0" u="none" strike="noStrike" baseline="0" dirty="0">
              <a:solidFill>
                <a:srgbClr val="000000"/>
              </a:solidFill>
              <a:cs typeface="+mn-ea"/>
              <a:sym typeface="+mn-lt"/>
            </a:endParaRPr>
          </a:p>
          <a:p>
            <a:pPr marR="0" lvl="0" rtl="0"/>
            <a:r>
              <a:rPr lang="zh-CN" altLang="en-US" b="0" i="0" u="none" strike="noStrike" baseline="0" dirty="0">
                <a:solidFill>
                  <a:srgbClr val="000000"/>
                </a:solidFill>
                <a:cs typeface="+mn-ea"/>
                <a:sym typeface="+mn-lt"/>
              </a:rPr>
              <a:t>尽管直到最近这种压缩技术仍然受美国专利的保护，但</a:t>
            </a:r>
            <a:r>
              <a:rPr lang="en-US" altLang="zh-CN" b="0" i="0" u="none" strike="noStrike" baseline="0" dirty="0">
                <a:solidFill>
                  <a:srgbClr val="000000"/>
                </a:solidFill>
                <a:cs typeface="+mn-ea"/>
                <a:sym typeface="+mn-lt"/>
              </a:rPr>
              <a:t>LZW</a:t>
            </a:r>
            <a:r>
              <a:rPr lang="zh-CN" altLang="en-US" b="0" i="0" u="none" strike="noStrike" baseline="0" dirty="0">
                <a:solidFill>
                  <a:srgbClr val="000000"/>
                </a:solidFill>
                <a:cs typeface="+mn-ea"/>
                <a:sym typeface="+mn-lt"/>
              </a:rPr>
              <a:t>压缩技术已被引入许多主流的图像文件格式中，如</a:t>
            </a:r>
            <a:r>
              <a:rPr lang="en-US" altLang="zh-CN" b="0" i="0" u="none" strike="noStrike" baseline="0" dirty="0">
                <a:solidFill>
                  <a:srgbClr val="000000"/>
                </a:solidFill>
                <a:cs typeface="+mn-ea"/>
                <a:sym typeface="+mn-lt"/>
              </a:rPr>
              <a:t>GIF</a:t>
            </a:r>
            <a:r>
              <a:rPr lang="zh-CN" altLang="en-US" b="0" i="0" u="none" strike="noStrike" baseline="0" dirty="0">
                <a:solidFill>
                  <a:srgbClr val="000000"/>
                </a:solidFill>
                <a:cs typeface="+mn-ea"/>
                <a:sym typeface="+mn-lt"/>
              </a:rPr>
              <a:t>、</a:t>
            </a:r>
            <a:r>
              <a:rPr lang="en-US" altLang="zh-CN" b="0" i="0" u="none" strike="noStrike" baseline="0" dirty="0">
                <a:solidFill>
                  <a:srgbClr val="000000"/>
                </a:solidFill>
                <a:cs typeface="+mn-ea"/>
                <a:sym typeface="+mn-lt"/>
              </a:rPr>
              <a:t>TIFF</a:t>
            </a:r>
            <a:r>
              <a:rPr lang="zh-CN" altLang="en-US" b="0" i="0" u="none" strike="noStrike" baseline="0" dirty="0">
                <a:solidFill>
                  <a:srgbClr val="000000"/>
                </a:solidFill>
                <a:cs typeface="+mn-ea"/>
                <a:sym typeface="+mn-lt"/>
              </a:rPr>
              <a:t> 和 </a:t>
            </a:r>
            <a:r>
              <a:rPr lang="en-US" altLang="zh-CN" b="0" i="0" u="none" strike="noStrike" baseline="0" dirty="0">
                <a:solidFill>
                  <a:srgbClr val="000000"/>
                </a:solidFill>
                <a:cs typeface="+mn-ea"/>
                <a:sym typeface="+mn-lt"/>
              </a:rPr>
              <a:t>PDF</a:t>
            </a:r>
            <a:r>
              <a:rPr lang="zh-CN" altLang="en-US" b="0" i="0" u="none" strike="noStrike" baseline="0" dirty="0">
                <a:solidFill>
                  <a:srgbClr val="000000"/>
                </a:solidFill>
                <a:cs typeface="+mn-ea"/>
                <a:sym typeface="+mn-lt"/>
              </a:rPr>
              <a:t> 等。创建</a:t>
            </a:r>
            <a:r>
              <a:rPr lang="en-US" altLang="zh-CN" b="0" i="0" u="none" strike="noStrike" baseline="0" dirty="0">
                <a:solidFill>
                  <a:srgbClr val="000000"/>
                </a:solidFill>
                <a:cs typeface="+mn-ea"/>
                <a:sym typeface="+mn-lt"/>
              </a:rPr>
              <a:t>PNG</a:t>
            </a:r>
            <a:r>
              <a:rPr lang="zh-CN" altLang="en-US" b="0" i="0" u="none" strike="noStrike" baseline="0" dirty="0">
                <a:solidFill>
                  <a:srgbClr val="000000"/>
                </a:solidFill>
                <a:cs typeface="+mn-ea"/>
                <a:sym typeface="+mn-lt"/>
              </a:rPr>
              <a:t> 格式是为了绕过</a:t>
            </a:r>
            <a:r>
              <a:rPr lang="en-US" altLang="zh-CN" b="0" i="0" u="none" strike="noStrike" baseline="0" dirty="0">
                <a:solidFill>
                  <a:srgbClr val="000000"/>
                </a:solidFill>
                <a:cs typeface="+mn-ea"/>
                <a:sym typeface="+mn-lt"/>
              </a:rPr>
              <a:t>LZW</a:t>
            </a:r>
            <a:r>
              <a:rPr lang="zh-CN" altLang="en-US" b="0" i="0" u="none" strike="noStrike" baseline="0" dirty="0">
                <a:solidFill>
                  <a:srgbClr val="000000"/>
                </a:solidFill>
                <a:cs typeface="+mn-ea"/>
                <a:sym typeface="+mn-lt"/>
              </a:rPr>
              <a:t>的许可要求。</a:t>
            </a:r>
          </a:p>
        </p:txBody>
      </p:sp>
    </p:spTree>
    <p:extLst>
      <p:ext uri="{BB962C8B-B14F-4D97-AF65-F5344CB8AC3E}">
        <p14:creationId xmlns:p14="http://schemas.microsoft.com/office/powerpoint/2010/main" val="267081444"/>
      </p:ext>
    </p:extLst>
  </p:cSld>
  <p:clrMapOvr>
    <a:masterClrMapping/>
  </p:clrMapOvr>
  <p:transition spd="slow" advTm="0">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06</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行程编码</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12135243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DF80BD-81E7-C8BA-8174-CFFA255C9FCC}"/>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一维 </a:t>
            </a:r>
            <a:r>
              <a:rPr lang="en-US" altLang="zh-CN" b="1" i="0" u="none" strike="noStrike" baseline="0">
                <a:solidFill>
                  <a:srgbClr val="0070C0"/>
                </a:solidFill>
                <a:latin typeface="+mn-lt"/>
                <a:ea typeface="+mn-ea"/>
                <a:cs typeface="+mn-ea"/>
                <a:sym typeface="+mn-lt"/>
              </a:rPr>
              <a:t>CCITT</a:t>
            </a:r>
            <a:r>
              <a:rPr lang="zh-CN" altLang="en-US" b="1" i="0" u="none" strike="noStrike" baseline="0">
                <a:solidFill>
                  <a:srgbClr val="0070C0"/>
                </a:solidFill>
                <a:latin typeface="+mn-lt"/>
                <a:ea typeface="+mn-ea"/>
                <a:cs typeface="+mn-ea"/>
                <a:sym typeface="+mn-lt"/>
              </a:rPr>
              <a:t> 压缩</a:t>
            </a:r>
          </a:p>
        </p:txBody>
      </p:sp>
      <p:sp>
        <p:nvSpPr>
          <p:cNvPr id="3" name="文本占位符 2">
            <a:extLst>
              <a:ext uri="{FF2B5EF4-FFF2-40B4-BE49-F238E27FC236}">
                <a16:creationId xmlns:a16="http://schemas.microsoft.com/office/drawing/2014/main" id="{4FE15D07-31CF-91C0-F2E7-72BB5D92B2CB}"/>
              </a:ext>
            </a:extLst>
          </p:cNvPr>
          <p:cNvSpPr>
            <a:spLocks noGrp="1"/>
          </p:cNvSpPr>
          <p:nvPr>
            <p:ph sz="quarter" idx="11"/>
          </p:nvPr>
        </p:nvSpPr>
        <p:spPr/>
        <p:txBody>
          <a:bodyPr>
            <a:noAutofit/>
          </a:bodyPr>
          <a:lstStyle/>
          <a:p>
            <a:pPr marR="0" lvl="0" rtl="0"/>
            <a:r>
              <a:rPr lang="zh-CN" altLang="en-US" b="0" i="0" u="none" strike="noStrike" baseline="0" dirty="0">
                <a:solidFill>
                  <a:srgbClr val="000000"/>
                </a:solidFill>
                <a:cs typeface="+mn-ea"/>
                <a:sym typeface="+mn-lt"/>
              </a:rPr>
              <a:t>在一维</a:t>
            </a:r>
            <a:r>
              <a:rPr lang="en-US" altLang="zh-CN" b="0" i="0" u="none" strike="noStrike" baseline="0" dirty="0">
                <a:solidFill>
                  <a:srgbClr val="000000"/>
                </a:solidFill>
                <a:cs typeface="+mn-ea"/>
                <a:sym typeface="+mn-lt"/>
              </a:rPr>
              <a:t>CCITT</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Group</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压缩标准中，图像中的每一行都被编码为一系列变长霍夫曼码字，从左到右扫描该行时，这些码字表示交替出现的白色行程和黑色行程。采用的压缩方法通常称为</a:t>
            </a:r>
            <a:r>
              <a:rPr lang="zh-CN" altLang="en-US" dirty="0">
                <a:solidFill>
                  <a:srgbClr val="000000"/>
                </a:solidFill>
                <a:cs typeface="+mn-ea"/>
                <a:sym typeface="+mn-lt"/>
              </a:rPr>
              <a:t>修正霍夫曼</a:t>
            </a:r>
            <a:r>
              <a:rPr lang="en-US" altLang="zh-CN" dirty="0">
                <a:solidFill>
                  <a:srgbClr val="000000"/>
                </a:solidFill>
                <a:cs typeface="+mn-ea"/>
                <a:sym typeface="+mn-lt"/>
              </a:rPr>
              <a:t>(MH)</a:t>
            </a:r>
            <a:r>
              <a:rPr lang="zh-CN" altLang="en-US" dirty="0">
                <a:solidFill>
                  <a:srgbClr val="000000"/>
                </a:solidFill>
                <a:cs typeface="+mn-ea"/>
                <a:sym typeface="+mn-lt"/>
              </a:rPr>
              <a:t> 编码。码字本身分为两种类型，这个标准将它们分别称为终结码和补偿码。行程长度</a:t>
            </a:r>
            <a:r>
              <a:rPr lang="en-US" altLang="zh-CN" dirty="0">
                <a:solidFill>
                  <a:srgbClr val="000000"/>
                </a:solidFill>
                <a:cs typeface="+mn-ea"/>
                <a:sym typeface="+mn-lt"/>
              </a:rPr>
              <a:t>r</a:t>
            </a:r>
            <a:r>
              <a:rPr lang="zh-CN" altLang="en-US" dirty="0">
                <a:solidFill>
                  <a:srgbClr val="000000"/>
                </a:solidFill>
                <a:cs typeface="+mn-ea"/>
                <a:sym typeface="+mn-lt"/>
              </a:rPr>
              <a:t> 小于等于</a:t>
            </a:r>
            <a:r>
              <a:rPr lang="en-US" altLang="zh-CN" dirty="0">
                <a:solidFill>
                  <a:srgbClr val="000000"/>
                </a:solidFill>
                <a:cs typeface="+mn-ea"/>
                <a:sym typeface="+mn-lt"/>
              </a:rPr>
              <a:t>63</a:t>
            </a:r>
            <a:r>
              <a:rPr lang="zh-CN" altLang="en-US" dirty="0">
                <a:solidFill>
                  <a:srgbClr val="000000"/>
                </a:solidFill>
                <a:cs typeface="+mn-ea"/>
                <a:sym typeface="+mn-lt"/>
              </a:rPr>
              <a:t>时，使用终结码来表示它。对于黑色和白色行程，标准规定了不同的终结码。</a:t>
            </a:r>
            <a:r>
              <a:rPr lang="en-US" altLang="zh-CN" dirty="0">
                <a:solidFill>
                  <a:srgbClr val="000000"/>
                </a:solidFill>
                <a:cs typeface="+mn-ea"/>
                <a:sym typeface="+mn-lt"/>
              </a:rPr>
              <a:t>r&gt;63</a:t>
            </a:r>
            <a:r>
              <a:rPr lang="zh-CN" altLang="en-US" dirty="0">
                <a:solidFill>
                  <a:srgbClr val="000000"/>
                </a:solidFill>
                <a:cs typeface="+mn-ea"/>
                <a:sym typeface="+mn-lt"/>
              </a:rPr>
              <a:t> 时，使用两种码；对商</a:t>
            </a:r>
            <a:r>
              <a:rPr lang="en-US" altLang="zh-CN" dirty="0">
                <a:solidFill>
                  <a:srgbClr val="000000"/>
                </a:solidFill>
                <a:cs typeface="+mn-ea"/>
                <a:sym typeface="+mn-lt"/>
              </a:rPr>
              <a:t>[r/64]×64</a:t>
            </a:r>
            <a:r>
              <a:rPr lang="zh-CN" altLang="en-US" dirty="0">
                <a:solidFill>
                  <a:srgbClr val="000000"/>
                </a:solidFill>
                <a:cs typeface="+mn-ea"/>
                <a:sym typeface="+mn-lt"/>
              </a:rPr>
              <a:t>使用补偿码，请查阅本书的配套网站。</a:t>
            </a:r>
          </a:p>
          <a:p>
            <a:pPr marR="0" lvl="0" rtl="0"/>
            <a:r>
              <a:rPr lang="zh-CN" altLang="en-US" dirty="0">
                <a:solidFill>
                  <a:srgbClr val="000000"/>
                </a:solidFill>
                <a:cs typeface="+mn-ea"/>
                <a:sym typeface="+mn-lt"/>
              </a:rPr>
              <a:t>对余数</a:t>
            </a:r>
            <a:r>
              <a:rPr lang="en-US" altLang="zh-CN" dirty="0">
                <a:solidFill>
                  <a:srgbClr val="000000"/>
                </a:solidFill>
                <a:cs typeface="+mn-ea"/>
                <a:sym typeface="+mn-lt"/>
              </a:rPr>
              <a:t>r</a:t>
            </a:r>
            <a:r>
              <a:rPr lang="zh-CN" altLang="en-US" dirty="0">
                <a:solidFill>
                  <a:srgbClr val="000000"/>
                </a:solidFill>
                <a:cs typeface="+mn-ea"/>
                <a:sym typeface="+mn-lt"/>
              </a:rPr>
              <a:t> </a:t>
            </a:r>
            <a:r>
              <a:rPr lang="en-US" altLang="zh-CN" dirty="0">
                <a:solidFill>
                  <a:srgbClr val="000000"/>
                </a:solidFill>
                <a:cs typeface="+mn-ea"/>
                <a:sym typeface="+mn-lt"/>
              </a:rPr>
              <a:t>mod</a:t>
            </a:r>
            <a:r>
              <a:rPr lang="zh-CN" altLang="en-US" dirty="0">
                <a:solidFill>
                  <a:srgbClr val="000000"/>
                </a:solidFill>
                <a:cs typeface="+mn-ea"/>
                <a:sym typeface="+mn-lt"/>
              </a:rPr>
              <a:t> </a:t>
            </a:r>
            <a:r>
              <a:rPr lang="en-US" altLang="zh-CN" dirty="0">
                <a:solidFill>
                  <a:srgbClr val="000000"/>
                </a:solidFill>
                <a:cs typeface="+mn-ea"/>
                <a:sym typeface="+mn-lt"/>
              </a:rPr>
              <a:t>64</a:t>
            </a:r>
            <a:r>
              <a:rPr lang="zh-CN" altLang="en-US" dirty="0">
                <a:solidFill>
                  <a:srgbClr val="000000"/>
                </a:solidFill>
                <a:cs typeface="+mn-ea"/>
                <a:sym typeface="+mn-lt"/>
              </a:rPr>
              <a:t>使用终结码。补偿码可能取决于也可能不取于被编码的行程的灰度</a:t>
            </a:r>
            <a:r>
              <a:rPr lang="en-US" altLang="zh-CN" dirty="0">
                <a:solidFill>
                  <a:srgbClr val="000000"/>
                </a:solidFill>
                <a:cs typeface="+mn-ea"/>
                <a:sym typeface="+mn-lt"/>
              </a:rPr>
              <a:t>(</a:t>
            </a:r>
            <a:r>
              <a:rPr lang="zh-CN" altLang="en-US" dirty="0">
                <a:solidFill>
                  <a:srgbClr val="000000"/>
                </a:solidFill>
                <a:cs typeface="+mn-ea"/>
                <a:sym typeface="+mn-lt"/>
              </a:rPr>
              <a:t>黑或白</a:t>
            </a:r>
            <a:r>
              <a:rPr lang="en-US" altLang="zh-CN" dirty="0">
                <a:solidFill>
                  <a:srgbClr val="000000"/>
                </a:solidFill>
                <a:cs typeface="+mn-ea"/>
                <a:sym typeface="+mn-lt"/>
              </a:rPr>
              <a:t>)</a:t>
            </a:r>
            <a:r>
              <a:rPr lang="zh-CN" altLang="en-US" dirty="0">
                <a:solidFill>
                  <a:srgbClr val="000000"/>
                </a:solidFill>
                <a:cs typeface="+mn-ea"/>
                <a:sym typeface="+mn-lt"/>
              </a:rPr>
              <a:t>。 </a:t>
            </a:r>
            <a:r>
              <a:rPr lang="en-US" altLang="zh-CN" dirty="0">
                <a:solidFill>
                  <a:srgbClr val="000000"/>
                </a:solidFill>
                <a:cs typeface="+mn-ea"/>
                <a:sym typeface="+mn-lt"/>
              </a:rPr>
              <a:t>[r/64]×64</a:t>
            </a:r>
            <a:r>
              <a:rPr lang="zh-CN" altLang="en-US" dirty="0">
                <a:solidFill>
                  <a:srgbClr val="000000"/>
                </a:solidFill>
                <a:cs typeface="+mn-ea"/>
                <a:sym typeface="+mn-lt"/>
              </a:rPr>
              <a:t>≤</a:t>
            </a:r>
            <a:r>
              <a:rPr lang="en-US" altLang="zh-CN" dirty="0">
                <a:solidFill>
                  <a:srgbClr val="000000"/>
                </a:solidFill>
                <a:cs typeface="+mn-ea"/>
                <a:sym typeface="+mn-lt"/>
              </a:rPr>
              <a:t>1728</a:t>
            </a:r>
            <a:r>
              <a:rPr lang="zh-CN" altLang="en-US" dirty="0">
                <a:solidFill>
                  <a:srgbClr val="000000"/>
                </a:solidFill>
                <a:cs typeface="+mn-ea"/>
                <a:sym typeface="+mn-lt"/>
              </a:rPr>
              <a:t>时，规定分隔黑色行程和</a:t>
            </a:r>
            <a:r>
              <a:rPr lang="en-US" altLang="zh-CN" dirty="0">
                <a:solidFill>
                  <a:srgbClr val="000000"/>
                </a:solidFill>
                <a:cs typeface="+mn-ea"/>
                <a:sym typeface="+mn-lt"/>
              </a:rPr>
              <a:t>x</a:t>
            </a:r>
            <a:r>
              <a:rPr lang="zh-CN" altLang="en-US" dirty="0">
                <a:solidFill>
                  <a:srgbClr val="000000"/>
                </a:solidFill>
                <a:cs typeface="+mn-ea"/>
                <a:sym typeface="+mn-lt"/>
              </a:rPr>
              <a:t>的最大整数。</a:t>
            </a:r>
          </a:p>
        </p:txBody>
      </p:sp>
      <p:sp>
        <p:nvSpPr>
          <p:cNvPr id="4" name="矩形 3">
            <a:extLst>
              <a:ext uri="{FF2B5EF4-FFF2-40B4-BE49-F238E27FC236}">
                <a16:creationId xmlns:a16="http://schemas.microsoft.com/office/drawing/2014/main" id="{0217CEE2-7B6D-8866-76E0-B381309F0D56}"/>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526980962"/>
      </p:ext>
    </p:extLst>
  </p:cSld>
  <p:clrMapOvr>
    <a:masterClrMapping/>
  </p:clrMapOvr>
  <p:transition spd="slow" advTm="0">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731AB6-82D4-0C22-F344-5E435A32A8CC}"/>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二维</a:t>
            </a:r>
            <a:r>
              <a:rPr lang="en-US" altLang="zh-CN" b="1" i="0" u="none" strike="noStrike" baseline="0" dirty="0">
                <a:solidFill>
                  <a:srgbClr val="0070C0"/>
                </a:solidFill>
                <a:latin typeface="+mn-lt"/>
                <a:ea typeface="+mn-ea"/>
                <a:cs typeface="+mn-ea"/>
                <a:sym typeface="+mn-lt"/>
              </a:rPr>
              <a:t>CCITT</a:t>
            </a:r>
            <a:r>
              <a:rPr lang="zh-CN" altLang="en-US" b="1" i="0" u="none" strike="noStrike" baseline="0" dirty="0">
                <a:solidFill>
                  <a:srgbClr val="0070C0"/>
                </a:solidFill>
                <a:latin typeface="+mn-lt"/>
                <a:ea typeface="+mn-ea"/>
                <a:cs typeface="+mn-ea"/>
                <a:sym typeface="+mn-lt"/>
              </a:rPr>
              <a:t>压缩</a:t>
            </a:r>
          </a:p>
        </p:txBody>
      </p:sp>
      <p:sp>
        <p:nvSpPr>
          <p:cNvPr id="3" name="文本占位符 2">
            <a:extLst>
              <a:ext uri="{FF2B5EF4-FFF2-40B4-BE49-F238E27FC236}">
                <a16:creationId xmlns:a16="http://schemas.microsoft.com/office/drawing/2014/main" id="{BB3388CE-0719-F8B4-D24A-2934F243EA33}"/>
              </a:ext>
            </a:extLst>
          </p:cNvPr>
          <p:cNvSpPr>
            <a:spLocks noGrp="1"/>
          </p:cNvSpPr>
          <p:nvPr>
            <p:ph sz="quarter" idx="12"/>
          </p:nvPr>
        </p:nvSpPr>
        <p:spPr>
          <a:xfrm>
            <a:off x="1024731" y="2516808"/>
            <a:ext cx="6819858" cy="3230517"/>
          </a:xfrm>
        </p:spPr>
        <p:txBody>
          <a:bodyPr/>
          <a:lstStyle/>
          <a:p>
            <a:pPr marL="0" marR="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8.14</a:t>
            </a:r>
            <a:r>
              <a:rPr lang="zh-CN" altLang="en-US" b="0" i="0" u="none" strike="noStrike" baseline="0" dirty="0">
                <a:solidFill>
                  <a:srgbClr val="000000"/>
                </a:solidFill>
                <a:cs typeface="+mn-ea"/>
                <a:sym typeface="+mn-lt"/>
              </a:rPr>
              <a:t>说明了单一扫描行的基本二维编码过程。注意，过程的前几步指向几个关键变化元素位置： </a:t>
            </a:r>
            <a:r>
              <a:rPr lang="en-US" altLang="zh-CN" b="0" i="0" u="none" strike="noStrike" baseline="0" dirty="0" err="1">
                <a:solidFill>
                  <a:srgbClr val="000000"/>
                </a:solidFill>
                <a:cs typeface="+mn-ea"/>
                <a:sym typeface="+mn-lt"/>
              </a:rPr>
              <a:t>a</a:t>
            </a:r>
            <a:r>
              <a:rPr lang="en-US" altLang="zh-CN" sz="1100" b="0" i="0" u="none" strike="noStrike" baseline="0" dirty="0" err="1">
                <a:solidFill>
                  <a:srgbClr val="000000"/>
                </a:solidFill>
                <a:cs typeface="+mn-ea"/>
                <a:sym typeface="+mn-lt"/>
              </a:rPr>
              <a:t>o</a:t>
            </a:r>
            <a:r>
              <a:rPr lang="en-US" altLang="zh-CN" b="0" i="0" u="none" strike="noStrike" baseline="0" dirty="0" err="1">
                <a:solidFill>
                  <a:srgbClr val="000000"/>
                </a:solidFill>
                <a:cs typeface="+mn-ea"/>
                <a:sym typeface="+mn-lt"/>
              </a:rPr>
              <a:t>,ai,a</a:t>
            </a:r>
            <a:r>
              <a:rPr lang="zh-CN" altLang="en-US" b="0" i="0" u="none" strike="noStrike" baseline="0" dirty="0">
                <a:solidFill>
                  <a:srgbClr val="000000"/>
                </a:solidFill>
                <a:cs typeface="+mn-ea"/>
                <a:sym typeface="+mn-lt"/>
              </a:rPr>
              <a:t>₂</a:t>
            </a:r>
            <a:r>
              <a:rPr lang="en-US" altLang="zh-CN" b="0" i="0" u="none" strike="noStrike" baseline="0" dirty="0">
                <a:solidFill>
                  <a:srgbClr val="000000"/>
                </a:solidFill>
                <a:cs typeface="+mn-ea"/>
                <a:sym typeface="+mn-lt"/>
              </a:rPr>
              <a:t>,b</a:t>
            </a:r>
            <a:r>
              <a:rPr lang="zh-CN" altLang="en-US" b="0" i="0" u="none" strike="noStrike" baseline="0" dirty="0">
                <a:solidFill>
                  <a:srgbClr val="000000"/>
                </a:solidFill>
                <a:cs typeface="+mn-ea"/>
                <a:sym typeface="+mn-lt"/>
              </a:rPr>
              <a:t>₁ 和</a:t>
            </a:r>
            <a:r>
              <a:rPr lang="en-US" altLang="zh-CN" b="0" i="0" u="none" strike="noStrike" baseline="0" dirty="0">
                <a:solidFill>
                  <a:srgbClr val="000000"/>
                </a:solidFill>
                <a:cs typeface="+mn-ea"/>
                <a:sym typeface="+mn-lt"/>
              </a:rPr>
              <a:t>b</a:t>
            </a:r>
            <a:r>
              <a:rPr lang="zh-CN" altLang="en-US" b="0" i="0" u="none" strike="noStrike" baseline="0" dirty="0">
                <a:solidFill>
                  <a:srgbClr val="000000"/>
                </a:solidFill>
                <a:cs typeface="+mn-ea"/>
                <a:sym typeface="+mn-lt"/>
              </a:rPr>
              <a:t>₂ 。标准将变化元素定义为：值不同于同一行上前一个像素的值的像素。</a:t>
            </a:r>
          </a:p>
        </p:txBody>
      </p:sp>
      <p:pic>
        <p:nvPicPr>
          <p:cNvPr id="5" name="图片 4">
            <a:extLst>
              <a:ext uri="{FF2B5EF4-FFF2-40B4-BE49-F238E27FC236}">
                <a16:creationId xmlns:a16="http://schemas.microsoft.com/office/drawing/2014/main" id="{F7C072C1-7A58-E9FE-0FE5-C537468AC855}"/>
              </a:ext>
            </a:extLst>
          </p:cNvPr>
          <p:cNvPicPr>
            <a:picLocks noChangeAspect="1"/>
          </p:cNvPicPr>
          <p:nvPr/>
        </p:nvPicPr>
        <p:blipFill>
          <a:blip r:embed="rId2"/>
          <a:stretch>
            <a:fillRect/>
          </a:stretch>
        </p:blipFill>
        <p:spPr>
          <a:xfrm>
            <a:off x="7844589" y="2397491"/>
            <a:ext cx="3089458" cy="3992079"/>
          </a:xfrm>
          <a:prstGeom prst="rect">
            <a:avLst/>
          </a:prstGeom>
        </p:spPr>
      </p:pic>
    </p:spTree>
    <p:extLst>
      <p:ext uri="{BB962C8B-B14F-4D97-AF65-F5344CB8AC3E}">
        <p14:creationId xmlns:p14="http://schemas.microsoft.com/office/powerpoint/2010/main" val="3716689971"/>
      </p:ext>
    </p:extLst>
  </p:cSld>
  <p:clrMapOvr>
    <a:masterClrMapping/>
  </p:clrMapOvr>
  <p:transition spd="slow" advTm="0">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07</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基于符号的编码</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92944535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F6922E-A730-5210-258A-71BF42498E7B}"/>
              </a:ext>
            </a:extLst>
          </p:cNvPr>
          <p:cNvSpPr>
            <a:spLocks noGrp="1"/>
          </p:cNvSpPr>
          <p:nvPr>
            <p:ph type="title"/>
          </p:nvPr>
        </p:nvSpPr>
        <p:spPr/>
        <p:txBody>
          <a:bodyPr/>
          <a:lstStyle/>
          <a:p>
            <a:pPr marR="0" rtl="0"/>
            <a:r>
              <a:rPr lang="en-US" altLang="zh-CN" b="1" i="0" u="none" strike="noStrike" baseline="0">
                <a:solidFill>
                  <a:srgbClr val="0070C0"/>
                </a:solidFill>
                <a:latin typeface="+mn-lt"/>
                <a:ea typeface="+mn-ea"/>
                <a:cs typeface="+mn-ea"/>
                <a:sym typeface="+mn-lt"/>
              </a:rPr>
              <a:t>JBIG2</a:t>
            </a:r>
            <a:r>
              <a:rPr lang="zh-CN" altLang="en-US" b="1" i="0" u="none" strike="noStrike" baseline="0">
                <a:solidFill>
                  <a:srgbClr val="0070C0"/>
                </a:solidFill>
                <a:latin typeface="+mn-lt"/>
                <a:ea typeface="+mn-ea"/>
                <a:cs typeface="+mn-ea"/>
                <a:sym typeface="+mn-lt"/>
              </a:rPr>
              <a:t> 压缩</a:t>
            </a:r>
          </a:p>
        </p:txBody>
      </p:sp>
      <p:sp>
        <p:nvSpPr>
          <p:cNvPr id="3" name="文本占位符 2">
            <a:extLst>
              <a:ext uri="{FF2B5EF4-FFF2-40B4-BE49-F238E27FC236}">
                <a16:creationId xmlns:a16="http://schemas.microsoft.com/office/drawing/2014/main" id="{9CBED1FC-E0A6-DE99-A1C2-23EF20CA0393}"/>
              </a:ext>
            </a:extLst>
          </p:cNvPr>
          <p:cNvSpPr>
            <a:spLocks noGrp="1"/>
          </p:cNvSpPr>
          <p:nvPr>
            <p:ph sz="quarter" idx="11"/>
          </p:nvPr>
        </p:nvSpPr>
        <p:spPr/>
        <p:txBody>
          <a:bodyPr>
            <a:noAutofit/>
          </a:bodyPr>
          <a:lstStyle/>
          <a:p>
            <a:pPr marL="0" marR="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文本区域由字符组成</a:t>
            </a:r>
            <a:r>
              <a:rPr lang="zh-CN" altLang="en-US" b="0" i="0" u="none" strike="noStrike" baseline="0" dirty="0">
                <a:solidFill>
                  <a:srgbClr val="000000"/>
                </a:solidFill>
                <a:cs typeface="+mn-ea"/>
                <a:sym typeface="+mn-lt"/>
              </a:rPr>
              <a:t>，而采用基于符号的编码方法压缩这些字符非常有效。 一般来说，每个符号对应一个字符位图，字符位图是表示一个正文字符的子图像。在符号字典中，所用字体中的每个大写字符和小写字符通常只有一个字符位图</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或子图像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a:t>
            </a:r>
            <a:endParaRPr lang="en-US" altLang="zh-CN" b="0" i="0" u="none" strike="noStrike" baseline="0" dirty="0">
              <a:solidFill>
                <a:srgbClr val="000000"/>
              </a:solidFill>
              <a:cs typeface="+mn-ea"/>
              <a:sym typeface="+mn-lt"/>
            </a:endParaRPr>
          </a:p>
          <a:p>
            <a:pPr marL="0" marR="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半色调区域类似于文本区域</a:t>
            </a:r>
            <a:r>
              <a:rPr lang="zh-CN" altLang="en-US" b="0" i="0" u="none" strike="noStrike" baseline="0" dirty="0">
                <a:solidFill>
                  <a:srgbClr val="000000"/>
                </a:solidFill>
                <a:cs typeface="+mn-ea"/>
                <a:sym typeface="+mn-lt"/>
              </a:rPr>
              <a:t>，它们由按照规则网格排列的模式组成。然而，存储在字典中的符号不是字符位图，而是表示灰度的周期模式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如照片</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，这些灰度已经过抖动处理，以产生打印用二值灰度级图像。</a:t>
            </a:r>
            <a:endParaRPr lang="en-US" altLang="zh-CN" b="0" i="0" u="none" strike="noStrike" baseline="0" dirty="0">
              <a:solidFill>
                <a:srgbClr val="000000"/>
              </a:solidFill>
              <a:cs typeface="+mn-ea"/>
              <a:sym typeface="+mn-lt"/>
            </a:endParaRPr>
          </a:p>
          <a:p>
            <a:pPr marL="0" marR="0" lvl="0" indent="0" rtl="0">
              <a:buNone/>
            </a:pPr>
            <a:r>
              <a:rPr lang="en-US" altLang="zh-CN" b="1" i="0" u="none" strike="noStrike" baseline="0" dirty="0">
                <a:solidFill>
                  <a:srgbClr val="000000"/>
                </a:solidFill>
                <a:cs typeface="+mn-ea"/>
                <a:sym typeface="+mn-lt"/>
              </a:rPr>
              <a:t>3.</a:t>
            </a:r>
            <a:r>
              <a:rPr lang="zh-CN" altLang="en-US" b="1" i="0" u="none" strike="noStrike" baseline="0" dirty="0">
                <a:solidFill>
                  <a:srgbClr val="000000"/>
                </a:solidFill>
                <a:cs typeface="+mn-ea"/>
                <a:sym typeface="+mn-lt"/>
              </a:rPr>
              <a:t>普通区域包含非正文、非半色调信息</a:t>
            </a:r>
            <a:r>
              <a:rPr lang="zh-CN" altLang="en-US" b="0" i="0" u="none" strike="noStrike" baseline="0" dirty="0">
                <a:solidFill>
                  <a:srgbClr val="000000"/>
                </a:solidFill>
                <a:cs typeface="+mn-ea"/>
                <a:sym typeface="+mn-lt"/>
              </a:rPr>
              <a:t>，如线条和噪声，这种区域要么使用算术编码方法压缩要么使用</a:t>
            </a:r>
            <a:r>
              <a:rPr lang="en-US" altLang="zh-CN" b="0" i="0" u="none" strike="noStrike" baseline="0" dirty="0">
                <a:solidFill>
                  <a:srgbClr val="000000"/>
                </a:solidFill>
                <a:cs typeface="+mn-ea"/>
                <a:sym typeface="+mn-lt"/>
              </a:rPr>
              <a:t>MMR</a:t>
            </a:r>
            <a:r>
              <a:rPr lang="zh-CN" altLang="en-US" b="0" i="0" u="none" strike="noStrike" baseline="0" dirty="0">
                <a:solidFill>
                  <a:srgbClr val="000000"/>
                </a:solidFill>
                <a:cs typeface="+mn-ea"/>
                <a:sym typeface="+mn-lt"/>
              </a:rPr>
              <a:t>编码方法压缩。</a:t>
            </a:r>
          </a:p>
          <a:p>
            <a:pPr marL="0" marR="0" lvl="0" indent="0" rtl="0">
              <a:buNone/>
            </a:pPr>
            <a:endParaRPr lang="zh-CN" altLang="en-US" b="0" i="0" u="none" strike="noStrike" baseline="0" dirty="0">
              <a:solidFill>
                <a:srgbClr val="000000"/>
              </a:solidFill>
              <a:cs typeface="+mn-ea"/>
              <a:sym typeface="+mn-lt"/>
            </a:endParaRPr>
          </a:p>
        </p:txBody>
      </p:sp>
      <p:sp>
        <p:nvSpPr>
          <p:cNvPr id="4" name="矩形 3">
            <a:extLst>
              <a:ext uri="{FF2B5EF4-FFF2-40B4-BE49-F238E27FC236}">
                <a16:creationId xmlns:a16="http://schemas.microsoft.com/office/drawing/2014/main" id="{1BA22BD2-9DC5-5076-C0BC-68FF5CD5A35E}"/>
              </a:ext>
            </a:extLst>
          </p:cNvPr>
          <p:cNvSpPr/>
          <p:nvPr/>
        </p:nvSpPr>
        <p:spPr>
          <a:xfrm>
            <a:off x="801092" y="2446417"/>
            <a:ext cx="10589815" cy="3941570"/>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587952088"/>
      </p:ext>
    </p:extLst>
  </p:cSld>
  <p:clrMapOvr>
    <a:masterClrMapping/>
  </p:clrMapOvr>
  <p:transition spd="slow" advTm="0">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08</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比特平面编码</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82728483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5FE66B-F455-C56D-3156-10340B17A1D8}"/>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概述</a:t>
            </a:r>
          </a:p>
        </p:txBody>
      </p:sp>
      <p:sp>
        <p:nvSpPr>
          <p:cNvPr id="3" name="文本占位符 2">
            <a:extLst>
              <a:ext uri="{FF2B5EF4-FFF2-40B4-BE49-F238E27FC236}">
                <a16:creationId xmlns:a16="http://schemas.microsoft.com/office/drawing/2014/main" id="{2CC1D6A4-B35E-15A0-AF30-3E641E10CA0A}"/>
              </a:ext>
            </a:extLst>
          </p:cNvPr>
          <p:cNvSpPr>
            <a:spLocks noGrp="1"/>
          </p:cNvSpPr>
          <p:nvPr>
            <p:ph sz="quarter" idx="12"/>
          </p:nvPr>
        </p:nvSpPr>
        <p:spPr/>
        <p:txBody>
          <a:bodyPr>
            <a:normAutofit fontScale="92500" lnSpcReduction="10000"/>
          </a:bodyPr>
          <a:lstStyle/>
          <a:p>
            <a:pPr marL="0" marR="0" lvl="0" indent="0" rtl="0">
              <a:buNone/>
            </a:pPr>
            <a:r>
              <a:rPr lang="en-US" altLang="zh-CN" b="0" i="0" u="none" strike="noStrike" baseline="0" dirty="0">
                <a:solidFill>
                  <a:srgbClr val="000000"/>
                </a:solidFill>
                <a:cs typeface="+mn-ea"/>
                <a:sym typeface="+mn-lt"/>
              </a:rPr>
              <a:t>m</a:t>
            </a:r>
            <a:r>
              <a:rPr lang="zh-CN" altLang="en-US" b="0" i="0" u="none" strike="noStrike" baseline="0" dirty="0">
                <a:solidFill>
                  <a:srgbClr val="000000"/>
                </a:solidFill>
                <a:cs typeface="+mn-ea"/>
                <a:sym typeface="+mn-lt"/>
              </a:rPr>
              <a:t> 比特单色图像的灰度可以用如下形式的基</a:t>
            </a: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多项式表示：</a:t>
            </a:r>
            <a:endParaRPr lang="en-US" altLang="zh-CN" b="0" i="0" u="none" strike="noStrike" baseline="0" dirty="0">
              <a:solidFill>
                <a:srgbClr val="000000"/>
              </a:solidFill>
              <a:cs typeface="+mn-ea"/>
              <a:sym typeface="+mn-lt"/>
            </a:endParaRPr>
          </a:p>
          <a:p>
            <a:pPr marL="0" marR="0" lvl="0" indent="0" rtl="0">
              <a:buNone/>
            </a:pPr>
            <a:endParaRPr lang="zh-CN" altLang="en-US" b="0" i="0" u="none" strike="noStrike" baseline="0" dirty="0">
              <a:solidFill>
                <a:srgbClr val="000000"/>
              </a:solidFill>
              <a:cs typeface="+mn-ea"/>
              <a:sym typeface="+mn-lt"/>
            </a:endParaRPr>
          </a:p>
          <a:p>
            <a:pPr marL="0" marR="0" lvl="0" indent="0" rtl="0">
              <a:buNone/>
            </a:pPr>
            <a:r>
              <a:rPr lang="zh-CN" altLang="en-US" b="0" i="0" u="none" strike="noStrike" baseline="0" dirty="0">
                <a:solidFill>
                  <a:srgbClr val="000000"/>
                </a:solidFill>
                <a:cs typeface="+mn-ea"/>
                <a:sym typeface="+mn-lt"/>
              </a:rPr>
              <a:t>根据这一性质，把图像分解为一组二值图像的一种简单方法是，将这个多项式的</a:t>
            </a:r>
            <a:r>
              <a:rPr lang="en-US" altLang="zh-CN" b="0" i="0" u="none" strike="noStrike" baseline="0" dirty="0">
                <a:solidFill>
                  <a:srgbClr val="000000"/>
                </a:solidFill>
                <a:cs typeface="+mn-ea"/>
                <a:sym typeface="+mn-lt"/>
              </a:rPr>
              <a:t>m</a:t>
            </a:r>
            <a:r>
              <a:rPr lang="zh-CN" altLang="en-US" b="0" i="0" u="none" strike="noStrike" baseline="0" dirty="0">
                <a:solidFill>
                  <a:srgbClr val="000000"/>
                </a:solidFill>
                <a:cs typeface="+mn-ea"/>
                <a:sym typeface="+mn-lt"/>
              </a:rPr>
              <a:t>个系数分为</a:t>
            </a:r>
            <a:r>
              <a:rPr lang="en-US" altLang="zh-CN" b="0" i="0" u="none" strike="noStrike" baseline="0" dirty="0">
                <a:solidFill>
                  <a:srgbClr val="000000"/>
                </a:solidFill>
                <a:cs typeface="+mn-ea"/>
                <a:sym typeface="+mn-lt"/>
              </a:rPr>
              <a:t>m</a:t>
            </a:r>
            <a:r>
              <a:rPr lang="zh-CN" altLang="en-US" b="0" i="0" u="none" strike="noStrike" baseline="0" dirty="0">
                <a:solidFill>
                  <a:srgbClr val="000000"/>
                </a:solidFill>
                <a:cs typeface="+mn-ea"/>
                <a:sym typeface="+mn-lt"/>
              </a:rPr>
              <a:t>个</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比特的比特平面。如</a:t>
            </a:r>
            <a:r>
              <a:rPr lang="en-US" altLang="zh-CN" b="0" i="0" u="none" strike="noStrike" baseline="0" dirty="0">
                <a:solidFill>
                  <a:srgbClr val="000000"/>
                </a:solidFill>
                <a:cs typeface="+mn-ea"/>
                <a:sym typeface="+mn-lt"/>
              </a:rPr>
              <a:t>3.2</a:t>
            </a:r>
            <a:r>
              <a:rPr lang="zh-CN" altLang="en-US" b="0" i="0" u="none" strike="noStrike" baseline="0" dirty="0">
                <a:solidFill>
                  <a:srgbClr val="000000"/>
                </a:solidFill>
                <a:cs typeface="+mn-ea"/>
                <a:sym typeface="+mn-lt"/>
              </a:rPr>
              <a:t>节所述，最低有效比特平面是通过收集每个像素的</a:t>
            </a:r>
            <a:r>
              <a:rPr lang="en-US" altLang="zh-CN" b="0" i="0" u="none" strike="noStrike" baseline="0" dirty="0" err="1">
                <a:solidFill>
                  <a:srgbClr val="000000"/>
                </a:solidFill>
                <a:cs typeface="+mn-ea"/>
                <a:sym typeface="+mn-lt"/>
              </a:rPr>
              <a:t>a</a:t>
            </a:r>
            <a:r>
              <a:rPr lang="en-US" altLang="zh-CN" sz="1200" b="0" i="0" u="none" strike="noStrike" baseline="0" dirty="0" err="1">
                <a:solidFill>
                  <a:srgbClr val="000000"/>
                </a:solidFill>
                <a:cs typeface="+mn-ea"/>
                <a:sym typeface="+mn-lt"/>
              </a:rPr>
              <a:t>o</a:t>
            </a:r>
            <a:r>
              <a:rPr lang="zh-CN" altLang="en-US" b="0" i="0" u="none" strike="noStrike" baseline="0" dirty="0">
                <a:solidFill>
                  <a:srgbClr val="000000"/>
                </a:solidFill>
                <a:cs typeface="+mn-ea"/>
                <a:sym typeface="+mn-lt"/>
              </a:rPr>
              <a:t>比特生成的，而最高有效比特平面则包含</a:t>
            </a:r>
            <a:r>
              <a:rPr lang="en-US" altLang="zh-CN" b="0" i="0" u="none" strike="noStrike" baseline="0" dirty="0">
                <a:solidFill>
                  <a:srgbClr val="000000"/>
                </a:solidFill>
                <a:cs typeface="+mn-ea"/>
                <a:sym typeface="+mn-lt"/>
              </a:rPr>
              <a:t>a</a:t>
            </a:r>
            <a:r>
              <a:rPr lang="en-US" altLang="zh-CN" sz="1200" b="0" i="0" u="none" strike="noStrike" baseline="0" dirty="0">
                <a:solidFill>
                  <a:srgbClr val="000000"/>
                </a:solidFill>
                <a:cs typeface="+mn-ea"/>
                <a:sym typeface="+mn-lt"/>
              </a:rPr>
              <a:t>m-1</a:t>
            </a:r>
            <a:r>
              <a:rPr lang="zh-CN" altLang="en-US" b="0" i="0" u="none" strike="noStrike" baseline="0" dirty="0">
                <a:solidFill>
                  <a:srgbClr val="000000"/>
                </a:solidFill>
                <a:cs typeface="+mn-ea"/>
                <a:sym typeface="+mn-lt"/>
              </a:rPr>
              <a:t>比特或系数。 一般来说，令比特平面中的像素值等于原图像中每个像素的合适比特值或多项式系数值，就可构建比特平面。这种分解方法的固有缺点是，较小的灰度变化也会严重影响比特平面的复杂度。</a:t>
            </a:r>
          </a:p>
        </p:txBody>
      </p:sp>
      <p:pic>
        <p:nvPicPr>
          <p:cNvPr id="5" name="图片 4">
            <a:extLst>
              <a:ext uri="{FF2B5EF4-FFF2-40B4-BE49-F238E27FC236}">
                <a16:creationId xmlns:a16="http://schemas.microsoft.com/office/drawing/2014/main" id="{B8BB02CA-3064-235E-208D-3935FC25DA5E}"/>
              </a:ext>
            </a:extLst>
          </p:cNvPr>
          <p:cNvPicPr>
            <a:picLocks noChangeAspect="1"/>
          </p:cNvPicPr>
          <p:nvPr/>
        </p:nvPicPr>
        <p:blipFill rotWithShape="1">
          <a:blip r:embed="rId2"/>
          <a:srcRect t="1" b="11659"/>
          <a:stretch/>
        </p:blipFill>
        <p:spPr>
          <a:xfrm>
            <a:off x="4451443" y="3088807"/>
            <a:ext cx="3289114" cy="424414"/>
          </a:xfrm>
          <a:prstGeom prst="rect">
            <a:avLst/>
          </a:prstGeom>
        </p:spPr>
      </p:pic>
    </p:spTree>
    <p:extLst>
      <p:ext uri="{BB962C8B-B14F-4D97-AF65-F5344CB8AC3E}">
        <p14:creationId xmlns:p14="http://schemas.microsoft.com/office/powerpoint/2010/main" val="3805922185"/>
      </p:ext>
    </p:extLst>
  </p:cSld>
  <p:clrMapOvr>
    <a:masterClrMapping/>
  </p:clrMapOvr>
  <p:transition spd="slow" advTm="0">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09</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块变换编码</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84896046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D74D91-739E-807F-933F-2C05CEA8E1C1}"/>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变换的选择</a:t>
            </a:r>
          </a:p>
        </p:txBody>
      </p:sp>
      <p:sp>
        <p:nvSpPr>
          <p:cNvPr id="3" name="文本占位符 2">
            <a:extLst>
              <a:ext uri="{FF2B5EF4-FFF2-40B4-BE49-F238E27FC236}">
                <a16:creationId xmlns:a16="http://schemas.microsoft.com/office/drawing/2014/main" id="{1AABD5BD-9C38-FC7D-0250-2DA29AEECBAB}"/>
              </a:ext>
            </a:extLst>
          </p:cNvPr>
          <p:cNvSpPr>
            <a:spLocks noGrp="1"/>
          </p:cNvSpPr>
          <p:nvPr>
            <p:ph sz="quarter" idx="12"/>
          </p:nvPr>
        </p:nvSpPr>
        <p:spPr/>
        <p:txBody>
          <a:bodyPr/>
          <a:lstStyle/>
          <a:p>
            <a:pPr marL="0" marR="0" lvl="0" indent="0" rtl="0">
              <a:buNone/>
            </a:pPr>
            <a:r>
              <a:rPr lang="zh-CN" altLang="en-US" b="0" i="0" u="none" strike="noStrike" baseline="0" dirty="0">
                <a:solidFill>
                  <a:srgbClr val="000000"/>
                </a:solidFill>
                <a:cs typeface="+mn-ea"/>
                <a:sym typeface="+mn-lt"/>
              </a:rPr>
              <a:t>人们广泛构建和</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或</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研究了基于各种二维离散变换的块变换编码系统。某个应用应选择哪种特殊的变换，具体取决于能够容忍的重建误差大小和可用的计算资源。压缩是在量化变换系数期间而不是变换步骤期间实现的。图 </a:t>
            </a:r>
            <a:r>
              <a:rPr lang="en-US" altLang="zh-CN" b="0" i="0" u="none" strike="noStrike" baseline="0" dirty="0">
                <a:solidFill>
                  <a:srgbClr val="000000"/>
                </a:solidFill>
                <a:cs typeface="+mn-ea"/>
                <a:sym typeface="+mn-lt"/>
              </a:rPr>
              <a:t>8.21</a:t>
            </a:r>
            <a:r>
              <a:rPr lang="zh-CN" altLang="en-US" b="0" i="0" u="none" strike="noStrike" baseline="0" dirty="0">
                <a:solidFill>
                  <a:srgbClr val="000000"/>
                </a:solidFill>
                <a:cs typeface="+mn-ea"/>
                <a:sym typeface="+mn-lt"/>
              </a:rPr>
              <a:t>显示了一个典型的块变换编码系统。解码器执行</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除量化功能外</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的步骤与编码器执行的步骤相反。</a:t>
            </a:r>
          </a:p>
        </p:txBody>
      </p:sp>
      <p:pic>
        <p:nvPicPr>
          <p:cNvPr id="5" name="图片 4">
            <a:extLst>
              <a:ext uri="{FF2B5EF4-FFF2-40B4-BE49-F238E27FC236}">
                <a16:creationId xmlns:a16="http://schemas.microsoft.com/office/drawing/2014/main" id="{3F43ADC2-5A52-C0F0-4B5F-9E9F73CBB2EE}"/>
              </a:ext>
            </a:extLst>
          </p:cNvPr>
          <p:cNvPicPr>
            <a:picLocks noChangeAspect="1"/>
          </p:cNvPicPr>
          <p:nvPr/>
        </p:nvPicPr>
        <p:blipFill>
          <a:blip r:embed="rId2"/>
          <a:stretch>
            <a:fillRect/>
          </a:stretch>
        </p:blipFill>
        <p:spPr>
          <a:xfrm>
            <a:off x="2890836" y="4399946"/>
            <a:ext cx="6410325" cy="1952625"/>
          </a:xfrm>
          <a:prstGeom prst="rect">
            <a:avLst/>
          </a:prstGeom>
        </p:spPr>
      </p:pic>
    </p:spTree>
    <p:extLst>
      <p:ext uri="{BB962C8B-B14F-4D97-AF65-F5344CB8AC3E}">
        <p14:creationId xmlns:p14="http://schemas.microsoft.com/office/powerpoint/2010/main" val="174017789"/>
      </p:ext>
    </p:extLst>
  </p:cSld>
  <p:clrMapOvr>
    <a:masterClrMapping/>
  </p:clrMapOvr>
  <p:transition spd="slow" advTm="0">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99125E-CAFA-A460-A1B8-F4360FF63A14}"/>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子图像尺寸选择</a:t>
            </a:r>
          </a:p>
        </p:txBody>
      </p:sp>
      <p:sp>
        <p:nvSpPr>
          <p:cNvPr id="3" name="文本占位符 2">
            <a:extLst>
              <a:ext uri="{FF2B5EF4-FFF2-40B4-BE49-F238E27FC236}">
                <a16:creationId xmlns:a16="http://schemas.microsoft.com/office/drawing/2014/main" id="{DB3AE27D-80C3-1490-C70E-D4A5146E0072}"/>
              </a:ext>
            </a:extLst>
          </p:cNvPr>
          <p:cNvSpPr>
            <a:spLocks noGrp="1"/>
          </p:cNvSpPr>
          <p:nvPr>
            <p:ph sz="quarter" idx="12"/>
          </p:nvPr>
        </p:nvSpPr>
        <p:spPr/>
        <p:txBody>
          <a:bodyPr/>
          <a:lstStyle/>
          <a:p>
            <a:pPr marR="0" lvl="0" rtl="0"/>
            <a:r>
              <a:rPr lang="zh-CN" altLang="en-US" b="0" i="0" u="none" strike="noStrike" baseline="0" dirty="0">
                <a:solidFill>
                  <a:srgbClr val="000000"/>
                </a:solidFill>
                <a:cs typeface="+mn-ea"/>
                <a:sym typeface="+mn-lt"/>
              </a:rPr>
              <a:t>影响变换编码误差和计算复杂性的另一个重要因素是子图像的尺寸。在大多数应用中，图像被进一步细分，以便相邻子图像之间的相关</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冗余</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降低到可以接受的程度。这里</a:t>
            </a:r>
            <a:r>
              <a:rPr lang="zh-CN" altLang="en-US" dirty="0">
                <a:solidFill>
                  <a:srgbClr val="000000"/>
                </a:solidFill>
                <a:cs typeface="+mn-ea"/>
                <a:sym typeface="+mn-lt"/>
              </a:rPr>
              <a:t>，</a:t>
            </a:r>
            <a:r>
              <a:rPr lang="en-US" altLang="zh-CN" b="0" i="0" u="none" strike="noStrike" baseline="0" dirty="0">
                <a:solidFill>
                  <a:srgbClr val="000000"/>
                </a:solidFill>
                <a:cs typeface="+mn-ea"/>
                <a:sym typeface="+mn-lt"/>
              </a:rPr>
              <a:t>n</a:t>
            </a:r>
            <a:r>
              <a:rPr lang="zh-CN" altLang="en-US" b="0" i="0" u="none" strike="noStrike" baseline="0" dirty="0">
                <a:solidFill>
                  <a:srgbClr val="000000"/>
                </a:solidFill>
                <a:cs typeface="+mn-ea"/>
                <a:sym typeface="+mn-lt"/>
              </a:rPr>
              <a:t> 照例为</a:t>
            </a: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的整数次幂，</a:t>
            </a:r>
          </a:p>
          <a:p>
            <a:pPr marR="0" lvl="0" rtl="0"/>
            <a:r>
              <a:rPr lang="zh-CN" altLang="en-US" b="0" i="0" u="none" strike="noStrike" baseline="0" dirty="0">
                <a:solidFill>
                  <a:srgbClr val="000000"/>
                </a:solidFill>
                <a:cs typeface="+mn-ea"/>
                <a:sym typeface="+mn-lt"/>
              </a:rPr>
              <a:t>即子图像的维数。后一个条件简化了子图像变换的计算</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a:t>
            </a:r>
            <a:r>
              <a:rPr lang="en-US" altLang="zh-CN" b="0" i="0" u="none" strike="noStrike" baseline="0" dirty="0">
                <a:solidFill>
                  <a:srgbClr val="000000"/>
                </a:solidFill>
                <a:cs typeface="+mn-ea"/>
                <a:sym typeface="+mn-lt"/>
              </a:rPr>
              <a:t>4.11</a:t>
            </a:r>
            <a:r>
              <a:rPr lang="zh-CN" altLang="en-US" b="0" i="0" u="none" strike="noStrike" baseline="0" dirty="0">
                <a:solidFill>
                  <a:srgbClr val="000000"/>
                </a:solidFill>
                <a:cs typeface="+mn-ea"/>
                <a:sym typeface="+mn-lt"/>
              </a:rPr>
              <a:t>节讨论的基</a:t>
            </a: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逐次加倍方法</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一般来说，压缩水平和计算复杂性会随子图像尺寸的增加而增大。最常用的子图像尺寸为</a:t>
            </a:r>
            <a:r>
              <a:rPr lang="en-US" altLang="zh-CN" b="0" i="0" u="none" strike="noStrike" baseline="0" dirty="0">
                <a:solidFill>
                  <a:srgbClr val="000000"/>
                </a:solidFill>
                <a:cs typeface="+mn-ea"/>
                <a:sym typeface="+mn-lt"/>
              </a:rPr>
              <a:t>8×8</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16×16</a:t>
            </a:r>
            <a:r>
              <a:rPr lang="zh-CN" altLang="en-US" b="0" i="0" u="none" strike="noStrike" baseline="0" dirty="0">
                <a:solidFill>
                  <a:srgbClr val="000000"/>
                </a:solidFill>
                <a:cs typeface="+mn-ea"/>
                <a:sym typeface="+mn-lt"/>
              </a:rPr>
              <a:t>。</a:t>
            </a:r>
          </a:p>
        </p:txBody>
      </p:sp>
    </p:spTree>
    <p:extLst>
      <p:ext uri="{BB962C8B-B14F-4D97-AF65-F5344CB8AC3E}">
        <p14:creationId xmlns:p14="http://schemas.microsoft.com/office/powerpoint/2010/main" val="1145094767"/>
      </p:ext>
    </p:extLst>
  </p:cSld>
  <p:clrMapOvr>
    <a:masterClrMapping/>
  </p:clrMapOvr>
  <p:transition spd="slow" advTm="0">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1D8EA7-946B-95C3-D437-E238E63F7BD4}"/>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比特分配</a:t>
            </a:r>
          </a:p>
        </p:txBody>
      </p:sp>
      <p:sp>
        <p:nvSpPr>
          <p:cNvPr id="3" name="文本占位符 2">
            <a:extLst>
              <a:ext uri="{FF2B5EF4-FFF2-40B4-BE49-F238E27FC236}">
                <a16:creationId xmlns:a16="http://schemas.microsoft.com/office/drawing/2014/main" id="{C914A1B4-DD79-342F-DACA-F7AB2A1ED5DB}"/>
              </a:ext>
            </a:extLst>
          </p:cNvPr>
          <p:cNvSpPr>
            <a:spLocks noGrp="1"/>
          </p:cNvSpPr>
          <p:nvPr>
            <p:ph sz="quarter" idx="11"/>
          </p:nvPr>
        </p:nvSpPr>
        <p:spPr/>
        <p:txBody>
          <a:bodyPr>
            <a:noAutofit/>
          </a:bodyPr>
          <a:lstStyle/>
          <a:p>
            <a:pPr marL="0" marR="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区域编码的实现</a:t>
            </a:r>
          </a:p>
          <a:p>
            <a:pPr marL="0" marR="0" lvl="0" indent="0" rtl="0">
              <a:buNone/>
            </a:pPr>
            <a:r>
              <a:rPr lang="zh-CN" altLang="en-US" b="0" i="0" u="none" strike="noStrike" baseline="0" dirty="0">
                <a:solidFill>
                  <a:srgbClr val="000000"/>
                </a:solidFill>
                <a:cs typeface="+mn-ea"/>
                <a:sym typeface="+mn-lt"/>
              </a:rPr>
              <a:t>区域编码以信息论中将信息视为不确定性的概念为基础。由于最大方差的变换系数携带了大部分 图像信息，因此应在编码过程中予以保留。</a:t>
            </a:r>
            <a:endParaRPr lang="en-US" altLang="zh-CN" b="0" i="0" u="none" strike="noStrike" baseline="0" dirty="0">
              <a:solidFill>
                <a:srgbClr val="000000"/>
              </a:solidFill>
              <a:cs typeface="+mn-ea"/>
              <a:sym typeface="+mn-lt"/>
            </a:endParaRPr>
          </a:p>
          <a:p>
            <a:pPr marL="0" marR="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 阈值编码的实现</a:t>
            </a:r>
          </a:p>
          <a:p>
            <a:pPr marL="0" marR="0" lvl="0" indent="0" rtl="0">
              <a:buNone/>
            </a:pPr>
            <a:r>
              <a:rPr lang="zh-CN" altLang="en-US" b="0" i="0" u="none" strike="noStrike" baseline="0" dirty="0">
                <a:solidFill>
                  <a:srgbClr val="000000"/>
                </a:solidFill>
                <a:cs typeface="+mn-ea"/>
                <a:sym typeface="+mn-lt"/>
              </a:rPr>
              <a:t>区域编码通常是对所有子图像使用一个固定的模板来实现的。然而，阙值编码在为每幅不同子 图像保留变换系数位置的意义上，具有自适应性。事实上，阈值编码是实际工作中最常用的一种自适应变换编码方法，原因是其计算非常简单。</a:t>
            </a:r>
          </a:p>
        </p:txBody>
      </p:sp>
      <p:sp>
        <p:nvSpPr>
          <p:cNvPr id="4" name="矩形 3">
            <a:extLst>
              <a:ext uri="{FF2B5EF4-FFF2-40B4-BE49-F238E27FC236}">
                <a16:creationId xmlns:a16="http://schemas.microsoft.com/office/drawing/2014/main" id="{6DB99232-C002-3F4F-B455-E753A155A43F}"/>
              </a:ext>
            </a:extLst>
          </p:cNvPr>
          <p:cNvSpPr/>
          <p:nvPr/>
        </p:nvSpPr>
        <p:spPr>
          <a:xfrm>
            <a:off x="801092" y="2446416"/>
            <a:ext cx="10589815" cy="3617499"/>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807050316"/>
      </p:ext>
    </p:extLst>
  </p:cSld>
  <p:clrMapOvr>
    <a:masterClrMapping/>
  </p:clrMapOvr>
  <p:transition spd="slow" advTm="0">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10</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预测编码</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06210469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65E35D-CA8D-13B2-2A44-E7DF610BEF13}"/>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无损预测编码</a:t>
            </a:r>
          </a:p>
        </p:txBody>
      </p:sp>
      <p:sp>
        <p:nvSpPr>
          <p:cNvPr id="3" name="文本占位符 2">
            <a:extLst>
              <a:ext uri="{FF2B5EF4-FFF2-40B4-BE49-F238E27FC236}">
                <a16:creationId xmlns:a16="http://schemas.microsoft.com/office/drawing/2014/main" id="{BB236D86-0F10-2DE7-298B-325CB76E9990}"/>
              </a:ext>
            </a:extLst>
          </p:cNvPr>
          <p:cNvSpPr>
            <a:spLocks noGrp="1"/>
          </p:cNvSpPr>
          <p:nvPr>
            <p:ph sz="quarter" idx="11"/>
          </p:nvPr>
        </p:nvSpPr>
        <p:spPr/>
        <p:txBody>
          <a:bodyPr/>
          <a:lstStyle/>
          <a:p>
            <a:pPr marL="0" marR="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8.30</a:t>
            </a:r>
            <a:r>
              <a:rPr lang="zh-CN" altLang="en-US" b="0" i="0" u="none" strike="noStrike" baseline="0" dirty="0">
                <a:solidFill>
                  <a:srgbClr val="000000"/>
                </a:solidFill>
                <a:cs typeface="+mn-ea"/>
                <a:sym typeface="+mn-lt"/>
              </a:rPr>
              <a:t>显示了无损预测编码系统的基本组成。这个系统由一个编码器和一个解码器组成，编码器和解码器中都包含一个相同的预测器。将离散时间输入信号</a:t>
            </a:r>
            <a:r>
              <a:rPr lang="en-US" altLang="zh-CN" b="0" i="0" u="none" strike="noStrike" baseline="0" dirty="0">
                <a:solidFill>
                  <a:srgbClr val="000000"/>
                </a:solidFill>
                <a:cs typeface="+mn-ea"/>
                <a:sym typeface="+mn-lt"/>
              </a:rPr>
              <a:t>f(n)</a:t>
            </a:r>
            <a:r>
              <a:rPr lang="zh-CN" altLang="en-US" b="0" i="0" u="none" strike="noStrike" baseline="0" dirty="0">
                <a:solidFill>
                  <a:srgbClr val="000000"/>
                </a:solidFill>
                <a:cs typeface="+mn-ea"/>
                <a:sym typeface="+mn-lt"/>
              </a:rPr>
              <a:t>的连续样本传入编码器后，预测器根据规定数量的以往样本来生成每个样本的预期值。然后，预测器的输出被四舍五入为最接近的</a:t>
            </a:r>
            <a:r>
              <a:rPr lang="zh-CN" altLang="en-US" dirty="0">
                <a:solidFill>
                  <a:srgbClr val="000000"/>
                </a:solidFill>
                <a:cs typeface="+mn-ea"/>
                <a:sym typeface="+mn-lt"/>
              </a:rPr>
              <a:t>整数</a:t>
            </a:r>
            <a:r>
              <a:rPr lang="en-US" altLang="zh-CN" dirty="0">
                <a:solidFill>
                  <a:srgbClr val="000000"/>
                </a:solidFill>
                <a:cs typeface="+mn-ea"/>
                <a:sym typeface="+mn-lt"/>
              </a:rPr>
              <a:t>[</a:t>
            </a:r>
            <a:r>
              <a:rPr lang="zh-CN" altLang="en-US" dirty="0">
                <a:solidFill>
                  <a:srgbClr val="000000"/>
                </a:solidFill>
                <a:cs typeface="+mn-ea"/>
                <a:sym typeface="+mn-lt"/>
              </a:rPr>
              <a:t>表示为</a:t>
            </a:r>
            <a:r>
              <a:rPr lang="en-US" altLang="zh-CN" dirty="0">
                <a:solidFill>
                  <a:srgbClr val="000000"/>
                </a:solidFill>
                <a:cs typeface="+mn-ea"/>
                <a:sym typeface="+mn-lt"/>
              </a:rPr>
              <a:t>f(n)],</a:t>
            </a:r>
            <a:r>
              <a:rPr lang="zh-CN" altLang="en-US" dirty="0">
                <a:solidFill>
                  <a:srgbClr val="000000"/>
                </a:solidFill>
                <a:cs typeface="+mn-ea"/>
                <a:sym typeface="+mn-lt"/>
              </a:rPr>
              <a:t> 并使用这个整数来形成差值或预估误差。</a:t>
            </a:r>
            <a:endParaRPr lang="zh-CN" altLang="en-US" b="0" i="0" u="none" strike="noStrike" baseline="0" dirty="0">
              <a:solidFill>
                <a:srgbClr val="000000"/>
              </a:solidFill>
              <a:cs typeface="+mn-ea"/>
              <a:sym typeface="+mn-lt"/>
            </a:endParaRPr>
          </a:p>
        </p:txBody>
      </p:sp>
      <p:pic>
        <p:nvPicPr>
          <p:cNvPr id="5" name="图片 4">
            <a:extLst>
              <a:ext uri="{FF2B5EF4-FFF2-40B4-BE49-F238E27FC236}">
                <a16:creationId xmlns:a16="http://schemas.microsoft.com/office/drawing/2014/main" id="{448A920C-7F4B-4EEF-E8AB-8AD5512B578D}"/>
              </a:ext>
            </a:extLst>
          </p:cNvPr>
          <p:cNvPicPr>
            <a:picLocks noChangeAspect="1"/>
          </p:cNvPicPr>
          <p:nvPr/>
        </p:nvPicPr>
        <p:blipFill>
          <a:blip r:embed="rId2"/>
          <a:stretch>
            <a:fillRect/>
          </a:stretch>
        </p:blipFill>
        <p:spPr>
          <a:xfrm>
            <a:off x="3522118" y="4416249"/>
            <a:ext cx="5147762" cy="2313691"/>
          </a:xfrm>
          <a:prstGeom prst="rect">
            <a:avLst/>
          </a:prstGeom>
        </p:spPr>
      </p:pic>
      <p:sp>
        <p:nvSpPr>
          <p:cNvPr id="6" name="矩形 5">
            <a:extLst>
              <a:ext uri="{FF2B5EF4-FFF2-40B4-BE49-F238E27FC236}">
                <a16:creationId xmlns:a16="http://schemas.microsoft.com/office/drawing/2014/main" id="{06362569-4CBD-7CF8-EE33-F4FFB0C0F375}"/>
              </a:ext>
            </a:extLst>
          </p:cNvPr>
          <p:cNvSpPr/>
          <p:nvPr/>
        </p:nvSpPr>
        <p:spPr>
          <a:xfrm>
            <a:off x="801092" y="2446417"/>
            <a:ext cx="10589815" cy="1896983"/>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368025586"/>
      </p:ext>
    </p:extLst>
  </p:cSld>
  <p:clrMapOvr>
    <a:masterClrMapping/>
  </p:clrMapOvr>
  <p:transition spd="slow" advTm="0">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DDC78F-8F88-9118-C62F-BB5DEAEE0090}"/>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运动补偿预测残差</a:t>
            </a:r>
          </a:p>
        </p:txBody>
      </p:sp>
      <p:sp>
        <p:nvSpPr>
          <p:cNvPr id="3" name="文本占位符 2">
            <a:extLst>
              <a:ext uri="{FF2B5EF4-FFF2-40B4-BE49-F238E27FC236}">
                <a16:creationId xmlns:a16="http://schemas.microsoft.com/office/drawing/2014/main" id="{86619A49-2CD5-E2DA-7C8F-62A87951F279}"/>
              </a:ext>
            </a:extLst>
          </p:cNvPr>
          <p:cNvSpPr>
            <a:spLocks noGrp="1"/>
          </p:cNvSpPr>
          <p:nvPr>
            <p:ph sz="quarter" idx="11"/>
          </p:nvPr>
        </p:nvSpPr>
        <p:spPr/>
        <p:txBody>
          <a:bodyPr>
            <a:normAutofit/>
          </a:bodyPr>
          <a:lstStyle/>
          <a:p>
            <a:pPr marL="0" marR="0" lvl="0" indent="0" rtl="0">
              <a:buNone/>
            </a:pPr>
            <a:r>
              <a:rPr lang="zh-CN" altLang="en-US" b="0" i="0" u="none" strike="noStrike" baseline="0" dirty="0">
                <a:solidFill>
                  <a:srgbClr val="000000"/>
                </a:solidFill>
                <a:cs typeface="+mn-ea"/>
                <a:sym typeface="+mn-lt"/>
              </a:rPr>
              <a:t>如例</a:t>
            </a:r>
            <a:r>
              <a:rPr lang="en-US" altLang="zh-CN" b="0" i="0" u="none" strike="noStrike" baseline="0" dirty="0">
                <a:solidFill>
                  <a:srgbClr val="000000"/>
                </a:solidFill>
                <a:cs typeface="+mn-ea"/>
                <a:sym typeface="+mn-lt"/>
              </a:rPr>
              <a:t>8.20</a:t>
            </a:r>
            <a:r>
              <a:rPr lang="zh-CN" altLang="en-US" b="0" i="0" u="none" strike="noStrike" baseline="0" dirty="0">
                <a:solidFill>
                  <a:srgbClr val="000000"/>
                </a:solidFill>
                <a:cs typeface="+mn-ea"/>
                <a:sym typeface="+mn-lt"/>
              </a:rPr>
              <a:t>所示，视频序列中的连续帧通常很相似。对它们的差值进行编码可减少时间冗余并提供有效的压缩。使用预测编码处理时间冗余很少的图像时，会扩展数据。视频压缩系统采用如下两种方法来避免数据扩展问题：</a:t>
            </a:r>
          </a:p>
          <a:p>
            <a:pPr marL="0" marR="0" lvl="0" indent="0" rtl="0">
              <a:buNone/>
            </a:pP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 在预测和差分处理期间，跟踪目标运动并对其进行补偿。</a:t>
            </a:r>
          </a:p>
          <a:p>
            <a:pPr marL="0" marR="0" lvl="0" indent="0" rtl="0">
              <a:buNone/>
            </a:pP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 帧间相关</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帧间的相似性</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不足以体现预测编码的优点时，切换到另一种编码方法。</a:t>
            </a:r>
          </a:p>
        </p:txBody>
      </p:sp>
      <p:sp>
        <p:nvSpPr>
          <p:cNvPr id="4" name="矩形 3">
            <a:extLst>
              <a:ext uri="{FF2B5EF4-FFF2-40B4-BE49-F238E27FC236}">
                <a16:creationId xmlns:a16="http://schemas.microsoft.com/office/drawing/2014/main" id="{4687DE1C-93B4-E91B-9A6A-8CC9FEF5AFD1}"/>
              </a:ext>
            </a:extLst>
          </p:cNvPr>
          <p:cNvSpPr/>
          <p:nvPr/>
        </p:nvSpPr>
        <p:spPr>
          <a:xfrm>
            <a:off x="801092" y="2446417"/>
            <a:ext cx="10589815" cy="2741600"/>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619005933"/>
      </p:ext>
    </p:extLst>
  </p:cSld>
  <p:clrMapOvr>
    <a:masterClrMapping/>
  </p:clrMapOvr>
  <p:transition spd="slow" advTm="0">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096235-E103-33AA-EA0A-A3296AEE6A44}"/>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最优预测器</a:t>
            </a:r>
          </a:p>
        </p:txBody>
      </p:sp>
      <p:sp>
        <p:nvSpPr>
          <p:cNvPr id="3" name="文本占位符 2">
            <a:extLst>
              <a:ext uri="{FF2B5EF4-FFF2-40B4-BE49-F238E27FC236}">
                <a16:creationId xmlns:a16="http://schemas.microsoft.com/office/drawing/2014/main" id="{7CFB04F3-E618-A9F6-0F99-DB9D2F962E1C}"/>
              </a:ext>
            </a:extLst>
          </p:cNvPr>
          <p:cNvSpPr>
            <a:spLocks noGrp="1"/>
          </p:cNvSpPr>
          <p:nvPr>
            <p:ph sz="quarter" idx="12"/>
          </p:nvPr>
        </p:nvSpPr>
        <p:spPr>
          <a:xfrm>
            <a:off x="1024731" y="2516808"/>
            <a:ext cx="10142537" cy="3662611"/>
          </a:xfrm>
        </p:spPr>
        <p:txBody>
          <a:bodyPr>
            <a:normAutofit lnSpcReduction="10000"/>
          </a:bodyPr>
          <a:lstStyle/>
          <a:p>
            <a:pPr marL="0" marR="0" lvl="0" indent="0" rtl="0">
              <a:buNone/>
            </a:pPr>
            <a:r>
              <a:rPr lang="zh-CN" altLang="en-US" b="0" i="0" u="none" strike="noStrike" baseline="0" dirty="0">
                <a:solidFill>
                  <a:srgbClr val="000000"/>
                </a:solidFill>
                <a:cs typeface="+mn-ea"/>
                <a:sym typeface="+mn-lt"/>
              </a:rPr>
              <a:t>在许多预测编码应用中，选择预测器时，要使编码器的均方预测误差最小：</a:t>
            </a:r>
            <a:endParaRPr lang="en-US" altLang="zh-CN" b="0" i="0" u="none" strike="noStrike" baseline="0" dirty="0">
              <a:solidFill>
                <a:srgbClr val="000000"/>
              </a:solidFill>
              <a:cs typeface="+mn-ea"/>
              <a:sym typeface="+mn-lt"/>
            </a:endParaRPr>
          </a:p>
          <a:p>
            <a:pPr marL="0" marR="0" lvl="0" indent="0" rtl="0">
              <a:buNone/>
            </a:pPr>
            <a:endParaRPr lang="zh-CN" altLang="en-US" b="0" i="0" u="none" strike="noStrike" baseline="0" dirty="0">
              <a:solidFill>
                <a:srgbClr val="000000"/>
              </a:solidFill>
              <a:cs typeface="+mn-ea"/>
              <a:sym typeface="+mn-lt"/>
            </a:endParaRPr>
          </a:p>
          <a:p>
            <a:pPr marL="0" marR="0" lvl="0" indent="0" rtl="0">
              <a:buNone/>
            </a:pPr>
            <a:r>
              <a:rPr lang="zh-CN" altLang="en-US" b="0" i="0" u="none" strike="noStrike" baseline="0" dirty="0">
                <a:solidFill>
                  <a:srgbClr val="000000"/>
                </a:solidFill>
                <a:cs typeface="+mn-ea"/>
                <a:sym typeface="+mn-lt"/>
              </a:rPr>
              <a:t>它的约束条件为</a:t>
            </a:r>
            <a:endParaRPr lang="en-US" altLang="zh-CN" b="0" i="0" u="none" strike="noStrike" baseline="0" dirty="0">
              <a:solidFill>
                <a:srgbClr val="000000"/>
              </a:solidFill>
              <a:cs typeface="+mn-ea"/>
              <a:sym typeface="+mn-lt"/>
            </a:endParaRPr>
          </a:p>
          <a:p>
            <a:pPr marL="0" marR="0" lvl="0" indent="0" rtl="0">
              <a:buNone/>
            </a:pPr>
            <a:endParaRPr lang="zh-CN" altLang="en-US" b="0" i="0" u="none" strike="noStrike" baseline="0" dirty="0">
              <a:solidFill>
                <a:srgbClr val="000000"/>
              </a:solidFill>
              <a:cs typeface="+mn-ea"/>
              <a:sym typeface="+mn-lt"/>
            </a:endParaRPr>
          </a:p>
          <a:p>
            <a:pPr marL="0" marR="0" lvl="0" indent="0" rtl="0">
              <a:buNone/>
            </a:pPr>
            <a:r>
              <a:rPr lang="zh-CN" altLang="en-US" b="0" i="0" u="none" strike="noStrike" baseline="0" dirty="0">
                <a:solidFill>
                  <a:srgbClr val="000000"/>
                </a:solidFill>
                <a:cs typeface="+mn-ea"/>
                <a:sym typeface="+mn-lt"/>
              </a:rPr>
              <a:t>也就是说，最优准则是最小均方预测误差，假设量化误差可以忽略 </a:t>
            </a:r>
            <a:r>
              <a:rPr lang="en-US" altLang="zh-CN" b="0" i="0" u="none" strike="noStrike" baseline="0" dirty="0">
                <a:solidFill>
                  <a:srgbClr val="000000"/>
                </a:solidFill>
                <a:cs typeface="+mn-ea"/>
                <a:sym typeface="+mn-lt"/>
              </a:rPr>
              <a:t>[e(n)</a:t>
            </a:r>
            <a:r>
              <a:rPr lang="zh-CN" altLang="en-US" b="0" i="0" u="none" strike="noStrike" baseline="0" dirty="0">
                <a:solidFill>
                  <a:srgbClr val="000000"/>
                </a:solidFill>
                <a:cs typeface="+mn-ea"/>
                <a:sym typeface="+mn-lt"/>
              </a:rPr>
              <a:t>≈</a:t>
            </a:r>
            <a:r>
              <a:rPr lang="en-US" altLang="zh-CN" b="0" i="0" u="none" strike="noStrike" baseline="0" dirty="0">
                <a:solidFill>
                  <a:srgbClr val="000000"/>
                </a:solidFill>
                <a:cs typeface="+mn-ea"/>
                <a:sym typeface="+mn-lt"/>
              </a:rPr>
              <a:t>e(n)],</a:t>
            </a:r>
            <a:r>
              <a:rPr lang="zh-CN" altLang="en-US" b="0" i="0" u="none" strike="noStrike" baseline="0" dirty="0">
                <a:solidFill>
                  <a:srgbClr val="000000"/>
                </a:solidFill>
                <a:cs typeface="+mn-ea"/>
                <a:sym typeface="+mn-lt"/>
              </a:rPr>
              <a:t>并且预测被限制为前</a:t>
            </a:r>
            <a:r>
              <a:rPr lang="en-US" altLang="zh-CN" b="0" i="0" u="none" strike="noStrike" baseline="0" dirty="0">
                <a:solidFill>
                  <a:srgbClr val="000000"/>
                </a:solidFill>
                <a:cs typeface="+mn-ea"/>
                <a:sym typeface="+mn-lt"/>
              </a:rPr>
              <a:t>m</a:t>
            </a:r>
            <a:r>
              <a:rPr lang="zh-CN" altLang="en-US" b="0" i="0" u="none" strike="noStrike" baseline="0" dirty="0">
                <a:solidFill>
                  <a:srgbClr val="000000"/>
                </a:solidFill>
                <a:cs typeface="+mn-ea"/>
                <a:sym typeface="+mn-lt"/>
              </a:rPr>
              <a:t>个样本的线性组合。这些限制不是必需的，但它们大大简化了分析，同时降低了预测的计算复杂性。这种预测编码方法称为差分脉冲编码调制</a:t>
            </a:r>
            <a:r>
              <a:rPr lang="en-US" altLang="zh-CN" b="0" i="0" u="none" strike="noStrike" baseline="0" dirty="0">
                <a:solidFill>
                  <a:srgbClr val="000000"/>
                </a:solidFill>
                <a:cs typeface="+mn-ea"/>
                <a:sym typeface="+mn-lt"/>
              </a:rPr>
              <a:t>(DPCM)</a:t>
            </a:r>
            <a:r>
              <a:rPr lang="zh-CN" altLang="en-US" b="0" i="0" u="none" strike="noStrike" baseline="0" dirty="0">
                <a:solidFill>
                  <a:srgbClr val="000000"/>
                </a:solidFill>
                <a:cs typeface="+mn-ea"/>
                <a:sym typeface="+mn-lt"/>
              </a:rPr>
              <a:t>。</a:t>
            </a:r>
          </a:p>
        </p:txBody>
      </p:sp>
      <p:pic>
        <p:nvPicPr>
          <p:cNvPr id="5" name="图片 4">
            <a:extLst>
              <a:ext uri="{FF2B5EF4-FFF2-40B4-BE49-F238E27FC236}">
                <a16:creationId xmlns:a16="http://schemas.microsoft.com/office/drawing/2014/main" id="{C06C6AC9-110C-BC9B-AFF6-3AD49BFF9E96}"/>
              </a:ext>
            </a:extLst>
          </p:cNvPr>
          <p:cNvPicPr>
            <a:picLocks noChangeAspect="1"/>
          </p:cNvPicPr>
          <p:nvPr/>
        </p:nvPicPr>
        <p:blipFill>
          <a:blip r:embed="rId2"/>
          <a:stretch>
            <a:fillRect/>
          </a:stretch>
        </p:blipFill>
        <p:spPr>
          <a:xfrm>
            <a:off x="4933949" y="2998121"/>
            <a:ext cx="2324100" cy="466725"/>
          </a:xfrm>
          <a:prstGeom prst="rect">
            <a:avLst/>
          </a:prstGeom>
        </p:spPr>
      </p:pic>
      <p:pic>
        <p:nvPicPr>
          <p:cNvPr id="7" name="图片 6">
            <a:extLst>
              <a:ext uri="{FF2B5EF4-FFF2-40B4-BE49-F238E27FC236}">
                <a16:creationId xmlns:a16="http://schemas.microsoft.com/office/drawing/2014/main" id="{5E39A0EE-766C-9A94-782F-E958672F2FC6}"/>
              </a:ext>
            </a:extLst>
          </p:cNvPr>
          <p:cNvPicPr>
            <a:picLocks noChangeAspect="1"/>
          </p:cNvPicPr>
          <p:nvPr/>
        </p:nvPicPr>
        <p:blipFill>
          <a:blip r:embed="rId3"/>
          <a:stretch>
            <a:fillRect/>
          </a:stretch>
        </p:blipFill>
        <p:spPr>
          <a:xfrm>
            <a:off x="4992575" y="3871959"/>
            <a:ext cx="2206849" cy="902171"/>
          </a:xfrm>
          <a:prstGeom prst="rect">
            <a:avLst/>
          </a:prstGeom>
        </p:spPr>
      </p:pic>
    </p:spTree>
    <p:extLst>
      <p:ext uri="{BB962C8B-B14F-4D97-AF65-F5344CB8AC3E}">
        <p14:creationId xmlns:p14="http://schemas.microsoft.com/office/powerpoint/2010/main" val="488248164"/>
      </p:ext>
    </p:extLst>
  </p:cSld>
  <p:clrMapOvr>
    <a:masterClrMapping/>
  </p:clrMapOvr>
  <p:transition spd="slow" advTm="0">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21E435-38DC-DC7C-7FBF-78CEF86B5C3D}"/>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最优量化</a:t>
            </a:r>
          </a:p>
        </p:txBody>
      </p:sp>
      <p:sp>
        <p:nvSpPr>
          <p:cNvPr id="3" name="文本占位符 2">
            <a:extLst>
              <a:ext uri="{FF2B5EF4-FFF2-40B4-BE49-F238E27FC236}">
                <a16:creationId xmlns:a16="http://schemas.microsoft.com/office/drawing/2014/main" id="{0A8D5999-56A6-154F-B43C-1740E3D7084A}"/>
              </a:ext>
            </a:extLst>
          </p:cNvPr>
          <p:cNvSpPr>
            <a:spLocks noGrp="1"/>
          </p:cNvSpPr>
          <p:nvPr>
            <p:ph sz="quarter" idx="11"/>
          </p:nvPr>
        </p:nvSpPr>
        <p:spPr/>
        <p:txBody>
          <a:bodyPr/>
          <a:lstStyle/>
          <a:p>
            <a:pPr marL="0" marR="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8.41</a:t>
            </a:r>
            <a:r>
              <a:rPr lang="zh-CN" altLang="en-US" b="0" i="0" u="none" strike="noStrike" baseline="0" dirty="0">
                <a:solidFill>
                  <a:srgbClr val="000000"/>
                </a:solidFill>
                <a:cs typeface="+mn-ea"/>
                <a:sym typeface="+mn-lt"/>
              </a:rPr>
              <a:t>中的台阶量化函数</a:t>
            </a:r>
            <a:r>
              <a:rPr lang="en-US" altLang="zh-CN" b="0" i="0" u="none" strike="noStrike" baseline="0" dirty="0">
                <a:solidFill>
                  <a:srgbClr val="000000"/>
                </a:solidFill>
                <a:cs typeface="+mn-ea"/>
                <a:sym typeface="+mn-lt"/>
              </a:rPr>
              <a:t>t=q(s)</a:t>
            </a:r>
            <a:r>
              <a:rPr lang="zh-CN" altLang="en-US" b="0" i="0" u="none" strike="noStrike" baseline="0" dirty="0">
                <a:solidFill>
                  <a:srgbClr val="000000"/>
                </a:solidFill>
                <a:cs typeface="+mn-ea"/>
                <a:sym typeface="+mn-lt"/>
              </a:rPr>
              <a:t> 是 </a:t>
            </a:r>
            <a:r>
              <a:rPr lang="en-US" altLang="zh-CN" b="0" i="0" u="none" strike="noStrike" baseline="0" dirty="0">
                <a:solidFill>
                  <a:srgbClr val="000000"/>
                </a:solidFill>
                <a:cs typeface="+mn-ea"/>
                <a:sym typeface="+mn-lt"/>
              </a:rPr>
              <a:t>s</a:t>
            </a:r>
            <a:r>
              <a:rPr lang="zh-CN" altLang="en-US" b="0" i="0" u="none" strike="noStrike" baseline="0" dirty="0">
                <a:solidFill>
                  <a:srgbClr val="000000"/>
                </a:solidFill>
                <a:cs typeface="+mn-ea"/>
                <a:sym typeface="+mn-lt"/>
              </a:rPr>
              <a:t> 的奇函数</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即</a:t>
            </a:r>
            <a:r>
              <a:rPr lang="en-US" altLang="zh-CN" b="0" i="0" u="none" strike="noStrike" baseline="0" dirty="0">
                <a:solidFill>
                  <a:srgbClr val="000000"/>
                </a:solidFill>
                <a:cs typeface="+mn-ea"/>
                <a:sym typeface="+mn-lt"/>
              </a:rPr>
              <a:t>q(-s)=-q(s)],</a:t>
            </a:r>
            <a:r>
              <a:rPr lang="zh-CN" altLang="en-US" b="0" i="0" u="none" strike="noStrike" baseline="0" dirty="0">
                <a:solidFill>
                  <a:srgbClr val="000000"/>
                </a:solidFill>
                <a:cs typeface="+mn-ea"/>
                <a:sym typeface="+mn-lt"/>
              </a:rPr>
              <a:t> 它完全可以由图</a:t>
            </a:r>
            <a:r>
              <a:rPr lang="en-US" altLang="zh-CN" b="0" i="0" u="none" strike="noStrike" baseline="0" dirty="0">
                <a:solidFill>
                  <a:srgbClr val="000000"/>
                </a:solidFill>
                <a:cs typeface="+mn-ea"/>
                <a:sym typeface="+mn-lt"/>
              </a:rPr>
              <a:t>8.41</a:t>
            </a:r>
            <a:r>
              <a:rPr lang="zh-CN" altLang="en-US" b="0" i="0" u="none" strike="noStrike" baseline="0" dirty="0">
                <a:solidFill>
                  <a:srgbClr val="000000"/>
                </a:solidFill>
                <a:cs typeface="+mn-ea"/>
                <a:sym typeface="+mn-lt"/>
              </a:rPr>
              <a:t>第一象限中所示的</a:t>
            </a:r>
            <a:r>
              <a:rPr lang="en-US" altLang="zh-CN" b="0" i="0" u="none" strike="noStrike" baseline="0" dirty="0">
                <a:solidFill>
                  <a:srgbClr val="000000"/>
                </a:solidFill>
                <a:cs typeface="+mn-ea"/>
                <a:sym typeface="+mn-lt"/>
              </a:rPr>
              <a:t>s,</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 的 </a:t>
            </a:r>
            <a:r>
              <a:rPr lang="en-US" altLang="zh-CN" b="0" i="0" u="none" strike="noStrike" baseline="0" dirty="0">
                <a:solidFill>
                  <a:srgbClr val="000000"/>
                </a:solidFill>
                <a:cs typeface="+mn-ea"/>
                <a:sym typeface="+mn-lt"/>
              </a:rPr>
              <a:t>L/2</a:t>
            </a:r>
            <a:r>
              <a:rPr lang="zh-CN" altLang="en-US" b="0" i="0" u="none" strike="noStrike" baseline="0" dirty="0">
                <a:solidFill>
                  <a:srgbClr val="000000"/>
                </a:solidFill>
                <a:cs typeface="+mn-ea"/>
                <a:sym typeface="+mn-lt"/>
              </a:rPr>
              <a:t> 个值描述。这些断点定义了函数的不连续性，因此称为量化器的判决级和重建级。按照惯例，若</a:t>
            </a:r>
            <a:r>
              <a:rPr lang="en-US" altLang="zh-CN" b="0" i="0" u="none" strike="noStrike" baseline="0" dirty="0">
                <a:solidFill>
                  <a:srgbClr val="000000"/>
                </a:solidFill>
                <a:cs typeface="+mn-ea"/>
                <a:sym typeface="+mn-lt"/>
              </a:rPr>
              <a:t>s</a:t>
            </a:r>
            <a:r>
              <a:rPr lang="zh-CN" altLang="en-US" b="0" i="0" u="none" strike="noStrike" baseline="0" dirty="0">
                <a:solidFill>
                  <a:srgbClr val="000000"/>
                </a:solidFill>
                <a:cs typeface="+mn-ea"/>
                <a:sym typeface="+mn-lt"/>
              </a:rPr>
              <a:t> 位于半开区间</a:t>
            </a:r>
            <a:r>
              <a:rPr lang="en-US" altLang="zh-CN" b="0" i="0" u="none" strike="noStrike" baseline="0" dirty="0">
                <a:solidFill>
                  <a:srgbClr val="000000"/>
                </a:solidFill>
                <a:cs typeface="+mn-ea"/>
                <a:sym typeface="+mn-lt"/>
              </a:rPr>
              <a:t>[s</a:t>
            </a:r>
            <a:r>
              <a:rPr lang="zh-CN" altLang="en-US" b="0" i="0" u="none" strike="noStrike" baseline="0" dirty="0">
                <a:solidFill>
                  <a:srgbClr val="000000"/>
                </a:solidFill>
                <a:cs typeface="+mn-ea"/>
                <a:sym typeface="+mn-lt"/>
              </a:rPr>
              <a:t>₁</a:t>
            </a:r>
            <a:r>
              <a:rPr lang="en-US" altLang="zh-CN" b="0" i="0" u="none" strike="noStrike" baseline="0" dirty="0">
                <a:solidFill>
                  <a:srgbClr val="000000"/>
                </a:solidFill>
                <a:cs typeface="+mn-ea"/>
                <a:sym typeface="+mn-lt"/>
              </a:rPr>
              <a:t>,S]</a:t>
            </a:r>
            <a:r>
              <a:rPr lang="zh-CN" altLang="en-US" b="0" i="0" u="none" strike="noStrike" baseline="0" dirty="0">
                <a:solidFill>
                  <a:srgbClr val="000000"/>
                </a:solidFill>
                <a:cs typeface="+mn-ea"/>
                <a:sym typeface="+mn-lt"/>
              </a:rPr>
              <a:t> 内，则可将</a:t>
            </a:r>
            <a:r>
              <a:rPr lang="en-US" altLang="zh-CN" b="0" i="0" u="none" strike="noStrike" baseline="0" dirty="0">
                <a:solidFill>
                  <a:srgbClr val="000000"/>
                </a:solidFill>
                <a:cs typeface="+mn-ea"/>
                <a:sym typeface="+mn-lt"/>
              </a:rPr>
              <a:t>s</a:t>
            </a:r>
            <a:r>
              <a:rPr lang="zh-CN" altLang="en-US" b="0" i="0" u="none" strike="noStrike" baseline="0" dirty="0">
                <a:solidFill>
                  <a:srgbClr val="000000"/>
                </a:solidFill>
                <a:cs typeface="+mn-ea"/>
                <a:sym typeface="+mn-lt"/>
              </a:rPr>
              <a:t> 视为到</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₁的映射。</a:t>
            </a:r>
          </a:p>
        </p:txBody>
      </p:sp>
      <p:pic>
        <p:nvPicPr>
          <p:cNvPr id="5" name="图片 4">
            <a:extLst>
              <a:ext uri="{FF2B5EF4-FFF2-40B4-BE49-F238E27FC236}">
                <a16:creationId xmlns:a16="http://schemas.microsoft.com/office/drawing/2014/main" id="{7D74A3CE-A276-0B1E-064C-25B55A86B235}"/>
              </a:ext>
            </a:extLst>
          </p:cNvPr>
          <p:cNvPicPr>
            <a:picLocks noChangeAspect="1"/>
          </p:cNvPicPr>
          <p:nvPr/>
        </p:nvPicPr>
        <p:blipFill>
          <a:blip r:embed="rId2"/>
          <a:stretch>
            <a:fillRect/>
          </a:stretch>
        </p:blipFill>
        <p:spPr>
          <a:xfrm>
            <a:off x="4396933" y="3961942"/>
            <a:ext cx="3398132" cy="2680565"/>
          </a:xfrm>
          <a:prstGeom prst="rect">
            <a:avLst/>
          </a:prstGeom>
        </p:spPr>
      </p:pic>
      <p:sp>
        <p:nvSpPr>
          <p:cNvPr id="6" name="矩形 5">
            <a:extLst>
              <a:ext uri="{FF2B5EF4-FFF2-40B4-BE49-F238E27FC236}">
                <a16:creationId xmlns:a16="http://schemas.microsoft.com/office/drawing/2014/main" id="{977EE2F2-3D70-BFBA-71D2-5552F67684C9}"/>
              </a:ext>
            </a:extLst>
          </p:cNvPr>
          <p:cNvSpPr/>
          <p:nvPr/>
        </p:nvSpPr>
        <p:spPr>
          <a:xfrm>
            <a:off x="801092" y="2446417"/>
            <a:ext cx="10589815" cy="143308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847756387"/>
      </p:ext>
    </p:extLst>
  </p:cSld>
  <p:clrMapOvr>
    <a:masterClrMapping/>
  </p:clrMapOvr>
  <p:transition spd="slow" advTm="0">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6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11</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小波编码</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7224691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25D666-1D9F-DD3B-1EB7-08E17EC2C643}"/>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小波的选择</a:t>
            </a:r>
          </a:p>
        </p:txBody>
      </p:sp>
      <p:sp>
        <p:nvSpPr>
          <p:cNvPr id="3" name="文本占位符 2">
            <a:extLst>
              <a:ext uri="{FF2B5EF4-FFF2-40B4-BE49-F238E27FC236}">
                <a16:creationId xmlns:a16="http://schemas.microsoft.com/office/drawing/2014/main" id="{369E6117-240E-B7E3-428E-5E2E8E7CB045}"/>
              </a:ext>
            </a:extLst>
          </p:cNvPr>
          <p:cNvSpPr>
            <a:spLocks noGrp="1"/>
          </p:cNvSpPr>
          <p:nvPr>
            <p:ph sz="quarter" idx="12"/>
          </p:nvPr>
        </p:nvSpPr>
        <p:spPr/>
        <p:txBody>
          <a:bodyPr/>
          <a:lstStyle/>
          <a:p>
            <a:pPr marL="0" marR="0" lvl="0" indent="0" rtl="0">
              <a:buNone/>
            </a:pPr>
            <a:r>
              <a:rPr lang="zh-CN" altLang="en-US" b="0" i="0" u="none" strike="noStrike" baseline="0" dirty="0">
                <a:solidFill>
                  <a:srgbClr val="000000"/>
                </a:solidFill>
                <a:cs typeface="+mn-ea"/>
                <a:sym typeface="+mn-lt"/>
              </a:rPr>
              <a:t>选择作为图</a:t>
            </a:r>
            <a:r>
              <a:rPr lang="en-US" altLang="zh-CN" b="0" i="0" u="none" strike="noStrike" baseline="0" dirty="0">
                <a:solidFill>
                  <a:srgbClr val="000000"/>
                </a:solidFill>
                <a:cs typeface="+mn-ea"/>
                <a:sym typeface="+mn-lt"/>
              </a:rPr>
              <a:t>8.42</a:t>
            </a:r>
            <a:r>
              <a:rPr lang="zh-CN" altLang="en-US" b="0" i="0" u="none" strike="noStrike" baseline="0" dirty="0">
                <a:solidFill>
                  <a:srgbClr val="000000"/>
                </a:solidFill>
                <a:cs typeface="+mn-ea"/>
                <a:sym typeface="+mn-lt"/>
              </a:rPr>
              <a:t>中正变换和反变换的基的小波，会影响小波编码系统设计和性能的各个方面。选择的小波会直接影响变换的计算复杂性，或间接系统压缩和重建误差可接受图像的能力。</a:t>
            </a:r>
          </a:p>
        </p:txBody>
      </p:sp>
      <p:pic>
        <p:nvPicPr>
          <p:cNvPr id="5" name="图片 4">
            <a:extLst>
              <a:ext uri="{FF2B5EF4-FFF2-40B4-BE49-F238E27FC236}">
                <a16:creationId xmlns:a16="http://schemas.microsoft.com/office/drawing/2014/main" id="{4353CCEF-04FF-75D0-FE23-3DA0C8AABEE6}"/>
              </a:ext>
            </a:extLst>
          </p:cNvPr>
          <p:cNvPicPr>
            <a:picLocks noChangeAspect="1"/>
          </p:cNvPicPr>
          <p:nvPr/>
        </p:nvPicPr>
        <p:blipFill rotWithShape="1">
          <a:blip r:embed="rId2"/>
          <a:srcRect t="5852"/>
          <a:stretch/>
        </p:blipFill>
        <p:spPr>
          <a:xfrm>
            <a:off x="2539874" y="4100361"/>
            <a:ext cx="7112251" cy="2030932"/>
          </a:xfrm>
          <a:prstGeom prst="rect">
            <a:avLst/>
          </a:prstGeom>
        </p:spPr>
      </p:pic>
    </p:spTree>
    <p:extLst>
      <p:ext uri="{BB962C8B-B14F-4D97-AF65-F5344CB8AC3E}">
        <p14:creationId xmlns:p14="http://schemas.microsoft.com/office/powerpoint/2010/main" val="2861398418"/>
      </p:ext>
    </p:extLst>
  </p:cSld>
  <p:clrMapOvr>
    <a:masterClrMapping/>
  </p:clrMapOvr>
  <p:transition spd="slow" advTm="0">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AD4ECC-E7EB-C123-5D4B-A9266701AA01}"/>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分解级数的选择</a:t>
            </a:r>
          </a:p>
        </p:txBody>
      </p:sp>
      <p:sp>
        <p:nvSpPr>
          <p:cNvPr id="3" name="文本占位符 2">
            <a:extLst>
              <a:ext uri="{FF2B5EF4-FFF2-40B4-BE49-F238E27FC236}">
                <a16:creationId xmlns:a16="http://schemas.microsoft.com/office/drawing/2014/main" id="{72787075-4F78-DACC-8ED4-C0AB37EDD6F1}"/>
              </a:ext>
            </a:extLst>
          </p:cNvPr>
          <p:cNvSpPr>
            <a:spLocks noGrp="1"/>
          </p:cNvSpPr>
          <p:nvPr>
            <p:ph sz="quarter" idx="12"/>
          </p:nvPr>
        </p:nvSpPr>
        <p:spPr>
          <a:xfrm>
            <a:off x="1024731" y="2516808"/>
            <a:ext cx="10294578" cy="3230517"/>
          </a:xfrm>
        </p:spPr>
        <p:txBody>
          <a:bodyPr/>
          <a:lstStyle/>
          <a:p>
            <a:pPr marR="0" lvl="0" rtl="0"/>
            <a:r>
              <a:rPr lang="zh-CN" altLang="en-US" b="0" i="0" u="none" strike="noStrike" baseline="0" dirty="0">
                <a:solidFill>
                  <a:srgbClr val="000000"/>
                </a:solidFill>
                <a:cs typeface="+mn-ea"/>
                <a:sym typeface="+mn-lt"/>
              </a:rPr>
              <a:t>影响小波编码计算复杂性和重建误差的另一个因素是变换分解级数。由于</a:t>
            </a:r>
            <a:r>
              <a:rPr lang="en-US" altLang="zh-CN" b="0" i="0" u="none" strike="noStrike" baseline="0" dirty="0">
                <a:solidFill>
                  <a:srgbClr val="000000"/>
                </a:solidFill>
                <a:cs typeface="+mn-ea"/>
                <a:sym typeface="+mn-lt"/>
              </a:rPr>
              <a:t>P</a:t>
            </a:r>
            <a:r>
              <a:rPr lang="zh-CN" altLang="en-US" b="0" i="0" u="none" strike="noStrike" baseline="0" dirty="0">
                <a:solidFill>
                  <a:srgbClr val="000000"/>
                </a:solidFill>
                <a:cs typeface="+mn-ea"/>
                <a:sym typeface="+mn-lt"/>
              </a:rPr>
              <a:t>尺度快速小波变换涉及</a:t>
            </a:r>
            <a:r>
              <a:rPr lang="en-US" altLang="zh-CN" b="0" i="0" u="none" strike="noStrike" baseline="0" dirty="0">
                <a:solidFill>
                  <a:srgbClr val="000000"/>
                </a:solidFill>
                <a:cs typeface="+mn-ea"/>
                <a:sym typeface="+mn-lt"/>
              </a:rPr>
              <a:t>P</a:t>
            </a:r>
            <a:r>
              <a:rPr lang="zh-CN" altLang="en-US" b="0" i="0" u="none" strike="noStrike" baseline="0" dirty="0">
                <a:solidFill>
                  <a:srgbClr val="000000"/>
                </a:solidFill>
                <a:cs typeface="+mn-ea"/>
                <a:sym typeface="+mn-lt"/>
              </a:rPr>
              <a:t>次滤波器组选代，正变换和反变换计算中的运算次数会随分解级数的增加而增加。</a:t>
            </a:r>
            <a:endParaRPr lang="en-US" altLang="zh-CN" b="0" i="0" u="none" strike="noStrike" baseline="0" dirty="0">
              <a:solidFill>
                <a:srgbClr val="000000"/>
              </a:solidFill>
              <a:cs typeface="+mn-ea"/>
              <a:sym typeface="+mn-lt"/>
            </a:endParaRPr>
          </a:p>
          <a:p>
            <a:pPr marR="0" lvl="0" rtl="0"/>
            <a:r>
              <a:rPr lang="zh-CN" altLang="en-US" b="0" i="0" u="none" strike="noStrike" baseline="0" dirty="0">
                <a:solidFill>
                  <a:srgbClr val="000000"/>
                </a:solidFill>
                <a:cs typeface="+mn-ea"/>
                <a:sym typeface="+mn-lt"/>
              </a:rPr>
              <a:t>此外，量化逐渐增大的低尺度系数会导致更多的分解级数，进而影响重建图像中逐步增大的区域。在许多应用中， 如搜索图像数据库或渐进重建传送图像，存储或传送的图像的分辨率以及最低可用的近似的尺度，通常决定着变换级数。</a:t>
            </a:r>
          </a:p>
        </p:txBody>
      </p:sp>
    </p:spTree>
    <p:extLst>
      <p:ext uri="{BB962C8B-B14F-4D97-AF65-F5344CB8AC3E}">
        <p14:creationId xmlns:p14="http://schemas.microsoft.com/office/powerpoint/2010/main" val="3861344698"/>
      </p:ext>
    </p:extLst>
  </p:cSld>
  <p:clrMapOvr>
    <a:masterClrMapping/>
  </p:clrMapOvr>
  <p:transition spd="slow" advTm="0">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9C1164-AB6D-E611-335D-79AC0C55BEED}"/>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量化器设计</a:t>
            </a:r>
          </a:p>
        </p:txBody>
      </p:sp>
      <p:sp>
        <p:nvSpPr>
          <p:cNvPr id="3" name="文本占位符 2">
            <a:extLst>
              <a:ext uri="{FF2B5EF4-FFF2-40B4-BE49-F238E27FC236}">
                <a16:creationId xmlns:a16="http://schemas.microsoft.com/office/drawing/2014/main" id="{41AEC882-4290-0AC6-69B6-3BA98172D7FB}"/>
              </a:ext>
            </a:extLst>
          </p:cNvPr>
          <p:cNvSpPr>
            <a:spLocks noGrp="1"/>
          </p:cNvSpPr>
          <p:nvPr>
            <p:ph sz="quarter" idx="11"/>
          </p:nvPr>
        </p:nvSpPr>
        <p:spPr>
          <a:xfrm>
            <a:off x="801094" y="2432500"/>
            <a:ext cx="10652970" cy="3540427"/>
          </a:xfrm>
        </p:spPr>
        <p:txBody>
          <a:bodyPr>
            <a:normAutofit lnSpcReduction="10000"/>
          </a:bodyPr>
          <a:lstStyle/>
          <a:p>
            <a:pPr marL="0" marR="0" lvl="0" indent="0" rtl="0">
              <a:buNone/>
            </a:pPr>
            <a:r>
              <a:rPr lang="zh-CN" altLang="en-US" b="0" i="0" u="none" strike="noStrike" baseline="0" dirty="0">
                <a:solidFill>
                  <a:srgbClr val="000000"/>
                </a:solidFill>
                <a:cs typeface="+mn-ea"/>
                <a:sym typeface="+mn-lt"/>
              </a:rPr>
              <a:t>影响小波编码压缩和重建误差的一个最重要的因素是系数量化。尽管广泛使用的量化器是均匀量化的，但量化效果可通过如下方式进一步改进：</a:t>
            </a:r>
            <a:endParaRPr lang="en-US" altLang="zh-CN" b="0" i="0" u="none" strike="noStrike" baseline="0" dirty="0">
              <a:solidFill>
                <a:srgbClr val="000000"/>
              </a:solidFill>
              <a:cs typeface="+mn-ea"/>
              <a:sym typeface="+mn-lt"/>
            </a:endParaRPr>
          </a:p>
          <a:p>
            <a:pPr marL="0" marR="0" lvl="0" indent="0" rtl="0">
              <a:buNone/>
            </a:pP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在零附近引入更大的量化区间，称为死区；</a:t>
            </a:r>
            <a:endParaRPr lang="en-US" altLang="zh-CN" b="0" i="0" u="none" strike="noStrike" baseline="0" dirty="0">
              <a:solidFill>
                <a:srgbClr val="000000"/>
              </a:solidFill>
              <a:cs typeface="+mn-ea"/>
              <a:sym typeface="+mn-lt"/>
            </a:endParaRPr>
          </a:p>
          <a:p>
            <a:pPr marL="0" marR="0" lvl="0" indent="0" rtl="0">
              <a:buNone/>
            </a:pP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从一个尺度到另一个尺度自适应调节量化区间的大小。</a:t>
            </a:r>
            <a:endParaRPr lang="en-US" altLang="zh-CN" b="0" i="0" u="none" strike="noStrike" baseline="0" dirty="0">
              <a:solidFill>
                <a:srgbClr val="000000"/>
              </a:solidFill>
              <a:cs typeface="+mn-ea"/>
              <a:sym typeface="+mn-lt"/>
            </a:endParaRPr>
          </a:p>
          <a:p>
            <a:pPr marL="0" marR="0" lvl="0" indent="0" rtl="0">
              <a:buNone/>
            </a:pPr>
            <a:r>
              <a:rPr lang="zh-CN" altLang="en-US" b="0" i="0" u="none" strike="noStrike" baseline="0" dirty="0">
                <a:solidFill>
                  <a:srgbClr val="000000"/>
                </a:solidFill>
                <a:cs typeface="+mn-ea"/>
                <a:sym typeface="+mn-lt"/>
              </a:rPr>
              <a:t>无论采用哪种方式，所选的量化区间都必须随着编码图像比特流传送给解码器。区间本身可启发式地确定，或根据正被压缩图像自动地计算。例如，我们可以将一个全局系数阈值计算为第一层细节系数的绝对值的中值，或者计算为被截断的零的个数和重建图像中保留的能量的函数。</a:t>
            </a:r>
          </a:p>
        </p:txBody>
      </p:sp>
      <p:sp>
        <p:nvSpPr>
          <p:cNvPr id="4" name="矩形 3">
            <a:extLst>
              <a:ext uri="{FF2B5EF4-FFF2-40B4-BE49-F238E27FC236}">
                <a16:creationId xmlns:a16="http://schemas.microsoft.com/office/drawing/2014/main" id="{2610E990-8AEE-321F-D48A-D62BB28BB960}"/>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780500881"/>
      </p:ext>
    </p:extLst>
  </p:cSld>
  <p:clrMapOvr>
    <a:masterClrMapping/>
  </p:clrMapOvr>
  <p:transition spd="slow" advTm="0">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3BF098-62FE-E9D4-988D-6C3CEB4021A4}"/>
              </a:ext>
            </a:extLst>
          </p:cNvPr>
          <p:cNvSpPr>
            <a:spLocks noGrp="1"/>
          </p:cNvSpPr>
          <p:nvPr>
            <p:ph type="title"/>
          </p:nvPr>
        </p:nvSpPr>
        <p:spPr/>
        <p:txBody>
          <a:bodyPr/>
          <a:lstStyle/>
          <a:p>
            <a:pPr marR="0" rtl="0"/>
            <a:r>
              <a:rPr lang="en-US" altLang="zh-CN" b="1" i="0" u="none" strike="noStrike" baseline="0">
                <a:solidFill>
                  <a:srgbClr val="0070C0"/>
                </a:solidFill>
                <a:latin typeface="+mn-lt"/>
                <a:ea typeface="+mn-ea"/>
                <a:cs typeface="+mn-ea"/>
                <a:sym typeface="+mn-lt"/>
              </a:rPr>
              <a:t>JPEG-2000</a:t>
            </a:r>
            <a:endParaRPr lang="zh-CN" altLang="en-US" b="1" i="0" u="none" strike="noStrike" baseline="0">
              <a:solidFill>
                <a:srgbClr val="0070C0"/>
              </a:solidFill>
              <a:latin typeface="+mn-lt"/>
              <a:ea typeface="+mn-ea"/>
              <a:cs typeface="+mn-ea"/>
              <a:sym typeface="+mn-lt"/>
            </a:endParaRPr>
          </a:p>
        </p:txBody>
      </p:sp>
      <p:sp>
        <p:nvSpPr>
          <p:cNvPr id="3" name="文本占位符 2">
            <a:extLst>
              <a:ext uri="{FF2B5EF4-FFF2-40B4-BE49-F238E27FC236}">
                <a16:creationId xmlns:a16="http://schemas.microsoft.com/office/drawing/2014/main" id="{8A7B8645-AF1F-871D-2003-11929817829F}"/>
              </a:ext>
            </a:extLst>
          </p:cNvPr>
          <p:cNvSpPr>
            <a:spLocks noGrp="1"/>
          </p:cNvSpPr>
          <p:nvPr>
            <p:ph sz="quarter" idx="12"/>
          </p:nvPr>
        </p:nvSpPr>
        <p:spPr/>
        <p:txBody>
          <a:bodyPr/>
          <a:lstStyle/>
          <a:p>
            <a:pPr marR="0" lvl="0" rtl="0"/>
            <a:r>
              <a:rPr lang="en-US" altLang="zh-CN" b="0" i="0" u="none" strike="noStrike" baseline="0" dirty="0">
                <a:solidFill>
                  <a:srgbClr val="000000"/>
                </a:solidFill>
                <a:cs typeface="+mn-ea"/>
                <a:sym typeface="+mn-lt"/>
              </a:rPr>
              <a:t>JPEG-2000</a:t>
            </a:r>
            <a:r>
              <a:rPr lang="zh-CN" altLang="en-US" b="0" i="0" u="none" strike="noStrike" baseline="0" dirty="0">
                <a:solidFill>
                  <a:srgbClr val="000000"/>
                </a:solidFill>
                <a:cs typeface="+mn-ea"/>
                <a:sym typeface="+mn-lt"/>
              </a:rPr>
              <a:t> 扩充了流行的</a:t>
            </a:r>
            <a:r>
              <a:rPr lang="en-US" altLang="zh-CN" b="0" i="0" u="none" strike="noStrike" baseline="0" dirty="0">
                <a:solidFill>
                  <a:srgbClr val="000000"/>
                </a:solidFill>
                <a:cs typeface="+mn-ea"/>
                <a:sym typeface="+mn-lt"/>
              </a:rPr>
              <a:t>JPEG</a:t>
            </a:r>
            <a:r>
              <a:rPr lang="zh-CN" altLang="en-US" b="0" i="0" u="none" strike="noStrike" baseline="0" dirty="0">
                <a:solidFill>
                  <a:srgbClr val="000000"/>
                </a:solidFill>
                <a:cs typeface="+mn-ea"/>
                <a:sym typeface="+mn-lt"/>
              </a:rPr>
              <a:t> 标准，在连续色调静止图像的压缩和压缩数据的访问方面提供了更大的灵活性。</a:t>
            </a:r>
            <a:endParaRPr lang="en-US" altLang="zh-CN" b="0" i="0" u="none" strike="noStrike" baseline="0" dirty="0">
              <a:solidFill>
                <a:srgbClr val="000000"/>
              </a:solidFill>
              <a:cs typeface="+mn-ea"/>
              <a:sym typeface="+mn-lt"/>
            </a:endParaRPr>
          </a:p>
          <a:p>
            <a:pPr marR="0" lvl="0" rtl="0"/>
            <a:r>
              <a:rPr lang="zh-CN" altLang="en-US" b="0" i="0" u="none" strike="noStrike" baseline="0" dirty="0">
                <a:solidFill>
                  <a:srgbClr val="000000"/>
                </a:solidFill>
                <a:cs typeface="+mn-ea"/>
                <a:sym typeface="+mn-lt"/>
              </a:rPr>
              <a:t>例如，可以提取 </a:t>
            </a:r>
            <a:r>
              <a:rPr lang="en-US" altLang="zh-CN" b="0" i="0" u="none" strike="noStrike" baseline="0" dirty="0">
                <a:solidFill>
                  <a:srgbClr val="000000"/>
                </a:solidFill>
                <a:cs typeface="+mn-ea"/>
                <a:sym typeface="+mn-lt"/>
              </a:rPr>
              <a:t>JPEG-2000</a:t>
            </a:r>
            <a:r>
              <a:rPr lang="zh-CN" altLang="en-US" b="0" i="0" u="none" strike="noStrike" baseline="0" dirty="0">
                <a:solidFill>
                  <a:srgbClr val="000000"/>
                </a:solidFill>
                <a:cs typeface="+mn-ea"/>
                <a:sym typeface="+mn-lt"/>
              </a:rPr>
              <a:t> 压缩图像中的一部分，进行转发、存储、显示和</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或编辑。这个标准以刚刚讨论的小波编码技术为基础。系数量化对各个尺度和子带是自适应的，并且在比特平面</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a:t>
            </a:r>
            <a:r>
              <a:rPr lang="en-US" altLang="zh-CN" b="0" i="0" u="none" strike="noStrike" baseline="0" dirty="0">
                <a:solidFill>
                  <a:srgbClr val="000000"/>
                </a:solidFill>
                <a:cs typeface="+mn-ea"/>
                <a:sym typeface="+mn-lt"/>
              </a:rPr>
              <a:t>84</a:t>
            </a:r>
            <a:r>
              <a:rPr lang="zh-CN" altLang="en-US" b="0" i="0" u="none" strike="noStrike" baseline="0" dirty="0">
                <a:solidFill>
                  <a:srgbClr val="000000"/>
                </a:solidFill>
                <a:cs typeface="+mn-ea"/>
                <a:sym typeface="+mn-lt"/>
              </a:rPr>
              <a:t>节 和</a:t>
            </a:r>
            <a:r>
              <a:rPr lang="en-US" altLang="zh-CN" b="0" i="0" u="none" strike="noStrike" baseline="0" dirty="0">
                <a:solidFill>
                  <a:srgbClr val="000000"/>
                </a:solidFill>
                <a:cs typeface="+mn-ea"/>
                <a:sym typeface="+mn-lt"/>
              </a:rPr>
              <a:t>8.8</a:t>
            </a:r>
            <a:r>
              <a:rPr lang="zh-CN" altLang="en-US" b="0" i="0" u="none" strike="noStrike" baseline="0" dirty="0">
                <a:solidFill>
                  <a:srgbClr val="000000"/>
                </a:solidFill>
                <a:cs typeface="+mn-ea"/>
                <a:sym typeface="+mn-lt"/>
              </a:rPr>
              <a:t>节</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上对量化后的系数进行算术编码。</a:t>
            </a:r>
          </a:p>
        </p:txBody>
      </p:sp>
    </p:spTree>
    <p:extLst>
      <p:ext uri="{BB962C8B-B14F-4D97-AF65-F5344CB8AC3E}">
        <p14:creationId xmlns:p14="http://schemas.microsoft.com/office/powerpoint/2010/main" val="1063063739"/>
      </p:ext>
    </p:extLst>
  </p:cSld>
  <p:clrMapOvr>
    <a:masterClrMapping/>
  </p:clrMapOvr>
  <p:transition spd="slow" advTm="0">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6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12</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数字图像水印</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90399466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E2B70E-2FE6-4C12-4A7F-7487B24D8231}"/>
              </a:ext>
            </a:extLst>
          </p:cNvPr>
          <p:cNvSpPr>
            <a:spLocks noGrp="1"/>
          </p:cNvSpPr>
          <p:nvPr>
            <p:ph type="title"/>
          </p:nvPr>
        </p:nvSpPr>
        <p:spPr/>
        <p:txBody>
          <a:bodyPr/>
          <a:lstStyle/>
          <a:p>
            <a:pPr marR="0" rtl="0"/>
            <a:br>
              <a:rPr lang="en-US" altLang="zh-CN" b="1" i="0" u="none" strike="noStrike" baseline="0" dirty="0">
                <a:solidFill>
                  <a:srgbClr val="0070C0"/>
                </a:solidFill>
                <a:latin typeface="+mn-lt"/>
                <a:ea typeface="+mn-ea"/>
                <a:cs typeface="+mn-ea"/>
                <a:sym typeface="+mn-lt"/>
              </a:rPr>
            </a:br>
            <a:r>
              <a:rPr lang="zh-CN" altLang="en-US" b="1" i="0" u="none" strike="noStrike" baseline="0" dirty="0">
                <a:solidFill>
                  <a:srgbClr val="0070C0"/>
                </a:solidFill>
                <a:latin typeface="+mn-lt"/>
                <a:ea typeface="+mn-ea"/>
                <a:cs typeface="+mn-ea"/>
                <a:sym typeface="+mn-lt"/>
              </a:rPr>
              <a:t>水印</a:t>
            </a:r>
          </a:p>
        </p:txBody>
      </p:sp>
      <p:sp>
        <p:nvSpPr>
          <p:cNvPr id="3" name="文本占位符 2">
            <a:extLst>
              <a:ext uri="{FF2B5EF4-FFF2-40B4-BE49-F238E27FC236}">
                <a16:creationId xmlns:a16="http://schemas.microsoft.com/office/drawing/2014/main" id="{BADD76BD-8023-56EB-8E03-5EB1710CD46D}"/>
              </a:ext>
            </a:extLst>
          </p:cNvPr>
          <p:cNvSpPr>
            <a:spLocks noGrp="1"/>
          </p:cNvSpPr>
          <p:nvPr>
            <p:ph sz="quarter" idx="11"/>
          </p:nvPr>
        </p:nvSpPr>
        <p:spPr/>
        <p:txBody>
          <a:bodyPr>
            <a:noAutofit/>
          </a:bodyPr>
          <a:lstStyle/>
          <a:p>
            <a:pPr marL="0" marR="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版权识别。</a:t>
            </a:r>
            <a:r>
              <a:rPr lang="zh-CN" altLang="en-US" b="0" i="0" u="none" strike="noStrike" baseline="0" dirty="0">
                <a:solidFill>
                  <a:srgbClr val="000000"/>
                </a:solidFill>
                <a:cs typeface="+mn-ea"/>
                <a:sym typeface="+mn-lt"/>
              </a:rPr>
              <a:t>当所有者的权益受到侵犯时，数字水印能够提供所有者的证明信息。</a:t>
            </a:r>
          </a:p>
          <a:p>
            <a:pPr marL="0" marR="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 用户识别或采集指纹。</a:t>
            </a:r>
            <a:r>
              <a:rPr lang="zh-CN" altLang="en-US" b="0" i="0" u="none" strike="noStrike" baseline="0" dirty="0">
                <a:solidFill>
                  <a:srgbClr val="000000"/>
                </a:solidFill>
                <a:cs typeface="+mn-ea"/>
                <a:sym typeface="+mn-lt"/>
              </a:rPr>
              <a:t>合法用户的身份可以编码到水印中，用于识别非法复制的来源。</a:t>
            </a:r>
          </a:p>
          <a:p>
            <a:pPr marL="0" marR="0" lvl="0" indent="0" rtl="0">
              <a:buNone/>
            </a:pPr>
            <a:r>
              <a:rPr lang="en-US" altLang="zh-CN" b="1" i="0" u="none" strike="noStrike" baseline="0" dirty="0">
                <a:solidFill>
                  <a:srgbClr val="000000"/>
                </a:solidFill>
                <a:cs typeface="+mn-ea"/>
                <a:sym typeface="+mn-lt"/>
              </a:rPr>
              <a:t>3.</a:t>
            </a:r>
            <a:r>
              <a:rPr lang="zh-CN" altLang="en-US" b="1" i="0" u="none" strike="noStrike" baseline="0" dirty="0">
                <a:solidFill>
                  <a:srgbClr val="000000"/>
                </a:solidFill>
                <a:cs typeface="+mn-ea"/>
                <a:sym typeface="+mn-lt"/>
              </a:rPr>
              <a:t> 真实性判定。</a:t>
            </a:r>
            <a:r>
              <a:rPr lang="zh-CN" altLang="en-US" b="0" i="0" u="none" strike="noStrike" baseline="0" dirty="0">
                <a:solidFill>
                  <a:srgbClr val="000000"/>
                </a:solidFill>
                <a:cs typeface="+mn-ea"/>
                <a:sym typeface="+mn-lt"/>
              </a:rPr>
              <a:t>如果水印被设计成对图像的任何修改都将破坏水印，那么水印可以保证图像不 被篡改。</a:t>
            </a:r>
          </a:p>
          <a:p>
            <a:pPr marL="0" marR="0" lvl="0" indent="0" rtl="0">
              <a:buNone/>
            </a:pPr>
            <a:r>
              <a:rPr lang="en-US" altLang="zh-CN" b="1" i="0" u="none" strike="noStrike" baseline="0" dirty="0">
                <a:solidFill>
                  <a:srgbClr val="000000"/>
                </a:solidFill>
                <a:cs typeface="+mn-ea"/>
                <a:sym typeface="+mn-lt"/>
              </a:rPr>
              <a:t>4.</a:t>
            </a:r>
            <a:r>
              <a:rPr lang="zh-CN" altLang="en-US" b="1" i="0" u="none" strike="noStrike" baseline="0" dirty="0">
                <a:solidFill>
                  <a:srgbClr val="000000"/>
                </a:solidFill>
                <a:cs typeface="+mn-ea"/>
                <a:sym typeface="+mn-lt"/>
              </a:rPr>
              <a:t> 自动监视。</a:t>
            </a:r>
            <a:r>
              <a:rPr lang="zh-CN" altLang="en-US" b="0" i="0" u="none" strike="noStrike" baseline="0" dirty="0">
                <a:solidFill>
                  <a:srgbClr val="000000"/>
                </a:solidFill>
                <a:cs typeface="+mn-ea"/>
                <a:sym typeface="+mn-lt"/>
              </a:rPr>
              <a:t>水印可以通过系统来监视，系统可以跟踪图像被使用的时间和地点</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如搜索网上 图像的一个程序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。对于版税征收和</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或</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确定非法用户的位置，监视非常有用。</a:t>
            </a:r>
          </a:p>
          <a:p>
            <a:pPr marL="0" marR="0" lvl="0" indent="0" rtl="0">
              <a:buNone/>
            </a:pPr>
            <a:r>
              <a:rPr lang="en-US" altLang="zh-CN" b="1" i="0" u="none" strike="noStrike" baseline="0" dirty="0">
                <a:solidFill>
                  <a:srgbClr val="000000"/>
                </a:solidFill>
                <a:cs typeface="+mn-ea"/>
                <a:sym typeface="+mn-lt"/>
              </a:rPr>
              <a:t>5.</a:t>
            </a:r>
            <a:r>
              <a:rPr lang="zh-CN" altLang="en-US" b="1" i="0" u="none" strike="noStrike" baseline="0" dirty="0">
                <a:solidFill>
                  <a:srgbClr val="000000"/>
                </a:solidFill>
                <a:cs typeface="+mn-ea"/>
                <a:sym typeface="+mn-lt"/>
              </a:rPr>
              <a:t> 复制保护。</a:t>
            </a:r>
            <a:r>
              <a:rPr lang="zh-CN" altLang="en-US" b="0" i="0" u="none" strike="noStrike" baseline="0" dirty="0">
                <a:solidFill>
                  <a:srgbClr val="000000"/>
                </a:solidFill>
                <a:cs typeface="+mn-ea"/>
                <a:sym typeface="+mn-lt"/>
              </a:rPr>
              <a:t>水印可规定图像使用和复制的规则</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如对</a:t>
            </a:r>
            <a:r>
              <a:rPr lang="en-US" altLang="zh-CN" b="0" i="0" u="none" strike="noStrike" baseline="0" dirty="0">
                <a:solidFill>
                  <a:srgbClr val="000000"/>
                </a:solidFill>
                <a:cs typeface="+mn-ea"/>
                <a:sym typeface="+mn-lt"/>
              </a:rPr>
              <a:t>DVD</a:t>
            </a:r>
            <a:r>
              <a:rPr lang="zh-CN" altLang="en-US" b="0" i="0" u="none" strike="noStrike" baseline="0" dirty="0">
                <a:solidFill>
                  <a:srgbClr val="000000"/>
                </a:solidFill>
                <a:cs typeface="+mn-ea"/>
                <a:sym typeface="+mn-lt"/>
              </a:rPr>
              <a:t> 播放器规定的规则</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a:t>
            </a:r>
          </a:p>
        </p:txBody>
      </p:sp>
      <p:sp>
        <p:nvSpPr>
          <p:cNvPr id="4" name="矩形 3">
            <a:extLst>
              <a:ext uri="{FF2B5EF4-FFF2-40B4-BE49-F238E27FC236}">
                <a16:creationId xmlns:a16="http://schemas.microsoft.com/office/drawing/2014/main" id="{8C77006E-470F-15D9-8B44-713A4F9845B2}"/>
              </a:ext>
            </a:extLst>
          </p:cNvPr>
          <p:cNvSpPr/>
          <p:nvPr/>
        </p:nvSpPr>
        <p:spPr>
          <a:xfrm>
            <a:off x="801092" y="2446417"/>
            <a:ext cx="10589815" cy="3761878"/>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493072856"/>
      </p:ext>
    </p:extLst>
  </p:cSld>
  <p:clrMapOvr>
    <a:masterClrMapping/>
  </p:clrMapOvr>
  <p:transition spd="slow" advTm="0">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2" name="组合 301"/>
          <p:cNvGrpSpPr/>
          <p:nvPr/>
        </p:nvGrpSpPr>
        <p:grpSpPr>
          <a:xfrm>
            <a:off x="951918" y="2003875"/>
            <a:ext cx="4621778" cy="1257438"/>
            <a:chOff x="951918" y="1752810"/>
            <a:chExt cx="4621778" cy="1257438"/>
          </a:xfrm>
        </p:grpSpPr>
        <p:sp>
          <p:nvSpPr>
            <p:cNvPr id="295" name="椭圆 294"/>
            <p:cNvSpPr/>
            <p:nvPr/>
          </p:nvSpPr>
          <p:spPr>
            <a:xfrm>
              <a:off x="3440154" y="1752810"/>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5" name="文本框 284"/>
            <p:cNvSpPr txBox="1"/>
            <p:nvPr/>
          </p:nvSpPr>
          <p:spPr>
            <a:xfrm>
              <a:off x="951918" y="2240807"/>
              <a:ext cx="4621778"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prstClr val="black">
                      <a:lumMod val="85000"/>
                      <a:lumOff val="15000"/>
                    </a:prst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感谢观看，再见！</a:t>
              </a:r>
            </a:p>
          </p:txBody>
        </p:sp>
      </p:grpSp>
      <p:grpSp>
        <p:nvGrpSpPr>
          <p:cNvPr id="2" name="组合 1">
            <a:extLst>
              <a:ext uri="{FF2B5EF4-FFF2-40B4-BE49-F238E27FC236}">
                <a16:creationId xmlns:a16="http://schemas.microsoft.com/office/drawing/2014/main" id="{4BE357EE-D036-5636-DC77-B48D4D7055E5}"/>
              </a:ext>
            </a:extLst>
          </p:cNvPr>
          <p:cNvGrpSpPr/>
          <p:nvPr/>
        </p:nvGrpSpPr>
        <p:grpSpPr>
          <a:xfrm>
            <a:off x="951918" y="4412946"/>
            <a:ext cx="4142910" cy="479114"/>
            <a:chOff x="5646962" y="4937787"/>
            <a:chExt cx="1453481" cy="482463"/>
          </a:xfrm>
          <a:effectLst/>
        </p:grpSpPr>
        <p:sp>
          <p:nvSpPr>
            <p:cNvPr id="3" name="任意多边形: 形状 12">
              <a:extLst>
                <a:ext uri="{FF2B5EF4-FFF2-40B4-BE49-F238E27FC236}">
                  <a16:creationId xmlns:a16="http://schemas.microsoft.com/office/drawing/2014/main" id="{B8825F78-788B-5888-4DE8-08CDF7B2BB1A}"/>
                </a:ext>
              </a:extLst>
            </p:cNvPr>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4" name="文本框 3">
              <a:extLst>
                <a:ext uri="{FF2B5EF4-FFF2-40B4-BE49-F238E27FC236}">
                  <a16:creationId xmlns:a16="http://schemas.microsoft.com/office/drawing/2014/main" id="{95D6DFA9-4BAC-CC65-293E-89A0FE6CFA72}"/>
                </a:ext>
              </a:extLst>
            </p:cNvPr>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sp>
        <p:nvSpPr>
          <p:cNvPr id="5" name="Freeform 24">
            <a:extLst>
              <a:ext uri="{FF2B5EF4-FFF2-40B4-BE49-F238E27FC236}">
                <a16:creationId xmlns:a16="http://schemas.microsoft.com/office/drawing/2014/main" id="{CA6C89E0-1294-29F9-32FC-0C6AE93501E4}"/>
              </a:ext>
            </a:extLst>
          </p:cNvPr>
          <p:cNvSpPr>
            <a:spLocks/>
          </p:cNvSpPr>
          <p:nvPr/>
        </p:nvSpPr>
        <p:spPr bwMode="auto">
          <a:xfrm>
            <a:off x="951918" y="3660494"/>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6" name="Inhaltsplatzhalter 4">
            <a:extLst>
              <a:ext uri="{FF2B5EF4-FFF2-40B4-BE49-F238E27FC236}">
                <a16:creationId xmlns:a16="http://schemas.microsoft.com/office/drawing/2014/main" id="{FAA5296B-124B-0722-3B9F-18899F4AC0A1}"/>
              </a:ext>
            </a:extLst>
          </p:cNvPr>
          <p:cNvSpPr txBox="1">
            <a:spLocks/>
          </p:cNvSpPr>
          <p:nvPr/>
        </p:nvSpPr>
        <p:spPr>
          <a:xfrm>
            <a:off x="1254141" y="3736766"/>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p>
        </p:txBody>
      </p:sp>
    </p:spTree>
    <p:extLst>
      <p:ext uri="{BB962C8B-B14F-4D97-AF65-F5344CB8AC3E}">
        <p14:creationId xmlns:p14="http://schemas.microsoft.com/office/powerpoint/2010/main" val="13631893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j1jtmdf3">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【ch02】数字图像基础</Template>
  <TotalTime>63</TotalTime>
  <Words>2934</Words>
  <Application>Microsoft Office PowerPoint</Application>
  <PresentationFormat>宽屏</PresentationFormat>
  <Paragraphs>126</Paragraphs>
  <Slides>41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41</vt:i4>
      </vt:variant>
    </vt:vector>
  </HeadingPairs>
  <TitlesOfParts>
    <vt:vector size="46" baseType="lpstr">
      <vt:lpstr>阿里巴巴普惠体</vt:lpstr>
      <vt:lpstr>Arial</vt:lpstr>
      <vt:lpstr>Cambria Math</vt:lpstr>
      <vt:lpstr>Wingdings</vt:lpstr>
      <vt:lpstr>Office 主题</vt:lpstr>
      <vt:lpstr>PowerPoint 演示文稿</vt:lpstr>
      <vt:lpstr>PowerPoint 演示文稿</vt:lpstr>
      <vt:lpstr>编码冗余</vt:lpstr>
      <vt:lpstr>空间冗余和时间冗余</vt:lpstr>
      <vt:lpstr>无关信息</vt:lpstr>
      <vt:lpstr>度量图像信息</vt:lpstr>
      <vt:lpstr>保真度准则</vt:lpstr>
      <vt:lpstr>图像压缩模型</vt:lpstr>
      <vt:lpstr>图像格式、存储器(容器)和压缩标准</vt:lpstr>
      <vt:lpstr>PowerPoint 演示文稿</vt:lpstr>
      <vt:lpstr>概述</vt:lpstr>
      <vt:lpstr>PowerPoint 演示文稿</vt:lpstr>
      <vt:lpstr>概述</vt:lpstr>
      <vt:lpstr>PowerPoint 演示文稿</vt:lpstr>
      <vt:lpstr>自适应上下文相关概率估计</vt:lpstr>
      <vt:lpstr>PowerPoint 演示文稿</vt:lpstr>
      <vt:lpstr>概述</vt:lpstr>
      <vt:lpstr>PowerPoint 演示文稿</vt:lpstr>
      <vt:lpstr>一维 CCITT 压缩</vt:lpstr>
      <vt:lpstr>二维CCITT压缩</vt:lpstr>
      <vt:lpstr>PowerPoint 演示文稿</vt:lpstr>
      <vt:lpstr>JBIG2 压缩</vt:lpstr>
      <vt:lpstr>PowerPoint 演示文稿</vt:lpstr>
      <vt:lpstr>概述</vt:lpstr>
      <vt:lpstr>PowerPoint 演示文稿</vt:lpstr>
      <vt:lpstr>变换的选择</vt:lpstr>
      <vt:lpstr>子图像尺寸选择</vt:lpstr>
      <vt:lpstr>比特分配</vt:lpstr>
      <vt:lpstr>PowerPoint 演示文稿</vt:lpstr>
      <vt:lpstr>无损预测编码</vt:lpstr>
      <vt:lpstr>运动补偿预测残差</vt:lpstr>
      <vt:lpstr>最优预测器</vt:lpstr>
      <vt:lpstr>最优量化</vt:lpstr>
      <vt:lpstr>PowerPoint 演示文稿</vt:lpstr>
      <vt:lpstr>小波的选择</vt:lpstr>
      <vt:lpstr>分解级数的选择</vt:lpstr>
      <vt:lpstr>量化器设计</vt:lpstr>
      <vt:lpstr>JPEG-2000</vt:lpstr>
      <vt:lpstr>PowerPoint 演示文稿</vt:lpstr>
      <vt:lpstr> 水印</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第8章 图像压缩和水印</dc:title>
  <dc:creator>娜 王</dc:creator>
  <cp:lastModifiedBy>娜 王</cp:lastModifiedBy>
  <cp:revision>3</cp:revision>
  <dcterms:created xsi:type="dcterms:W3CDTF">2023-10-13T03:06:55Z</dcterms:created>
  <dcterms:modified xsi:type="dcterms:W3CDTF">2023-10-19T08:02:56Z</dcterms:modified>
</cp:coreProperties>
</file>