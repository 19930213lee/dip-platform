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312" r:id="rId2"/>
    <p:sldId id="313" r:id="rId3"/>
    <p:sldId id="258" r:id="rId4"/>
    <p:sldId id="314" r:id="rId5"/>
    <p:sldId id="260" r:id="rId6"/>
    <p:sldId id="261" r:id="rId7"/>
    <p:sldId id="262" r:id="rId8"/>
    <p:sldId id="263" r:id="rId9"/>
    <p:sldId id="264" r:id="rId10"/>
    <p:sldId id="315" r:id="rId11"/>
    <p:sldId id="266" r:id="rId12"/>
    <p:sldId id="268" r:id="rId13"/>
    <p:sldId id="269" r:id="rId14"/>
    <p:sldId id="270" r:id="rId15"/>
    <p:sldId id="316" r:id="rId16"/>
    <p:sldId id="272" r:id="rId17"/>
    <p:sldId id="273" r:id="rId18"/>
    <p:sldId id="317" r:id="rId19"/>
    <p:sldId id="275" r:id="rId20"/>
    <p:sldId id="276" r:id="rId21"/>
    <p:sldId id="277" r:id="rId22"/>
    <p:sldId id="279" r:id="rId23"/>
    <p:sldId id="281" r:id="rId24"/>
    <p:sldId id="318" r:id="rId25"/>
    <p:sldId id="284" r:id="rId26"/>
    <p:sldId id="286" r:id="rId27"/>
    <p:sldId id="287" r:id="rId28"/>
    <p:sldId id="288" r:id="rId29"/>
    <p:sldId id="289" r:id="rId30"/>
    <p:sldId id="319" r:id="rId31"/>
    <p:sldId id="293" r:id="rId32"/>
    <p:sldId id="320" r:id="rId33"/>
    <p:sldId id="297" r:id="rId34"/>
    <p:sldId id="298" r:id="rId35"/>
    <p:sldId id="299" r:id="rId36"/>
    <p:sldId id="321" r:id="rId37"/>
    <p:sldId id="301" r:id="rId38"/>
    <p:sldId id="302" r:id="rId39"/>
    <p:sldId id="303" r:id="rId40"/>
    <p:sldId id="304" r:id="rId41"/>
    <p:sldId id="322" r:id="rId42"/>
    <p:sldId id="306" r:id="rId43"/>
    <p:sldId id="307" r:id="rId44"/>
    <p:sldId id="323" r:id="rId45"/>
    <p:sldId id="309" r:id="rId46"/>
    <p:sldId id="310" r:id="rId47"/>
    <p:sldId id="311" r:id="rId48"/>
    <p:sldId id="324" r:id="rId4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7" autoAdjust="0"/>
    <p:restoredTop sz="94660"/>
  </p:normalViewPr>
  <p:slideViewPr>
    <p:cSldViewPr snapToGrid="0">
      <p:cViewPr varScale="1">
        <p:scale>
          <a:sx n="66" d="100"/>
          <a:sy n="66" d="100"/>
        </p:scale>
        <p:origin x="32"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首页">
    <p:spTree>
      <p:nvGrpSpPr>
        <p:cNvPr id="1" name=""/>
        <p:cNvGrpSpPr/>
        <p:nvPr/>
      </p:nvGrpSpPr>
      <p:grpSpPr>
        <a:xfrm>
          <a:off x="0" y="0"/>
          <a:ext cx="0" cy="0"/>
          <a:chOff x="0" y="0"/>
          <a:chExt cx="0" cy="0"/>
        </a:xfrm>
      </p:grpSpPr>
      <p:sp>
        <p:nvSpPr>
          <p:cNvPr id="17" name="任意多边形: 形状 16"/>
          <p:cNvSpPr/>
          <p:nvPr/>
        </p:nvSpPr>
        <p:spPr>
          <a:xfrm>
            <a:off x="0" y="2807982"/>
            <a:ext cx="1583750" cy="3179395"/>
          </a:xfrm>
          <a:custGeom>
            <a:avLst/>
            <a:gdLst>
              <a:gd name="connsiteX0" fmla="*/ 0 w 1252875"/>
              <a:gd name="connsiteY0" fmla="*/ 0 h 2515160"/>
              <a:gd name="connsiteX1" fmla="*/ 123651 w 1252875"/>
              <a:gd name="connsiteY1" fmla="*/ 6244 h 2515160"/>
              <a:gd name="connsiteX2" fmla="*/ 1252875 w 1252875"/>
              <a:gd name="connsiteY2" fmla="*/ 1257580 h 2515160"/>
              <a:gd name="connsiteX3" fmla="*/ 123651 w 1252875"/>
              <a:gd name="connsiteY3" fmla="*/ 2508916 h 2515160"/>
              <a:gd name="connsiteX4" fmla="*/ 0 w 1252875"/>
              <a:gd name="connsiteY4" fmla="*/ 2515160 h 2515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875" h="2515160">
                <a:moveTo>
                  <a:pt x="0" y="0"/>
                </a:moveTo>
                <a:lnTo>
                  <a:pt x="123651" y="6244"/>
                </a:lnTo>
                <a:cubicBezTo>
                  <a:pt x="757919" y="70658"/>
                  <a:pt x="1252875" y="606318"/>
                  <a:pt x="1252875" y="1257580"/>
                </a:cubicBezTo>
                <a:cubicBezTo>
                  <a:pt x="1252875" y="1908843"/>
                  <a:pt x="757919" y="2444503"/>
                  <a:pt x="123651" y="2508916"/>
                </a:cubicBezTo>
                <a:lnTo>
                  <a:pt x="0" y="2515160"/>
                </a:ln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8" name="任意多边形: 形状 17"/>
          <p:cNvSpPr/>
          <p:nvPr/>
        </p:nvSpPr>
        <p:spPr>
          <a:xfrm>
            <a:off x="2733914" y="5295998"/>
            <a:ext cx="4134465" cy="1591455"/>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nvGrpSpPr>
          <p:cNvPr id="22" name="组合 21"/>
          <p:cNvGrpSpPr/>
          <p:nvPr/>
        </p:nvGrpSpPr>
        <p:grpSpPr>
          <a:xfrm>
            <a:off x="5389245" y="-304800"/>
            <a:ext cx="7221855" cy="6395720"/>
            <a:chOff x="5389435" y="-304798"/>
            <a:chExt cx="7221666" cy="6395847"/>
          </a:xfrm>
        </p:grpSpPr>
        <p:grpSp>
          <p:nvGrpSpPr>
            <p:cNvPr id="16" name="组合 15"/>
            <p:cNvGrpSpPr/>
            <p:nvPr userDrawn="1"/>
          </p:nvGrpSpPr>
          <p:grpSpPr>
            <a:xfrm>
              <a:off x="5389435" y="-304798"/>
              <a:ext cx="7221666" cy="6395847"/>
              <a:chOff x="4970335" y="-304798"/>
              <a:chExt cx="7221666" cy="6395847"/>
            </a:xfrm>
          </p:grpSpPr>
          <p:sp>
            <p:nvSpPr>
              <p:cNvPr id="9" name="任意多边形: 形状 8"/>
              <p:cNvSpPr/>
              <p:nvPr/>
            </p:nvSpPr>
            <p:spPr>
              <a:xfrm rot="16200000">
                <a:off x="5383244" y="-717707"/>
                <a:ext cx="6395847" cy="7221666"/>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0" name="任意多边形: 形状 9"/>
              <p:cNvSpPr/>
              <p:nvPr/>
            </p:nvSpPr>
            <p:spPr>
              <a:xfrm rot="16200000">
                <a:off x="5253261" y="-515155"/>
                <a:ext cx="2180771" cy="2601486"/>
              </a:xfrm>
              <a:custGeom>
                <a:avLst/>
                <a:gdLst>
                  <a:gd name="connsiteX0" fmla="*/ 1880924 w 2180771"/>
                  <a:gd name="connsiteY0" fmla="*/ 763130 h 2601486"/>
                  <a:gd name="connsiteX1" fmla="*/ 1880924 w 2180771"/>
                  <a:gd name="connsiteY1" fmla="*/ 2530378 h 2601486"/>
                  <a:gd name="connsiteX2" fmla="*/ 1863032 w 2180771"/>
                  <a:gd name="connsiteY2" fmla="*/ 2536926 h 2601486"/>
                  <a:gd name="connsiteX3" fmla="*/ 1436007 w 2180771"/>
                  <a:gd name="connsiteY3" fmla="*/ 2601486 h 2601486"/>
                  <a:gd name="connsiteX4" fmla="*/ 0 w 2180771"/>
                  <a:gd name="connsiteY4" fmla="*/ 1165479 h 2601486"/>
                  <a:gd name="connsiteX5" fmla="*/ 522574 w 2180771"/>
                  <a:gd name="connsiteY5" fmla="*/ 57386 h 2601486"/>
                  <a:gd name="connsiteX6" fmla="*/ 599315 w 2180771"/>
                  <a:gd name="connsiteY6" fmla="*/ 0 h 2601486"/>
                  <a:gd name="connsiteX7" fmla="*/ 705163 w 2180771"/>
                  <a:gd name="connsiteY7" fmla="*/ 52521 h 2601486"/>
                  <a:gd name="connsiteX8" fmla="*/ 1704137 w 2180771"/>
                  <a:gd name="connsiteY8" fmla="*/ 629279 h 2601486"/>
                  <a:gd name="connsiteX9" fmla="*/ 1815005 w 2180771"/>
                  <a:gd name="connsiteY9" fmla="*/ 703972 h 2601486"/>
                  <a:gd name="connsiteX10" fmla="*/ 2006548 w 2180771"/>
                  <a:gd name="connsiteY10" fmla="*/ 907075 h 2601486"/>
                  <a:gd name="connsiteX11" fmla="*/ 1986860 w 2180771"/>
                  <a:gd name="connsiteY11" fmla="*/ 879387 h 2601486"/>
                  <a:gd name="connsiteX12" fmla="*/ 1995060 w 2180771"/>
                  <a:gd name="connsiteY12" fmla="*/ 889072 h 2601486"/>
                  <a:gd name="connsiteX13" fmla="*/ 2053189 w 2180771"/>
                  <a:gd name="connsiteY13" fmla="*/ 1931884 h 2601486"/>
                  <a:gd name="connsiteX14" fmla="*/ 2053176 w 2180771"/>
                  <a:gd name="connsiteY14" fmla="*/ 1931910 h 2601486"/>
                  <a:gd name="connsiteX15" fmla="*/ 1880925 w 2180771"/>
                  <a:gd name="connsiteY15" fmla="*/ 2230259 h 2601486"/>
                  <a:gd name="connsiteX16" fmla="*/ 1880925 w 2180771"/>
                  <a:gd name="connsiteY16" fmla="*/ 2230257 h 2601486"/>
                  <a:gd name="connsiteX17" fmla="*/ 2053176 w 2180771"/>
                  <a:gd name="connsiteY17" fmla="*/ 1931909 h 2601486"/>
                  <a:gd name="connsiteX18" fmla="*/ 2068692 w 2180771"/>
                  <a:gd name="connsiteY18" fmla="*/ 1007598 h 2601486"/>
                  <a:gd name="connsiteX19" fmla="*/ 2052044 w 2180771"/>
                  <a:gd name="connsiteY19" fmla="*/ 978380 h 2601486"/>
                  <a:gd name="connsiteX20" fmla="*/ 2063335 w 2180771"/>
                  <a:gd name="connsiteY20" fmla="*/ 996075 h 2601486"/>
                  <a:gd name="connsiteX21" fmla="*/ 2101939 w 2180771"/>
                  <a:gd name="connsiteY21" fmla="*/ 1833636 h 2601486"/>
                  <a:gd name="connsiteX22" fmla="*/ 2095166 w 2180771"/>
                  <a:gd name="connsiteY22" fmla="*/ 1850517 h 2601486"/>
                  <a:gd name="connsiteX23" fmla="*/ 2053189 w 2180771"/>
                  <a:gd name="connsiteY23" fmla="*/ 1931884 h 2601486"/>
                  <a:gd name="connsiteX24" fmla="*/ 2113879 w 2180771"/>
                  <a:gd name="connsiteY24" fmla="*/ 1803879 h 2601486"/>
                  <a:gd name="connsiteX25" fmla="*/ 2107267 w 2180771"/>
                  <a:gd name="connsiteY25" fmla="*/ 1822898 h 2601486"/>
                  <a:gd name="connsiteX26" fmla="*/ 2101939 w 2180771"/>
                  <a:gd name="connsiteY26" fmla="*/ 1833636 h 2601486"/>
                  <a:gd name="connsiteX27" fmla="*/ 2139904 w 2180771"/>
                  <a:gd name="connsiteY27" fmla="*/ 1729011 h 2601486"/>
                  <a:gd name="connsiteX28" fmla="*/ 2128657 w 2180771"/>
                  <a:gd name="connsiteY28" fmla="*/ 1767046 h 2601486"/>
                  <a:gd name="connsiteX29" fmla="*/ 2113879 w 2180771"/>
                  <a:gd name="connsiteY29" fmla="*/ 1803879 h 2601486"/>
                  <a:gd name="connsiteX30" fmla="*/ 2148810 w 2180771"/>
                  <a:gd name="connsiteY30" fmla="*/ 1698893 h 2601486"/>
                  <a:gd name="connsiteX31" fmla="*/ 2146335 w 2180771"/>
                  <a:gd name="connsiteY31" fmla="*/ 1710510 h 2601486"/>
                  <a:gd name="connsiteX32" fmla="*/ 2139904 w 2180771"/>
                  <a:gd name="connsiteY32" fmla="*/ 1729011 h 2601486"/>
                  <a:gd name="connsiteX33" fmla="*/ 2157689 w 2180771"/>
                  <a:gd name="connsiteY33" fmla="*/ 1251116 h 2601486"/>
                  <a:gd name="connsiteX34" fmla="*/ 2150333 w 2180771"/>
                  <a:gd name="connsiteY34" fmla="*/ 1218457 h 2601486"/>
                  <a:gd name="connsiteX35" fmla="*/ 2154097 w 2180771"/>
                  <a:gd name="connsiteY35" fmla="*/ 1230476 h 2601486"/>
                  <a:gd name="connsiteX36" fmla="*/ 2170719 w 2180771"/>
                  <a:gd name="connsiteY36" fmla="*/ 1596043 h 2601486"/>
                  <a:gd name="connsiteX37" fmla="*/ 2153795 w 2180771"/>
                  <a:gd name="connsiteY37" fmla="*/ 1682035 h 2601486"/>
                  <a:gd name="connsiteX38" fmla="*/ 2148810 w 2180771"/>
                  <a:gd name="connsiteY38" fmla="*/ 1698893 h 2601486"/>
                  <a:gd name="connsiteX39" fmla="*/ 2176181 w 2180771"/>
                  <a:gd name="connsiteY39" fmla="*/ 1367039 h 2601486"/>
                  <a:gd name="connsiteX40" fmla="*/ 2172063 w 2180771"/>
                  <a:gd name="connsiteY40" fmla="*/ 1333720 h 2601486"/>
                  <a:gd name="connsiteX41" fmla="*/ 2175673 w 2180771"/>
                  <a:gd name="connsiteY41" fmla="*/ 1354469 h 2601486"/>
                  <a:gd name="connsiteX42" fmla="*/ 2180771 w 2180771"/>
                  <a:gd name="connsiteY42" fmla="*/ 1480722 h 2601486"/>
                  <a:gd name="connsiteX43" fmla="*/ 2170722 w 2180771"/>
                  <a:gd name="connsiteY43" fmla="*/ 1596025 h 2601486"/>
                  <a:gd name="connsiteX44" fmla="*/ 2170719 w 2180771"/>
                  <a:gd name="connsiteY44" fmla="*/ 1596043 h 2601486"/>
                  <a:gd name="connsiteX45" fmla="*/ 2170722 w 2180771"/>
                  <a:gd name="connsiteY45" fmla="*/ 1596025 h 2601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80771" h="2601486">
                    <a:moveTo>
                      <a:pt x="1880924" y="763130"/>
                    </a:moveTo>
                    <a:lnTo>
                      <a:pt x="1880924" y="2530378"/>
                    </a:lnTo>
                    <a:lnTo>
                      <a:pt x="1863032" y="2536926"/>
                    </a:lnTo>
                    <a:cubicBezTo>
                      <a:pt x="1728135" y="2578883"/>
                      <a:pt x="1584711" y="2601486"/>
                      <a:pt x="1436007" y="2601486"/>
                    </a:cubicBezTo>
                    <a:cubicBezTo>
                      <a:pt x="642922" y="2601486"/>
                      <a:pt x="0" y="1958564"/>
                      <a:pt x="0" y="1165479"/>
                    </a:cubicBezTo>
                    <a:cubicBezTo>
                      <a:pt x="0" y="719369"/>
                      <a:pt x="203425" y="320771"/>
                      <a:pt x="522574" y="57386"/>
                    </a:cubicBezTo>
                    <a:lnTo>
                      <a:pt x="599315" y="0"/>
                    </a:lnTo>
                    <a:lnTo>
                      <a:pt x="705163" y="52521"/>
                    </a:lnTo>
                    <a:lnTo>
                      <a:pt x="1704137" y="629279"/>
                    </a:lnTo>
                    <a:cubicBezTo>
                      <a:pt x="1743333" y="651909"/>
                      <a:pt x="1780314" y="676901"/>
                      <a:pt x="1815005" y="703972"/>
                    </a:cubicBezTo>
                    <a:close/>
                    <a:moveTo>
                      <a:pt x="2006548" y="907075"/>
                    </a:moveTo>
                    <a:lnTo>
                      <a:pt x="1986860" y="879387"/>
                    </a:lnTo>
                    <a:lnTo>
                      <a:pt x="1995060" y="889072"/>
                    </a:lnTo>
                    <a:close/>
                    <a:moveTo>
                      <a:pt x="2053189" y="1931884"/>
                    </a:moveTo>
                    <a:lnTo>
                      <a:pt x="2053176" y="1931910"/>
                    </a:lnTo>
                    <a:lnTo>
                      <a:pt x="1880925" y="2230259"/>
                    </a:lnTo>
                    <a:lnTo>
                      <a:pt x="1880925" y="2230257"/>
                    </a:lnTo>
                    <a:lnTo>
                      <a:pt x="2053176" y="1931909"/>
                    </a:lnTo>
                    <a:close/>
                    <a:moveTo>
                      <a:pt x="2068692" y="1007598"/>
                    </a:moveTo>
                    <a:lnTo>
                      <a:pt x="2052044" y="978380"/>
                    </a:lnTo>
                    <a:lnTo>
                      <a:pt x="2063335" y="996075"/>
                    </a:lnTo>
                    <a:close/>
                    <a:moveTo>
                      <a:pt x="2101939" y="1833636"/>
                    </a:moveTo>
                    <a:lnTo>
                      <a:pt x="2095166" y="1850517"/>
                    </a:lnTo>
                    <a:lnTo>
                      <a:pt x="2053189" y="1931884"/>
                    </a:lnTo>
                    <a:close/>
                    <a:moveTo>
                      <a:pt x="2113879" y="1803879"/>
                    </a:moveTo>
                    <a:lnTo>
                      <a:pt x="2107267" y="1822898"/>
                    </a:lnTo>
                    <a:lnTo>
                      <a:pt x="2101939" y="1833636"/>
                    </a:lnTo>
                    <a:close/>
                    <a:moveTo>
                      <a:pt x="2139904" y="1729011"/>
                    </a:moveTo>
                    <a:lnTo>
                      <a:pt x="2128657" y="1767046"/>
                    </a:lnTo>
                    <a:lnTo>
                      <a:pt x="2113879" y="1803879"/>
                    </a:lnTo>
                    <a:close/>
                    <a:moveTo>
                      <a:pt x="2148810" y="1698893"/>
                    </a:moveTo>
                    <a:lnTo>
                      <a:pt x="2146335" y="1710510"/>
                    </a:lnTo>
                    <a:lnTo>
                      <a:pt x="2139904" y="1729011"/>
                    </a:lnTo>
                    <a:close/>
                    <a:moveTo>
                      <a:pt x="2157689" y="1251116"/>
                    </a:moveTo>
                    <a:lnTo>
                      <a:pt x="2150333" y="1218457"/>
                    </a:lnTo>
                    <a:lnTo>
                      <a:pt x="2154097" y="1230476"/>
                    </a:lnTo>
                    <a:close/>
                    <a:moveTo>
                      <a:pt x="2170719" y="1596043"/>
                    </a:moveTo>
                    <a:lnTo>
                      <a:pt x="2153795" y="1682035"/>
                    </a:lnTo>
                    <a:lnTo>
                      <a:pt x="2148810" y="1698893"/>
                    </a:lnTo>
                    <a:close/>
                    <a:moveTo>
                      <a:pt x="2176181" y="1367039"/>
                    </a:moveTo>
                    <a:lnTo>
                      <a:pt x="2172063" y="1333720"/>
                    </a:lnTo>
                    <a:lnTo>
                      <a:pt x="2175673" y="1354469"/>
                    </a:lnTo>
                    <a:close/>
                    <a:moveTo>
                      <a:pt x="2180771" y="1480722"/>
                    </a:moveTo>
                    <a:cubicBezTo>
                      <a:pt x="2179773" y="1519151"/>
                      <a:pt x="2176442" y="1557656"/>
                      <a:pt x="2170722" y="1596025"/>
                    </a:cubicBezTo>
                    <a:lnTo>
                      <a:pt x="2170719" y="1596043"/>
                    </a:lnTo>
                    <a:lnTo>
                      <a:pt x="2170722" y="1596025"/>
                    </a:ln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1" name="椭圆 10"/>
              <p:cNvSpPr/>
              <p:nvPr/>
            </p:nvSpPr>
            <p:spPr>
              <a:xfrm>
                <a:off x="6781800" y="2709637"/>
                <a:ext cx="2438400" cy="2438400"/>
              </a:xfrm>
              <a:prstGeom prst="ellipse">
                <a:avLst/>
              </a:pr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2" name="任意多边形: 形状 11"/>
              <p:cNvSpPr/>
              <p:nvPr/>
            </p:nvSpPr>
            <p:spPr>
              <a:xfrm rot="16200000">
                <a:off x="9418682" y="1817763"/>
                <a:ext cx="3851186" cy="1695450"/>
              </a:xfrm>
              <a:custGeom>
                <a:avLst/>
                <a:gdLst>
                  <a:gd name="connsiteX0" fmla="*/ 3851186 w 3851186"/>
                  <a:gd name="connsiteY0" fmla="*/ 1695450 h 1695450"/>
                  <a:gd name="connsiteX1" fmla="*/ 1839831 w 3851186"/>
                  <a:gd name="connsiteY1" fmla="*/ 1695450 h 1695450"/>
                  <a:gd name="connsiteX2" fmla="*/ 1306432 w 3851186"/>
                  <a:gd name="connsiteY2" fmla="*/ 1695450 h 1695450"/>
                  <a:gd name="connsiteX3" fmla="*/ 0 w 3851186"/>
                  <a:gd name="connsiteY3" fmla="*/ 1695450 h 1695450"/>
                  <a:gd name="connsiteX4" fmla="*/ 21970 w 3851186"/>
                  <a:gd name="connsiteY4" fmla="*/ 1551497 h 1695450"/>
                  <a:gd name="connsiteX5" fmla="*/ 1925594 w 3851186"/>
                  <a:gd name="connsiteY5" fmla="*/ 0 h 1695450"/>
                  <a:gd name="connsiteX6" fmla="*/ 3829216 w 3851186"/>
                  <a:gd name="connsiteY6" fmla="*/ 1551497 h 169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186" h="1695450">
                    <a:moveTo>
                      <a:pt x="3851186" y="1695450"/>
                    </a:moveTo>
                    <a:lnTo>
                      <a:pt x="1839831" y="1695450"/>
                    </a:lnTo>
                    <a:lnTo>
                      <a:pt x="1306432" y="1695450"/>
                    </a:lnTo>
                    <a:lnTo>
                      <a:pt x="0" y="1695450"/>
                    </a:lnTo>
                    <a:lnTo>
                      <a:pt x="21970" y="1551497"/>
                    </a:lnTo>
                    <a:cubicBezTo>
                      <a:pt x="203158" y="666060"/>
                      <a:pt x="986593" y="0"/>
                      <a:pt x="1925594" y="0"/>
                    </a:cubicBezTo>
                    <a:cubicBezTo>
                      <a:pt x="2864594" y="0"/>
                      <a:pt x="3648029" y="666060"/>
                      <a:pt x="3829216" y="1551497"/>
                    </a:cubicBez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cxnSp>
          <p:nvCxnSpPr>
            <p:cNvPr id="21" name="直接连接符 20"/>
            <p:cNvCxnSpPr/>
            <p:nvPr userDrawn="1"/>
          </p:nvCxnSpPr>
          <p:spPr>
            <a:xfrm>
              <a:off x="5427535" y="1957388"/>
              <a:ext cx="168404" cy="328612"/>
            </a:xfrm>
            <a:prstGeom prst="line">
              <a:avLst/>
            </a:prstGeom>
            <a:ln w="12700">
              <a:solidFill>
                <a:srgbClr val="C8CBCD"/>
              </a:solidFill>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Tree>
    <p:extLst>
      <p:ext uri="{BB962C8B-B14F-4D97-AF65-F5344CB8AC3E}">
        <p14:creationId xmlns:p14="http://schemas.microsoft.com/office/powerpoint/2010/main" val="594503904"/>
      </p:ext>
    </p:extLst>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30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grpId="0" nodeType="withEffect">
                                  <p:stCondLst>
                                    <p:cond delay="60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序号页">
    <p:spTree>
      <p:nvGrpSpPr>
        <p:cNvPr id="1" name=""/>
        <p:cNvGrpSpPr/>
        <p:nvPr/>
      </p:nvGrpSpPr>
      <p:grpSpPr>
        <a:xfrm>
          <a:off x="0" y="0"/>
          <a:ext cx="0" cy="0"/>
          <a:chOff x="0" y="0"/>
          <a:chExt cx="0" cy="0"/>
        </a:xfrm>
      </p:grpSpPr>
      <p:grpSp>
        <p:nvGrpSpPr>
          <p:cNvPr id="12" name="组合 11"/>
          <p:cNvGrpSpPr/>
          <p:nvPr/>
        </p:nvGrpSpPr>
        <p:grpSpPr>
          <a:xfrm flipH="1">
            <a:off x="-1697057" y="-344712"/>
            <a:ext cx="7221666" cy="7232166"/>
            <a:chOff x="4970334" y="-304798"/>
            <a:chExt cx="7221666" cy="6431342"/>
          </a:xfrm>
          <a:effectLst>
            <a:outerShdw blurRad="50800" dist="38100" dir="2700000" algn="tl" rotWithShape="0">
              <a:prstClr val="black">
                <a:alpha val="20000"/>
              </a:prstClr>
            </a:outerShdw>
          </a:effectLst>
        </p:grpSpPr>
        <p:sp>
          <p:nvSpPr>
            <p:cNvPr id="13" name="任意多边形: 形状 12"/>
            <p:cNvSpPr/>
            <p:nvPr/>
          </p:nvSpPr>
          <p:spPr>
            <a:xfrm rot="16200000">
              <a:off x="5365496" y="-699960"/>
              <a:ext cx="6431342" cy="7221666"/>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4" name="任意多边形: 形状 13"/>
            <p:cNvSpPr/>
            <p:nvPr/>
          </p:nvSpPr>
          <p:spPr>
            <a:xfrm rot="16200000">
              <a:off x="5253261" y="-515155"/>
              <a:ext cx="2180771" cy="2601486"/>
            </a:xfrm>
            <a:custGeom>
              <a:avLst/>
              <a:gdLst>
                <a:gd name="connsiteX0" fmla="*/ 1880924 w 2180771"/>
                <a:gd name="connsiteY0" fmla="*/ 763130 h 2601486"/>
                <a:gd name="connsiteX1" fmla="*/ 1880924 w 2180771"/>
                <a:gd name="connsiteY1" fmla="*/ 2530378 h 2601486"/>
                <a:gd name="connsiteX2" fmla="*/ 1863032 w 2180771"/>
                <a:gd name="connsiteY2" fmla="*/ 2536926 h 2601486"/>
                <a:gd name="connsiteX3" fmla="*/ 1436007 w 2180771"/>
                <a:gd name="connsiteY3" fmla="*/ 2601486 h 2601486"/>
                <a:gd name="connsiteX4" fmla="*/ 0 w 2180771"/>
                <a:gd name="connsiteY4" fmla="*/ 1165479 h 2601486"/>
                <a:gd name="connsiteX5" fmla="*/ 522574 w 2180771"/>
                <a:gd name="connsiteY5" fmla="*/ 57386 h 2601486"/>
                <a:gd name="connsiteX6" fmla="*/ 599315 w 2180771"/>
                <a:gd name="connsiteY6" fmla="*/ 0 h 2601486"/>
                <a:gd name="connsiteX7" fmla="*/ 705163 w 2180771"/>
                <a:gd name="connsiteY7" fmla="*/ 52521 h 2601486"/>
                <a:gd name="connsiteX8" fmla="*/ 1704137 w 2180771"/>
                <a:gd name="connsiteY8" fmla="*/ 629279 h 2601486"/>
                <a:gd name="connsiteX9" fmla="*/ 1815005 w 2180771"/>
                <a:gd name="connsiteY9" fmla="*/ 703972 h 2601486"/>
                <a:gd name="connsiteX10" fmla="*/ 2006548 w 2180771"/>
                <a:gd name="connsiteY10" fmla="*/ 907075 h 2601486"/>
                <a:gd name="connsiteX11" fmla="*/ 1986860 w 2180771"/>
                <a:gd name="connsiteY11" fmla="*/ 879387 h 2601486"/>
                <a:gd name="connsiteX12" fmla="*/ 1995060 w 2180771"/>
                <a:gd name="connsiteY12" fmla="*/ 889072 h 2601486"/>
                <a:gd name="connsiteX13" fmla="*/ 2053189 w 2180771"/>
                <a:gd name="connsiteY13" fmla="*/ 1931884 h 2601486"/>
                <a:gd name="connsiteX14" fmla="*/ 2053176 w 2180771"/>
                <a:gd name="connsiteY14" fmla="*/ 1931910 h 2601486"/>
                <a:gd name="connsiteX15" fmla="*/ 1880925 w 2180771"/>
                <a:gd name="connsiteY15" fmla="*/ 2230259 h 2601486"/>
                <a:gd name="connsiteX16" fmla="*/ 1880925 w 2180771"/>
                <a:gd name="connsiteY16" fmla="*/ 2230257 h 2601486"/>
                <a:gd name="connsiteX17" fmla="*/ 2053176 w 2180771"/>
                <a:gd name="connsiteY17" fmla="*/ 1931909 h 2601486"/>
                <a:gd name="connsiteX18" fmla="*/ 2068692 w 2180771"/>
                <a:gd name="connsiteY18" fmla="*/ 1007598 h 2601486"/>
                <a:gd name="connsiteX19" fmla="*/ 2052044 w 2180771"/>
                <a:gd name="connsiteY19" fmla="*/ 978380 h 2601486"/>
                <a:gd name="connsiteX20" fmla="*/ 2063335 w 2180771"/>
                <a:gd name="connsiteY20" fmla="*/ 996075 h 2601486"/>
                <a:gd name="connsiteX21" fmla="*/ 2101939 w 2180771"/>
                <a:gd name="connsiteY21" fmla="*/ 1833636 h 2601486"/>
                <a:gd name="connsiteX22" fmla="*/ 2095166 w 2180771"/>
                <a:gd name="connsiteY22" fmla="*/ 1850517 h 2601486"/>
                <a:gd name="connsiteX23" fmla="*/ 2053189 w 2180771"/>
                <a:gd name="connsiteY23" fmla="*/ 1931884 h 2601486"/>
                <a:gd name="connsiteX24" fmla="*/ 2113879 w 2180771"/>
                <a:gd name="connsiteY24" fmla="*/ 1803879 h 2601486"/>
                <a:gd name="connsiteX25" fmla="*/ 2107267 w 2180771"/>
                <a:gd name="connsiteY25" fmla="*/ 1822898 h 2601486"/>
                <a:gd name="connsiteX26" fmla="*/ 2101939 w 2180771"/>
                <a:gd name="connsiteY26" fmla="*/ 1833636 h 2601486"/>
                <a:gd name="connsiteX27" fmla="*/ 2139904 w 2180771"/>
                <a:gd name="connsiteY27" fmla="*/ 1729011 h 2601486"/>
                <a:gd name="connsiteX28" fmla="*/ 2128657 w 2180771"/>
                <a:gd name="connsiteY28" fmla="*/ 1767046 h 2601486"/>
                <a:gd name="connsiteX29" fmla="*/ 2113879 w 2180771"/>
                <a:gd name="connsiteY29" fmla="*/ 1803879 h 2601486"/>
                <a:gd name="connsiteX30" fmla="*/ 2148810 w 2180771"/>
                <a:gd name="connsiteY30" fmla="*/ 1698893 h 2601486"/>
                <a:gd name="connsiteX31" fmla="*/ 2146335 w 2180771"/>
                <a:gd name="connsiteY31" fmla="*/ 1710510 h 2601486"/>
                <a:gd name="connsiteX32" fmla="*/ 2139904 w 2180771"/>
                <a:gd name="connsiteY32" fmla="*/ 1729011 h 2601486"/>
                <a:gd name="connsiteX33" fmla="*/ 2157689 w 2180771"/>
                <a:gd name="connsiteY33" fmla="*/ 1251116 h 2601486"/>
                <a:gd name="connsiteX34" fmla="*/ 2150333 w 2180771"/>
                <a:gd name="connsiteY34" fmla="*/ 1218457 h 2601486"/>
                <a:gd name="connsiteX35" fmla="*/ 2154097 w 2180771"/>
                <a:gd name="connsiteY35" fmla="*/ 1230476 h 2601486"/>
                <a:gd name="connsiteX36" fmla="*/ 2170719 w 2180771"/>
                <a:gd name="connsiteY36" fmla="*/ 1596043 h 2601486"/>
                <a:gd name="connsiteX37" fmla="*/ 2153795 w 2180771"/>
                <a:gd name="connsiteY37" fmla="*/ 1682035 h 2601486"/>
                <a:gd name="connsiteX38" fmla="*/ 2148810 w 2180771"/>
                <a:gd name="connsiteY38" fmla="*/ 1698893 h 2601486"/>
                <a:gd name="connsiteX39" fmla="*/ 2176181 w 2180771"/>
                <a:gd name="connsiteY39" fmla="*/ 1367039 h 2601486"/>
                <a:gd name="connsiteX40" fmla="*/ 2172063 w 2180771"/>
                <a:gd name="connsiteY40" fmla="*/ 1333720 h 2601486"/>
                <a:gd name="connsiteX41" fmla="*/ 2175673 w 2180771"/>
                <a:gd name="connsiteY41" fmla="*/ 1354469 h 2601486"/>
                <a:gd name="connsiteX42" fmla="*/ 2180771 w 2180771"/>
                <a:gd name="connsiteY42" fmla="*/ 1480722 h 2601486"/>
                <a:gd name="connsiteX43" fmla="*/ 2170722 w 2180771"/>
                <a:gd name="connsiteY43" fmla="*/ 1596025 h 2601486"/>
                <a:gd name="connsiteX44" fmla="*/ 2170719 w 2180771"/>
                <a:gd name="connsiteY44" fmla="*/ 1596043 h 2601486"/>
                <a:gd name="connsiteX45" fmla="*/ 2170722 w 2180771"/>
                <a:gd name="connsiteY45" fmla="*/ 1596025 h 2601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80771" h="2601486">
                  <a:moveTo>
                    <a:pt x="1880924" y="763130"/>
                  </a:moveTo>
                  <a:lnTo>
                    <a:pt x="1880924" y="2530378"/>
                  </a:lnTo>
                  <a:lnTo>
                    <a:pt x="1863032" y="2536926"/>
                  </a:lnTo>
                  <a:cubicBezTo>
                    <a:pt x="1728135" y="2578883"/>
                    <a:pt x="1584711" y="2601486"/>
                    <a:pt x="1436007" y="2601486"/>
                  </a:cubicBezTo>
                  <a:cubicBezTo>
                    <a:pt x="642922" y="2601486"/>
                    <a:pt x="0" y="1958564"/>
                    <a:pt x="0" y="1165479"/>
                  </a:cubicBezTo>
                  <a:cubicBezTo>
                    <a:pt x="0" y="719369"/>
                    <a:pt x="203425" y="320771"/>
                    <a:pt x="522574" y="57386"/>
                  </a:cubicBezTo>
                  <a:lnTo>
                    <a:pt x="599315" y="0"/>
                  </a:lnTo>
                  <a:lnTo>
                    <a:pt x="705163" y="52521"/>
                  </a:lnTo>
                  <a:lnTo>
                    <a:pt x="1704137" y="629279"/>
                  </a:lnTo>
                  <a:cubicBezTo>
                    <a:pt x="1743333" y="651909"/>
                    <a:pt x="1780314" y="676901"/>
                    <a:pt x="1815005" y="703972"/>
                  </a:cubicBezTo>
                  <a:close/>
                  <a:moveTo>
                    <a:pt x="2006548" y="907075"/>
                  </a:moveTo>
                  <a:lnTo>
                    <a:pt x="1986860" y="879387"/>
                  </a:lnTo>
                  <a:lnTo>
                    <a:pt x="1995060" y="889072"/>
                  </a:lnTo>
                  <a:close/>
                  <a:moveTo>
                    <a:pt x="2053189" y="1931884"/>
                  </a:moveTo>
                  <a:lnTo>
                    <a:pt x="2053176" y="1931910"/>
                  </a:lnTo>
                  <a:lnTo>
                    <a:pt x="1880925" y="2230259"/>
                  </a:lnTo>
                  <a:lnTo>
                    <a:pt x="1880925" y="2230257"/>
                  </a:lnTo>
                  <a:lnTo>
                    <a:pt x="2053176" y="1931909"/>
                  </a:lnTo>
                  <a:close/>
                  <a:moveTo>
                    <a:pt x="2068692" y="1007598"/>
                  </a:moveTo>
                  <a:lnTo>
                    <a:pt x="2052044" y="978380"/>
                  </a:lnTo>
                  <a:lnTo>
                    <a:pt x="2063335" y="996075"/>
                  </a:lnTo>
                  <a:close/>
                  <a:moveTo>
                    <a:pt x="2101939" y="1833636"/>
                  </a:moveTo>
                  <a:lnTo>
                    <a:pt x="2095166" y="1850517"/>
                  </a:lnTo>
                  <a:lnTo>
                    <a:pt x="2053189" y="1931884"/>
                  </a:lnTo>
                  <a:close/>
                  <a:moveTo>
                    <a:pt x="2113879" y="1803879"/>
                  </a:moveTo>
                  <a:lnTo>
                    <a:pt x="2107267" y="1822898"/>
                  </a:lnTo>
                  <a:lnTo>
                    <a:pt x="2101939" y="1833636"/>
                  </a:lnTo>
                  <a:close/>
                  <a:moveTo>
                    <a:pt x="2139904" y="1729011"/>
                  </a:moveTo>
                  <a:lnTo>
                    <a:pt x="2128657" y="1767046"/>
                  </a:lnTo>
                  <a:lnTo>
                    <a:pt x="2113879" y="1803879"/>
                  </a:lnTo>
                  <a:close/>
                  <a:moveTo>
                    <a:pt x="2148810" y="1698893"/>
                  </a:moveTo>
                  <a:lnTo>
                    <a:pt x="2146335" y="1710510"/>
                  </a:lnTo>
                  <a:lnTo>
                    <a:pt x="2139904" y="1729011"/>
                  </a:lnTo>
                  <a:close/>
                  <a:moveTo>
                    <a:pt x="2157689" y="1251116"/>
                  </a:moveTo>
                  <a:lnTo>
                    <a:pt x="2150333" y="1218457"/>
                  </a:lnTo>
                  <a:lnTo>
                    <a:pt x="2154097" y="1230476"/>
                  </a:lnTo>
                  <a:close/>
                  <a:moveTo>
                    <a:pt x="2170719" y="1596043"/>
                  </a:moveTo>
                  <a:lnTo>
                    <a:pt x="2153795" y="1682035"/>
                  </a:lnTo>
                  <a:lnTo>
                    <a:pt x="2148810" y="1698893"/>
                  </a:lnTo>
                  <a:close/>
                  <a:moveTo>
                    <a:pt x="2176181" y="1367039"/>
                  </a:moveTo>
                  <a:lnTo>
                    <a:pt x="2172063" y="1333720"/>
                  </a:lnTo>
                  <a:lnTo>
                    <a:pt x="2175673" y="1354469"/>
                  </a:lnTo>
                  <a:close/>
                  <a:moveTo>
                    <a:pt x="2180771" y="1480722"/>
                  </a:moveTo>
                  <a:cubicBezTo>
                    <a:pt x="2179773" y="1519151"/>
                    <a:pt x="2176442" y="1557656"/>
                    <a:pt x="2170722" y="1596025"/>
                  </a:cubicBezTo>
                  <a:lnTo>
                    <a:pt x="2170719" y="1596043"/>
                  </a:lnTo>
                  <a:lnTo>
                    <a:pt x="2170722" y="1596025"/>
                  </a:ln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5" name="椭圆 14"/>
            <p:cNvSpPr/>
            <p:nvPr/>
          </p:nvSpPr>
          <p:spPr>
            <a:xfrm>
              <a:off x="6690135" y="2426414"/>
              <a:ext cx="1961282" cy="1961282"/>
            </a:xfrm>
            <a:prstGeom prst="ellipse">
              <a:avLst/>
            </a:pr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6" name="任意多边形: 形状 15"/>
            <p:cNvSpPr/>
            <p:nvPr/>
          </p:nvSpPr>
          <p:spPr>
            <a:xfrm rot="16200000">
              <a:off x="8765537" y="2166106"/>
              <a:ext cx="3851186" cy="1695450"/>
            </a:xfrm>
            <a:custGeom>
              <a:avLst/>
              <a:gdLst>
                <a:gd name="connsiteX0" fmla="*/ 3851186 w 3851186"/>
                <a:gd name="connsiteY0" fmla="*/ 1695450 h 1695450"/>
                <a:gd name="connsiteX1" fmla="*/ 1839831 w 3851186"/>
                <a:gd name="connsiteY1" fmla="*/ 1695450 h 1695450"/>
                <a:gd name="connsiteX2" fmla="*/ 1306432 w 3851186"/>
                <a:gd name="connsiteY2" fmla="*/ 1695450 h 1695450"/>
                <a:gd name="connsiteX3" fmla="*/ 0 w 3851186"/>
                <a:gd name="connsiteY3" fmla="*/ 1695450 h 1695450"/>
                <a:gd name="connsiteX4" fmla="*/ 21970 w 3851186"/>
                <a:gd name="connsiteY4" fmla="*/ 1551497 h 1695450"/>
                <a:gd name="connsiteX5" fmla="*/ 1925594 w 3851186"/>
                <a:gd name="connsiteY5" fmla="*/ 0 h 1695450"/>
                <a:gd name="connsiteX6" fmla="*/ 3829216 w 3851186"/>
                <a:gd name="connsiteY6" fmla="*/ 1551497 h 169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186" h="1695450">
                  <a:moveTo>
                    <a:pt x="3851186" y="1695450"/>
                  </a:moveTo>
                  <a:lnTo>
                    <a:pt x="1839831" y="1695450"/>
                  </a:lnTo>
                  <a:lnTo>
                    <a:pt x="1306432" y="1695450"/>
                  </a:lnTo>
                  <a:lnTo>
                    <a:pt x="0" y="1695450"/>
                  </a:lnTo>
                  <a:lnTo>
                    <a:pt x="21970" y="1551497"/>
                  </a:lnTo>
                  <a:cubicBezTo>
                    <a:pt x="203158" y="666060"/>
                    <a:pt x="986593" y="0"/>
                    <a:pt x="1925594" y="0"/>
                  </a:cubicBezTo>
                  <a:cubicBezTo>
                    <a:pt x="2864594" y="0"/>
                    <a:pt x="3648029" y="666060"/>
                    <a:pt x="3829216" y="1551497"/>
                  </a:cubicBez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sp>
        <p:nvSpPr>
          <p:cNvPr id="23" name="任意多边形: 形状 22"/>
          <p:cNvSpPr/>
          <p:nvPr/>
        </p:nvSpPr>
        <p:spPr>
          <a:xfrm flipH="1">
            <a:off x="10602589" y="2807982"/>
            <a:ext cx="1583750" cy="3179395"/>
          </a:xfrm>
          <a:custGeom>
            <a:avLst/>
            <a:gdLst>
              <a:gd name="connsiteX0" fmla="*/ 0 w 1252875"/>
              <a:gd name="connsiteY0" fmla="*/ 0 h 2515160"/>
              <a:gd name="connsiteX1" fmla="*/ 123651 w 1252875"/>
              <a:gd name="connsiteY1" fmla="*/ 6244 h 2515160"/>
              <a:gd name="connsiteX2" fmla="*/ 1252875 w 1252875"/>
              <a:gd name="connsiteY2" fmla="*/ 1257580 h 2515160"/>
              <a:gd name="connsiteX3" fmla="*/ 123651 w 1252875"/>
              <a:gd name="connsiteY3" fmla="*/ 2508916 h 2515160"/>
              <a:gd name="connsiteX4" fmla="*/ 0 w 1252875"/>
              <a:gd name="connsiteY4" fmla="*/ 2515160 h 2515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875" h="2515160">
                <a:moveTo>
                  <a:pt x="0" y="0"/>
                </a:moveTo>
                <a:lnTo>
                  <a:pt x="123651" y="6244"/>
                </a:lnTo>
                <a:cubicBezTo>
                  <a:pt x="757919" y="70658"/>
                  <a:pt x="1252875" y="606318"/>
                  <a:pt x="1252875" y="1257580"/>
                </a:cubicBezTo>
                <a:cubicBezTo>
                  <a:pt x="1252875" y="1908843"/>
                  <a:pt x="757919" y="2444503"/>
                  <a:pt x="123651" y="2508916"/>
                </a:cubicBezTo>
                <a:lnTo>
                  <a:pt x="0" y="2515160"/>
                </a:ln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8" name="任意多边形: 形状 17"/>
          <p:cNvSpPr/>
          <p:nvPr/>
        </p:nvSpPr>
        <p:spPr>
          <a:xfrm flipV="1">
            <a:off x="8128592" y="-1372"/>
            <a:ext cx="2978956" cy="1146672"/>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9" name="任意多边形: 形状 18"/>
          <p:cNvSpPr/>
          <p:nvPr/>
        </p:nvSpPr>
        <p:spPr>
          <a:xfrm flipH="1">
            <a:off x="4294452" y="5266545"/>
            <a:ext cx="4134465" cy="1591455"/>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Tree>
    <p:extLst>
      <p:ext uri="{BB962C8B-B14F-4D97-AF65-F5344CB8AC3E}">
        <p14:creationId xmlns:p14="http://schemas.microsoft.com/office/powerpoint/2010/main" val="2594508866"/>
      </p:ext>
    </p:extLst>
  </p:cSld>
  <p:clrMapOvr>
    <a:masterClrMapping/>
  </p:clrMapOvr>
  <p:transition spd="slow" advTm="0">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7"/>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背景</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2949306506"/>
      </p:ext>
    </p:extLst>
  </p:cSld>
  <p:clrMapOvr>
    <a:masterClrMapping/>
  </p:clrMapOvr>
  <p:transition spd="slow" advTm="0">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3" name="内容占位符 22"/>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背景</a:t>
            </a:r>
            <a:endParaRPr lang="zh-CN" altLang="en-US" sz="2800" dirty="0">
              <a:solidFill>
                <a:srgbClr val="0091D9"/>
              </a:solidFill>
            </a:endParaRPr>
          </a:p>
        </p:txBody>
      </p:sp>
    </p:spTree>
    <p:extLst>
      <p:ext uri="{BB962C8B-B14F-4D97-AF65-F5344CB8AC3E}">
        <p14:creationId xmlns:p14="http://schemas.microsoft.com/office/powerpoint/2010/main" val="2932018808"/>
      </p:ext>
    </p:extLst>
  </p:cSld>
  <p:clrMapOvr>
    <a:masterClrMapping/>
  </p:clrMapOvr>
  <p:transition spd="slow" advTm="0">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1">
    <p:spTree>
      <p:nvGrpSpPr>
        <p:cNvPr id="1" name=""/>
        <p:cNvGrpSpPr/>
        <p:nvPr/>
      </p:nvGrpSpPr>
      <p:grpSpPr>
        <a:xfrm>
          <a:off x="0" y="0"/>
          <a:ext cx="0" cy="0"/>
          <a:chOff x="0" y="0"/>
          <a:chExt cx="0" cy="0"/>
        </a:xfrm>
      </p:grpSpPr>
      <p:sp>
        <p:nvSpPr>
          <p:cNvPr id="3" name="矩形 2"/>
          <p:cNvSpPr/>
          <p:nvPr/>
        </p:nvSpPr>
        <p:spPr>
          <a:xfrm>
            <a:off x="0" y="150640"/>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基本概念</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内容占位符 13">
            <a:extLst>
              <a:ext uri="{FF2B5EF4-FFF2-40B4-BE49-F238E27FC236}">
                <a16:creationId xmlns:a16="http://schemas.microsoft.com/office/drawing/2014/main" id="{62AED257-6608-F684-FDF7-453FCBCDB899}"/>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507301581"/>
      </p:ext>
    </p:extLst>
  </p:cSld>
  <p:clrMapOvr>
    <a:masterClrMapping/>
  </p:clrMapOvr>
  <p:transition spd="slow" advTm="0">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基本概念</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A93AFA8-1552-A5E1-62B6-A0D6CA73065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708090475"/>
      </p:ext>
    </p:extLst>
  </p:cSld>
  <p:clrMapOvr>
    <a:masterClrMapping/>
  </p:clrMapOvr>
  <p:transition spd="slow" advTm="0">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03</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取样和取样函数的傅里叶变换</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内容占位符 13">
            <a:extLst>
              <a:ext uri="{FF2B5EF4-FFF2-40B4-BE49-F238E27FC236}">
                <a16:creationId xmlns:a16="http://schemas.microsoft.com/office/drawing/2014/main" id="{466479E4-8403-CE56-FD03-D3FF95C8F40C}"/>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867511181"/>
      </p:ext>
    </p:extLst>
  </p:cSld>
  <p:clrMapOvr>
    <a:masterClrMapping/>
  </p:clrMapOvr>
  <p:transition spd="slow" advTm="0">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03</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取样和取样函数的傅里叶变换</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898645640"/>
      </p:ext>
    </p:extLst>
  </p:cSld>
  <p:clrMapOvr>
    <a:masterClrMapping/>
  </p:clrMapOvr>
  <p:transition spd="slow" advTm="0">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4-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04</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单变量的离散傅里叶变换</a:t>
            </a:r>
          </a:p>
        </p:txBody>
      </p:sp>
      <p:sp>
        <p:nvSpPr>
          <p:cNvPr id="5" name="内容占位符 13">
            <a:extLst>
              <a:ext uri="{FF2B5EF4-FFF2-40B4-BE49-F238E27FC236}">
                <a16:creationId xmlns:a16="http://schemas.microsoft.com/office/drawing/2014/main" id="{DD6272E6-0B32-CAD6-9441-D69B3FD5D0A5}"/>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463372321"/>
      </p:ext>
    </p:extLst>
  </p:cSld>
  <p:clrMapOvr>
    <a:masterClrMapping/>
  </p:clrMapOvr>
  <p:transition spd="slow" advTm="0">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04</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单变量的离散傅里叶变换</a:t>
            </a:r>
          </a:p>
        </p:txBody>
      </p:sp>
      <p:sp>
        <p:nvSpPr>
          <p:cNvPr id="9" name="内容占位符 22">
            <a:extLst>
              <a:ext uri="{FF2B5EF4-FFF2-40B4-BE49-F238E27FC236}">
                <a16:creationId xmlns:a16="http://schemas.microsoft.com/office/drawing/2014/main" id="{24BB56DF-BF63-A4EA-5908-0B38ECD2F1A9}"/>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996502542"/>
      </p:ext>
    </p:extLst>
  </p:cSld>
  <p:clrMapOvr>
    <a:masterClrMapping/>
  </p:clrMapOvr>
  <p:transition spd="slow" advTm="0">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05</a:t>
            </a:r>
            <a:r>
              <a:rPr lang="en-US" altLang="zh-CN" sz="2800" dirty="0">
                <a:solidFill>
                  <a:srgbClr val="0091D9"/>
                </a:solidFill>
              </a:rPr>
              <a:t>         </a:t>
            </a:r>
            <a:r>
              <a:rPr lang="zh-CN" altLang="en-US" sz="2800" dirty="0">
                <a:solidFill>
                  <a:srgbClr val="0091D9"/>
                </a:solidFill>
              </a:rPr>
              <a:t>二变量函数的傅里叶变换</a:t>
            </a:r>
          </a:p>
        </p:txBody>
      </p:sp>
      <p:sp>
        <p:nvSpPr>
          <p:cNvPr id="5" name="内容占位符 13">
            <a:extLst>
              <a:ext uri="{FF2B5EF4-FFF2-40B4-BE49-F238E27FC236}">
                <a16:creationId xmlns:a16="http://schemas.microsoft.com/office/drawing/2014/main" id="{2B5054DE-C886-48D3-3A15-03BE7CBE42B5}"/>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468988400"/>
      </p:ext>
    </p:extLst>
  </p:cSld>
  <p:clrMapOvr>
    <a:masterClrMapping/>
  </p:clrMapOvr>
  <p:transition spd="slow" advTm="0">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5-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05</a:t>
            </a:r>
            <a:r>
              <a:rPr lang="en-US" altLang="zh-CN" sz="2800" dirty="0">
                <a:solidFill>
                  <a:srgbClr val="0091D9"/>
                </a:solidFill>
              </a:rPr>
              <a:t>         </a:t>
            </a:r>
            <a:r>
              <a:rPr lang="zh-CN" altLang="en-US" sz="2800" dirty="0">
                <a:solidFill>
                  <a:srgbClr val="0091D9"/>
                </a:solidFill>
              </a:rPr>
              <a:t>二变量函数的傅里叶变换</a:t>
            </a:r>
          </a:p>
        </p:txBody>
      </p:sp>
      <p:sp>
        <p:nvSpPr>
          <p:cNvPr id="9" name="内容占位符 22">
            <a:extLst>
              <a:ext uri="{FF2B5EF4-FFF2-40B4-BE49-F238E27FC236}">
                <a16:creationId xmlns:a16="http://schemas.microsoft.com/office/drawing/2014/main" id="{24BB56DF-BF63-A4EA-5908-0B38ECD2F1A9}"/>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29935683"/>
      </p:ext>
    </p:extLst>
  </p:cSld>
  <p:clrMapOvr>
    <a:masterClrMapping/>
  </p:clrMapOvr>
  <p:transition spd="slow" advTm="0">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06</a:t>
            </a:r>
            <a:r>
              <a:rPr lang="en-US" altLang="zh-CN" sz="2800" dirty="0">
                <a:solidFill>
                  <a:srgbClr val="0091D9"/>
                </a:solidFill>
              </a:rPr>
              <a:t>         </a:t>
            </a:r>
            <a:r>
              <a:rPr lang="zh-CN" altLang="en-US" sz="2800" dirty="0">
                <a:solidFill>
                  <a:srgbClr val="0091D9"/>
                </a:solidFill>
              </a:rPr>
              <a:t>二维</a:t>
            </a:r>
            <a:r>
              <a:rPr lang="en-US" altLang="zh-CN" sz="2800" dirty="0">
                <a:solidFill>
                  <a:srgbClr val="0091D9"/>
                </a:solidFill>
              </a:rPr>
              <a:t>DFT</a:t>
            </a:r>
            <a:r>
              <a:rPr lang="zh-CN" altLang="en-US" sz="2800" dirty="0">
                <a:solidFill>
                  <a:srgbClr val="0091D9"/>
                </a:solidFill>
              </a:rPr>
              <a:t>和</a:t>
            </a:r>
            <a:r>
              <a:rPr lang="en-US" altLang="zh-CN" sz="2800" dirty="0">
                <a:solidFill>
                  <a:srgbClr val="0091D9"/>
                </a:solidFill>
              </a:rPr>
              <a:t>IDFT</a:t>
            </a:r>
            <a:r>
              <a:rPr lang="zh-CN" altLang="en-US" sz="2800" dirty="0">
                <a:solidFill>
                  <a:srgbClr val="0091D9"/>
                </a:solidFill>
              </a:rPr>
              <a:t>的一些性质</a:t>
            </a:r>
          </a:p>
        </p:txBody>
      </p:sp>
      <p:sp>
        <p:nvSpPr>
          <p:cNvPr id="5" name="内容占位符 13">
            <a:extLst>
              <a:ext uri="{FF2B5EF4-FFF2-40B4-BE49-F238E27FC236}">
                <a16:creationId xmlns:a16="http://schemas.microsoft.com/office/drawing/2014/main" id="{62802174-2E96-0190-A39E-AEAF8126027D}"/>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44816761"/>
      </p:ext>
    </p:extLst>
  </p:cSld>
  <p:clrMapOvr>
    <a:masterClrMapping/>
  </p:clrMapOvr>
  <p:transition spd="slow" advTm="0">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6-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06</a:t>
            </a:r>
            <a:r>
              <a:rPr lang="en-US" altLang="zh-CN" sz="2800" dirty="0">
                <a:solidFill>
                  <a:srgbClr val="0091D9"/>
                </a:solidFill>
              </a:rPr>
              <a:t>         </a:t>
            </a:r>
            <a:r>
              <a:rPr lang="zh-CN" altLang="en-US" sz="2800" dirty="0">
                <a:solidFill>
                  <a:srgbClr val="0091D9"/>
                </a:solidFill>
              </a:rPr>
              <a:t>二维</a:t>
            </a:r>
            <a:r>
              <a:rPr lang="en-US" altLang="zh-CN" sz="2800" dirty="0">
                <a:solidFill>
                  <a:srgbClr val="0091D9"/>
                </a:solidFill>
              </a:rPr>
              <a:t>DFT</a:t>
            </a:r>
            <a:r>
              <a:rPr lang="zh-CN" altLang="en-US" sz="2800" dirty="0">
                <a:solidFill>
                  <a:srgbClr val="0091D9"/>
                </a:solidFill>
              </a:rPr>
              <a:t>和</a:t>
            </a:r>
            <a:r>
              <a:rPr lang="en-US" altLang="zh-CN" sz="2800" dirty="0">
                <a:solidFill>
                  <a:srgbClr val="0091D9"/>
                </a:solidFill>
              </a:rPr>
              <a:t>IDFT</a:t>
            </a:r>
            <a:r>
              <a:rPr lang="zh-CN" altLang="en-US" sz="2800" dirty="0">
                <a:solidFill>
                  <a:srgbClr val="0091D9"/>
                </a:solidFill>
              </a:rPr>
              <a:t>的一些性质</a:t>
            </a: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4020724321"/>
      </p:ext>
    </p:extLst>
  </p:cSld>
  <p:clrMapOvr>
    <a:masterClrMapping/>
  </p:clrMapOvr>
  <p:transition spd="slow" advTm="0">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07</a:t>
            </a:r>
            <a:r>
              <a:rPr lang="en-US" altLang="zh-CN" sz="2800" dirty="0">
                <a:solidFill>
                  <a:srgbClr val="0091D9"/>
                </a:solidFill>
              </a:rPr>
              <a:t>         </a:t>
            </a:r>
            <a:r>
              <a:rPr lang="zh-CN" altLang="en-US" sz="2800" dirty="0">
                <a:solidFill>
                  <a:srgbClr val="0091D9"/>
                </a:solidFill>
              </a:rPr>
              <a:t>频率域滤波基础</a:t>
            </a:r>
          </a:p>
        </p:txBody>
      </p:sp>
      <p:sp>
        <p:nvSpPr>
          <p:cNvPr id="5" name="内容占位符 13">
            <a:extLst>
              <a:ext uri="{FF2B5EF4-FFF2-40B4-BE49-F238E27FC236}">
                <a16:creationId xmlns:a16="http://schemas.microsoft.com/office/drawing/2014/main" id="{32926F01-C63F-FFF0-0D92-E811943AA168}"/>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786470115"/>
      </p:ext>
    </p:extLst>
  </p:cSld>
  <p:clrMapOvr>
    <a:masterClrMapping/>
  </p:clrMapOvr>
  <p:transition spd="slow" advTm="0">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7-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07</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频率域滤波基础</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320628563"/>
      </p:ext>
    </p:extLst>
  </p:cSld>
  <p:clrMapOvr>
    <a:masterClrMapping/>
  </p:clrMapOvr>
  <p:transition spd="slow" advTm="0">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8-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08</a:t>
            </a:r>
            <a:r>
              <a:rPr lang="en-US" altLang="zh-CN" sz="2800" dirty="0">
                <a:solidFill>
                  <a:srgbClr val="0091D9"/>
                </a:solidFill>
              </a:rPr>
              <a:t>         </a:t>
            </a:r>
            <a:r>
              <a:rPr lang="zh-CN" altLang="en-US" sz="2800" dirty="0">
                <a:solidFill>
                  <a:srgbClr val="0091D9"/>
                </a:solidFill>
              </a:rPr>
              <a:t>使用低通频率域滤波器平滑图像</a:t>
            </a:r>
          </a:p>
        </p:txBody>
      </p:sp>
      <p:sp>
        <p:nvSpPr>
          <p:cNvPr id="5" name="内容占位符 13">
            <a:extLst>
              <a:ext uri="{FF2B5EF4-FFF2-40B4-BE49-F238E27FC236}">
                <a16:creationId xmlns:a16="http://schemas.microsoft.com/office/drawing/2014/main" id="{0E7A9D74-2FC5-3D95-0DBF-7213978DFD1F}"/>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447214"/>
      </p:ext>
    </p:extLst>
  </p:cSld>
  <p:clrMapOvr>
    <a:masterClrMapping/>
  </p:clrMapOvr>
  <p:transition spd="slow" advTm="0">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8-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08</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使用低通频率域滤波器平滑图像</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095926384"/>
      </p:ext>
    </p:extLst>
  </p:cSld>
  <p:clrMapOvr>
    <a:masterClrMapping/>
  </p:clrMapOvr>
  <p:transition spd="slow" advTm="0">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9-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09</a:t>
            </a:r>
            <a:r>
              <a:rPr lang="en-US" altLang="zh-CN" sz="2800" dirty="0">
                <a:solidFill>
                  <a:srgbClr val="0091D9"/>
                </a:solidFill>
              </a:rPr>
              <a:t>         </a:t>
            </a:r>
            <a:r>
              <a:rPr lang="zh-CN" altLang="en-US" sz="2800" dirty="0">
                <a:solidFill>
                  <a:srgbClr val="0091D9"/>
                </a:solidFill>
              </a:rPr>
              <a:t>使用高通滤波器锐化图像</a:t>
            </a:r>
          </a:p>
        </p:txBody>
      </p:sp>
      <p:sp>
        <p:nvSpPr>
          <p:cNvPr id="5" name="内容占位符 13">
            <a:extLst>
              <a:ext uri="{FF2B5EF4-FFF2-40B4-BE49-F238E27FC236}">
                <a16:creationId xmlns:a16="http://schemas.microsoft.com/office/drawing/2014/main" id="{B6014498-CE65-BDDA-1B29-BA49C66BDDEC}"/>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4115463424"/>
      </p:ext>
    </p:extLst>
  </p:cSld>
  <p:clrMapOvr>
    <a:masterClrMapping/>
  </p:clrMapOvr>
  <p:transition spd="slow" advTm="0">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9-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09</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使用高通滤波器锐化图像</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62396229"/>
      </p:ext>
    </p:extLst>
  </p:cSld>
  <p:clrMapOvr>
    <a:masterClrMapping/>
  </p:clrMapOvr>
  <p:transition spd="slow" advTm="0">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0-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0</a:t>
            </a:r>
            <a:r>
              <a:rPr lang="en-US" altLang="zh-CN" sz="2800" dirty="0">
                <a:solidFill>
                  <a:srgbClr val="0091D9"/>
                </a:solidFill>
              </a:rPr>
              <a:t>         </a:t>
            </a:r>
            <a:r>
              <a:rPr lang="zh-CN" altLang="en-US" sz="2800" dirty="0">
                <a:solidFill>
                  <a:srgbClr val="0091D9"/>
                </a:solidFill>
              </a:rPr>
              <a:t>选择性滤波</a:t>
            </a:r>
          </a:p>
        </p:txBody>
      </p:sp>
      <p:sp>
        <p:nvSpPr>
          <p:cNvPr id="5" name="内容占位符 13">
            <a:extLst>
              <a:ext uri="{FF2B5EF4-FFF2-40B4-BE49-F238E27FC236}">
                <a16:creationId xmlns:a16="http://schemas.microsoft.com/office/drawing/2014/main" id="{E834FB7F-2D83-CCA2-065C-CF5A1417C795}"/>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378623094"/>
      </p:ext>
    </p:extLst>
  </p:cSld>
  <p:clrMapOvr>
    <a:masterClrMapping/>
  </p:clrMapOvr>
  <p:transition spd="slow" advTm="0">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0-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0</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选择性滤波</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275211584"/>
      </p:ext>
    </p:extLst>
  </p:cSld>
  <p:clrMapOvr>
    <a:masterClrMapping/>
  </p:clrMapOvr>
  <p:transition spd="slow" advTm="0">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1</a:t>
            </a:r>
            <a:r>
              <a:rPr lang="en-US" altLang="zh-CN" sz="2800" dirty="0">
                <a:solidFill>
                  <a:srgbClr val="0091D9"/>
                </a:solidFill>
              </a:rPr>
              <a:t>         </a:t>
            </a:r>
            <a:r>
              <a:rPr lang="zh-CN" altLang="en-US" sz="2800" dirty="0">
                <a:solidFill>
                  <a:srgbClr val="0091D9"/>
                </a:solidFill>
              </a:rPr>
              <a:t>快速傅里叶变换</a:t>
            </a:r>
          </a:p>
        </p:txBody>
      </p:sp>
      <p:sp>
        <p:nvSpPr>
          <p:cNvPr id="5" name="内容占位符 13">
            <a:extLst>
              <a:ext uri="{FF2B5EF4-FFF2-40B4-BE49-F238E27FC236}">
                <a16:creationId xmlns:a16="http://schemas.microsoft.com/office/drawing/2014/main" id="{329D98B5-0145-CBD6-D0C4-DC789F730780}"/>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953344600"/>
      </p:ext>
    </p:extLst>
  </p:cSld>
  <p:clrMapOvr>
    <a:masterClrMapping/>
  </p:clrMapOvr>
  <p:transition spd="slow" advTm="0">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1-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快速傅里叶变换</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98900932"/>
      </p:ext>
    </p:extLst>
  </p:cSld>
  <p:clrMapOvr>
    <a:masterClrMapping/>
  </p:clrMapOvr>
  <p:transition spd="slow" advTm="0">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2-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2</a:t>
            </a:r>
            <a:r>
              <a:rPr lang="en-US" altLang="zh-CN" sz="2800" dirty="0">
                <a:solidFill>
                  <a:srgbClr val="0091D9"/>
                </a:solidFill>
              </a:rPr>
              <a:t>         </a:t>
            </a:r>
            <a:r>
              <a:rPr lang="zh-CN" altLang="en-US" sz="2800" dirty="0">
                <a:solidFill>
                  <a:srgbClr val="0091D9"/>
                </a:solidFill>
              </a:rPr>
              <a:t>会议纪要</a:t>
            </a:r>
          </a:p>
        </p:txBody>
      </p:sp>
    </p:spTree>
    <p:extLst>
      <p:ext uri="{BB962C8B-B14F-4D97-AF65-F5344CB8AC3E}">
        <p14:creationId xmlns:p14="http://schemas.microsoft.com/office/powerpoint/2010/main" val="4195562543"/>
      </p:ext>
    </p:extLst>
  </p:cSld>
  <p:clrMapOvr>
    <a:masterClrMapping/>
  </p:clrMapOvr>
  <p:transition spd="slow" advTm="0">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2-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727344958"/>
      </p:ext>
    </p:extLst>
  </p:cSld>
  <p:clrMapOvr>
    <a:masterClrMapping/>
  </p:clrMapOvr>
  <p:transition spd="slow" advTm="0">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8860BB-E3C5-4D22-8BEC-68FDB1E314FC}"/>
              </a:ext>
            </a:extLst>
          </p:cNvPr>
          <p:cNvSpPr>
            <a:spLocks noGrp="1"/>
          </p:cNvSpPr>
          <p:nvPr>
            <p:ph type="title"/>
          </p:nvPr>
        </p:nvSpPr>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564C3A6-28A5-477B-8FD3-82774CA65DB8}"/>
              </a:ext>
            </a:extLst>
          </p:cNvPr>
          <p:cNvSpPr>
            <a:spLocks noGrp="1"/>
          </p:cNvSpPr>
          <p:nvPr>
            <p:ph type="body"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2360E54-6845-42DD-84DC-A39854FA1A77}"/>
              </a:ext>
            </a:extLst>
          </p:cNvPr>
          <p:cNvSpPr>
            <a:spLocks noGrp="1"/>
          </p:cNvSpPr>
          <p:nvPr>
            <p:ph type="dt" sz="half" idx="10"/>
          </p:nvPr>
        </p:nvSpPr>
        <p:spPr/>
        <p:txBody>
          <a:bodyPr/>
          <a:lstStyle/>
          <a:p>
            <a:fld id="{82878A5C-5650-46D1-9A5C-A98BC793347A}" type="datetimeFigureOut">
              <a:rPr lang="zh-CN" altLang="en-US" smtClean="0"/>
              <a:t>2023/10/19</a:t>
            </a:fld>
            <a:endParaRPr lang="zh-CN" altLang="en-US"/>
          </a:p>
        </p:txBody>
      </p:sp>
      <p:sp>
        <p:nvSpPr>
          <p:cNvPr id="5" name="页脚占位符 4">
            <a:extLst>
              <a:ext uri="{FF2B5EF4-FFF2-40B4-BE49-F238E27FC236}">
                <a16:creationId xmlns:a16="http://schemas.microsoft.com/office/drawing/2014/main" id="{9ADABCB2-5F2D-434F-8110-4656AF3E9F6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C4DEC2A-E2D0-43AA-976A-170C369B5040}"/>
              </a:ext>
            </a:extLst>
          </p:cNvPr>
          <p:cNvSpPr>
            <a:spLocks noGrp="1"/>
          </p:cNvSpPr>
          <p:nvPr>
            <p:ph type="sldNum" sz="quarter" idx="12"/>
          </p:nvPr>
        </p:nvSpPr>
        <p:spPr/>
        <p:txBody>
          <a:bodyPr/>
          <a:lstStyle/>
          <a:p>
            <a:fld id="{5F6A296D-ADE5-4423-A181-E148F124B13F}" type="slidenum">
              <a:rPr lang="zh-CN" altLang="en-US" smtClean="0"/>
              <a:t>‹#›</a:t>
            </a:fld>
            <a:endParaRPr lang="zh-CN" altLang="en-US"/>
          </a:p>
        </p:txBody>
      </p:sp>
    </p:spTree>
    <p:extLst>
      <p:ext uri="{BB962C8B-B14F-4D97-AF65-F5344CB8AC3E}">
        <p14:creationId xmlns:p14="http://schemas.microsoft.com/office/powerpoint/2010/main" val="2174832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矩形 6"/>
          <p:cNvSpPr/>
          <p:nvPr/>
        </p:nvSpPr>
        <p:spPr>
          <a:xfrm>
            <a:off x="0" y="0"/>
            <a:ext cx="12192000" cy="6858000"/>
          </a:xfrm>
          <a:prstGeom prst="rect">
            <a:avLst/>
          </a:prstGeom>
          <a:solidFill>
            <a:srgbClr val="EAF2F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6989516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Lst>
  <p:transition spd="slow" advTm="0">
    <p:wipe dir="r"/>
  </p:transition>
  <p:txStyles>
    <p:titleStyle>
      <a:lvl1pPr algn="l" defTabSz="914400" rtl="0" eaLnBrk="1" latinLnBrk="0" hangingPunct="1">
        <a:lnSpc>
          <a:spcPct val="90000"/>
        </a:lnSpc>
        <a:spcBef>
          <a:spcPct val="0"/>
        </a:spcBef>
        <a:buNone/>
        <a:defRPr sz="2400" b="1" kern="1200">
          <a:solidFill>
            <a:schemeClr val="accent1">
              <a:lumMod val="75000"/>
            </a:schemeClr>
          </a:solidFill>
          <a:latin typeface="+mj-lt"/>
          <a:ea typeface="+mj-ea"/>
          <a:cs typeface="+mj-cs"/>
        </a:defRPr>
      </a:lvl1pPr>
    </p:titleStyle>
    <p:bodyStyle>
      <a:lvl1pPr marL="228600" indent="-228600" algn="l" defTabSz="914400" rtl="0" eaLnBrk="1" fontAlgn="auto" latinLnBrk="0" hangingPunct="1">
        <a:lnSpc>
          <a:spcPct val="15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0.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2.xml"/><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4.xml"/><Relationship Id="rId5" Type="http://schemas.openxmlformats.org/officeDocument/2006/relationships/image" Target="../media/image39.png"/><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0.xml"/></Relationships>
</file>

<file path=ppt/slides/_rels/slide3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2.xml"/></Relationships>
</file>

<file path=ppt/slides/_rels/slide4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3.xml"/></Relationships>
</file>

<file path=ppt/slides/_rels/slide4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4.xml"/><Relationship Id="rId5" Type="http://schemas.openxmlformats.org/officeDocument/2006/relationships/image" Target="../media/image62.png"/><Relationship Id="rId4" Type="http://schemas.openxmlformats.org/officeDocument/2006/relationships/image" Target="../media/image6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 name="组合 285"/>
          <p:cNvGrpSpPr/>
          <p:nvPr/>
        </p:nvGrpSpPr>
        <p:grpSpPr>
          <a:xfrm>
            <a:off x="1142271" y="4495729"/>
            <a:ext cx="4142910" cy="479114"/>
            <a:chOff x="5646962" y="4937787"/>
            <a:chExt cx="1453481" cy="482463"/>
          </a:xfrm>
          <a:effectLst/>
        </p:grpSpPr>
        <p:sp>
          <p:nvSpPr>
            <p:cNvPr id="287" name="任意多边形: 形状 12"/>
            <p:cNvSpPr/>
            <p:nvPr/>
          </p:nvSpPr>
          <p:spPr>
            <a:xfrm flipH="1" flipV="1">
              <a:off x="5646962" y="4937787"/>
              <a:ext cx="1453481" cy="482463"/>
            </a:xfrm>
            <a:prstGeom prst="roundRect">
              <a:avLst>
                <a:gd name="adj" fmla="val 50000"/>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88" name="文本框 287"/>
            <p:cNvSpPr txBox="1"/>
            <p:nvPr/>
          </p:nvSpPr>
          <p:spPr>
            <a:xfrm>
              <a:off x="5715384" y="4993062"/>
              <a:ext cx="1316636" cy="37191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60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数字图像处理（第四版）</a:t>
              </a:r>
            </a:p>
          </p:txBody>
        </p:sp>
      </p:grpSp>
      <p:grpSp>
        <p:nvGrpSpPr>
          <p:cNvPr id="302" name="组合 301"/>
          <p:cNvGrpSpPr/>
          <p:nvPr/>
        </p:nvGrpSpPr>
        <p:grpSpPr>
          <a:xfrm>
            <a:off x="1027366" y="1310600"/>
            <a:ext cx="3707553" cy="2186039"/>
            <a:chOff x="951801" y="1752810"/>
            <a:chExt cx="3707553" cy="2186039"/>
          </a:xfrm>
        </p:grpSpPr>
        <p:sp>
          <p:nvSpPr>
            <p:cNvPr id="285" name="文本框 284"/>
            <p:cNvSpPr txBox="1"/>
            <p:nvPr/>
          </p:nvSpPr>
          <p:spPr>
            <a:xfrm>
              <a:off x="951801" y="3015519"/>
              <a:ext cx="3591048"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5400" b="1" dirty="0">
                  <a:solidFill>
                    <a:prstClr val="black">
                      <a:lumMod val="85000"/>
                      <a:lumOff val="15000"/>
                    </a:prst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频率域滤波</a:t>
              </a:r>
              <a:endParaRPr lang="zh-CN" altLang="en-US" sz="5400" b="1" dirty="0">
                <a:solidFill>
                  <a:prstClr val="black">
                    <a:lumMod val="85000"/>
                    <a:lumOff val="15000"/>
                  </a:prstClr>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nvGrpSpPr>
            <p:cNvPr id="301" name="组合 300"/>
            <p:cNvGrpSpPr/>
            <p:nvPr/>
          </p:nvGrpSpPr>
          <p:grpSpPr>
            <a:xfrm>
              <a:off x="951801" y="1752810"/>
              <a:ext cx="3707553" cy="1252400"/>
              <a:chOff x="951801" y="1680239"/>
              <a:chExt cx="3707553" cy="1252400"/>
            </a:xfrm>
          </p:grpSpPr>
          <p:sp>
            <p:nvSpPr>
              <p:cNvPr id="290" name="文本框 289"/>
              <p:cNvSpPr txBox="1"/>
              <p:nvPr/>
            </p:nvSpPr>
            <p:spPr>
              <a:xfrm>
                <a:off x="951801" y="2009309"/>
                <a:ext cx="2228495"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5400" b="1" i="0" u="none" strike="noStrike" kern="1200" cap="none" spc="0" normalizeH="0" baseline="0" noProof="0" dirty="0">
                    <a:ln>
                      <a:noFill/>
                    </a:ln>
                    <a:solidFill>
                      <a:srgbClr val="0065C4"/>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第四章</a:t>
                </a:r>
                <a:endParaRPr kumimoji="0" lang="en-US" altLang="zh-CN" sz="5400" b="1" i="0" u="none" strike="noStrike" kern="1200" cap="none" spc="0" normalizeH="0" baseline="0" noProof="0" dirty="0">
                  <a:ln>
                    <a:noFill/>
                  </a:ln>
                  <a:solidFill>
                    <a:srgbClr val="0065C4"/>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95" name="椭圆 294"/>
              <p:cNvSpPr/>
              <p:nvPr/>
            </p:nvSpPr>
            <p:spPr>
              <a:xfrm>
                <a:off x="3440154" y="1680239"/>
                <a:ext cx="1219200" cy="1219200"/>
              </a:xfrm>
              <a:prstGeom prst="ellipse">
                <a:avLst/>
              </a:pr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grpSp>
      <p:sp>
        <p:nvSpPr>
          <p:cNvPr id="2" name="Freeform 24">
            <a:extLst>
              <a:ext uri="{FF2B5EF4-FFF2-40B4-BE49-F238E27FC236}">
                <a16:creationId xmlns:a16="http://schemas.microsoft.com/office/drawing/2014/main" id="{05D286A2-ECB7-9BA2-9D1F-172FDB772080}"/>
              </a:ext>
            </a:extLst>
          </p:cNvPr>
          <p:cNvSpPr>
            <a:spLocks/>
          </p:cNvSpPr>
          <p:nvPr/>
        </p:nvSpPr>
        <p:spPr bwMode="auto">
          <a:xfrm>
            <a:off x="1142271" y="3743277"/>
            <a:ext cx="171824" cy="429542"/>
          </a:xfrm>
          <a:prstGeom prst="roundRect">
            <a:avLst/>
          </a:prstGeom>
          <a:solidFill>
            <a:srgbClr val="0463C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 name="Inhaltsplatzhalter 4">
            <a:extLst>
              <a:ext uri="{FF2B5EF4-FFF2-40B4-BE49-F238E27FC236}">
                <a16:creationId xmlns:a16="http://schemas.microsoft.com/office/drawing/2014/main" id="{61215E34-C4A2-0714-4A5F-AD7D334A7606}"/>
              </a:ext>
            </a:extLst>
          </p:cNvPr>
          <p:cNvSpPr txBox="1">
            <a:spLocks/>
          </p:cNvSpPr>
          <p:nvPr/>
        </p:nvSpPr>
        <p:spPr>
          <a:xfrm>
            <a:off x="1444494" y="3819549"/>
            <a:ext cx="3787962" cy="276999"/>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dist">
              <a:lnSpc>
                <a:spcPct val="100000"/>
              </a:lnSpc>
              <a:spcAft>
                <a:spcPts val="1200"/>
              </a:spcAft>
              <a:buNone/>
            </a:pPr>
            <a:r>
              <a:rPr lang="zh-CN" altLang="en-US" sz="1800" b="1"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国外电子与通信教材系列</a:t>
            </a:r>
            <a:endParaRPr kumimoji="0" lang="zh-CN" altLang="en-US" sz="1800" b="1" i="0" u="none" strike="noStrike" kern="1200" cap="none" spc="0" normalizeH="0" baseline="0" noProof="0" dirty="0">
              <a:ln>
                <a:noFill/>
              </a:ln>
              <a:solidFill>
                <a:srgbClr val="0463C4"/>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9000818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02"/>
                                        </p:tgtEl>
                                        <p:attrNameLst>
                                          <p:attrName>style.visibility</p:attrName>
                                        </p:attrNameLst>
                                      </p:cBhvr>
                                      <p:to>
                                        <p:strVal val="visible"/>
                                      </p:to>
                                    </p:set>
                                    <p:anim calcmode="lin" valueType="num">
                                      <p:cBhvr additive="base">
                                        <p:cTn id="7" dur="500" fill="hold"/>
                                        <p:tgtEl>
                                          <p:spTgt spid="302"/>
                                        </p:tgtEl>
                                        <p:attrNameLst>
                                          <p:attrName>ppt_x</p:attrName>
                                        </p:attrNameLst>
                                      </p:cBhvr>
                                      <p:tavLst>
                                        <p:tav tm="0">
                                          <p:val>
                                            <p:strVal val="#ppt_x"/>
                                          </p:val>
                                        </p:tav>
                                        <p:tav tm="100000">
                                          <p:val>
                                            <p:strVal val="#ppt_x"/>
                                          </p:val>
                                        </p:tav>
                                      </p:tavLst>
                                    </p:anim>
                                    <p:anim calcmode="lin" valueType="num">
                                      <p:cBhvr additive="base">
                                        <p:cTn id="8" dur="500" fill="hold"/>
                                        <p:tgtEl>
                                          <p:spTgt spid="30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accel="20000" decel="80000"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1+#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20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par>
                          <p:cTn id="17" fill="hold">
                            <p:stCondLst>
                              <p:cond delay="1200"/>
                            </p:stCondLst>
                            <p:childTnLst>
                              <p:par>
                                <p:cTn id="18" presetID="2" presetClass="entr" presetSubtype="4" fill="hold" nodeType="afterEffect">
                                  <p:stCondLst>
                                    <p:cond delay="0"/>
                                  </p:stCondLst>
                                  <p:childTnLst>
                                    <p:set>
                                      <p:cBhvr>
                                        <p:cTn id="19" dur="1" fill="hold">
                                          <p:stCondLst>
                                            <p:cond delay="0"/>
                                          </p:stCondLst>
                                        </p:cTn>
                                        <p:tgtEl>
                                          <p:spTgt spid="286"/>
                                        </p:tgtEl>
                                        <p:attrNameLst>
                                          <p:attrName>style.visibility</p:attrName>
                                        </p:attrNameLst>
                                      </p:cBhvr>
                                      <p:to>
                                        <p:strVal val="visible"/>
                                      </p:to>
                                    </p:set>
                                    <p:anim calcmode="lin" valueType="num">
                                      <p:cBhvr additive="base">
                                        <p:cTn id="20" dur="500" fill="hold"/>
                                        <p:tgtEl>
                                          <p:spTgt spid="286"/>
                                        </p:tgtEl>
                                        <p:attrNameLst>
                                          <p:attrName>ppt_x</p:attrName>
                                        </p:attrNameLst>
                                      </p:cBhvr>
                                      <p:tavLst>
                                        <p:tav tm="0">
                                          <p:val>
                                            <p:strVal val="#ppt_x"/>
                                          </p:val>
                                        </p:tav>
                                        <p:tav tm="100000">
                                          <p:val>
                                            <p:strVal val="#ppt_x"/>
                                          </p:val>
                                        </p:tav>
                                      </p:tavLst>
                                    </p:anim>
                                    <p:anim calcmode="lin" valueType="num">
                                      <p:cBhvr additive="base">
                                        <p:cTn id="21" dur="500" fill="hold"/>
                                        <p:tgtEl>
                                          <p:spTgt spid="2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01</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背景</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73239855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AE887E5B-8D5A-94F0-7809-79724C60D976}"/>
              </a:ext>
            </a:extLst>
          </p:cNvPr>
          <p:cNvSpPr>
            <a:spLocks noGrp="1"/>
          </p:cNvSpPr>
          <p:nvPr>
            <p:ph sz="quarter" idx="12"/>
          </p:nvPr>
        </p:nvSpPr>
        <p:spPr/>
        <p:txBody>
          <a:bodyPr>
            <a:normAutofit lnSpcReduction="10000"/>
          </a:bodyPr>
          <a:lstStyle/>
          <a:p>
            <a:pPr marR="500" lvl="0" rtl="0"/>
            <a:r>
              <a:rPr lang="zh-CN" altLang="en-US" b="0" i="0" u="none" strike="noStrike" baseline="0" dirty="0">
                <a:solidFill>
                  <a:srgbClr val="000000"/>
                </a:solidFill>
                <a:cs typeface="+mn-ea"/>
                <a:sym typeface="+mn-lt"/>
              </a:rPr>
              <a:t>法国数学家傅里叶</a:t>
            </a:r>
            <a:r>
              <a:rPr lang="en-US" altLang="zh-CN" b="0" i="0" u="none" strike="noStrike" baseline="0" dirty="0">
                <a:solidFill>
                  <a:srgbClr val="000000"/>
                </a:solidFill>
                <a:cs typeface="+mn-ea"/>
                <a:sym typeface="+mn-lt"/>
              </a:rPr>
              <a:t>(Jean</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Baptiste</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Joseph</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Fourier)</a:t>
            </a:r>
            <a:r>
              <a:rPr lang="zh-CN" altLang="en-US" b="0" i="0" u="none" strike="noStrike" baseline="0" dirty="0">
                <a:solidFill>
                  <a:srgbClr val="000000"/>
                </a:solidFill>
                <a:cs typeface="+mn-ea"/>
                <a:sym typeface="+mn-lt"/>
              </a:rPr>
              <a:t>于 </a:t>
            </a:r>
            <a:r>
              <a:rPr lang="en-US" altLang="zh-CN" b="0" i="0" u="none" strike="noStrike" baseline="0" dirty="0">
                <a:solidFill>
                  <a:srgbClr val="000000"/>
                </a:solidFill>
                <a:cs typeface="+mn-ea"/>
                <a:sym typeface="+mn-lt"/>
              </a:rPr>
              <a:t>1768</a:t>
            </a:r>
            <a:r>
              <a:rPr lang="zh-CN" altLang="en-US" b="0" i="0" u="none" strike="noStrike" baseline="0" dirty="0">
                <a:solidFill>
                  <a:srgbClr val="000000"/>
                </a:solidFill>
                <a:cs typeface="+mn-ea"/>
                <a:sym typeface="+mn-lt"/>
              </a:rPr>
              <a:t>年在巴黎与第戎之间的奥克塞里镇出生。他被世人铭记的最大贡献是他于</a:t>
            </a:r>
            <a:r>
              <a:rPr lang="en-US" altLang="zh-CN" b="0" i="0" u="none" strike="noStrike" baseline="0" dirty="0">
                <a:solidFill>
                  <a:srgbClr val="000000"/>
                </a:solidFill>
                <a:cs typeface="+mn-ea"/>
                <a:sym typeface="+mn-lt"/>
              </a:rPr>
              <a:t>1807</a:t>
            </a:r>
            <a:r>
              <a:rPr lang="zh-CN" altLang="en-US" b="0" i="0" u="none" strike="noStrike" baseline="0" dirty="0">
                <a:solidFill>
                  <a:srgbClr val="000000"/>
                </a:solidFill>
                <a:cs typeface="+mn-ea"/>
                <a:sym typeface="+mn-lt"/>
              </a:rPr>
              <a:t>年发表的传记和</a:t>
            </a:r>
            <a:r>
              <a:rPr lang="en-US" altLang="zh-CN" b="0" i="0" u="none" strike="noStrike" baseline="0" dirty="0">
                <a:solidFill>
                  <a:srgbClr val="000000"/>
                </a:solidFill>
                <a:cs typeface="+mn-ea"/>
                <a:sym typeface="+mn-lt"/>
              </a:rPr>
              <a:t>1822</a:t>
            </a:r>
            <a:r>
              <a:rPr lang="zh-CN" altLang="en-US" b="0" i="0" u="none" strike="noStrike" baseline="0" dirty="0">
                <a:solidFill>
                  <a:srgbClr val="000000"/>
                </a:solidFill>
                <a:cs typeface="+mn-ea"/>
                <a:sym typeface="+mn-lt"/>
              </a:rPr>
              <a:t>年出版的</a:t>
            </a:r>
            <a:r>
              <a:rPr lang="en-US" altLang="zh-CN" b="0" i="0" u="none" strike="noStrike" baseline="0" dirty="0">
                <a:solidFill>
                  <a:srgbClr val="000000"/>
                </a:solidFill>
                <a:cs typeface="+mn-ea"/>
                <a:sym typeface="+mn-lt"/>
              </a:rPr>
              <a:t>La </a:t>
            </a:r>
            <a:r>
              <a:rPr lang="en-US" altLang="zh-CN" b="0" i="0" u="none" strike="noStrike" baseline="0" dirty="0" err="1">
                <a:solidFill>
                  <a:srgbClr val="000000"/>
                </a:solidFill>
                <a:cs typeface="+mn-ea"/>
                <a:sym typeface="+mn-lt"/>
              </a:rPr>
              <a:t>Theorie</a:t>
            </a:r>
            <a:r>
              <a:rPr lang="zh-CN" altLang="en-US" b="0" i="0" u="none" strike="noStrike" baseline="0" dirty="0">
                <a:solidFill>
                  <a:srgbClr val="000000"/>
                </a:solidFill>
                <a:cs typeface="+mn-ea"/>
                <a:sym typeface="+mn-lt"/>
              </a:rPr>
              <a:t> </a:t>
            </a:r>
            <a:r>
              <a:rPr lang="en-US" altLang="zh-CN" b="0" i="0" u="none" strike="noStrike" baseline="0" dirty="0" err="1">
                <a:solidFill>
                  <a:srgbClr val="000000"/>
                </a:solidFill>
                <a:cs typeface="+mn-ea"/>
                <a:sym typeface="+mn-lt"/>
              </a:rPr>
              <a:t>Analitique</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de</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la</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Chaleur(The</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Analytic</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Theory</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of</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Heat)</a:t>
            </a:r>
            <a:r>
              <a:rPr lang="zh-CN" altLang="en-US" b="0" i="0" u="none" strike="noStrike" baseline="0" dirty="0">
                <a:solidFill>
                  <a:srgbClr val="000000"/>
                </a:solidFill>
                <a:cs typeface="+mn-ea"/>
                <a:sym typeface="+mn-lt"/>
              </a:rPr>
              <a:t> 一书。</a:t>
            </a:r>
            <a:r>
              <a:rPr lang="en-US" altLang="zh-CN" b="0" i="0" u="none" strike="noStrike" baseline="0" dirty="0">
                <a:solidFill>
                  <a:srgbClr val="000000"/>
                </a:solidFill>
                <a:cs typeface="+mn-ea"/>
                <a:sym typeface="+mn-lt"/>
              </a:rPr>
              <a:t>55</a:t>
            </a:r>
            <a:r>
              <a:rPr lang="zh-CN" altLang="en-US" b="0" i="0" u="none" strike="noStrike" baseline="0" dirty="0">
                <a:solidFill>
                  <a:srgbClr val="000000"/>
                </a:solidFill>
                <a:cs typeface="+mn-ea"/>
                <a:sym typeface="+mn-lt"/>
              </a:rPr>
              <a:t> 年后，该书由 </a:t>
            </a:r>
            <a:r>
              <a:rPr lang="en-US" altLang="zh-CN" b="0" i="0" u="none" strike="noStrike" baseline="0" dirty="0">
                <a:solidFill>
                  <a:srgbClr val="000000"/>
                </a:solidFill>
                <a:cs typeface="+mn-ea"/>
                <a:sym typeface="+mn-lt"/>
              </a:rPr>
              <a:t>Freeman</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见 </a:t>
            </a:r>
            <a:r>
              <a:rPr lang="en-US" altLang="zh-CN" b="0" i="0" u="none" strike="noStrike" baseline="0" dirty="0">
                <a:solidFill>
                  <a:srgbClr val="000000"/>
                </a:solidFill>
                <a:cs typeface="+mn-ea"/>
                <a:sym typeface="+mn-lt"/>
              </a:rPr>
              <a:t>Freeman[1878])</a:t>
            </a:r>
            <a:r>
              <a:rPr lang="zh-CN" altLang="en-US" b="0" i="0" u="none" strike="noStrike" baseline="0" dirty="0">
                <a:solidFill>
                  <a:srgbClr val="000000"/>
                </a:solidFill>
                <a:cs typeface="+mn-ea"/>
                <a:sym typeface="+mn-lt"/>
              </a:rPr>
              <a:t> 翻译为英文。</a:t>
            </a:r>
            <a:endParaRPr lang="en-US" altLang="zh-CN" b="0" i="0" u="none" strike="noStrike" baseline="0" dirty="0">
              <a:solidFill>
                <a:srgbClr val="000000"/>
              </a:solidFill>
              <a:cs typeface="+mn-ea"/>
              <a:sym typeface="+mn-lt"/>
            </a:endParaRPr>
          </a:p>
          <a:p>
            <a:pPr marR="500" lvl="0" rtl="0"/>
            <a:r>
              <a:rPr lang="zh-CN" altLang="en-US" b="0" i="0" u="none" strike="noStrike" baseline="0" dirty="0">
                <a:solidFill>
                  <a:srgbClr val="000000"/>
                </a:solidFill>
                <a:cs typeface="+mn-ea"/>
                <a:sym typeface="+mn-lt"/>
              </a:rPr>
              <a:t>基本上，傅里叶在该领域的贡献是，任何周期函数都可表示为不同频率的正弦函数和</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或余弦函数之和，其中每个正弦函数和</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或余弦函数都乘以不同的系数</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我们现在称该和为傅里叶级数</a:t>
            </a:r>
            <a:r>
              <a:rPr lang="en-US" altLang="zh-CN" b="0" i="0" u="none" strike="noStrike" baseline="0" dirty="0">
                <a:solidFill>
                  <a:srgbClr val="000000"/>
                </a:solidFill>
                <a:cs typeface="+mn-ea"/>
                <a:sym typeface="+mn-lt"/>
              </a:rPr>
              <a:t>)</a:t>
            </a:r>
            <a:endParaRPr lang="zh-CN" altLang="en-US" b="0" i="0" u="none" strike="noStrike" baseline="0" dirty="0">
              <a:solidFill>
                <a:srgbClr val="000000"/>
              </a:solidFill>
              <a:cs typeface="+mn-ea"/>
              <a:sym typeface="+mn-lt"/>
            </a:endParaRPr>
          </a:p>
        </p:txBody>
      </p:sp>
      <p:sp>
        <p:nvSpPr>
          <p:cNvPr id="2" name="标题 1">
            <a:extLst>
              <a:ext uri="{FF2B5EF4-FFF2-40B4-BE49-F238E27FC236}">
                <a16:creationId xmlns:a16="http://schemas.microsoft.com/office/drawing/2014/main" id="{3F64AB46-44C0-9DD2-ABB1-50D642DEC1FE}"/>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傅里叶级数和变换简史</a:t>
            </a:r>
          </a:p>
        </p:txBody>
      </p:sp>
    </p:spTree>
    <p:extLst>
      <p:ext uri="{BB962C8B-B14F-4D97-AF65-F5344CB8AC3E}">
        <p14:creationId xmlns:p14="http://schemas.microsoft.com/office/powerpoint/2010/main" val="269086720"/>
      </p:ext>
    </p:extLst>
  </p:cSld>
  <p:clrMapOvr>
    <a:masterClrMapping/>
  </p:clrMapOvr>
  <p:transition spd="slow" advTm="0">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02</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基本概念</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3458717668"/>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1F7E25-F1E9-F51D-A6BA-10AA9D678CED}"/>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复 数</a:t>
            </a:r>
          </a:p>
        </p:txBody>
      </p:sp>
      <p:sp>
        <p:nvSpPr>
          <p:cNvPr id="3" name="文本占位符 2">
            <a:extLst>
              <a:ext uri="{FF2B5EF4-FFF2-40B4-BE49-F238E27FC236}">
                <a16:creationId xmlns:a16="http://schemas.microsoft.com/office/drawing/2014/main" id="{DD14455D-8A84-6A1A-FA92-E4165269FDB5}"/>
              </a:ext>
            </a:extLst>
          </p:cNvPr>
          <p:cNvSpPr>
            <a:spLocks noGrp="1"/>
          </p:cNvSpPr>
          <p:nvPr>
            <p:ph sz="quarter" idx="11"/>
          </p:nvPr>
        </p:nvSpPr>
        <p:spPr/>
        <p:txBody>
          <a:bodyPr>
            <a:noAutofit/>
          </a:bodyPr>
          <a:lstStyle/>
          <a:p>
            <a:pPr marL="0" marR="500" lvl="0" indent="0" rtl="0">
              <a:buNone/>
            </a:pPr>
            <a:r>
              <a:rPr lang="zh-CN" altLang="en-US" b="0" i="0" u="none" strike="noStrike" baseline="0" dirty="0">
                <a:solidFill>
                  <a:srgbClr val="000000"/>
                </a:solidFill>
                <a:cs typeface="+mn-ea"/>
                <a:sym typeface="+mn-lt"/>
              </a:rPr>
              <a:t>复数</a:t>
            </a:r>
            <a:r>
              <a:rPr lang="en-US" altLang="zh-CN" b="0" i="0" u="none" strike="noStrike" baseline="0" dirty="0">
                <a:solidFill>
                  <a:srgbClr val="000000"/>
                </a:solidFill>
                <a:cs typeface="+mn-ea"/>
                <a:sym typeface="+mn-lt"/>
              </a:rPr>
              <a:t>C</a:t>
            </a:r>
            <a:r>
              <a:rPr lang="zh-CN" altLang="en-US" b="0" i="0" u="none" strike="noStrike" baseline="0" dirty="0">
                <a:solidFill>
                  <a:srgbClr val="000000"/>
                </a:solidFill>
                <a:cs typeface="+mn-ea"/>
                <a:sym typeface="+mn-lt"/>
              </a:rPr>
              <a:t> 的定义为</a:t>
            </a:r>
          </a:p>
          <a:p>
            <a:pPr marL="0" marR="500" lvl="0" indent="0" rtl="0">
              <a:buNone/>
            </a:pPr>
            <a:r>
              <a:rPr lang="en-US" altLang="zh-CN" dirty="0">
                <a:solidFill>
                  <a:srgbClr val="000000"/>
                </a:solidFill>
                <a:cs typeface="+mn-ea"/>
                <a:sym typeface="+mn-lt"/>
              </a:rPr>
              <a:t>C=</a:t>
            </a:r>
            <a:r>
              <a:rPr lang="en-US" altLang="zh-CN" dirty="0" err="1">
                <a:solidFill>
                  <a:srgbClr val="000000"/>
                </a:solidFill>
                <a:cs typeface="+mn-ea"/>
                <a:sym typeface="+mn-lt"/>
              </a:rPr>
              <a:t>R+jI</a:t>
            </a:r>
            <a:endParaRPr lang="en-US" altLang="zh-CN" dirty="0">
              <a:solidFill>
                <a:srgbClr val="000000"/>
              </a:solidFill>
              <a:cs typeface="+mn-ea"/>
              <a:sym typeface="+mn-lt"/>
            </a:endParaRPr>
          </a:p>
          <a:p>
            <a:pPr marL="0" marR="500" lvl="0" indent="0" rtl="0">
              <a:buNone/>
            </a:pPr>
            <a:r>
              <a:rPr lang="zh-CN" altLang="en-US" dirty="0">
                <a:solidFill>
                  <a:srgbClr val="000000"/>
                </a:solidFill>
                <a:cs typeface="+mn-ea"/>
                <a:sym typeface="+mn-lt"/>
              </a:rPr>
              <a:t>式中，</a:t>
            </a:r>
            <a:r>
              <a:rPr lang="en-US" altLang="zh-CN" dirty="0">
                <a:solidFill>
                  <a:srgbClr val="000000"/>
                </a:solidFill>
                <a:cs typeface="+mn-ea"/>
                <a:sym typeface="+mn-lt"/>
              </a:rPr>
              <a:t>R</a:t>
            </a:r>
            <a:r>
              <a:rPr lang="zh-CN" altLang="en-US" dirty="0">
                <a:solidFill>
                  <a:srgbClr val="000000"/>
                </a:solidFill>
                <a:cs typeface="+mn-ea"/>
                <a:sym typeface="+mn-lt"/>
              </a:rPr>
              <a:t>和</a:t>
            </a:r>
            <a:r>
              <a:rPr lang="en-US" altLang="zh-CN" dirty="0">
                <a:solidFill>
                  <a:srgbClr val="000000"/>
                </a:solidFill>
                <a:cs typeface="+mn-ea"/>
                <a:sym typeface="+mn-lt"/>
              </a:rPr>
              <a:t>I</a:t>
            </a:r>
            <a:r>
              <a:rPr lang="zh-CN" altLang="en-US" dirty="0">
                <a:solidFill>
                  <a:srgbClr val="000000"/>
                </a:solidFill>
                <a:cs typeface="+mn-ea"/>
                <a:sym typeface="+mn-lt"/>
              </a:rPr>
              <a:t> 是实数，</a:t>
            </a:r>
            <a:r>
              <a:rPr lang="en-US" altLang="zh-CN" dirty="0">
                <a:solidFill>
                  <a:srgbClr val="000000"/>
                </a:solidFill>
                <a:cs typeface="+mn-ea"/>
                <a:sym typeface="+mn-lt"/>
              </a:rPr>
              <a:t>j=</a:t>
            </a:r>
            <a:r>
              <a:rPr lang="zh-CN" altLang="en-US" dirty="0">
                <a:solidFill>
                  <a:srgbClr val="000000"/>
                </a:solidFill>
                <a:cs typeface="+mn-ea"/>
                <a:sym typeface="+mn-lt"/>
              </a:rPr>
              <a:t>√</a:t>
            </a:r>
            <a:r>
              <a:rPr lang="en-US" altLang="zh-CN" dirty="0">
                <a:solidFill>
                  <a:srgbClr val="000000"/>
                </a:solidFill>
                <a:cs typeface="+mn-ea"/>
                <a:sym typeface="+mn-lt"/>
              </a:rPr>
              <a:t>-</a:t>
            </a:r>
            <a:r>
              <a:rPr lang="zh-CN" altLang="en-US" dirty="0">
                <a:solidFill>
                  <a:srgbClr val="000000"/>
                </a:solidFill>
                <a:cs typeface="+mn-ea"/>
                <a:sym typeface="+mn-lt"/>
              </a:rPr>
              <a:t> </a:t>
            </a:r>
            <a:r>
              <a:rPr lang="en-US" altLang="zh-CN" dirty="0">
                <a:solidFill>
                  <a:srgbClr val="000000"/>
                </a:solidFill>
                <a:cs typeface="+mn-ea"/>
                <a:sym typeface="+mn-lt"/>
              </a:rPr>
              <a:t>1 </a:t>
            </a:r>
            <a:r>
              <a:rPr lang="zh-CN" altLang="en-US" dirty="0">
                <a:solidFill>
                  <a:srgbClr val="000000"/>
                </a:solidFill>
                <a:cs typeface="+mn-ea"/>
                <a:sym typeface="+mn-lt"/>
              </a:rPr>
              <a:t>。 其中，</a:t>
            </a:r>
            <a:r>
              <a:rPr lang="en-US" altLang="zh-CN" dirty="0">
                <a:solidFill>
                  <a:srgbClr val="000000"/>
                </a:solidFill>
                <a:cs typeface="+mn-ea"/>
                <a:sym typeface="+mn-lt"/>
              </a:rPr>
              <a:t>R</a:t>
            </a:r>
            <a:r>
              <a:rPr lang="zh-CN" altLang="en-US" dirty="0">
                <a:solidFill>
                  <a:srgbClr val="000000"/>
                </a:solidFill>
                <a:cs typeface="+mn-ea"/>
                <a:sym typeface="+mn-lt"/>
              </a:rPr>
              <a:t>表示复数的实部，</a:t>
            </a:r>
            <a:r>
              <a:rPr lang="en-US" altLang="zh-CN" dirty="0">
                <a:solidFill>
                  <a:srgbClr val="000000"/>
                </a:solidFill>
                <a:cs typeface="+mn-ea"/>
                <a:sym typeface="+mn-lt"/>
              </a:rPr>
              <a:t>I</a:t>
            </a:r>
            <a:r>
              <a:rPr lang="zh-CN" altLang="en-US" dirty="0">
                <a:solidFill>
                  <a:srgbClr val="000000"/>
                </a:solidFill>
                <a:cs typeface="+mn-ea"/>
                <a:sym typeface="+mn-lt"/>
              </a:rPr>
              <a:t> 表示复数的虚部。实数是</a:t>
            </a:r>
            <a:r>
              <a:rPr lang="en-US" altLang="zh-CN" dirty="0">
                <a:solidFill>
                  <a:srgbClr val="000000"/>
                </a:solidFill>
                <a:cs typeface="+mn-ea"/>
                <a:sym typeface="+mn-lt"/>
              </a:rPr>
              <a:t>I=0</a:t>
            </a:r>
            <a:r>
              <a:rPr lang="zh-CN" altLang="en-US" dirty="0">
                <a:solidFill>
                  <a:srgbClr val="000000"/>
                </a:solidFill>
                <a:cs typeface="+mn-ea"/>
                <a:sym typeface="+mn-lt"/>
              </a:rPr>
              <a:t> 的复数的子集。复数</a:t>
            </a:r>
            <a:r>
              <a:rPr lang="en-US" altLang="zh-CN" dirty="0">
                <a:solidFill>
                  <a:srgbClr val="000000"/>
                </a:solidFill>
                <a:cs typeface="+mn-ea"/>
                <a:sym typeface="+mn-lt"/>
              </a:rPr>
              <a:t>C</a:t>
            </a:r>
            <a:r>
              <a:rPr lang="zh-CN" altLang="en-US" dirty="0">
                <a:solidFill>
                  <a:srgbClr val="000000"/>
                </a:solidFill>
                <a:cs typeface="+mn-ea"/>
                <a:sym typeface="+mn-lt"/>
              </a:rPr>
              <a:t> 的共轭表示为</a:t>
            </a:r>
            <a:r>
              <a:rPr lang="en-US" altLang="zh-CN" dirty="0">
                <a:solidFill>
                  <a:srgbClr val="000000"/>
                </a:solidFill>
                <a:cs typeface="+mn-ea"/>
                <a:sym typeface="+mn-lt"/>
              </a:rPr>
              <a:t>C*,</a:t>
            </a:r>
            <a:r>
              <a:rPr lang="zh-CN" altLang="en-US" dirty="0">
                <a:solidFill>
                  <a:srgbClr val="000000"/>
                </a:solidFill>
                <a:cs typeface="+mn-ea"/>
                <a:sym typeface="+mn-lt"/>
              </a:rPr>
              <a:t>  其定义是</a:t>
            </a:r>
          </a:p>
          <a:p>
            <a:pPr marL="0" marR="500" lvl="0" indent="0" rtl="0">
              <a:buNone/>
            </a:pPr>
            <a:r>
              <a:rPr lang="en-US" altLang="zh-CN" dirty="0">
                <a:solidFill>
                  <a:srgbClr val="000000"/>
                </a:solidFill>
                <a:cs typeface="+mn-ea"/>
                <a:sym typeface="+mn-lt"/>
              </a:rPr>
              <a:t>C*,=R-</a:t>
            </a:r>
            <a:r>
              <a:rPr lang="en-US" altLang="zh-CN" dirty="0" err="1">
                <a:solidFill>
                  <a:srgbClr val="000000"/>
                </a:solidFill>
                <a:cs typeface="+mn-ea"/>
                <a:sym typeface="+mn-lt"/>
              </a:rPr>
              <a:t>jI</a:t>
            </a:r>
            <a:endParaRPr lang="en-US" altLang="zh-CN" dirty="0">
              <a:solidFill>
                <a:srgbClr val="000000"/>
              </a:solidFill>
              <a:cs typeface="+mn-ea"/>
              <a:sym typeface="+mn-lt"/>
            </a:endParaRPr>
          </a:p>
          <a:p>
            <a:pPr marL="0" marR="500" lvl="0" indent="0" rtl="0">
              <a:buNone/>
            </a:pPr>
            <a:r>
              <a:rPr lang="zh-CN" altLang="en-US" dirty="0">
                <a:solidFill>
                  <a:srgbClr val="000000"/>
                </a:solidFill>
                <a:cs typeface="+mn-ea"/>
                <a:sym typeface="+mn-lt"/>
              </a:rPr>
              <a:t>从几何角度来看，复数可视为平面</a:t>
            </a:r>
            <a:r>
              <a:rPr lang="en-US" altLang="zh-CN" dirty="0">
                <a:solidFill>
                  <a:srgbClr val="000000"/>
                </a:solidFill>
                <a:cs typeface="+mn-ea"/>
                <a:sym typeface="+mn-lt"/>
              </a:rPr>
              <a:t>(</a:t>
            </a:r>
            <a:r>
              <a:rPr lang="zh-CN" altLang="en-US" dirty="0">
                <a:solidFill>
                  <a:srgbClr val="000000"/>
                </a:solidFill>
                <a:cs typeface="+mn-ea"/>
                <a:sym typeface="+mn-lt"/>
              </a:rPr>
              <a:t>称为复平面</a:t>
            </a:r>
            <a:r>
              <a:rPr lang="en-US" altLang="zh-CN" dirty="0">
                <a:solidFill>
                  <a:srgbClr val="000000"/>
                </a:solidFill>
                <a:cs typeface="+mn-ea"/>
                <a:sym typeface="+mn-lt"/>
              </a:rPr>
              <a:t>)</a:t>
            </a:r>
            <a:r>
              <a:rPr lang="zh-CN" altLang="en-US" dirty="0">
                <a:solidFill>
                  <a:srgbClr val="000000"/>
                </a:solidFill>
                <a:cs typeface="+mn-ea"/>
                <a:sym typeface="+mn-lt"/>
              </a:rPr>
              <a:t>上的一个点，其横坐标是实轴</a:t>
            </a:r>
            <a:r>
              <a:rPr lang="en-US" altLang="zh-CN" dirty="0">
                <a:solidFill>
                  <a:srgbClr val="000000"/>
                </a:solidFill>
                <a:cs typeface="+mn-ea"/>
                <a:sym typeface="+mn-lt"/>
              </a:rPr>
              <a:t>(R</a:t>
            </a:r>
            <a:r>
              <a:rPr lang="zh-CN" altLang="en-US" dirty="0">
                <a:solidFill>
                  <a:srgbClr val="000000"/>
                </a:solidFill>
                <a:cs typeface="+mn-ea"/>
                <a:sym typeface="+mn-lt"/>
              </a:rPr>
              <a:t> 的值</a:t>
            </a:r>
            <a:r>
              <a:rPr lang="en-US" altLang="zh-CN" dirty="0">
                <a:solidFill>
                  <a:srgbClr val="000000"/>
                </a:solidFill>
                <a:cs typeface="+mn-ea"/>
                <a:sym typeface="+mn-lt"/>
              </a:rPr>
              <a:t>),</a:t>
            </a:r>
            <a:r>
              <a:rPr lang="zh-CN" altLang="en-US" dirty="0">
                <a:solidFill>
                  <a:srgbClr val="000000"/>
                </a:solidFill>
                <a:cs typeface="+mn-ea"/>
                <a:sym typeface="+mn-lt"/>
              </a:rPr>
              <a:t>纵坐标是 虚轴</a:t>
            </a:r>
            <a:r>
              <a:rPr lang="en-US" altLang="zh-CN" dirty="0">
                <a:solidFill>
                  <a:srgbClr val="000000"/>
                </a:solidFill>
                <a:cs typeface="+mn-ea"/>
                <a:sym typeface="+mn-lt"/>
              </a:rPr>
              <a:t>(I</a:t>
            </a:r>
            <a:r>
              <a:rPr lang="zh-CN" altLang="en-US" dirty="0">
                <a:solidFill>
                  <a:srgbClr val="000000"/>
                </a:solidFill>
                <a:cs typeface="+mn-ea"/>
                <a:sym typeface="+mn-lt"/>
              </a:rPr>
              <a:t> 的值</a:t>
            </a:r>
            <a:r>
              <a:rPr lang="en-US" altLang="zh-CN" dirty="0">
                <a:solidFill>
                  <a:srgbClr val="000000"/>
                </a:solidFill>
                <a:cs typeface="+mn-ea"/>
                <a:sym typeface="+mn-lt"/>
              </a:rPr>
              <a:t>)</a:t>
            </a:r>
            <a:r>
              <a:rPr lang="zh-CN" altLang="en-US" dirty="0">
                <a:solidFill>
                  <a:srgbClr val="000000"/>
                </a:solidFill>
                <a:cs typeface="+mn-ea"/>
                <a:sym typeface="+mn-lt"/>
              </a:rPr>
              <a:t>。也就是说，复数</a:t>
            </a:r>
            <a:r>
              <a:rPr lang="en-US" altLang="zh-CN" dirty="0" err="1">
                <a:solidFill>
                  <a:srgbClr val="000000"/>
                </a:solidFill>
                <a:cs typeface="+mn-ea"/>
                <a:sym typeface="+mn-lt"/>
              </a:rPr>
              <a:t>R+jI</a:t>
            </a:r>
            <a:r>
              <a:rPr lang="zh-CN" altLang="en-US" dirty="0">
                <a:solidFill>
                  <a:srgbClr val="000000"/>
                </a:solidFill>
                <a:cs typeface="+mn-ea"/>
                <a:sym typeface="+mn-lt"/>
              </a:rPr>
              <a:t> 是复平面直角坐标系中的点</a:t>
            </a:r>
            <a:r>
              <a:rPr lang="en-US" altLang="zh-CN" dirty="0">
                <a:solidFill>
                  <a:srgbClr val="000000"/>
                </a:solidFill>
                <a:cs typeface="+mn-ea"/>
                <a:sym typeface="+mn-lt"/>
              </a:rPr>
              <a:t>(R,I)</a:t>
            </a:r>
            <a:r>
              <a:rPr lang="zh-CN" altLang="en-US" dirty="0">
                <a:solidFill>
                  <a:srgbClr val="000000"/>
                </a:solidFill>
                <a:cs typeface="+mn-ea"/>
                <a:sym typeface="+mn-lt"/>
              </a:rPr>
              <a:t>。</a:t>
            </a:r>
          </a:p>
        </p:txBody>
      </p:sp>
      <p:sp>
        <p:nvSpPr>
          <p:cNvPr id="4" name="矩形 3">
            <a:extLst>
              <a:ext uri="{FF2B5EF4-FFF2-40B4-BE49-F238E27FC236}">
                <a16:creationId xmlns:a16="http://schemas.microsoft.com/office/drawing/2014/main" id="{5E704625-AE8F-7029-C638-A77C9937C6EA}"/>
              </a:ext>
            </a:extLst>
          </p:cNvPr>
          <p:cNvSpPr/>
          <p:nvPr/>
        </p:nvSpPr>
        <p:spPr>
          <a:xfrm>
            <a:off x="801092" y="2446417"/>
            <a:ext cx="10589815" cy="3781128"/>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201243155"/>
      </p:ext>
    </p:extLst>
  </p:cSld>
  <p:clrMapOvr>
    <a:masterClrMapping/>
  </p:clrMapOvr>
  <p:transition spd="slow" advTm="0">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E7E30D-DB9F-9BF1-7727-0714F57083C6}"/>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傅里叶级数</a:t>
            </a:r>
          </a:p>
        </p:txBody>
      </p:sp>
      <p:sp>
        <p:nvSpPr>
          <p:cNvPr id="3" name="文本占位符 2">
            <a:extLst>
              <a:ext uri="{FF2B5EF4-FFF2-40B4-BE49-F238E27FC236}">
                <a16:creationId xmlns:a16="http://schemas.microsoft.com/office/drawing/2014/main" id="{E51181CD-C43F-2352-CF6A-D080EBF18C08}"/>
              </a:ext>
            </a:extLst>
          </p:cNvPr>
          <p:cNvSpPr>
            <a:spLocks noGrp="1"/>
          </p:cNvSpPr>
          <p:nvPr>
            <p:ph sz="quarter" idx="12"/>
          </p:nvPr>
        </p:nvSpPr>
        <p:spPr/>
        <p:txBody>
          <a:bodyPr/>
          <a:lstStyle/>
          <a:p>
            <a:pPr marL="0" marR="500" lvl="0" indent="0" rtl="0">
              <a:buNone/>
            </a:pPr>
            <a:r>
              <a:rPr lang="zh-CN" altLang="en-US" b="0" i="0" u="none" strike="noStrike" baseline="0" dirty="0">
                <a:solidFill>
                  <a:srgbClr val="000000"/>
                </a:solidFill>
                <a:cs typeface="+mn-ea"/>
                <a:sym typeface="+mn-lt"/>
              </a:rPr>
              <a:t>如前节所述，周期为</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 的连续变量</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的周期函数</a:t>
            </a:r>
            <a:r>
              <a:rPr lang="en-US" altLang="zh-CN" b="0" i="0" u="none" strike="noStrike" baseline="0" dirty="0">
                <a:solidFill>
                  <a:srgbClr val="000000"/>
                </a:solidFill>
                <a:cs typeface="+mn-ea"/>
                <a:sym typeface="+mn-lt"/>
              </a:rPr>
              <a:t>f(t),</a:t>
            </a:r>
            <a:r>
              <a:rPr lang="zh-CN" altLang="en-US" b="0" i="0" u="none" strike="noStrike" baseline="0" dirty="0">
                <a:solidFill>
                  <a:srgbClr val="000000"/>
                </a:solidFill>
                <a:cs typeface="+mn-ea"/>
                <a:sym typeface="+mn-lt"/>
              </a:rPr>
              <a:t>可表示为乘以适当系数的正弦函数和余弦函数之和。这个和就是傅里叶级数，其形式为</a:t>
            </a:r>
          </a:p>
          <a:p>
            <a:pPr marR="500" lvl="0" rtl="0"/>
            <a:endParaRPr lang="en-US" altLang="zh-CN" b="0" i="0" u="none" strike="noStrike" baseline="0" dirty="0">
              <a:solidFill>
                <a:srgbClr val="000000"/>
              </a:solidFill>
              <a:cs typeface="+mn-ea"/>
              <a:sym typeface="+mn-lt"/>
            </a:endParaRPr>
          </a:p>
          <a:p>
            <a:pPr marR="500" lvl="0" rtl="0"/>
            <a:endParaRPr lang="en-US" altLang="zh-CN" dirty="0">
              <a:solidFill>
                <a:srgbClr val="000000"/>
              </a:solidFill>
              <a:cs typeface="+mn-ea"/>
              <a:sym typeface="+mn-lt"/>
            </a:endParaRPr>
          </a:p>
          <a:p>
            <a:pPr marL="0" marR="500" lvl="0" indent="0" rtl="0">
              <a:buNone/>
            </a:pPr>
            <a:r>
              <a:rPr lang="zh-CN" altLang="en-US" b="0" i="0" u="none" strike="noStrike" baseline="0" dirty="0">
                <a:solidFill>
                  <a:srgbClr val="000000"/>
                </a:solidFill>
                <a:cs typeface="+mn-ea"/>
                <a:sym typeface="+mn-lt"/>
              </a:rPr>
              <a:t>是系数。式</a:t>
            </a:r>
            <a:r>
              <a:rPr lang="en-US" altLang="zh-CN" b="0" i="0" u="none" strike="noStrike" baseline="0" dirty="0">
                <a:solidFill>
                  <a:srgbClr val="000000"/>
                </a:solidFill>
                <a:cs typeface="+mn-ea"/>
                <a:sym typeface="+mn-lt"/>
              </a:rPr>
              <a:t>(4.8)</a:t>
            </a:r>
            <a:r>
              <a:rPr lang="zh-CN" altLang="en-US" b="0" i="0" u="none" strike="noStrike" baseline="0" dirty="0">
                <a:solidFill>
                  <a:srgbClr val="000000"/>
                </a:solidFill>
                <a:cs typeface="+mn-ea"/>
                <a:sym typeface="+mn-lt"/>
              </a:rPr>
              <a:t>可展开为正弦函数与余弦函数之和这一事实来自欧拉公式</a:t>
            </a:r>
            <a:r>
              <a:rPr lang="en-US" altLang="zh-CN" b="0" i="0" u="none" strike="noStrike" baseline="0" dirty="0">
                <a:solidFill>
                  <a:srgbClr val="000000"/>
                </a:solidFill>
                <a:cs typeface="+mn-ea"/>
                <a:sym typeface="+mn-lt"/>
              </a:rPr>
              <a:t>(4.6)</a:t>
            </a:r>
            <a:r>
              <a:rPr lang="zh-CN" altLang="en-US" b="0" i="0" u="none" strike="noStrike" baseline="0" dirty="0">
                <a:solidFill>
                  <a:srgbClr val="000000"/>
                </a:solidFill>
                <a:cs typeface="+mn-ea"/>
                <a:sym typeface="+mn-lt"/>
              </a:rPr>
              <a:t>。</a:t>
            </a:r>
          </a:p>
        </p:txBody>
      </p:sp>
      <p:pic>
        <p:nvPicPr>
          <p:cNvPr id="5" name="图片 4">
            <a:extLst>
              <a:ext uri="{FF2B5EF4-FFF2-40B4-BE49-F238E27FC236}">
                <a16:creationId xmlns:a16="http://schemas.microsoft.com/office/drawing/2014/main" id="{29AF970D-B8A6-DAE8-BCCE-2D6BF8A61220}"/>
              </a:ext>
            </a:extLst>
          </p:cNvPr>
          <p:cNvPicPr>
            <a:picLocks noChangeAspect="1"/>
          </p:cNvPicPr>
          <p:nvPr/>
        </p:nvPicPr>
        <p:blipFill rotWithShape="1">
          <a:blip r:embed="rId2"/>
          <a:srcRect b="5049"/>
          <a:stretch/>
        </p:blipFill>
        <p:spPr>
          <a:xfrm>
            <a:off x="3583178" y="3632003"/>
            <a:ext cx="5025643" cy="1103625"/>
          </a:xfrm>
          <a:prstGeom prst="rect">
            <a:avLst/>
          </a:prstGeom>
        </p:spPr>
      </p:pic>
    </p:spTree>
    <p:extLst>
      <p:ext uri="{BB962C8B-B14F-4D97-AF65-F5344CB8AC3E}">
        <p14:creationId xmlns:p14="http://schemas.microsoft.com/office/powerpoint/2010/main" val="3623605072"/>
      </p:ext>
    </p:extLst>
  </p:cSld>
  <p:clrMapOvr>
    <a:masterClrMapping/>
  </p:clrMapOvr>
  <p:transition spd="slow" advTm="0">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53F873-64AC-3AFA-7B4C-3B17D378DE2C}"/>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冲激函数及其取样</a:t>
            </a:r>
            <a:r>
              <a:rPr lang="en-US" altLang="zh-CN" b="1" i="0" u="none" strike="noStrike" baseline="0">
                <a:solidFill>
                  <a:srgbClr val="0070C0"/>
                </a:solidFill>
                <a:latin typeface="+mn-lt"/>
                <a:ea typeface="+mn-ea"/>
                <a:cs typeface="+mn-ea"/>
                <a:sym typeface="+mn-lt"/>
              </a:rPr>
              <a:t>(</a:t>
            </a:r>
            <a:r>
              <a:rPr lang="zh-CN" altLang="en-US" b="1" i="0" u="none" strike="noStrike" baseline="0">
                <a:solidFill>
                  <a:srgbClr val="0070C0"/>
                </a:solidFill>
                <a:latin typeface="+mn-lt"/>
                <a:ea typeface="+mn-ea"/>
                <a:cs typeface="+mn-ea"/>
                <a:sym typeface="+mn-lt"/>
              </a:rPr>
              <a:t>筛选</a:t>
            </a:r>
            <a:r>
              <a:rPr lang="en-US" altLang="zh-CN" b="1" i="0" u="none" strike="noStrike" baseline="0">
                <a:solidFill>
                  <a:srgbClr val="0070C0"/>
                </a:solidFill>
                <a:latin typeface="+mn-lt"/>
                <a:ea typeface="+mn-ea"/>
                <a:cs typeface="+mn-ea"/>
                <a:sym typeface="+mn-lt"/>
              </a:rPr>
              <a:t>)</a:t>
            </a:r>
            <a:r>
              <a:rPr lang="zh-CN" altLang="en-US" b="1" i="0" u="none" strike="noStrike" baseline="0">
                <a:solidFill>
                  <a:srgbClr val="0070C0"/>
                </a:solidFill>
                <a:latin typeface="+mn-lt"/>
                <a:ea typeface="+mn-ea"/>
                <a:cs typeface="+mn-ea"/>
                <a:sym typeface="+mn-lt"/>
              </a:rPr>
              <a:t>性质</a:t>
            </a:r>
          </a:p>
        </p:txBody>
      </p:sp>
      <p:sp>
        <p:nvSpPr>
          <p:cNvPr id="3" name="文本占位符 2">
            <a:extLst>
              <a:ext uri="{FF2B5EF4-FFF2-40B4-BE49-F238E27FC236}">
                <a16:creationId xmlns:a16="http://schemas.microsoft.com/office/drawing/2014/main" id="{1A0F3A2C-8EA0-FF21-A9D8-DB0F6A9D5448}"/>
              </a:ext>
            </a:extLst>
          </p:cNvPr>
          <p:cNvSpPr>
            <a:spLocks noGrp="1"/>
          </p:cNvSpPr>
          <p:nvPr>
            <p:ph sz="quarter" idx="11"/>
          </p:nvPr>
        </p:nvSpPr>
        <p:spPr/>
        <p:txBody>
          <a:bodyPr/>
          <a:lstStyle/>
          <a:p>
            <a:pPr marL="0" marR="500" lvl="0" indent="0" rtl="0">
              <a:buNone/>
            </a:pPr>
            <a:r>
              <a:rPr lang="zh-CN" altLang="en-US" b="0" i="0" u="none" strike="noStrike" baseline="0" dirty="0">
                <a:solidFill>
                  <a:srgbClr val="000000"/>
                </a:solidFill>
                <a:cs typeface="+mn-ea"/>
                <a:sym typeface="+mn-lt"/>
              </a:rPr>
              <a:t>线性系统和傅里叶变换研究的核心是冲激函数及其取样</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筛选</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性质。连续变量</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 在</a:t>
            </a:r>
            <a:r>
              <a:rPr lang="en-US" altLang="zh-CN" b="0" i="0" u="none" strike="noStrike" baseline="0" dirty="0">
                <a:solidFill>
                  <a:srgbClr val="000000"/>
                </a:solidFill>
                <a:cs typeface="+mn-ea"/>
                <a:sym typeface="+mn-lt"/>
              </a:rPr>
              <a:t>t=0</a:t>
            </a:r>
            <a:r>
              <a:rPr lang="zh-CN" altLang="en-US" b="0" i="0" u="none" strike="noStrike" baseline="0" dirty="0">
                <a:solidFill>
                  <a:srgbClr val="000000"/>
                </a:solidFill>
                <a:cs typeface="+mn-ea"/>
                <a:sym typeface="+mn-lt"/>
              </a:rPr>
              <a:t> 处的单</a:t>
            </a:r>
          </a:p>
          <a:p>
            <a:pPr marL="0" marR="500" lvl="0" indent="0" rtl="0">
              <a:buNone/>
            </a:pPr>
            <a:r>
              <a:rPr lang="zh-CN" altLang="en-US" b="0" i="0" u="none" strike="noStrike" baseline="0" dirty="0">
                <a:solidFill>
                  <a:srgbClr val="000000"/>
                </a:solidFill>
                <a:cs typeface="+mn-ea"/>
                <a:sym typeface="+mn-lt"/>
              </a:rPr>
              <a:t>位冲激表示为</a:t>
            </a:r>
            <a:r>
              <a:rPr lang="el-GR" altLang="zh-CN" b="0" i="0" u="none" strike="noStrike" baseline="0" dirty="0">
                <a:solidFill>
                  <a:srgbClr val="000000"/>
                </a:solidFill>
                <a:cs typeface="+mn-ea"/>
                <a:sym typeface="+mn-lt"/>
              </a:rPr>
              <a:t>δ(</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其定义是</a:t>
            </a:r>
          </a:p>
          <a:p>
            <a:pPr marL="0" marR="500" lvl="0" indent="0" rtl="0">
              <a:buNone/>
            </a:pPr>
            <a:r>
              <a:rPr lang="zh-CN" altLang="en-US" b="0" i="0" u="none" strike="noStrike" baseline="0" dirty="0">
                <a:solidFill>
                  <a:srgbClr val="000000"/>
                </a:solidFill>
                <a:cs typeface="+mn-ea"/>
                <a:sym typeface="+mn-lt"/>
              </a:rPr>
              <a:t>它被限制为满足恒等式</a:t>
            </a:r>
          </a:p>
          <a:p>
            <a:pPr marL="0" marR="500" lvl="0" indent="0" rtl="0">
              <a:buNone/>
            </a:pPr>
            <a:r>
              <a:rPr lang="zh-CN" altLang="en-US" b="0" i="0" u="none" strike="noStrike" baseline="0" dirty="0">
                <a:solidFill>
                  <a:srgbClr val="000000"/>
                </a:solidFill>
                <a:cs typeface="+mn-ea"/>
                <a:sym typeface="+mn-lt"/>
              </a:rPr>
              <a:t>自然地，将</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解释为时间时，冲激就可视为幅度无限、持续时间为</a:t>
            </a:r>
            <a:r>
              <a:rPr lang="en-US" altLang="zh-CN" b="0" i="0" u="none" strike="noStrike" baseline="0" dirty="0">
                <a:solidFill>
                  <a:srgbClr val="000000"/>
                </a:solidFill>
                <a:cs typeface="+mn-ea"/>
                <a:sym typeface="+mn-lt"/>
              </a:rPr>
              <a:t>0</a:t>
            </a:r>
            <a:r>
              <a:rPr lang="zh-CN" altLang="en-US" b="0" i="0" u="none" strike="noStrike" baseline="0" dirty="0">
                <a:solidFill>
                  <a:srgbClr val="000000"/>
                </a:solidFill>
                <a:cs typeface="+mn-ea"/>
                <a:sym typeface="+mn-lt"/>
              </a:rPr>
              <a:t>、具有单位面积的尖峰信号。冲激具有关于积分的所谓取样性质：</a:t>
            </a:r>
          </a:p>
        </p:txBody>
      </p:sp>
      <p:pic>
        <p:nvPicPr>
          <p:cNvPr id="5" name="图片 4">
            <a:extLst>
              <a:ext uri="{FF2B5EF4-FFF2-40B4-BE49-F238E27FC236}">
                <a16:creationId xmlns:a16="http://schemas.microsoft.com/office/drawing/2014/main" id="{8C48CD27-4692-77BB-EA66-009B930C5E70}"/>
              </a:ext>
            </a:extLst>
          </p:cNvPr>
          <p:cNvPicPr>
            <a:picLocks noChangeAspect="1"/>
          </p:cNvPicPr>
          <p:nvPr/>
        </p:nvPicPr>
        <p:blipFill>
          <a:blip r:embed="rId2"/>
          <a:stretch>
            <a:fillRect/>
          </a:stretch>
        </p:blipFill>
        <p:spPr>
          <a:xfrm>
            <a:off x="3967942" y="2988016"/>
            <a:ext cx="1836721" cy="521538"/>
          </a:xfrm>
          <a:prstGeom prst="rect">
            <a:avLst/>
          </a:prstGeom>
        </p:spPr>
      </p:pic>
      <p:pic>
        <p:nvPicPr>
          <p:cNvPr id="7" name="图片 6">
            <a:extLst>
              <a:ext uri="{FF2B5EF4-FFF2-40B4-BE49-F238E27FC236}">
                <a16:creationId xmlns:a16="http://schemas.microsoft.com/office/drawing/2014/main" id="{7848F1C4-D774-F62D-FB06-F6E4C16D96FC}"/>
              </a:ext>
            </a:extLst>
          </p:cNvPr>
          <p:cNvPicPr>
            <a:picLocks noChangeAspect="1"/>
          </p:cNvPicPr>
          <p:nvPr/>
        </p:nvPicPr>
        <p:blipFill>
          <a:blip r:embed="rId3"/>
          <a:stretch>
            <a:fillRect/>
          </a:stretch>
        </p:blipFill>
        <p:spPr>
          <a:xfrm>
            <a:off x="3430453" y="3603502"/>
            <a:ext cx="1455850" cy="574326"/>
          </a:xfrm>
          <a:prstGeom prst="rect">
            <a:avLst/>
          </a:prstGeom>
        </p:spPr>
      </p:pic>
      <p:pic>
        <p:nvPicPr>
          <p:cNvPr id="9" name="图片 8">
            <a:extLst>
              <a:ext uri="{FF2B5EF4-FFF2-40B4-BE49-F238E27FC236}">
                <a16:creationId xmlns:a16="http://schemas.microsoft.com/office/drawing/2014/main" id="{F96D95A8-4618-7313-93EB-0EBD32A49269}"/>
              </a:ext>
            </a:extLst>
          </p:cNvPr>
          <p:cNvPicPr>
            <a:picLocks noChangeAspect="1"/>
          </p:cNvPicPr>
          <p:nvPr/>
        </p:nvPicPr>
        <p:blipFill>
          <a:blip r:embed="rId4"/>
          <a:stretch>
            <a:fillRect/>
          </a:stretch>
        </p:blipFill>
        <p:spPr>
          <a:xfrm>
            <a:off x="4560639" y="5302225"/>
            <a:ext cx="2488047" cy="539576"/>
          </a:xfrm>
          <a:prstGeom prst="rect">
            <a:avLst/>
          </a:prstGeom>
        </p:spPr>
      </p:pic>
      <p:sp>
        <p:nvSpPr>
          <p:cNvPr id="10" name="矩形 9">
            <a:extLst>
              <a:ext uri="{FF2B5EF4-FFF2-40B4-BE49-F238E27FC236}">
                <a16:creationId xmlns:a16="http://schemas.microsoft.com/office/drawing/2014/main" id="{F4BB316C-D1B4-3842-9FE0-719F3E0F5F9F}"/>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288320235"/>
      </p:ext>
    </p:extLst>
  </p:cSld>
  <p:clrMapOvr>
    <a:masterClrMapping/>
  </p:clrMapOvr>
  <p:transition spd="slow" advTm="0">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5CCBB6-F771-75B9-E230-96FD9DF88887}"/>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连续单变量函数的傅里叶变换</a:t>
            </a:r>
          </a:p>
        </p:txBody>
      </p:sp>
      <p:sp>
        <p:nvSpPr>
          <p:cNvPr id="3" name="文本占位符 2">
            <a:extLst>
              <a:ext uri="{FF2B5EF4-FFF2-40B4-BE49-F238E27FC236}">
                <a16:creationId xmlns:a16="http://schemas.microsoft.com/office/drawing/2014/main" id="{3ACD39E4-27F9-B425-7EA5-CCF8D815B4EC}"/>
              </a:ext>
            </a:extLst>
          </p:cNvPr>
          <p:cNvSpPr>
            <a:spLocks noGrp="1"/>
          </p:cNvSpPr>
          <p:nvPr>
            <p:ph sz="quarter" idx="12"/>
          </p:nvPr>
        </p:nvSpPr>
        <p:spPr/>
        <p:txBody>
          <a:bodyPr/>
          <a:lstStyle/>
          <a:p>
            <a:pPr marL="0" marR="500" lvl="0" indent="0" rtl="0">
              <a:buNone/>
            </a:pPr>
            <a:r>
              <a:rPr lang="zh-CN" altLang="en-US" b="0" i="0" u="none" strike="noStrike" baseline="0" dirty="0">
                <a:solidFill>
                  <a:srgbClr val="000000"/>
                </a:solidFill>
                <a:cs typeface="+mn-ea"/>
                <a:sym typeface="+mn-lt"/>
              </a:rPr>
              <a:t>连续变量</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的连续函数</a:t>
            </a:r>
            <a:r>
              <a:rPr lang="en-US" altLang="zh-CN" b="0" i="0" u="none" strike="noStrike" baseline="0" dirty="0">
                <a:solidFill>
                  <a:srgbClr val="000000"/>
                </a:solidFill>
                <a:cs typeface="+mn-ea"/>
                <a:sym typeface="+mn-lt"/>
              </a:rPr>
              <a:t>f(t)</a:t>
            </a:r>
            <a:r>
              <a:rPr lang="zh-CN" altLang="en-US" b="0" i="0" u="none" strike="noStrike" baseline="0" dirty="0">
                <a:solidFill>
                  <a:srgbClr val="000000"/>
                </a:solidFill>
                <a:cs typeface="+mn-ea"/>
                <a:sym typeface="+mn-lt"/>
              </a:rPr>
              <a:t>的傅里叶变换由           表示，它定义为</a:t>
            </a:r>
          </a:p>
          <a:p>
            <a:pPr marL="0" marR="500" lvl="0" indent="0" rtl="0">
              <a:buNone/>
            </a:pPr>
            <a:r>
              <a:rPr lang="zh-CN" altLang="en-US" b="0" i="0" u="none" strike="noStrike" baseline="0" dirty="0">
                <a:solidFill>
                  <a:srgbClr val="000000"/>
                </a:solidFill>
                <a:cs typeface="+mn-ea"/>
                <a:sym typeface="+mn-lt"/>
              </a:rPr>
              <a:t>式中，</a:t>
            </a:r>
            <a:r>
              <a:rPr lang="el-GR" altLang="zh-CN" b="0" i="0" u="none" strike="noStrike" baseline="0" dirty="0">
                <a:solidFill>
                  <a:srgbClr val="000000"/>
                </a:solidFill>
                <a:cs typeface="+mn-ea"/>
                <a:sym typeface="+mn-lt"/>
              </a:rPr>
              <a:t>μ</a:t>
            </a:r>
            <a:r>
              <a:rPr lang="zh-CN" altLang="en-US" b="0" i="0" u="none" strike="noStrike" baseline="0" dirty="0">
                <a:solidFill>
                  <a:srgbClr val="000000"/>
                </a:solidFill>
                <a:cs typeface="+mn-ea"/>
                <a:sym typeface="+mn-lt"/>
              </a:rPr>
              <a:t>也是一个连续变量①。因为积分变量是</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 所以       只是</a:t>
            </a:r>
            <a:r>
              <a:rPr lang="el-GR" altLang="zh-CN" b="0" i="0" u="none" strike="noStrike" baseline="0" dirty="0">
                <a:solidFill>
                  <a:srgbClr val="000000"/>
                </a:solidFill>
                <a:cs typeface="+mn-ea"/>
                <a:sym typeface="+mn-lt"/>
              </a:rPr>
              <a:t>μ</a:t>
            </a:r>
            <a:r>
              <a:rPr lang="zh-CN" altLang="en-US" b="0" i="0" u="none" strike="noStrike" baseline="0" dirty="0">
                <a:solidFill>
                  <a:srgbClr val="000000"/>
                </a:solidFill>
                <a:cs typeface="+mn-ea"/>
                <a:sym typeface="+mn-lt"/>
              </a:rPr>
              <a:t>的函数，即       </a:t>
            </a:r>
            <a:r>
              <a:rPr lang="en-US" altLang="zh-CN" b="0" i="0" u="none" strike="noStrike" baseline="0" dirty="0">
                <a:solidFill>
                  <a:srgbClr val="000000"/>
                </a:solidFill>
                <a:cs typeface="+mn-ea"/>
                <a:sym typeface="+mn-lt"/>
              </a:rPr>
              <a:t>=F(</a:t>
            </a:r>
            <a:r>
              <a:rPr lang="el-GR" altLang="zh-CN" b="0" i="0" u="none" strike="noStrike" baseline="0" dirty="0">
                <a:solidFill>
                  <a:srgbClr val="000000"/>
                </a:solidFill>
                <a:cs typeface="+mn-ea"/>
                <a:sym typeface="+mn-lt"/>
              </a:rPr>
              <a:t>μ);</a:t>
            </a:r>
          </a:p>
          <a:p>
            <a:pPr marL="0" marR="500" lvl="0" indent="0" rtl="0">
              <a:buNone/>
            </a:pPr>
            <a:r>
              <a:rPr lang="zh-CN" altLang="en-US" b="0" i="0" u="none" strike="noStrike" baseline="0" dirty="0">
                <a:solidFill>
                  <a:srgbClr val="000000"/>
                </a:solidFill>
                <a:cs typeface="+mn-ea"/>
                <a:sym typeface="+mn-lt"/>
              </a:rPr>
              <a:t>因此，我们把</a:t>
            </a:r>
            <a:r>
              <a:rPr lang="en-US" altLang="zh-CN" b="0" i="0" u="none" strike="noStrike" baseline="0" dirty="0">
                <a:solidFill>
                  <a:srgbClr val="000000"/>
                </a:solidFill>
                <a:cs typeface="+mn-ea"/>
                <a:sym typeface="+mn-lt"/>
              </a:rPr>
              <a:t>f(1)</a:t>
            </a:r>
            <a:r>
              <a:rPr lang="zh-CN" altLang="en-US" b="0" i="0" u="none" strike="noStrike" baseline="0" dirty="0">
                <a:solidFill>
                  <a:srgbClr val="000000"/>
                </a:solidFill>
                <a:cs typeface="+mn-ea"/>
                <a:sym typeface="+mn-lt"/>
              </a:rPr>
              <a:t>的傅里叶变换写为</a:t>
            </a:r>
          </a:p>
          <a:p>
            <a:pPr marL="0" marR="500" lvl="0" indent="0" rtl="0">
              <a:buNone/>
            </a:pPr>
            <a:r>
              <a:rPr lang="zh-CN" altLang="en-US" b="0" i="0" u="none" strike="noStrike" baseline="0" dirty="0">
                <a:solidFill>
                  <a:srgbClr val="000000"/>
                </a:solidFill>
                <a:cs typeface="+mn-ea"/>
                <a:sym typeface="+mn-lt"/>
              </a:rPr>
              <a:t>相反，已知</a:t>
            </a:r>
            <a:r>
              <a:rPr lang="en-US" altLang="zh-CN" b="0" i="0" u="none" strike="noStrike" baseline="0" dirty="0">
                <a:solidFill>
                  <a:srgbClr val="000000"/>
                </a:solidFill>
                <a:cs typeface="+mn-ea"/>
                <a:sym typeface="+mn-lt"/>
              </a:rPr>
              <a:t>F(</a:t>
            </a:r>
            <a:r>
              <a:rPr lang="el-GR" altLang="zh-CN" b="0" i="0" u="none" strike="noStrike" baseline="0" dirty="0">
                <a:solidFill>
                  <a:srgbClr val="000000"/>
                </a:solidFill>
                <a:cs typeface="+mn-ea"/>
                <a:sym typeface="+mn-lt"/>
              </a:rPr>
              <a:t>μ)</a:t>
            </a:r>
            <a:r>
              <a:rPr lang="zh-CN" altLang="en-US" b="0" i="0" u="none" strike="noStrike" baseline="0" dirty="0">
                <a:solidFill>
                  <a:srgbClr val="000000"/>
                </a:solidFill>
                <a:cs typeface="+mn-ea"/>
                <a:sym typeface="+mn-lt"/>
              </a:rPr>
              <a:t>时，可通过傅里叶反变换可以得到</a:t>
            </a:r>
            <a:r>
              <a:rPr lang="en-US" altLang="zh-CN" b="0" i="0" u="none" strike="noStrike" baseline="0" dirty="0">
                <a:solidFill>
                  <a:srgbClr val="000000"/>
                </a:solidFill>
                <a:cs typeface="+mn-ea"/>
                <a:sym typeface="+mn-lt"/>
              </a:rPr>
              <a:t>f(4),</a:t>
            </a:r>
            <a:r>
              <a:rPr lang="zh-CN" altLang="en-US" b="0" i="0" u="none" strike="noStrike" baseline="0" dirty="0">
                <a:solidFill>
                  <a:srgbClr val="000000"/>
                </a:solidFill>
                <a:cs typeface="+mn-ea"/>
                <a:sym typeface="+mn-lt"/>
              </a:rPr>
              <a:t>它写为</a:t>
            </a:r>
          </a:p>
        </p:txBody>
      </p:sp>
      <p:pic>
        <p:nvPicPr>
          <p:cNvPr id="5" name="图片 4">
            <a:extLst>
              <a:ext uri="{FF2B5EF4-FFF2-40B4-BE49-F238E27FC236}">
                <a16:creationId xmlns:a16="http://schemas.microsoft.com/office/drawing/2014/main" id="{7E10DFF6-F32F-6977-7EE2-94AAF7AA0645}"/>
              </a:ext>
            </a:extLst>
          </p:cNvPr>
          <p:cNvPicPr>
            <a:picLocks noChangeAspect="1"/>
          </p:cNvPicPr>
          <p:nvPr/>
        </p:nvPicPr>
        <p:blipFill>
          <a:blip r:embed="rId2"/>
          <a:stretch>
            <a:fillRect/>
          </a:stretch>
        </p:blipFill>
        <p:spPr>
          <a:xfrm>
            <a:off x="7905394" y="2641112"/>
            <a:ext cx="2049683" cy="386512"/>
          </a:xfrm>
          <a:prstGeom prst="rect">
            <a:avLst/>
          </a:prstGeom>
        </p:spPr>
      </p:pic>
      <p:pic>
        <p:nvPicPr>
          <p:cNvPr id="7" name="图片 6">
            <a:extLst>
              <a:ext uri="{FF2B5EF4-FFF2-40B4-BE49-F238E27FC236}">
                <a16:creationId xmlns:a16="http://schemas.microsoft.com/office/drawing/2014/main" id="{B5277AD9-69F6-16E5-5F57-BC88766F59B8}"/>
              </a:ext>
            </a:extLst>
          </p:cNvPr>
          <p:cNvPicPr>
            <a:picLocks noChangeAspect="1"/>
          </p:cNvPicPr>
          <p:nvPr/>
        </p:nvPicPr>
        <p:blipFill>
          <a:blip r:embed="rId3"/>
          <a:stretch>
            <a:fillRect/>
          </a:stretch>
        </p:blipFill>
        <p:spPr>
          <a:xfrm>
            <a:off x="5013339" y="3851663"/>
            <a:ext cx="1876562" cy="345380"/>
          </a:xfrm>
          <a:prstGeom prst="rect">
            <a:avLst/>
          </a:prstGeom>
        </p:spPr>
      </p:pic>
      <p:pic>
        <p:nvPicPr>
          <p:cNvPr id="9" name="图片 8">
            <a:extLst>
              <a:ext uri="{FF2B5EF4-FFF2-40B4-BE49-F238E27FC236}">
                <a16:creationId xmlns:a16="http://schemas.microsoft.com/office/drawing/2014/main" id="{525C5625-9DFF-B073-5211-092A8D6E1931}"/>
              </a:ext>
            </a:extLst>
          </p:cNvPr>
          <p:cNvPicPr>
            <a:picLocks noChangeAspect="1"/>
          </p:cNvPicPr>
          <p:nvPr/>
        </p:nvPicPr>
        <p:blipFill>
          <a:blip r:embed="rId4"/>
          <a:stretch>
            <a:fillRect/>
          </a:stretch>
        </p:blipFill>
        <p:spPr>
          <a:xfrm>
            <a:off x="7905394" y="4345130"/>
            <a:ext cx="1844998" cy="373823"/>
          </a:xfrm>
          <a:prstGeom prst="rect">
            <a:avLst/>
          </a:prstGeom>
        </p:spPr>
      </p:pic>
      <p:pic>
        <p:nvPicPr>
          <p:cNvPr id="11" name="图片 10">
            <a:extLst>
              <a:ext uri="{FF2B5EF4-FFF2-40B4-BE49-F238E27FC236}">
                <a16:creationId xmlns:a16="http://schemas.microsoft.com/office/drawing/2014/main" id="{9ED8C6E0-42A7-D716-1BBA-63BB6BB36EDA}"/>
              </a:ext>
            </a:extLst>
          </p:cNvPr>
          <p:cNvPicPr>
            <a:picLocks noChangeAspect="1"/>
          </p:cNvPicPr>
          <p:nvPr/>
        </p:nvPicPr>
        <p:blipFill>
          <a:blip r:embed="rId5"/>
          <a:stretch>
            <a:fillRect/>
          </a:stretch>
        </p:blipFill>
        <p:spPr>
          <a:xfrm>
            <a:off x="5625664" y="2641112"/>
            <a:ext cx="651912" cy="351030"/>
          </a:xfrm>
          <a:prstGeom prst="rect">
            <a:avLst/>
          </a:prstGeom>
        </p:spPr>
      </p:pic>
      <p:pic>
        <p:nvPicPr>
          <p:cNvPr id="13" name="图片 12">
            <a:extLst>
              <a:ext uri="{FF2B5EF4-FFF2-40B4-BE49-F238E27FC236}">
                <a16:creationId xmlns:a16="http://schemas.microsoft.com/office/drawing/2014/main" id="{23DC2818-25AB-1A43-E4D5-9C4CCBDC4734}"/>
              </a:ext>
            </a:extLst>
          </p:cNvPr>
          <p:cNvPicPr>
            <a:picLocks noChangeAspect="1"/>
          </p:cNvPicPr>
          <p:nvPr/>
        </p:nvPicPr>
        <p:blipFill>
          <a:blip r:embed="rId5"/>
          <a:stretch>
            <a:fillRect/>
          </a:stretch>
        </p:blipFill>
        <p:spPr>
          <a:xfrm>
            <a:off x="6974875" y="3295650"/>
            <a:ext cx="495300" cy="266700"/>
          </a:xfrm>
          <a:prstGeom prst="rect">
            <a:avLst/>
          </a:prstGeom>
        </p:spPr>
      </p:pic>
      <p:pic>
        <p:nvPicPr>
          <p:cNvPr id="15" name="图片 14">
            <a:extLst>
              <a:ext uri="{FF2B5EF4-FFF2-40B4-BE49-F238E27FC236}">
                <a16:creationId xmlns:a16="http://schemas.microsoft.com/office/drawing/2014/main" id="{7D6A2144-5122-5ACC-C927-0D7C8B10C281}"/>
              </a:ext>
            </a:extLst>
          </p:cNvPr>
          <p:cNvPicPr>
            <a:picLocks noChangeAspect="1"/>
          </p:cNvPicPr>
          <p:nvPr/>
        </p:nvPicPr>
        <p:blipFill>
          <a:blip r:embed="rId5"/>
          <a:stretch>
            <a:fillRect/>
          </a:stretch>
        </p:blipFill>
        <p:spPr>
          <a:xfrm>
            <a:off x="9344410" y="3239448"/>
            <a:ext cx="495300" cy="266700"/>
          </a:xfrm>
          <a:prstGeom prst="rect">
            <a:avLst/>
          </a:prstGeom>
        </p:spPr>
      </p:pic>
    </p:spTree>
    <p:extLst>
      <p:ext uri="{BB962C8B-B14F-4D97-AF65-F5344CB8AC3E}">
        <p14:creationId xmlns:p14="http://schemas.microsoft.com/office/powerpoint/2010/main" val="3763637945"/>
      </p:ext>
    </p:extLst>
  </p:cSld>
  <p:clrMapOvr>
    <a:masterClrMapping/>
  </p:clrMapOvr>
  <p:transition spd="slow" advTm="0">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86970E-0298-8381-F6C5-21B79E6667F0}"/>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卷积</a:t>
            </a:r>
          </a:p>
        </p:txBody>
      </p:sp>
      <p:sp>
        <p:nvSpPr>
          <p:cNvPr id="3" name="文本占位符 2">
            <a:extLst>
              <a:ext uri="{FF2B5EF4-FFF2-40B4-BE49-F238E27FC236}">
                <a16:creationId xmlns:a16="http://schemas.microsoft.com/office/drawing/2014/main" id="{8D8AA36A-53E4-20A7-B89D-48B1EACDE083}"/>
              </a:ext>
            </a:extLst>
          </p:cNvPr>
          <p:cNvSpPr>
            <a:spLocks noGrp="1"/>
          </p:cNvSpPr>
          <p:nvPr>
            <p:ph sz="quarter" idx="12"/>
          </p:nvPr>
        </p:nvSpPr>
        <p:spPr/>
        <p:txBody>
          <a:bodyPr/>
          <a:lstStyle/>
          <a:p>
            <a:pPr marL="0" marR="500" lvl="0" indent="0" rtl="0">
              <a:buNone/>
            </a:pPr>
            <a:r>
              <a:rPr lang="en-US" altLang="zh-CN" b="0" i="0" u="none" strike="noStrike" baseline="0" dirty="0">
                <a:solidFill>
                  <a:srgbClr val="000000"/>
                </a:solidFill>
                <a:cs typeface="+mn-ea"/>
                <a:sym typeface="+mn-lt"/>
              </a:rPr>
              <a:t>3.4</a:t>
            </a:r>
            <a:r>
              <a:rPr lang="zh-CN" altLang="en-US" b="0" i="0" u="none" strike="noStrike" baseline="0" dirty="0">
                <a:solidFill>
                  <a:srgbClr val="000000"/>
                </a:solidFill>
                <a:cs typeface="+mn-ea"/>
                <a:sym typeface="+mn-lt"/>
              </a:rPr>
              <a:t>节中表明，两个函数的卷积是指将一个函数关于其原点翻转</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旋转</a:t>
            </a:r>
            <a:r>
              <a:rPr lang="en-US" altLang="zh-CN" b="0" i="0" u="none" strike="noStrike" baseline="0" dirty="0">
                <a:solidFill>
                  <a:srgbClr val="000000"/>
                </a:solidFill>
                <a:cs typeface="+mn-ea"/>
                <a:sym typeface="+mn-lt"/>
              </a:rPr>
              <a:t>180°),</a:t>
            </a:r>
            <a:r>
              <a:rPr lang="zh-CN" altLang="en-US" b="0" i="0" u="none" strike="noStrike" baseline="0" dirty="0">
                <a:solidFill>
                  <a:srgbClr val="000000"/>
                </a:solidFill>
                <a:cs typeface="+mn-ea"/>
                <a:sym typeface="+mn-lt"/>
              </a:rPr>
              <a:t>并将其滑过另一个函数。在滑动过程中的每个位置，我们对离散变量执行乘积求和运算</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见式</a:t>
            </a:r>
            <a:r>
              <a:rPr lang="en-US" altLang="zh-CN" b="0" i="0" u="none" strike="noStrike" baseline="0" dirty="0">
                <a:solidFill>
                  <a:srgbClr val="000000"/>
                </a:solidFill>
                <a:cs typeface="+mn-ea"/>
                <a:sym typeface="+mn-lt"/>
              </a:rPr>
              <a:t>(3.35)]</a:t>
            </a:r>
            <a:r>
              <a:rPr lang="zh-CN" altLang="en-US" b="0" i="0" u="none" strike="noStrike" baseline="0" dirty="0">
                <a:solidFill>
                  <a:srgbClr val="000000"/>
                </a:solidFill>
                <a:cs typeface="+mn-ea"/>
                <a:sym typeface="+mn-lt"/>
              </a:rPr>
              <a:t>。在当前的讨论中，我们的兴趣是连续变量</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 的两个连续函数</a:t>
            </a:r>
            <a:r>
              <a:rPr lang="en-US" altLang="zh-CN" b="0" i="0" u="none" strike="noStrike" baseline="0" dirty="0">
                <a:solidFill>
                  <a:srgbClr val="000000"/>
                </a:solidFill>
                <a:cs typeface="+mn-ea"/>
                <a:sym typeface="+mn-lt"/>
              </a:rPr>
              <a:t>f(t)</a:t>
            </a:r>
            <a:r>
              <a:rPr lang="zh-CN" altLang="en-US" b="0" i="0" u="none" strike="noStrike" baseline="0" dirty="0">
                <a:solidFill>
                  <a:srgbClr val="000000"/>
                </a:solidFill>
                <a:cs typeface="+mn-ea"/>
                <a:sym typeface="+mn-lt"/>
              </a:rPr>
              <a:t> 和</a:t>
            </a:r>
            <a:r>
              <a:rPr lang="en-US" altLang="zh-CN" b="0" i="0" u="none" strike="noStrike" baseline="0" dirty="0">
                <a:solidFill>
                  <a:srgbClr val="000000"/>
                </a:solidFill>
                <a:cs typeface="+mn-ea"/>
                <a:sym typeface="+mn-lt"/>
              </a:rPr>
              <a:t>h(t)</a:t>
            </a:r>
            <a:r>
              <a:rPr lang="zh-CN" altLang="en-US" b="0" i="0" u="none" strike="noStrike" baseline="0" dirty="0">
                <a:solidFill>
                  <a:srgbClr val="000000"/>
                </a:solidFill>
                <a:cs typeface="+mn-ea"/>
                <a:sym typeface="+mn-lt"/>
              </a:rPr>
              <a:t> 的卷积，因此我们要用积分代替求和。如前所述，这样的两个函数的卷积由算子★表示，它定义为</a:t>
            </a:r>
          </a:p>
        </p:txBody>
      </p:sp>
      <p:pic>
        <p:nvPicPr>
          <p:cNvPr id="5" name="图片 4">
            <a:extLst>
              <a:ext uri="{FF2B5EF4-FFF2-40B4-BE49-F238E27FC236}">
                <a16:creationId xmlns:a16="http://schemas.microsoft.com/office/drawing/2014/main" id="{1033583E-B709-FB5B-8E09-A1CDE3D65F91}"/>
              </a:ext>
            </a:extLst>
          </p:cNvPr>
          <p:cNvPicPr>
            <a:picLocks noChangeAspect="1"/>
          </p:cNvPicPr>
          <p:nvPr/>
        </p:nvPicPr>
        <p:blipFill>
          <a:blip r:embed="rId2"/>
          <a:stretch>
            <a:fillRect/>
          </a:stretch>
        </p:blipFill>
        <p:spPr>
          <a:xfrm>
            <a:off x="4703663" y="4440665"/>
            <a:ext cx="2784671" cy="646944"/>
          </a:xfrm>
          <a:prstGeom prst="rect">
            <a:avLst/>
          </a:prstGeom>
        </p:spPr>
      </p:pic>
    </p:spTree>
    <p:extLst>
      <p:ext uri="{BB962C8B-B14F-4D97-AF65-F5344CB8AC3E}">
        <p14:creationId xmlns:p14="http://schemas.microsoft.com/office/powerpoint/2010/main" val="2484673087"/>
      </p:ext>
    </p:extLst>
  </p:cSld>
  <p:clrMapOvr>
    <a:masterClrMapping/>
  </p:clrMapOvr>
  <p:transition spd="slow" advTm="0">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462937" y="2221637"/>
            <a:ext cx="6255122" cy="3091835"/>
            <a:chOff x="5681870" y="2292214"/>
            <a:chExt cx="6255122" cy="3091835"/>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03</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5681870" y="3937499"/>
              <a:ext cx="6255122"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取样和取样函数的傅里叶变换</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326407892"/>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130877-947F-5C7A-0981-5210ED9B56A1}"/>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取 样</a:t>
            </a:r>
          </a:p>
        </p:txBody>
      </p:sp>
      <mc:AlternateContent xmlns:mc="http://schemas.openxmlformats.org/markup-compatibility/2006">
        <mc:Choice xmlns:a14="http://schemas.microsoft.com/office/drawing/2010/main" Requires="a14">
          <p:sp>
            <p:nvSpPr>
              <p:cNvPr id="3" name="文本占位符 2">
                <a:extLst>
                  <a:ext uri="{FF2B5EF4-FFF2-40B4-BE49-F238E27FC236}">
                    <a16:creationId xmlns:a16="http://schemas.microsoft.com/office/drawing/2014/main" id="{71D66CD1-3026-8E24-0C2D-D87574F874CE}"/>
                  </a:ext>
                </a:extLst>
              </p:cNvPr>
              <p:cNvSpPr>
                <a:spLocks noGrp="1"/>
              </p:cNvSpPr>
              <p:nvPr>
                <p:ph sz="quarter" idx="11"/>
              </p:nvPr>
            </p:nvSpPr>
            <p:spPr>
              <a:xfrm>
                <a:off x="801093" y="2432500"/>
                <a:ext cx="6312484" cy="3540427"/>
              </a:xfrm>
            </p:spPr>
            <p:txBody>
              <a:bodyPr>
                <a:normAutofit/>
              </a:bodyPr>
              <a:lstStyle/>
              <a:p>
                <a:pPr marL="0" marR="500" lvl="0" indent="0" rtl="0">
                  <a:buNone/>
                </a:pPr>
                <a:r>
                  <a:rPr lang="zh-CN" altLang="en-US" b="0" i="0" u="none" strike="noStrike" baseline="0" dirty="0">
                    <a:solidFill>
                      <a:srgbClr val="000000"/>
                    </a:solidFill>
                    <a:cs typeface="+mn-ea"/>
                    <a:sym typeface="+mn-lt"/>
                  </a:rPr>
                  <a:t>考虑一个连续函数</a:t>
                </a:r>
                <a:r>
                  <a:rPr lang="en-US" altLang="zh-CN" b="0" i="0" u="none" strike="noStrike" baseline="0" dirty="0">
                    <a:solidFill>
                      <a:srgbClr val="000000"/>
                    </a:solidFill>
                    <a:cs typeface="+mn-ea"/>
                    <a:sym typeface="+mn-lt"/>
                  </a:rPr>
                  <a:t>f(1),</a:t>
                </a:r>
                <a:r>
                  <a:rPr lang="zh-CN" altLang="en-US" b="0" i="0" u="none" strike="noStrike" baseline="0" dirty="0">
                    <a:solidFill>
                      <a:srgbClr val="000000"/>
                    </a:solidFill>
                    <a:cs typeface="+mn-ea"/>
                    <a:sym typeface="+mn-lt"/>
                  </a:rPr>
                  <a:t>我们希望以自变量</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的均匀间隔△</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 对函数取样</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见图</a:t>
                </a:r>
                <a:r>
                  <a:rPr lang="en-US" altLang="zh-CN" b="0" i="0" u="none" strike="noStrike" baseline="0" dirty="0">
                    <a:solidFill>
                      <a:srgbClr val="000000"/>
                    </a:solidFill>
                    <a:cs typeface="+mn-ea"/>
                    <a:sym typeface="+mn-lt"/>
                  </a:rPr>
                  <a:t>4.5)</a:t>
                </a:r>
                <a:r>
                  <a:rPr lang="zh-CN" altLang="en-US" b="0" i="0" u="none" strike="noStrike" baseline="0" dirty="0">
                    <a:solidFill>
                      <a:srgbClr val="000000"/>
                    </a:solidFill>
                    <a:cs typeface="+mn-ea"/>
                    <a:sym typeface="+mn-lt"/>
                  </a:rPr>
                  <a:t>。首先假设该函数关于</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 从</a:t>
                </a:r>
                <a:r>
                  <a:rPr lang="en-US" altLang="zh-CN" b="0" i="0" u="none" strike="noStrike" baseline="0" dirty="0">
                    <a:solidFill>
                      <a:srgbClr val="000000"/>
                    </a:solidFill>
                    <a:cs typeface="+mn-ea"/>
                    <a:sym typeface="+mn-lt"/>
                  </a:rPr>
                  <a:t>-</a:t>
                </a:r>
                <a14:m>
                  <m:oMath xmlns:m="http://schemas.openxmlformats.org/officeDocument/2006/math">
                    <m:r>
                      <a:rPr lang="en-US" altLang="zh-CN" b="0" i="1" u="none" strike="noStrike" baseline="0" smtClean="0">
                        <a:solidFill>
                          <a:srgbClr val="000000"/>
                        </a:solidFill>
                        <a:latin typeface="Cambria Math" panose="02040503050406030204" pitchFamily="18" charset="0"/>
                        <a:ea typeface="Cambria Math" panose="02040503050406030204" pitchFamily="18" charset="0"/>
                        <a:cs typeface="+mn-ea"/>
                        <a:sym typeface="+mn-lt"/>
                      </a:rPr>
                      <m:t>∞</m:t>
                    </m:r>
                  </m:oMath>
                </a14:m>
                <a:r>
                  <a:rPr lang="zh-CN" altLang="en-US" b="0" i="0" u="none" strike="noStrike" baseline="0" dirty="0">
                    <a:solidFill>
                      <a:srgbClr val="000000"/>
                    </a:solidFill>
                    <a:cs typeface="+mn-ea"/>
                    <a:sym typeface="+mn-lt"/>
                  </a:rPr>
                  <a:t>扩展到</a:t>
                </a:r>
                <a14:m>
                  <m:oMath xmlns:m="http://schemas.openxmlformats.org/officeDocument/2006/math">
                    <m:r>
                      <a:rPr lang="en-US" altLang="zh-CN" b="0" i="1" u="none" strike="noStrike" baseline="0" dirty="0" smtClean="0">
                        <a:solidFill>
                          <a:srgbClr val="000000"/>
                        </a:solidFill>
                        <a:latin typeface="Cambria Math" panose="02040503050406030204" pitchFamily="18" charset="0"/>
                        <a:ea typeface="Cambria Math" panose="02040503050406030204" pitchFamily="18" charset="0"/>
                        <a:cs typeface="+mn-ea"/>
                        <a:sym typeface="+mn-lt"/>
                      </a:rPr>
                      <m:t>∞</m:t>
                    </m:r>
                  </m:oMath>
                </a14:m>
                <a:r>
                  <a:rPr lang="zh-CN" altLang="en-US" b="0" i="0" u="none" strike="noStrike" baseline="0" dirty="0">
                    <a:solidFill>
                      <a:srgbClr val="000000"/>
                    </a:solidFill>
                    <a:cs typeface="+mn-ea"/>
                    <a:sym typeface="+mn-lt"/>
                  </a:rPr>
                  <a:t>。对取样建模的一种方法是将</a:t>
                </a:r>
                <a:r>
                  <a:rPr lang="en-US" altLang="zh-CN" b="0" i="0" u="none" strike="noStrike" baseline="0" dirty="0">
                    <a:solidFill>
                      <a:srgbClr val="000000"/>
                    </a:solidFill>
                    <a:cs typeface="+mn-ea"/>
                    <a:sym typeface="+mn-lt"/>
                  </a:rPr>
                  <a:t>f(4)</a:t>
                </a:r>
                <a:r>
                  <a:rPr lang="zh-CN" altLang="en-US" b="0" i="0" u="none" strike="noStrike" baseline="0" dirty="0">
                    <a:solidFill>
                      <a:srgbClr val="000000"/>
                    </a:solidFill>
                    <a:cs typeface="+mn-ea"/>
                    <a:sym typeface="+mn-lt"/>
                  </a:rPr>
                  <a:t>乘以一个取样函数，这个取样函数等于单位间隔△</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的一个冲激串。也就是说，</a:t>
                </a:r>
              </a:p>
              <a:p>
                <a:pPr marL="0" marR="500" lvl="0" indent="0" rtl="0">
                  <a:buNone/>
                </a:pPr>
                <a:endParaRPr lang="en-US" altLang="zh-CN" b="0" i="0" u="none" strike="noStrike" baseline="0" dirty="0">
                  <a:solidFill>
                    <a:srgbClr val="000000"/>
                  </a:solidFill>
                  <a:cs typeface="+mn-ea"/>
                  <a:sym typeface="+mn-lt"/>
                </a:endParaRPr>
              </a:p>
            </p:txBody>
          </p:sp>
        </mc:Choice>
        <mc:Fallback>
          <p:sp>
            <p:nvSpPr>
              <p:cNvPr id="3" name="文本占位符 2">
                <a:extLst>
                  <a:ext uri="{FF2B5EF4-FFF2-40B4-BE49-F238E27FC236}">
                    <a16:creationId xmlns:a16="http://schemas.microsoft.com/office/drawing/2014/main" id="{71D66CD1-3026-8E24-0C2D-D87574F874CE}"/>
                  </a:ext>
                </a:extLst>
              </p:cNvPr>
              <p:cNvSpPr>
                <a:spLocks noGrp="1" noRot="1" noChangeAspect="1" noMove="1" noResize="1" noEditPoints="1" noAdjustHandles="1" noChangeArrowheads="1" noChangeShapeType="1" noTextEdit="1"/>
              </p:cNvSpPr>
              <p:nvPr>
                <p:ph sz="quarter" idx="11"/>
              </p:nvPr>
            </p:nvSpPr>
            <p:spPr>
              <a:xfrm>
                <a:off x="801093" y="2432500"/>
                <a:ext cx="6312484" cy="3540427"/>
              </a:xfrm>
              <a:blipFill>
                <a:blip r:embed="rId2"/>
                <a:stretch>
                  <a:fillRect l="-965" r="-965"/>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27CF1F45-EAFD-D83C-BAA3-198C2CFC740F}"/>
              </a:ext>
            </a:extLst>
          </p:cNvPr>
          <p:cNvPicPr>
            <a:picLocks noChangeAspect="1"/>
          </p:cNvPicPr>
          <p:nvPr/>
        </p:nvPicPr>
        <p:blipFill>
          <a:blip r:embed="rId3"/>
          <a:stretch>
            <a:fillRect/>
          </a:stretch>
        </p:blipFill>
        <p:spPr>
          <a:xfrm>
            <a:off x="2244986" y="4861910"/>
            <a:ext cx="3116286" cy="506397"/>
          </a:xfrm>
          <a:prstGeom prst="rect">
            <a:avLst/>
          </a:prstGeom>
        </p:spPr>
      </p:pic>
      <p:pic>
        <p:nvPicPr>
          <p:cNvPr id="7" name="图片 6">
            <a:extLst>
              <a:ext uri="{FF2B5EF4-FFF2-40B4-BE49-F238E27FC236}">
                <a16:creationId xmlns:a16="http://schemas.microsoft.com/office/drawing/2014/main" id="{C4F9C4DA-F168-CDC8-DE82-A1885ACFE584}"/>
              </a:ext>
            </a:extLst>
          </p:cNvPr>
          <p:cNvPicPr>
            <a:picLocks noChangeAspect="1"/>
          </p:cNvPicPr>
          <p:nvPr/>
        </p:nvPicPr>
        <p:blipFill>
          <a:blip r:embed="rId4"/>
          <a:stretch>
            <a:fillRect/>
          </a:stretch>
        </p:blipFill>
        <p:spPr>
          <a:xfrm>
            <a:off x="7113578" y="2415834"/>
            <a:ext cx="4277330" cy="3557093"/>
          </a:xfrm>
          <a:prstGeom prst="rect">
            <a:avLst/>
          </a:prstGeom>
        </p:spPr>
      </p:pic>
      <p:sp>
        <p:nvSpPr>
          <p:cNvPr id="8" name="矩形 7">
            <a:extLst>
              <a:ext uri="{FF2B5EF4-FFF2-40B4-BE49-F238E27FC236}">
                <a16:creationId xmlns:a16="http://schemas.microsoft.com/office/drawing/2014/main" id="{79F4195D-9403-8C60-54FA-912B5EB0B760}"/>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22503638"/>
      </p:ext>
    </p:extLst>
  </p:cSld>
  <p:clrMapOvr>
    <a:masterClrMapping/>
  </p:clrMapOvr>
  <p:transition spd="slow" advTm="0">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905EC2-B6E3-4A2C-43DA-C4C09EDDC540}"/>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取样定理</a:t>
            </a:r>
          </a:p>
        </p:txBody>
      </p:sp>
      <p:sp>
        <p:nvSpPr>
          <p:cNvPr id="3" name="文本占位符 2">
            <a:extLst>
              <a:ext uri="{FF2B5EF4-FFF2-40B4-BE49-F238E27FC236}">
                <a16:creationId xmlns:a16="http://schemas.microsoft.com/office/drawing/2014/main" id="{1118105C-83BA-6BB6-7CD1-DFDD9F9D8405}"/>
              </a:ext>
            </a:extLst>
          </p:cNvPr>
          <p:cNvSpPr>
            <a:spLocks noGrp="1"/>
          </p:cNvSpPr>
          <p:nvPr>
            <p:ph sz="quarter" idx="11"/>
          </p:nvPr>
        </p:nvSpPr>
        <p:spPr>
          <a:xfrm>
            <a:off x="801093" y="2432500"/>
            <a:ext cx="6388403" cy="3540427"/>
          </a:xfrm>
        </p:spPr>
        <p:txBody>
          <a:bodyPr/>
          <a:lstStyle/>
          <a:p>
            <a:pPr marL="0" marR="500" lvl="0" indent="0" rtl="0">
              <a:buNone/>
            </a:pPr>
            <a:r>
              <a:rPr lang="zh-CN" altLang="en-US" b="0" i="0" u="none" strike="noStrike" baseline="0" dirty="0">
                <a:solidFill>
                  <a:srgbClr val="000000"/>
                </a:solidFill>
                <a:cs typeface="+mn-ea"/>
                <a:sym typeface="+mn-lt"/>
              </a:rPr>
              <a:t>对于</a:t>
            </a:r>
            <a:r>
              <a:rPr lang="zh-CN" altLang="en-US" dirty="0">
                <a:solidFill>
                  <a:srgbClr val="000000"/>
                </a:solidFill>
                <a:cs typeface="+mn-ea"/>
                <a:sym typeface="+mn-lt"/>
              </a:rPr>
              <a:t>以原点为中心的有限区间</a:t>
            </a:r>
            <a:r>
              <a:rPr lang="en-US" altLang="zh-CN" dirty="0">
                <a:solidFill>
                  <a:srgbClr val="000000"/>
                </a:solidFill>
                <a:cs typeface="+mn-ea"/>
                <a:sym typeface="+mn-lt"/>
              </a:rPr>
              <a:t>(</a:t>
            </a:r>
            <a:r>
              <a:rPr lang="zh-CN" altLang="en-US" dirty="0">
                <a:solidFill>
                  <a:srgbClr val="000000"/>
                </a:solidFill>
                <a:cs typeface="+mn-ea"/>
                <a:sym typeface="+mn-lt"/>
              </a:rPr>
              <a:t>带宽</a:t>
            </a:r>
            <a:r>
              <a:rPr lang="en-US" altLang="zh-CN" dirty="0">
                <a:solidFill>
                  <a:srgbClr val="000000"/>
                </a:solidFill>
                <a:cs typeface="+mn-ea"/>
                <a:sym typeface="+mn-lt"/>
              </a:rPr>
              <a:t>)[-</a:t>
            </a:r>
            <a:r>
              <a:rPr lang="en-US" altLang="zh-CN" dirty="0" err="1">
                <a:solidFill>
                  <a:srgbClr val="000000"/>
                </a:solidFill>
                <a:cs typeface="+mn-ea"/>
                <a:sym typeface="+mn-lt"/>
              </a:rPr>
              <a:t>u</a:t>
            </a:r>
            <a:r>
              <a:rPr lang="en-US" altLang="zh-CN" sz="1100" dirty="0" err="1">
                <a:solidFill>
                  <a:srgbClr val="000000"/>
                </a:solidFill>
                <a:cs typeface="+mn-ea"/>
                <a:sym typeface="+mn-lt"/>
              </a:rPr>
              <a:t>max</a:t>
            </a:r>
            <a:r>
              <a:rPr lang="en-US" altLang="zh-CN" dirty="0" err="1">
                <a:solidFill>
                  <a:srgbClr val="000000"/>
                </a:solidFill>
                <a:cs typeface="+mn-ea"/>
                <a:sym typeface="+mn-lt"/>
              </a:rPr>
              <a:t>,u</a:t>
            </a:r>
            <a:r>
              <a:rPr lang="en-US" altLang="zh-CN" sz="1100" dirty="0" err="1">
                <a:solidFill>
                  <a:srgbClr val="000000"/>
                </a:solidFill>
                <a:cs typeface="+mn-ea"/>
                <a:sym typeface="+mn-lt"/>
              </a:rPr>
              <a:t>max</a:t>
            </a:r>
            <a:r>
              <a:rPr lang="en-US" altLang="zh-CN" dirty="0">
                <a:solidFill>
                  <a:srgbClr val="000000"/>
                </a:solidFill>
                <a:cs typeface="+mn-ea"/>
                <a:sym typeface="+mn-lt"/>
              </a:rPr>
              <a:t>]</a:t>
            </a:r>
            <a:r>
              <a:rPr lang="zh-CN" altLang="en-US" dirty="0">
                <a:solidFill>
                  <a:srgbClr val="000000"/>
                </a:solidFill>
                <a:cs typeface="+mn-ea"/>
                <a:sym typeface="+mn-lt"/>
              </a:rPr>
              <a:t>外的频率值，傅里叶变换为零的函数</a:t>
            </a:r>
            <a:r>
              <a:rPr lang="en-US" altLang="zh-CN" dirty="0">
                <a:solidFill>
                  <a:srgbClr val="000000"/>
                </a:solidFill>
                <a:cs typeface="+mn-ea"/>
                <a:sym typeface="+mn-lt"/>
              </a:rPr>
              <a:t>f(t)</a:t>
            </a:r>
            <a:r>
              <a:rPr lang="zh-CN" altLang="en-US" dirty="0">
                <a:solidFill>
                  <a:srgbClr val="000000"/>
                </a:solidFill>
                <a:cs typeface="+mn-ea"/>
                <a:sym typeface="+mn-lt"/>
              </a:rPr>
              <a:t> 称为带限函数。图</a:t>
            </a:r>
            <a:r>
              <a:rPr lang="en-US" altLang="zh-CN" dirty="0">
                <a:solidFill>
                  <a:srgbClr val="000000"/>
                </a:solidFill>
                <a:cs typeface="+mn-ea"/>
                <a:sym typeface="+mn-lt"/>
              </a:rPr>
              <a:t>4.6(a)</a:t>
            </a:r>
            <a:r>
              <a:rPr lang="zh-CN" altLang="en-US" dirty="0">
                <a:solidFill>
                  <a:srgbClr val="000000"/>
                </a:solidFill>
                <a:cs typeface="+mn-ea"/>
                <a:sym typeface="+mn-lt"/>
              </a:rPr>
              <a:t>的放大部分即图</a:t>
            </a:r>
            <a:r>
              <a:rPr lang="en-US" altLang="zh-CN" dirty="0">
                <a:solidFill>
                  <a:srgbClr val="000000"/>
                </a:solidFill>
                <a:cs typeface="+mn-ea"/>
                <a:sym typeface="+mn-lt"/>
              </a:rPr>
              <a:t>4.7(a)</a:t>
            </a:r>
            <a:r>
              <a:rPr lang="zh-CN" altLang="en-US" dirty="0">
                <a:solidFill>
                  <a:srgbClr val="000000"/>
                </a:solidFill>
                <a:cs typeface="+mn-ea"/>
                <a:sym typeface="+mn-lt"/>
              </a:rPr>
              <a:t>就是这样一个函数。类似地，图</a:t>
            </a:r>
            <a:r>
              <a:rPr lang="en-US" altLang="zh-CN" dirty="0">
                <a:solidFill>
                  <a:srgbClr val="000000"/>
                </a:solidFill>
                <a:cs typeface="+mn-ea"/>
                <a:sym typeface="+mn-lt"/>
              </a:rPr>
              <a:t>4.7(b)</a:t>
            </a:r>
            <a:r>
              <a:rPr lang="zh-CN" altLang="en-US" dirty="0">
                <a:solidFill>
                  <a:srgbClr val="000000"/>
                </a:solidFill>
                <a:cs typeface="+mn-ea"/>
                <a:sym typeface="+mn-lt"/>
              </a:rPr>
              <a:t>是图</a:t>
            </a:r>
            <a:r>
              <a:rPr lang="en-US" altLang="zh-CN" dirty="0">
                <a:solidFill>
                  <a:srgbClr val="000000"/>
                </a:solidFill>
                <a:cs typeface="+mn-ea"/>
                <a:sym typeface="+mn-lt"/>
              </a:rPr>
              <a:t>4.6(c)</a:t>
            </a:r>
            <a:r>
              <a:rPr lang="zh-CN" altLang="en-US" dirty="0">
                <a:solidFill>
                  <a:srgbClr val="000000"/>
                </a:solidFill>
                <a:cs typeface="+mn-ea"/>
                <a:sym typeface="+mn-lt"/>
              </a:rPr>
              <a:t>所示临界取样后的函数的傅里叶变换的详细视图</a:t>
            </a:r>
            <a:r>
              <a:rPr lang="en-US" altLang="zh-CN" dirty="0">
                <a:solidFill>
                  <a:srgbClr val="000000"/>
                </a:solidFill>
                <a:cs typeface="+mn-ea"/>
                <a:sym typeface="+mn-lt"/>
              </a:rPr>
              <a:t>[</a:t>
            </a:r>
            <a:r>
              <a:rPr lang="zh-CN" altLang="en-US" dirty="0">
                <a:solidFill>
                  <a:srgbClr val="000000"/>
                </a:solidFill>
                <a:cs typeface="+mn-ea"/>
                <a:sym typeface="+mn-lt"/>
              </a:rPr>
              <a:t>见图</a:t>
            </a:r>
            <a:r>
              <a:rPr lang="en-US" altLang="zh-CN" dirty="0">
                <a:solidFill>
                  <a:srgbClr val="000000"/>
                </a:solidFill>
                <a:cs typeface="+mn-ea"/>
                <a:sym typeface="+mn-lt"/>
              </a:rPr>
              <a:t>4.6(c)]</a:t>
            </a:r>
            <a:r>
              <a:rPr lang="zh-CN" altLang="en-US" dirty="0">
                <a:solidFill>
                  <a:srgbClr val="000000"/>
                </a:solidFill>
                <a:cs typeface="+mn-ea"/>
                <a:sym typeface="+mn-lt"/>
              </a:rPr>
              <a:t>。较大的△</a:t>
            </a:r>
            <a:r>
              <a:rPr lang="en-US" altLang="zh-CN" dirty="0">
                <a:solidFill>
                  <a:srgbClr val="000000"/>
                </a:solidFill>
                <a:cs typeface="+mn-ea"/>
                <a:sym typeface="+mn-lt"/>
              </a:rPr>
              <a:t>T</a:t>
            </a:r>
            <a:r>
              <a:rPr lang="zh-CN" altLang="en-US" dirty="0">
                <a:solidFill>
                  <a:srgbClr val="000000"/>
                </a:solidFill>
                <a:cs typeface="+mn-ea"/>
                <a:sym typeface="+mn-lt"/>
              </a:rPr>
              <a:t> 值会使得</a:t>
            </a:r>
            <a:r>
              <a:rPr lang="en-US" altLang="zh-CN" dirty="0">
                <a:solidFill>
                  <a:srgbClr val="000000"/>
                </a:solidFill>
                <a:cs typeface="+mn-ea"/>
                <a:sym typeface="+mn-lt"/>
              </a:rPr>
              <a:t>F(</a:t>
            </a:r>
            <a:r>
              <a:rPr lang="el-GR" altLang="zh-CN" dirty="0">
                <a:solidFill>
                  <a:srgbClr val="000000"/>
                </a:solidFill>
                <a:cs typeface="+mn-ea"/>
                <a:sym typeface="+mn-lt"/>
              </a:rPr>
              <a:t>μ)</a:t>
            </a:r>
            <a:r>
              <a:rPr lang="zh-CN" altLang="en-US" dirty="0">
                <a:solidFill>
                  <a:srgbClr val="000000"/>
                </a:solidFill>
                <a:cs typeface="+mn-ea"/>
                <a:sym typeface="+mn-lt"/>
              </a:rPr>
              <a:t>中的周期混叠，较小的△</a:t>
            </a:r>
            <a:r>
              <a:rPr lang="en-US" altLang="zh-CN" dirty="0">
                <a:solidFill>
                  <a:srgbClr val="000000"/>
                </a:solidFill>
                <a:cs typeface="+mn-ea"/>
                <a:sym typeface="+mn-lt"/>
              </a:rPr>
              <a:t>T</a:t>
            </a:r>
            <a:r>
              <a:rPr lang="zh-CN" altLang="en-US" dirty="0">
                <a:solidFill>
                  <a:srgbClr val="000000"/>
                </a:solidFill>
                <a:cs typeface="+mn-ea"/>
                <a:sym typeface="+mn-lt"/>
              </a:rPr>
              <a:t>值会在周期之间提供更清晰的间隔。</a:t>
            </a:r>
          </a:p>
        </p:txBody>
      </p:sp>
      <p:pic>
        <p:nvPicPr>
          <p:cNvPr id="5" name="图片 4">
            <a:extLst>
              <a:ext uri="{FF2B5EF4-FFF2-40B4-BE49-F238E27FC236}">
                <a16:creationId xmlns:a16="http://schemas.microsoft.com/office/drawing/2014/main" id="{BC8E1F32-0F21-2D2B-75D9-471094778AA6}"/>
              </a:ext>
            </a:extLst>
          </p:cNvPr>
          <p:cNvPicPr>
            <a:picLocks noChangeAspect="1"/>
          </p:cNvPicPr>
          <p:nvPr/>
        </p:nvPicPr>
        <p:blipFill>
          <a:blip r:embed="rId2"/>
          <a:stretch>
            <a:fillRect/>
          </a:stretch>
        </p:blipFill>
        <p:spPr>
          <a:xfrm>
            <a:off x="7189498" y="2432499"/>
            <a:ext cx="4201408" cy="3540427"/>
          </a:xfrm>
          <a:prstGeom prst="rect">
            <a:avLst/>
          </a:prstGeom>
        </p:spPr>
      </p:pic>
      <p:sp>
        <p:nvSpPr>
          <p:cNvPr id="6" name="矩形 5">
            <a:extLst>
              <a:ext uri="{FF2B5EF4-FFF2-40B4-BE49-F238E27FC236}">
                <a16:creationId xmlns:a16="http://schemas.microsoft.com/office/drawing/2014/main" id="{D00D26E6-5A88-84BF-E42A-B6F5B0341448}"/>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662062790"/>
      </p:ext>
    </p:extLst>
  </p:cSld>
  <p:clrMapOvr>
    <a:masterClrMapping/>
  </p:clrMapOvr>
  <p:transition spd="slow" advTm="0">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7D6A5E-3F00-BFB3-253A-93AB05987B83}"/>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混叠</a:t>
            </a:r>
          </a:p>
        </p:txBody>
      </p:sp>
      <p:sp>
        <p:nvSpPr>
          <p:cNvPr id="3" name="文本占位符 2">
            <a:extLst>
              <a:ext uri="{FF2B5EF4-FFF2-40B4-BE49-F238E27FC236}">
                <a16:creationId xmlns:a16="http://schemas.microsoft.com/office/drawing/2014/main" id="{23137C71-99BD-078B-07B0-7043513C9B3B}"/>
              </a:ext>
            </a:extLst>
          </p:cNvPr>
          <p:cNvSpPr>
            <a:spLocks noGrp="1"/>
          </p:cNvSpPr>
          <p:nvPr>
            <p:ph sz="quarter" idx="12"/>
          </p:nvPr>
        </p:nvSpPr>
        <p:spPr/>
        <p:txBody>
          <a:bodyPr>
            <a:normAutofit/>
          </a:bodyPr>
          <a:lstStyle/>
          <a:p>
            <a:pPr marL="0" marR="500" lvl="0" indent="0" rtl="0">
              <a:buNone/>
            </a:pPr>
            <a:r>
              <a:rPr lang="zh-CN" altLang="en-US" b="0" i="0" u="none" strike="noStrike" baseline="0" dirty="0">
                <a:solidFill>
                  <a:srgbClr val="000000"/>
                </a:solidFill>
                <a:cs typeface="+mn-ea"/>
                <a:sym typeface="+mn-lt"/>
              </a:rPr>
              <a:t>如图</a:t>
            </a:r>
            <a:r>
              <a:rPr lang="en-US" altLang="zh-CN" b="0" i="0" u="none" strike="noStrike" baseline="0" dirty="0">
                <a:solidFill>
                  <a:srgbClr val="000000"/>
                </a:solidFill>
                <a:cs typeface="+mn-ea"/>
                <a:sym typeface="+mn-lt"/>
              </a:rPr>
              <a:t>4.9(a)</a:t>
            </a:r>
            <a:r>
              <a:rPr lang="zh-CN" altLang="en-US" b="0" i="0" u="none" strike="noStrike" baseline="0" dirty="0">
                <a:solidFill>
                  <a:srgbClr val="000000"/>
                </a:solidFill>
                <a:cs typeface="+mn-ea"/>
                <a:sym typeface="+mn-lt"/>
              </a:rPr>
              <a:t>和</a:t>
            </a:r>
            <a:r>
              <a:rPr lang="en-US" altLang="zh-CN" b="0" i="0" u="none" strike="noStrike" baseline="0" dirty="0">
                <a:solidFill>
                  <a:srgbClr val="000000"/>
                </a:solidFill>
                <a:cs typeface="+mn-ea"/>
                <a:sym typeface="+mn-lt"/>
              </a:rPr>
              <a:t>(c)</a:t>
            </a:r>
            <a:r>
              <a:rPr lang="zh-CN" altLang="en-US" b="0" i="0" u="none" strike="noStrike" baseline="0" dirty="0">
                <a:solidFill>
                  <a:srgbClr val="000000"/>
                </a:solidFill>
                <a:cs typeface="+mn-ea"/>
                <a:sym typeface="+mn-lt"/>
              </a:rPr>
              <a:t>所示，由于两个函数在许多位置的取样值相同，因此产生了相同的取样后的函数，如图</a:t>
            </a:r>
            <a:r>
              <a:rPr lang="en-US" altLang="zh-CN" b="0" i="0" u="none" strike="noStrike" baseline="0" dirty="0">
                <a:solidFill>
                  <a:srgbClr val="000000"/>
                </a:solidFill>
                <a:cs typeface="+mn-ea"/>
                <a:sym typeface="+mn-lt"/>
              </a:rPr>
              <a:t>4.9(b)</a:t>
            </a:r>
            <a:r>
              <a:rPr lang="zh-CN" altLang="en-US" b="0" i="0" u="none" strike="noStrike" baseline="0" dirty="0">
                <a:solidFill>
                  <a:srgbClr val="000000"/>
                </a:solidFill>
                <a:cs typeface="+mn-ea"/>
                <a:sym typeface="+mn-lt"/>
              </a:rPr>
              <a:t>和</a:t>
            </a:r>
            <a:r>
              <a:rPr lang="en-US" altLang="zh-CN" b="0" i="0" u="none" strike="noStrike" baseline="0" dirty="0">
                <a:solidFill>
                  <a:srgbClr val="000000"/>
                </a:solidFill>
                <a:cs typeface="+mn-ea"/>
                <a:sym typeface="+mn-lt"/>
              </a:rPr>
              <a:t>(d)</a:t>
            </a:r>
            <a:r>
              <a:rPr lang="zh-CN" altLang="en-US" b="0" i="0" u="none" strike="noStrike" baseline="0" dirty="0">
                <a:solidFill>
                  <a:srgbClr val="000000"/>
                </a:solidFill>
                <a:cs typeface="+mn-ea"/>
                <a:sym typeface="+mn-lt"/>
              </a:rPr>
              <a:t>所示。</a:t>
            </a:r>
          </a:p>
        </p:txBody>
      </p:sp>
      <p:pic>
        <p:nvPicPr>
          <p:cNvPr id="5" name="图片 4">
            <a:extLst>
              <a:ext uri="{FF2B5EF4-FFF2-40B4-BE49-F238E27FC236}">
                <a16:creationId xmlns:a16="http://schemas.microsoft.com/office/drawing/2014/main" id="{A17A95A1-2603-220C-1FE7-31DCA25D8BD7}"/>
              </a:ext>
            </a:extLst>
          </p:cNvPr>
          <p:cNvPicPr>
            <a:picLocks noChangeAspect="1"/>
          </p:cNvPicPr>
          <p:nvPr/>
        </p:nvPicPr>
        <p:blipFill>
          <a:blip r:embed="rId2"/>
          <a:stretch>
            <a:fillRect/>
          </a:stretch>
        </p:blipFill>
        <p:spPr>
          <a:xfrm>
            <a:off x="3082565" y="3654827"/>
            <a:ext cx="6026870" cy="2591866"/>
          </a:xfrm>
          <a:prstGeom prst="rect">
            <a:avLst/>
          </a:prstGeom>
        </p:spPr>
      </p:pic>
    </p:spTree>
    <p:extLst>
      <p:ext uri="{BB962C8B-B14F-4D97-AF65-F5344CB8AC3E}">
        <p14:creationId xmlns:p14="http://schemas.microsoft.com/office/powerpoint/2010/main" val="2303580022"/>
      </p:ext>
    </p:extLst>
  </p:cSld>
  <p:clrMapOvr>
    <a:masterClrMapping/>
  </p:clrMapOvr>
  <p:transition spd="slow" advTm="0">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08FEBE-F126-EC5E-B262-5BD4FD1CEE23}"/>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由取样后的数据重建</a:t>
            </a:r>
            <a:r>
              <a:rPr lang="en-US" altLang="zh-CN" b="1" i="0" u="none" strike="noStrike" baseline="0">
                <a:solidFill>
                  <a:srgbClr val="0070C0"/>
                </a:solidFill>
                <a:latin typeface="+mn-lt"/>
                <a:ea typeface="+mn-ea"/>
                <a:cs typeface="+mn-ea"/>
                <a:sym typeface="+mn-lt"/>
              </a:rPr>
              <a:t>(</a:t>
            </a:r>
            <a:r>
              <a:rPr lang="zh-CN" altLang="en-US" b="1" i="0" u="none" strike="noStrike" baseline="0">
                <a:solidFill>
                  <a:srgbClr val="0070C0"/>
                </a:solidFill>
                <a:latin typeface="+mn-lt"/>
                <a:ea typeface="+mn-ea"/>
                <a:cs typeface="+mn-ea"/>
                <a:sym typeface="+mn-lt"/>
              </a:rPr>
              <a:t>复原</a:t>
            </a:r>
            <a:r>
              <a:rPr lang="en-US" altLang="zh-CN" b="1" i="0" u="none" strike="noStrike" baseline="0">
                <a:solidFill>
                  <a:srgbClr val="0070C0"/>
                </a:solidFill>
                <a:latin typeface="+mn-lt"/>
                <a:ea typeface="+mn-ea"/>
                <a:cs typeface="+mn-ea"/>
                <a:sym typeface="+mn-lt"/>
              </a:rPr>
              <a:t>)</a:t>
            </a:r>
            <a:r>
              <a:rPr lang="zh-CN" altLang="en-US" b="1" i="0" u="none" strike="noStrike" baseline="0">
                <a:solidFill>
                  <a:srgbClr val="0070C0"/>
                </a:solidFill>
                <a:latin typeface="+mn-lt"/>
                <a:ea typeface="+mn-ea"/>
                <a:cs typeface="+mn-ea"/>
                <a:sym typeface="+mn-lt"/>
              </a:rPr>
              <a:t>函数</a:t>
            </a:r>
          </a:p>
        </p:txBody>
      </p:sp>
      <p:sp>
        <p:nvSpPr>
          <p:cNvPr id="3" name="文本占位符 2">
            <a:extLst>
              <a:ext uri="{FF2B5EF4-FFF2-40B4-BE49-F238E27FC236}">
                <a16:creationId xmlns:a16="http://schemas.microsoft.com/office/drawing/2014/main" id="{450FB297-6B64-B7EB-77B7-52A544779196}"/>
              </a:ext>
            </a:extLst>
          </p:cNvPr>
          <p:cNvSpPr>
            <a:spLocks noGrp="1"/>
          </p:cNvSpPr>
          <p:nvPr>
            <p:ph sz="quarter" idx="11"/>
          </p:nvPr>
        </p:nvSpPr>
        <p:spPr/>
        <p:txBody>
          <a:bodyPr/>
          <a:lstStyle/>
          <a:p>
            <a:pPr marR="500" lvl="0" rtl="0"/>
            <a:r>
              <a:rPr lang="zh-CN" altLang="en-US" b="0" i="0" u="none" strike="noStrike" baseline="0" dirty="0">
                <a:solidFill>
                  <a:srgbClr val="000000"/>
                </a:solidFill>
                <a:cs typeface="+mn-ea"/>
                <a:sym typeface="+mn-lt"/>
              </a:rPr>
              <a:t>本节介绍如何在实践中减少样本间的内插，由一组样本来重建函数。即使是显示图像的简单动作，也要通过显示介质由其样本重建图像。因此，理解取样后的数据重建的基础非常重要。卷积是我们进行这一理解的核心，这再次表明了卷积概念的重要性。</a:t>
            </a:r>
          </a:p>
          <a:p>
            <a:pPr marR="500" lvl="0" rtl="0"/>
            <a:r>
              <a:rPr lang="zh-CN" altLang="en-US" b="0" i="0" u="none" strike="noStrike" baseline="0" dirty="0">
                <a:solidFill>
                  <a:srgbClr val="000000"/>
                </a:solidFill>
                <a:cs typeface="+mn-ea"/>
                <a:sym typeface="+mn-lt"/>
              </a:rPr>
              <a:t>关于图</a:t>
            </a:r>
            <a:r>
              <a:rPr lang="en-US" altLang="zh-CN" b="0" i="0" u="none" strike="noStrike" baseline="0" dirty="0">
                <a:solidFill>
                  <a:srgbClr val="000000"/>
                </a:solidFill>
                <a:cs typeface="+mn-ea"/>
                <a:sym typeface="+mn-lt"/>
              </a:rPr>
              <a:t>4.8</a:t>
            </a:r>
            <a:r>
              <a:rPr lang="zh-CN" altLang="en-US" b="0" i="0" u="none" strike="noStrike" baseline="0" dirty="0">
                <a:solidFill>
                  <a:srgbClr val="000000"/>
                </a:solidFill>
                <a:cs typeface="+mn-ea"/>
                <a:sym typeface="+mn-lt"/>
              </a:rPr>
              <a:t>和式</a:t>
            </a:r>
            <a:r>
              <a:rPr lang="en-US" altLang="zh-CN" b="0" i="0" u="none" strike="noStrike" baseline="0" dirty="0">
                <a:solidFill>
                  <a:srgbClr val="000000"/>
                </a:solidFill>
                <a:cs typeface="+mn-ea"/>
                <a:sym typeface="+mn-lt"/>
              </a:rPr>
              <a:t>(4.34)</a:t>
            </a:r>
            <a:r>
              <a:rPr lang="zh-CN" altLang="en-US" b="0" i="0" u="none" strike="noStrike" baseline="0" dirty="0">
                <a:solidFill>
                  <a:srgbClr val="000000"/>
                </a:solidFill>
                <a:cs typeface="+mn-ea"/>
                <a:sym typeface="+mn-lt"/>
              </a:rPr>
              <a:t>的讨论，给出了使用频率域方法由样本完美复原一个带限函数的过程。使用卷积定理，我们可在空间域中得到相同的结果。由式</a:t>
            </a:r>
            <a:r>
              <a:rPr lang="en-US" altLang="zh-CN" b="0" i="0" u="none" strike="noStrike" baseline="0" dirty="0">
                <a:solidFill>
                  <a:srgbClr val="000000"/>
                </a:solidFill>
                <a:cs typeface="+mn-ea"/>
                <a:sym typeface="+mn-lt"/>
              </a:rPr>
              <a:t>(4.34)</a:t>
            </a:r>
            <a:r>
              <a:rPr lang="zh-CN" altLang="en-US" b="0" i="0" u="none" strike="noStrike" baseline="0" dirty="0">
                <a:solidFill>
                  <a:srgbClr val="000000"/>
                </a:solidFill>
                <a:cs typeface="+mn-ea"/>
                <a:sym typeface="+mn-lt"/>
              </a:rPr>
              <a:t>即                      可知</a:t>
            </a:r>
          </a:p>
        </p:txBody>
      </p:sp>
      <p:pic>
        <p:nvPicPr>
          <p:cNvPr id="5" name="图片 4">
            <a:extLst>
              <a:ext uri="{FF2B5EF4-FFF2-40B4-BE49-F238E27FC236}">
                <a16:creationId xmlns:a16="http://schemas.microsoft.com/office/drawing/2014/main" id="{C26279F3-581A-22FE-8957-85120515346C}"/>
              </a:ext>
            </a:extLst>
          </p:cNvPr>
          <p:cNvPicPr>
            <a:picLocks noChangeAspect="1"/>
          </p:cNvPicPr>
          <p:nvPr/>
        </p:nvPicPr>
        <p:blipFill>
          <a:blip r:embed="rId2"/>
          <a:stretch>
            <a:fillRect/>
          </a:stretch>
        </p:blipFill>
        <p:spPr>
          <a:xfrm>
            <a:off x="8353423" y="4562754"/>
            <a:ext cx="1389240" cy="326880"/>
          </a:xfrm>
          <a:prstGeom prst="rect">
            <a:avLst/>
          </a:prstGeom>
        </p:spPr>
      </p:pic>
      <p:pic>
        <p:nvPicPr>
          <p:cNvPr id="7" name="图片 6">
            <a:extLst>
              <a:ext uri="{FF2B5EF4-FFF2-40B4-BE49-F238E27FC236}">
                <a16:creationId xmlns:a16="http://schemas.microsoft.com/office/drawing/2014/main" id="{0876AE6D-1CF3-80A1-8D0B-526EC2904111}"/>
              </a:ext>
            </a:extLst>
          </p:cNvPr>
          <p:cNvPicPr>
            <a:picLocks noChangeAspect="1"/>
          </p:cNvPicPr>
          <p:nvPr/>
        </p:nvPicPr>
        <p:blipFill>
          <a:blip r:embed="rId3"/>
          <a:stretch>
            <a:fillRect/>
          </a:stretch>
        </p:blipFill>
        <p:spPr>
          <a:xfrm>
            <a:off x="4352720" y="5099240"/>
            <a:ext cx="3486560" cy="405970"/>
          </a:xfrm>
          <a:prstGeom prst="rect">
            <a:avLst/>
          </a:prstGeom>
        </p:spPr>
      </p:pic>
      <p:sp>
        <p:nvSpPr>
          <p:cNvPr id="8" name="矩形 7">
            <a:extLst>
              <a:ext uri="{FF2B5EF4-FFF2-40B4-BE49-F238E27FC236}">
                <a16:creationId xmlns:a16="http://schemas.microsoft.com/office/drawing/2014/main" id="{F1AD38D6-CA1E-9CED-470C-503DBCDE6E7D}"/>
              </a:ext>
            </a:extLst>
          </p:cNvPr>
          <p:cNvSpPr/>
          <p:nvPr/>
        </p:nvSpPr>
        <p:spPr>
          <a:xfrm>
            <a:off x="801092" y="2446417"/>
            <a:ext cx="10589815" cy="3213238"/>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86071867"/>
      </p:ext>
    </p:extLst>
  </p:cSld>
  <p:clrMapOvr>
    <a:masterClrMapping/>
  </p:clrMapOvr>
  <p:transition spd="slow" advTm="0">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3091835"/>
            <a:chOff x="6133596" y="2292214"/>
            <a:chExt cx="5326558" cy="3091835"/>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04</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单变量的离散傅里叶变换</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2275896751"/>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FC8D83-4DAE-EE3A-F701-B9FBF63EC885}"/>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由取样后的函数的连续变换得到 </a:t>
            </a:r>
            <a:r>
              <a:rPr lang="en-US" altLang="zh-CN" b="1" i="0" u="none" strike="noStrike" baseline="0">
                <a:solidFill>
                  <a:srgbClr val="0070C0"/>
                </a:solidFill>
                <a:latin typeface="+mn-lt"/>
                <a:ea typeface="+mn-ea"/>
                <a:cs typeface="+mn-ea"/>
                <a:sym typeface="+mn-lt"/>
              </a:rPr>
              <a:t>DFT</a:t>
            </a:r>
            <a:endParaRPr lang="zh-CN" altLang="en-US" b="1" i="0" u="none" strike="noStrike" baseline="0">
              <a:solidFill>
                <a:srgbClr val="0070C0"/>
              </a:solidFill>
              <a:latin typeface="+mn-lt"/>
              <a:ea typeface="+mn-ea"/>
              <a:cs typeface="+mn-ea"/>
              <a:sym typeface="+mn-lt"/>
            </a:endParaRPr>
          </a:p>
        </p:txBody>
      </p:sp>
      <mc:AlternateContent xmlns:mc="http://schemas.openxmlformats.org/markup-compatibility/2006">
        <mc:Choice xmlns:a14="http://schemas.microsoft.com/office/drawing/2010/main" Requires="a14">
          <p:sp>
            <p:nvSpPr>
              <p:cNvPr id="3" name="文本占位符 2">
                <a:extLst>
                  <a:ext uri="{FF2B5EF4-FFF2-40B4-BE49-F238E27FC236}">
                    <a16:creationId xmlns:a16="http://schemas.microsoft.com/office/drawing/2014/main" id="{8043C006-6E84-3A35-AEB0-A000887F855D}"/>
                  </a:ext>
                </a:extLst>
              </p:cNvPr>
              <p:cNvSpPr>
                <a:spLocks noGrp="1"/>
              </p:cNvSpPr>
              <p:nvPr>
                <p:ph sz="quarter" idx="12"/>
              </p:nvPr>
            </p:nvSpPr>
            <p:spPr/>
            <p:txBody>
              <a:bodyPr>
                <a:noAutofit/>
              </a:bodyPr>
              <a:lstStyle/>
              <a:p>
                <a:pPr marL="0" marR="500" lvl="0" indent="0" rtl="0">
                  <a:buNone/>
                </a:pPr>
                <a:r>
                  <a:rPr lang="zh-CN" altLang="en-US" b="0" i="0" u="none" strike="noStrike" baseline="0" dirty="0">
                    <a:solidFill>
                      <a:srgbClr val="000000"/>
                    </a:solidFill>
                    <a:cs typeface="+mn-ea"/>
                    <a:sym typeface="+mn-lt"/>
                  </a:rPr>
                  <a:t>如</a:t>
                </a:r>
                <a:r>
                  <a:rPr lang="en-US" altLang="zh-CN" b="0" i="0" u="none" strike="noStrike" baseline="0" dirty="0">
                    <a:solidFill>
                      <a:srgbClr val="000000"/>
                    </a:solidFill>
                    <a:cs typeface="+mn-ea"/>
                    <a:sym typeface="+mn-lt"/>
                  </a:rPr>
                  <a:t>4.3</a:t>
                </a:r>
                <a:r>
                  <a:rPr lang="zh-CN" altLang="en-US" b="0" i="0" u="none" strike="noStrike" baseline="0" dirty="0">
                    <a:solidFill>
                      <a:srgbClr val="000000"/>
                    </a:solidFill>
                    <a:cs typeface="+mn-ea"/>
                    <a:sym typeface="+mn-lt"/>
                  </a:rPr>
                  <a:t> 节所述，从</a:t>
                </a:r>
                <a:r>
                  <a:rPr lang="zh-CN" altLang="en-US" dirty="0">
                    <a:solidFill>
                      <a:srgbClr val="000000"/>
                    </a:solidFill>
                    <a:cs typeface="+mn-ea"/>
                    <a:sym typeface="+mn-lt"/>
                  </a:rPr>
                  <a:t>一</a:t>
                </a:r>
                <a:r>
                  <a:rPr lang="zh-CN" altLang="en-US" b="0" i="0" u="none" strike="noStrike" baseline="0" dirty="0">
                    <a:solidFill>
                      <a:srgbClr val="000000"/>
                    </a:solidFill>
                    <a:cs typeface="+mn-ea"/>
                    <a:sym typeface="+mn-lt"/>
                  </a:rPr>
                  <a:t>扩展到的带限函数取样的傅里叶变换，也是从</a:t>
                </a:r>
                <a:r>
                  <a:rPr lang="en-US" altLang="zh-CN" b="0" i="0" u="none" strike="noStrike" baseline="0" dirty="0">
                    <a:solidFill>
                      <a:srgbClr val="000000"/>
                    </a:solidFill>
                    <a:cs typeface="+mn-ea"/>
                    <a:sym typeface="+mn-lt"/>
                  </a:rPr>
                  <a:t>-</a:t>
                </a:r>
                <a14:m>
                  <m:oMath xmlns:m="http://schemas.openxmlformats.org/officeDocument/2006/math">
                    <m:r>
                      <a:rPr lang="en-US" altLang="zh-CN" b="0" i="1" u="none" strike="noStrike" baseline="0" dirty="0" smtClean="0">
                        <a:solidFill>
                          <a:srgbClr val="000000"/>
                        </a:solidFill>
                        <a:latin typeface="Cambria Math" panose="02040503050406030204" pitchFamily="18" charset="0"/>
                        <a:ea typeface="Cambria Math" panose="02040503050406030204" pitchFamily="18" charset="0"/>
                        <a:cs typeface="+mn-ea"/>
                        <a:sym typeface="+mn-lt"/>
                      </a:rPr>
                      <m:t>∞</m:t>
                    </m:r>
                  </m:oMath>
                </a14:m>
                <a:r>
                  <a:rPr lang="zh-CN" altLang="en-US" b="0" i="0" u="none" strike="noStrike" baseline="0" dirty="0">
                    <a:solidFill>
                      <a:srgbClr val="000000"/>
                    </a:solidFill>
                    <a:cs typeface="+mn-ea"/>
                    <a:sym typeface="+mn-lt"/>
                  </a:rPr>
                  <a:t>扩展到</a:t>
                </a:r>
                <a14:m>
                  <m:oMath xmlns:m="http://schemas.openxmlformats.org/officeDocument/2006/math">
                    <m:r>
                      <a:rPr lang="zh-CN" altLang="en-US" b="0" i="1" u="none" strike="noStrike" baseline="0" dirty="0" smtClean="0">
                        <a:solidFill>
                          <a:srgbClr val="000000"/>
                        </a:solidFill>
                        <a:latin typeface="Cambria Math" panose="02040503050406030204" pitchFamily="18" charset="0"/>
                        <a:cs typeface="+mn-ea"/>
                        <a:sym typeface="+mn-lt"/>
                      </a:rPr>
                      <m:t>∞</m:t>
                    </m:r>
                  </m:oMath>
                </a14:m>
                <a:r>
                  <a:rPr lang="zh-CN" altLang="en-US" b="0" i="0" u="none" strike="noStrike" baseline="0" dirty="0">
                    <a:solidFill>
                      <a:srgbClr val="000000"/>
                    </a:solidFill>
                    <a:cs typeface="+mn-ea"/>
                    <a:sym typeface="+mn-lt"/>
                  </a:rPr>
                  <a:t>的连续周期 函数。实践中，我们处理的是有限数量的样本，本节的目的是推导这种有限样本集合的</a:t>
                </a:r>
                <a:r>
                  <a:rPr lang="en-US" altLang="zh-CN" b="0" i="0" u="none" strike="noStrike" baseline="0" dirty="0">
                    <a:solidFill>
                      <a:srgbClr val="000000"/>
                    </a:solidFill>
                    <a:cs typeface="+mn-ea"/>
                    <a:sym typeface="+mn-lt"/>
                  </a:rPr>
                  <a:t>DFT</a:t>
                </a:r>
                <a:r>
                  <a:rPr lang="zh-CN" altLang="en-US" b="0" i="0" u="none" strike="noStrike" baseline="0" dirty="0">
                    <a:solidFill>
                      <a:srgbClr val="000000"/>
                    </a:solidFill>
                    <a:cs typeface="+mn-ea"/>
                    <a:sym typeface="+mn-lt"/>
                  </a:rPr>
                  <a:t>。</a:t>
                </a:r>
              </a:p>
              <a:p>
                <a:pPr marL="0" marR="500" lvl="0" indent="0" rtl="0">
                  <a:buNone/>
                </a:pPr>
                <a:endParaRPr lang="en-US" altLang="zh-CN" b="0" i="0" u="none" strike="noStrike" baseline="0" dirty="0">
                  <a:solidFill>
                    <a:srgbClr val="000000"/>
                  </a:solidFill>
                  <a:cs typeface="+mn-ea"/>
                  <a:sym typeface="+mn-lt"/>
                </a:endParaRPr>
              </a:p>
              <a:p>
                <a:pPr marL="0" marR="500" lvl="0" indent="0" rtl="0">
                  <a:buNone/>
                </a:pPr>
                <a:endParaRPr lang="en-US" altLang="zh-CN" b="0" i="0" u="none" strike="noStrike" baseline="0" dirty="0">
                  <a:solidFill>
                    <a:srgbClr val="000000"/>
                  </a:solidFill>
                  <a:cs typeface="+mn-ea"/>
                  <a:sym typeface="+mn-lt"/>
                </a:endParaRPr>
              </a:p>
              <a:p>
                <a:pPr marL="0" marR="500" lvl="0" indent="0" rtl="0">
                  <a:buNone/>
                </a:pPr>
                <a:r>
                  <a:rPr lang="zh-CN" altLang="en-US" b="0" i="0" u="none" strike="noStrike" baseline="0" dirty="0">
                    <a:solidFill>
                      <a:srgbClr val="000000"/>
                    </a:solidFill>
                    <a:cs typeface="+mn-ea"/>
                    <a:sym typeface="+mn-lt"/>
                  </a:rPr>
                  <a:t>式</a:t>
                </a:r>
                <a:r>
                  <a:rPr lang="en-US" altLang="zh-CN" b="0" i="0" u="none" strike="noStrike" baseline="0" dirty="0">
                    <a:solidFill>
                      <a:srgbClr val="000000"/>
                    </a:solidFill>
                    <a:cs typeface="+mn-ea"/>
                    <a:sym typeface="+mn-lt"/>
                  </a:rPr>
                  <a:t>(4.31)</a:t>
                </a:r>
                <a:r>
                  <a:rPr lang="zh-CN" altLang="en-US" b="0" i="0" u="none" strike="noStrike" baseline="0" dirty="0">
                    <a:solidFill>
                      <a:srgbClr val="000000"/>
                    </a:solidFill>
                    <a:cs typeface="+mn-ea"/>
                    <a:sym typeface="+mn-lt"/>
                  </a:rPr>
                  <a:t>给出了对原函数的变换取样后的数据的变换</a:t>
                </a:r>
                <a:r>
                  <a:rPr lang="en-US" altLang="zh-CN" b="0" i="0" u="none" strike="noStrike" baseline="0" dirty="0">
                    <a:solidFill>
                      <a:srgbClr val="000000"/>
                    </a:solidFill>
                    <a:cs typeface="+mn-ea"/>
                    <a:sym typeface="+mn-lt"/>
                  </a:rPr>
                  <a:t>F(</a:t>
                </a:r>
                <a:r>
                  <a:rPr lang="el-GR" altLang="zh-CN" b="0" i="0" u="none" strike="noStrike" baseline="0" dirty="0">
                    <a:solidFill>
                      <a:srgbClr val="000000"/>
                    </a:solidFill>
                    <a:cs typeface="+mn-ea"/>
                    <a:sym typeface="+mn-lt"/>
                  </a:rPr>
                  <a:t>μ),</a:t>
                </a:r>
                <a:r>
                  <a:rPr lang="zh-CN" altLang="en-US" b="0" i="0" u="none" strike="noStrike" baseline="0" dirty="0">
                    <a:solidFill>
                      <a:srgbClr val="000000"/>
                    </a:solidFill>
                    <a:cs typeface="+mn-ea"/>
                    <a:sym typeface="+mn-lt"/>
                  </a:rPr>
                  <a:t>但未给出取样后的函数</a:t>
                </a:r>
                <a:r>
                  <a:rPr lang="en-US" altLang="zh-CN" b="0" i="0" u="none" strike="noStrike" baseline="0" dirty="0">
                    <a:solidFill>
                      <a:srgbClr val="000000"/>
                    </a:solidFill>
                    <a:cs typeface="+mn-ea"/>
                    <a:sym typeface="+mn-lt"/>
                  </a:rPr>
                  <a:t>f(t)</a:t>
                </a:r>
                <a:r>
                  <a:rPr lang="zh-CN" altLang="en-US" b="0" i="0" u="none" strike="noStrike" baseline="0" dirty="0">
                    <a:solidFill>
                      <a:srgbClr val="000000"/>
                    </a:solidFill>
                    <a:cs typeface="+mn-ea"/>
                    <a:sym typeface="+mn-lt"/>
                  </a:rPr>
                  <a:t>的变换 </a:t>
                </a:r>
                <a:r>
                  <a:rPr lang="en-US" altLang="zh-CN" b="0" i="0" u="none" strike="noStrike" baseline="0" dirty="0">
                    <a:solidFill>
                      <a:srgbClr val="000000"/>
                    </a:solidFill>
                    <a:cs typeface="+mn-ea"/>
                    <a:sym typeface="+mn-lt"/>
                  </a:rPr>
                  <a:t>F(</a:t>
                </a:r>
                <a:r>
                  <a:rPr lang="el-GR" altLang="zh-CN" b="0" i="0" u="none" strike="noStrike" baseline="0" dirty="0">
                    <a:solidFill>
                      <a:srgbClr val="000000"/>
                    </a:solidFill>
                    <a:cs typeface="+mn-ea"/>
                    <a:sym typeface="+mn-lt"/>
                  </a:rPr>
                  <a:t>μ)</a:t>
                </a:r>
                <a:r>
                  <a:rPr lang="zh-CN" altLang="en-US" b="0" i="0" u="none" strike="noStrike" baseline="0" dirty="0">
                    <a:solidFill>
                      <a:srgbClr val="000000"/>
                    </a:solidFill>
                    <a:cs typeface="+mn-ea"/>
                    <a:sym typeface="+mn-lt"/>
                  </a:rPr>
                  <a:t> 的表达式。我们直接由式</a:t>
                </a:r>
                <a:r>
                  <a:rPr lang="en-US" altLang="zh-CN" b="0" i="0" u="none" strike="noStrike" baseline="0" dirty="0">
                    <a:solidFill>
                      <a:srgbClr val="000000"/>
                    </a:solidFill>
                    <a:cs typeface="+mn-ea"/>
                    <a:sym typeface="+mn-lt"/>
                  </a:rPr>
                  <a:t>(4.19)</a:t>
                </a:r>
                <a:r>
                  <a:rPr lang="zh-CN" altLang="en-US" b="0" i="0" u="none" strike="noStrike" baseline="0" dirty="0">
                    <a:solidFill>
                      <a:srgbClr val="000000"/>
                    </a:solidFill>
                    <a:cs typeface="+mn-ea"/>
                    <a:sym typeface="+mn-lt"/>
                  </a:rPr>
                  <a:t>给出的傅里叶变换的定义来求这一表达式：</a:t>
                </a:r>
              </a:p>
            </p:txBody>
          </p:sp>
        </mc:Choice>
        <mc:Fallback>
          <p:sp>
            <p:nvSpPr>
              <p:cNvPr id="3" name="文本占位符 2">
                <a:extLst>
                  <a:ext uri="{FF2B5EF4-FFF2-40B4-BE49-F238E27FC236}">
                    <a16:creationId xmlns:a16="http://schemas.microsoft.com/office/drawing/2014/main" id="{8043C006-6E84-3A35-AEB0-A000887F855D}"/>
                  </a:ext>
                </a:extLst>
              </p:cNvPr>
              <p:cNvSpPr>
                <a:spLocks noGrp="1" noRot="1" noChangeAspect="1" noMove="1" noResize="1" noEditPoints="1" noAdjustHandles="1" noChangeArrowheads="1" noChangeShapeType="1" noTextEdit="1"/>
              </p:cNvSpPr>
              <p:nvPr>
                <p:ph sz="quarter" idx="12"/>
              </p:nvPr>
            </p:nvSpPr>
            <p:spPr>
              <a:blipFill>
                <a:blip r:embed="rId2"/>
                <a:stretch>
                  <a:fillRect l="-601" r="-2644" b="-1698"/>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E43623F9-4371-C9CA-81E9-46C496DFFD73}"/>
              </a:ext>
            </a:extLst>
          </p:cNvPr>
          <p:cNvPicPr>
            <a:picLocks noChangeAspect="1"/>
          </p:cNvPicPr>
          <p:nvPr/>
        </p:nvPicPr>
        <p:blipFill>
          <a:blip r:embed="rId3"/>
          <a:stretch>
            <a:fillRect/>
          </a:stretch>
        </p:blipFill>
        <p:spPr>
          <a:xfrm>
            <a:off x="4980892" y="5739289"/>
            <a:ext cx="2230216" cy="507404"/>
          </a:xfrm>
          <a:prstGeom prst="rect">
            <a:avLst/>
          </a:prstGeom>
        </p:spPr>
      </p:pic>
      <p:pic>
        <p:nvPicPr>
          <p:cNvPr id="7" name="图片 6">
            <a:extLst>
              <a:ext uri="{FF2B5EF4-FFF2-40B4-BE49-F238E27FC236}">
                <a16:creationId xmlns:a16="http://schemas.microsoft.com/office/drawing/2014/main" id="{4A3C17CB-F024-8C47-3765-68BB7D3B61DA}"/>
              </a:ext>
            </a:extLst>
          </p:cNvPr>
          <p:cNvPicPr>
            <a:picLocks noChangeAspect="1"/>
          </p:cNvPicPr>
          <p:nvPr/>
        </p:nvPicPr>
        <p:blipFill rotWithShape="1">
          <a:blip r:embed="rId4"/>
          <a:srcRect b="3818"/>
          <a:stretch/>
        </p:blipFill>
        <p:spPr>
          <a:xfrm>
            <a:off x="4334213" y="3614937"/>
            <a:ext cx="3523574" cy="1179775"/>
          </a:xfrm>
          <a:prstGeom prst="rect">
            <a:avLst/>
          </a:prstGeom>
        </p:spPr>
      </p:pic>
    </p:spTree>
    <p:extLst>
      <p:ext uri="{BB962C8B-B14F-4D97-AF65-F5344CB8AC3E}">
        <p14:creationId xmlns:p14="http://schemas.microsoft.com/office/powerpoint/2010/main" val="808587043"/>
      </p:ext>
    </p:extLst>
  </p:cSld>
  <p:clrMapOvr>
    <a:masterClrMapping/>
  </p:clrMapOvr>
  <p:transition spd="slow" advTm="0">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576515-3904-67EA-1E7A-3870272D5456}"/>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取样和频率间隔的关系</a:t>
            </a:r>
          </a:p>
        </p:txBody>
      </p:sp>
      <p:sp>
        <p:nvSpPr>
          <p:cNvPr id="3" name="文本占位符 2">
            <a:extLst>
              <a:ext uri="{FF2B5EF4-FFF2-40B4-BE49-F238E27FC236}">
                <a16:creationId xmlns:a16="http://schemas.microsoft.com/office/drawing/2014/main" id="{D4E664E3-FDE0-6D53-DEFE-E6ADE33E9131}"/>
              </a:ext>
            </a:extLst>
          </p:cNvPr>
          <p:cNvSpPr>
            <a:spLocks noGrp="1"/>
          </p:cNvSpPr>
          <p:nvPr>
            <p:ph sz="quarter" idx="11"/>
          </p:nvPr>
        </p:nvSpPr>
        <p:spPr/>
        <p:txBody>
          <a:bodyPr>
            <a:noAutofit/>
          </a:bodyPr>
          <a:lstStyle/>
          <a:p>
            <a:pPr marL="0" marR="500" lvl="0" indent="0" rtl="0">
              <a:buNone/>
            </a:pPr>
            <a:r>
              <a:rPr lang="zh-CN" altLang="en-US" b="0" i="0" u="none" strike="noStrike" baseline="0" dirty="0">
                <a:solidFill>
                  <a:srgbClr val="000000"/>
                </a:solidFill>
                <a:cs typeface="+mn-ea"/>
                <a:sym typeface="+mn-lt"/>
              </a:rPr>
              <a:t>如果以</a:t>
            </a:r>
            <a:r>
              <a:rPr lang="en-US" altLang="zh-CN" b="0" i="0" u="none" strike="noStrike" baseline="0" dirty="0">
                <a:solidFill>
                  <a:srgbClr val="000000"/>
                </a:solidFill>
                <a:cs typeface="+mn-ea"/>
                <a:sym typeface="+mn-lt"/>
              </a:rPr>
              <a:t>AT</a:t>
            </a:r>
            <a:r>
              <a:rPr lang="zh-CN" altLang="en-US" b="0" i="0" u="none" strike="noStrike" baseline="0" dirty="0">
                <a:solidFill>
                  <a:srgbClr val="000000"/>
                </a:solidFill>
                <a:cs typeface="+mn-ea"/>
                <a:sym typeface="+mn-lt"/>
              </a:rPr>
              <a:t>个单位间隔对函数</a:t>
            </a:r>
            <a:r>
              <a:rPr lang="en-US" altLang="zh-CN" b="0" i="0" u="none" strike="noStrike" baseline="0" dirty="0">
                <a:solidFill>
                  <a:srgbClr val="000000"/>
                </a:solidFill>
                <a:cs typeface="+mn-ea"/>
                <a:sym typeface="+mn-lt"/>
              </a:rPr>
              <a:t>f(1)</a:t>
            </a:r>
            <a:r>
              <a:rPr lang="zh-CN" altLang="en-US" b="0" i="0" u="none" strike="noStrike" baseline="0" dirty="0">
                <a:solidFill>
                  <a:srgbClr val="000000"/>
                </a:solidFill>
                <a:cs typeface="+mn-ea"/>
                <a:sym typeface="+mn-lt"/>
              </a:rPr>
              <a:t> 取样后的</a:t>
            </a:r>
            <a:r>
              <a:rPr lang="en-US" altLang="zh-CN" b="0" i="0" u="none" strike="noStrike" baseline="0" dirty="0">
                <a:solidFill>
                  <a:srgbClr val="000000"/>
                </a:solidFill>
                <a:cs typeface="+mn-ea"/>
                <a:sym typeface="+mn-lt"/>
              </a:rPr>
              <a:t>f(x)</a:t>
            </a:r>
            <a:r>
              <a:rPr lang="zh-CN" altLang="en-US" b="0" i="0" u="none" strike="noStrike" baseline="0" dirty="0">
                <a:solidFill>
                  <a:srgbClr val="000000"/>
                </a:solidFill>
                <a:cs typeface="+mn-ea"/>
                <a:sym typeface="+mn-lt"/>
              </a:rPr>
              <a:t> 由</a:t>
            </a:r>
            <a:r>
              <a:rPr lang="en-US" altLang="zh-CN" b="0" i="0" u="none" strike="noStrike" baseline="0" dirty="0">
                <a:solidFill>
                  <a:srgbClr val="000000"/>
                </a:solidFill>
                <a:cs typeface="+mn-ea"/>
                <a:sym typeface="+mn-lt"/>
              </a:rPr>
              <a:t>M</a:t>
            </a:r>
            <a:r>
              <a:rPr lang="zh-CN" altLang="en-US" b="0" i="0" u="none" strike="noStrike" baseline="0" dirty="0">
                <a:solidFill>
                  <a:srgbClr val="000000"/>
                </a:solidFill>
                <a:cs typeface="+mn-ea"/>
                <a:sym typeface="+mn-lt"/>
              </a:rPr>
              <a:t>个样本组成，那么包含集合</a:t>
            </a:r>
            <a:r>
              <a:rPr lang="en-US" altLang="zh-CN" b="0" i="0" u="none" strike="noStrike" baseline="0" dirty="0">
                <a:solidFill>
                  <a:srgbClr val="000000"/>
                </a:solidFill>
                <a:cs typeface="+mn-ea"/>
                <a:sym typeface="+mn-lt"/>
              </a:rPr>
              <a:t>{f(x)},x=0,1, 2,…,</a:t>
            </a:r>
            <a:r>
              <a:rPr lang="en-US" altLang="zh-CN" dirty="0">
                <a:solidFill>
                  <a:srgbClr val="000000"/>
                </a:solidFill>
                <a:cs typeface="+mn-ea"/>
                <a:sym typeface="+mn-lt"/>
              </a:rPr>
              <a:t>M-1</a:t>
            </a:r>
            <a:r>
              <a:rPr lang="zh-CN" altLang="en-US" dirty="0">
                <a:solidFill>
                  <a:srgbClr val="000000"/>
                </a:solidFill>
                <a:cs typeface="+mn-ea"/>
                <a:sym typeface="+mn-lt"/>
              </a:rPr>
              <a:t> 的记录的长度是</a:t>
            </a:r>
          </a:p>
          <a:p>
            <a:pPr marL="0" marR="500" lvl="0" indent="0" rtl="0">
              <a:buNone/>
            </a:pPr>
            <a:r>
              <a:rPr lang="en-US" altLang="zh-CN" dirty="0">
                <a:solidFill>
                  <a:srgbClr val="000000"/>
                </a:solidFill>
                <a:cs typeface="+mn-ea"/>
                <a:sym typeface="+mn-lt"/>
              </a:rPr>
              <a:t>T=M</a:t>
            </a:r>
            <a:r>
              <a:rPr lang="zh-CN" altLang="en-US" dirty="0">
                <a:solidFill>
                  <a:srgbClr val="000000"/>
                </a:solidFill>
                <a:cs typeface="+mn-ea"/>
                <a:sym typeface="+mn-lt"/>
              </a:rPr>
              <a:t>△</a:t>
            </a:r>
            <a:r>
              <a:rPr lang="en-US" altLang="zh-CN" dirty="0">
                <a:solidFill>
                  <a:srgbClr val="000000"/>
                </a:solidFill>
                <a:cs typeface="+mn-ea"/>
                <a:sym typeface="+mn-lt"/>
              </a:rPr>
              <a:t>T</a:t>
            </a:r>
            <a:r>
              <a:rPr lang="zh-CN" altLang="en-US" dirty="0">
                <a:solidFill>
                  <a:srgbClr val="000000"/>
                </a:solidFill>
                <a:cs typeface="+mn-ea"/>
                <a:sym typeface="+mn-lt"/>
              </a:rPr>
              <a:t>                                                                                                 </a:t>
            </a:r>
          </a:p>
          <a:p>
            <a:pPr marL="0" marR="500" lvl="0" indent="0" rtl="0">
              <a:buNone/>
            </a:pPr>
            <a:r>
              <a:rPr lang="zh-CN" altLang="en-US" b="0" i="0" u="none" strike="noStrike" baseline="0" dirty="0">
                <a:solidFill>
                  <a:srgbClr val="000000"/>
                </a:solidFill>
                <a:cs typeface="+mn-ea"/>
                <a:sym typeface="+mn-lt"/>
              </a:rPr>
              <a:t>由式</a:t>
            </a:r>
            <a:r>
              <a:rPr lang="en-US" altLang="zh-CN" b="0" i="0" u="none" strike="noStrike" baseline="0" dirty="0">
                <a:solidFill>
                  <a:srgbClr val="000000"/>
                </a:solidFill>
                <a:cs typeface="+mn-ea"/>
                <a:sym typeface="+mn-lt"/>
              </a:rPr>
              <a:t>(4.41)</a:t>
            </a:r>
            <a:r>
              <a:rPr lang="zh-CN" altLang="en-US" b="0" i="0" u="none" strike="noStrike" baseline="0" dirty="0">
                <a:solidFill>
                  <a:srgbClr val="000000"/>
                </a:solidFill>
                <a:cs typeface="+mn-ea"/>
                <a:sym typeface="+mn-lt"/>
              </a:rPr>
              <a:t>得到的频率域中的对应间隔△</a:t>
            </a:r>
            <a:r>
              <a:rPr lang="en-US" altLang="zh-CN" b="0" i="0" u="none" strike="noStrike" baseline="0" dirty="0">
                <a:solidFill>
                  <a:srgbClr val="000000"/>
                </a:solidFill>
                <a:cs typeface="+mn-ea"/>
                <a:sym typeface="+mn-lt"/>
              </a:rPr>
              <a:t>u</a:t>
            </a:r>
            <a:r>
              <a:rPr lang="zh-CN" altLang="en-US" b="0" i="0" u="none" strike="noStrike" baseline="0" dirty="0">
                <a:solidFill>
                  <a:srgbClr val="000000"/>
                </a:solidFill>
                <a:cs typeface="+mn-ea"/>
                <a:sym typeface="+mn-lt"/>
              </a:rPr>
              <a:t>为</a:t>
            </a:r>
          </a:p>
          <a:p>
            <a:pPr marL="0" marR="500" lvl="0" indent="0" rtl="0">
              <a:buNone/>
            </a:pPr>
            <a:r>
              <a:rPr lang="en-US" altLang="zh-CN" b="0" i="0" u="none" strike="noStrike" baseline="0" dirty="0">
                <a:solidFill>
                  <a:srgbClr val="000000"/>
                </a:solidFill>
                <a:cs typeface="+mn-ea"/>
                <a:sym typeface="+mn-lt"/>
              </a:rPr>
              <a:t>DFT</a:t>
            </a:r>
            <a:r>
              <a:rPr lang="zh-CN" altLang="en-US" b="0" i="0" u="none" strike="noStrike" baseline="0" dirty="0">
                <a:solidFill>
                  <a:srgbClr val="000000"/>
                </a:solidFill>
                <a:cs typeface="+mn-ea"/>
                <a:sym typeface="+mn-lt"/>
              </a:rPr>
              <a:t> 的</a:t>
            </a:r>
            <a:r>
              <a:rPr lang="en-US" altLang="zh-CN" b="0" i="0" u="none" strike="noStrike" baseline="0" dirty="0">
                <a:solidFill>
                  <a:srgbClr val="000000"/>
                </a:solidFill>
                <a:cs typeface="+mn-ea"/>
                <a:sym typeface="+mn-lt"/>
              </a:rPr>
              <a:t>M</a:t>
            </a:r>
            <a:r>
              <a:rPr lang="zh-CN" altLang="en-US" b="0" i="0" u="none" strike="noStrike" baseline="0" dirty="0">
                <a:solidFill>
                  <a:srgbClr val="000000"/>
                </a:solidFill>
                <a:cs typeface="+mn-ea"/>
                <a:sym typeface="+mn-lt"/>
              </a:rPr>
              <a:t> 个分量跨越的整个频率范围是</a:t>
            </a:r>
          </a:p>
          <a:p>
            <a:pPr marL="0" marR="500" lvl="0" indent="0" rtl="0">
              <a:buNone/>
            </a:pPr>
            <a:r>
              <a:rPr lang="zh-CN" altLang="en-US" b="0" i="0" u="none" strike="noStrike" baseline="0" dirty="0">
                <a:solidFill>
                  <a:srgbClr val="000000"/>
                </a:solidFill>
                <a:cs typeface="+mn-ea"/>
                <a:sym typeface="+mn-lt"/>
              </a:rPr>
              <a:t>于是，由式</a:t>
            </a:r>
            <a:r>
              <a:rPr lang="en-US" altLang="zh-CN" b="0" i="0" u="none" strike="noStrike" baseline="0" dirty="0">
                <a:solidFill>
                  <a:srgbClr val="000000"/>
                </a:solidFill>
                <a:cs typeface="+mn-ea"/>
                <a:sym typeface="+mn-lt"/>
              </a:rPr>
              <a:t>(4.50)</a:t>
            </a:r>
            <a:r>
              <a:rPr lang="zh-CN" altLang="en-US" b="0" i="0" u="none" strike="noStrike" baseline="0" dirty="0">
                <a:solidFill>
                  <a:srgbClr val="000000"/>
                </a:solidFill>
                <a:cs typeface="+mn-ea"/>
                <a:sym typeface="+mn-lt"/>
              </a:rPr>
              <a:t>和式</a:t>
            </a:r>
            <a:r>
              <a:rPr lang="en-US" altLang="zh-CN" b="0" i="0" u="none" strike="noStrike" baseline="0" dirty="0">
                <a:solidFill>
                  <a:srgbClr val="000000"/>
                </a:solidFill>
                <a:cs typeface="+mn-ea"/>
                <a:sym typeface="+mn-lt"/>
              </a:rPr>
              <a:t>(4.51)</a:t>
            </a:r>
            <a:r>
              <a:rPr lang="zh-CN" altLang="en-US" b="0" i="0" u="none" strike="noStrike" baseline="0" dirty="0">
                <a:solidFill>
                  <a:srgbClr val="000000"/>
                </a:solidFill>
                <a:cs typeface="+mn-ea"/>
                <a:sym typeface="+mn-lt"/>
              </a:rPr>
              <a:t>可以看出， </a:t>
            </a:r>
            <a:r>
              <a:rPr lang="en-US" altLang="zh-CN" b="0" i="0" u="none" strike="noStrike" baseline="0" dirty="0">
                <a:solidFill>
                  <a:srgbClr val="000000"/>
                </a:solidFill>
                <a:cs typeface="+mn-ea"/>
                <a:sym typeface="+mn-lt"/>
              </a:rPr>
              <a:t>DFT</a:t>
            </a:r>
            <a:r>
              <a:rPr lang="zh-CN" altLang="en-US" b="0" i="0" u="none" strike="noStrike" baseline="0" dirty="0">
                <a:solidFill>
                  <a:srgbClr val="000000"/>
                </a:solidFill>
                <a:cs typeface="+mn-ea"/>
                <a:sym typeface="+mn-lt"/>
              </a:rPr>
              <a:t> 的频率分辨率△</a:t>
            </a:r>
            <a:r>
              <a:rPr lang="en-US" altLang="zh-CN" b="0" i="0" u="none" strike="noStrike" baseline="0" dirty="0">
                <a:solidFill>
                  <a:srgbClr val="000000"/>
                </a:solidFill>
                <a:cs typeface="+mn-ea"/>
                <a:sym typeface="+mn-lt"/>
              </a:rPr>
              <a:t>u</a:t>
            </a:r>
            <a:r>
              <a:rPr lang="zh-CN" altLang="en-US" b="0" i="0" u="none" strike="noStrike" baseline="0" dirty="0">
                <a:solidFill>
                  <a:srgbClr val="000000"/>
                </a:solidFill>
                <a:cs typeface="+mn-ea"/>
                <a:sym typeface="+mn-lt"/>
              </a:rPr>
              <a:t>与记录的长度 </a:t>
            </a:r>
            <a:r>
              <a:rPr lang="en-US" altLang="zh-CN" b="0" i="0" u="none" strike="noStrike" baseline="0" dirty="0">
                <a:solidFill>
                  <a:srgbClr val="000000"/>
                </a:solidFill>
                <a:cs typeface="+mn-ea"/>
                <a:sym typeface="+mn-lt"/>
              </a:rPr>
              <a:t>T(t</a:t>
            </a:r>
            <a:r>
              <a:rPr lang="zh-CN" altLang="en-US" b="0" i="0" u="none" strike="noStrike" baseline="0" dirty="0">
                <a:solidFill>
                  <a:srgbClr val="000000"/>
                </a:solidFill>
                <a:cs typeface="+mn-ea"/>
                <a:sym typeface="+mn-lt"/>
              </a:rPr>
              <a:t> 是时间时，为持续时间</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成反比；</a:t>
            </a:r>
            <a:r>
              <a:rPr lang="en-US" altLang="zh-CN" b="0" i="0" u="none" strike="noStrike" baseline="0" dirty="0">
                <a:solidFill>
                  <a:srgbClr val="000000"/>
                </a:solidFill>
                <a:cs typeface="+mn-ea"/>
                <a:sym typeface="+mn-lt"/>
              </a:rPr>
              <a:t>DFT</a:t>
            </a:r>
            <a:r>
              <a:rPr lang="zh-CN" altLang="en-US" b="0" i="0" u="none" strike="noStrike" baseline="0" dirty="0">
                <a:solidFill>
                  <a:srgbClr val="000000"/>
                </a:solidFill>
                <a:cs typeface="+mn-ea"/>
                <a:sym typeface="+mn-lt"/>
              </a:rPr>
              <a:t> 跨越的频率范围则取决于取样间隔△</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 。记住△</a:t>
            </a:r>
            <a:r>
              <a:rPr lang="en-US" altLang="zh-CN" b="0" i="0" u="none" strike="noStrike" baseline="0" dirty="0">
                <a:solidFill>
                  <a:srgbClr val="000000"/>
                </a:solidFill>
                <a:cs typeface="+mn-ea"/>
                <a:sym typeface="+mn-lt"/>
              </a:rPr>
              <a:t>u</a:t>
            </a:r>
            <a:r>
              <a:rPr lang="zh-CN" altLang="en-US" b="0" i="0" u="none" strike="noStrike" baseline="0" dirty="0">
                <a:solidFill>
                  <a:srgbClr val="000000"/>
                </a:solidFill>
                <a:cs typeface="+mn-ea"/>
                <a:sym typeface="+mn-lt"/>
              </a:rPr>
              <a:t>和△</a:t>
            </a:r>
            <a:r>
              <a:rPr lang="en-US" altLang="zh-CN" b="0" i="0" u="none" strike="noStrike" baseline="0" dirty="0">
                <a:solidFill>
                  <a:srgbClr val="000000"/>
                </a:solidFill>
                <a:cs typeface="+mn-ea"/>
                <a:sym typeface="+mn-lt"/>
              </a:rPr>
              <a:t>T </a:t>
            </a:r>
            <a:r>
              <a:rPr lang="zh-CN" altLang="en-US" b="0" i="0" u="none" strike="noStrike" baseline="0" dirty="0">
                <a:solidFill>
                  <a:srgbClr val="000000"/>
                </a:solidFill>
                <a:cs typeface="+mn-ea"/>
                <a:sym typeface="+mn-lt"/>
              </a:rPr>
              <a:t>的这些互逆关系。</a:t>
            </a:r>
          </a:p>
        </p:txBody>
      </p:sp>
      <p:pic>
        <p:nvPicPr>
          <p:cNvPr id="5" name="图片 4">
            <a:extLst>
              <a:ext uri="{FF2B5EF4-FFF2-40B4-BE49-F238E27FC236}">
                <a16:creationId xmlns:a16="http://schemas.microsoft.com/office/drawing/2014/main" id="{F76E28B4-6E75-A46E-2ED6-EF6D6C270603}"/>
              </a:ext>
            </a:extLst>
          </p:cNvPr>
          <p:cNvPicPr>
            <a:picLocks noChangeAspect="1"/>
          </p:cNvPicPr>
          <p:nvPr/>
        </p:nvPicPr>
        <p:blipFill>
          <a:blip r:embed="rId2"/>
          <a:stretch>
            <a:fillRect/>
          </a:stretch>
        </p:blipFill>
        <p:spPr>
          <a:xfrm>
            <a:off x="5737208" y="4114800"/>
            <a:ext cx="1568367" cy="479583"/>
          </a:xfrm>
          <a:prstGeom prst="rect">
            <a:avLst/>
          </a:prstGeom>
        </p:spPr>
      </p:pic>
      <p:pic>
        <p:nvPicPr>
          <p:cNvPr id="7" name="图片 6">
            <a:extLst>
              <a:ext uri="{FF2B5EF4-FFF2-40B4-BE49-F238E27FC236}">
                <a16:creationId xmlns:a16="http://schemas.microsoft.com/office/drawing/2014/main" id="{0C541A0F-82E6-49A1-396E-B1498993E1DA}"/>
              </a:ext>
            </a:extLst>
          </p:cNvPr>
          <p:cNvPicPr>
            <a:picLocks noChangeAspect="1"/>
          </p:cNvPicPr>
          <p:nvPr/>
        </p:nvPicPr>
        <p:blipFill>
          <a:blip r:embed="rId3"/>
          <a:stretch>
            <a:fillRect/>
          </a:stretch>
        </p:blipFill>
        <p:spPr>
          <a:xfrm>
            <a:off x="5229725" y="4694313"/>
            <a:ext cx="1732549" cy="607912"/>
          </a:xfrm>
          <a:prstGeom prst="rect">
            <a:avLst/>
          </a:prstGeom>
        </p:spPr>
      </p:pic>
      <p:sp>
        <p:nvSpPr>
          <p:cNvPr id="8" name="矩形 7">
            <a:extLst>
              <a:ext uri="{FF2B5EF4-FFF2-40B4-BE49-F238E27FC236}">
                <a16:creationId xmlns:a16="http://schemas.microsoft.com/office/drawing/2014/main" id="{B4DD8ED4-6693-93B7-4DAD-1F82C0909479}"/>
              </a:ext>
            </a:extLst>
          </p:cNvPr>
          <p:cNvSpPr/>
          <p:nvPr/>
        </p:nvSpPr>
        <p:spPr>
          <a:xfrm>
            <a:off x="801092" y="2446417"/>
            <a:ext cx="10589815" cy="3858130"/>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945352813"/>
      </p:ext>
    </p:extLst>
  </p:cSld>
  <p:clrMapOvr>
    <a:masterClrMapping/>
  </p:clrMapOvr>
  <p:transition spd="slow" advTm="0">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3091835"/>
            <a:chOff x="6133596" y="2292214"/>
            <a:chExt cx="5326558" cy="3091835"/>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05</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二变量函数的傅里叶变换</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284929038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FF8227-869B-9137-3EC6-F8EB90BFFA32}"/>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二维冲激及其取样性质</a:t>
            </a:r>
          </a:p>
        </p:txBody>
      </p:sp>
      <p:sp>
        <p:nvSpPr>
          <p:cNvPr id="3" name="文本占位符 2">
            <a:extLst>
              <a:ext uri="{FF2B5EF4-FFF2-40B4-BE49-F238E27FC236}">
                <a16:creationId xmlns:a16="http://schemas.microsoft.com/office/drawing/2014/main" id="{7E5B1BB7-6A41-5037-5805-324A2D160B1D}"/>
              </a:ext>
            </a:extLst>
          </p:cNvPr>
          <p:cNvSpPr>
            <a:spLocks noGrp="1"/>
          </p:cNvSpPr>
          <p:nvPr>
            <p:ph sz="quarter" idx="12"/>
          </p:nvPr>
        </p:nvSpPr>
        <p:spPr/>
        <p:txBody>
          <a:bodyPr>
            <a:normAutofit fontScale="92500" lnSpcReduction="10000"/>
          </a:bodyPr>
          <a:lstStyle/>
          <a:p>
            <a:pPr marL="0" marR="500" lvl="0" indent="0" rtl="0">
              <a:buNone/>
            </a:pPr>
            <a:r>
              <a:rPr lang="zh-CN" altLang="en-US" b="0" i="0" u="none" strike="noStrike" baseline="0" dirty="0">
                <a:solidFill>
                  <a:srgbClr val="000000"/>
                </a:solidFill>
                <a:cs typeface="+mn-ea"/>
                <a:sym typeface="+mn-lt"/>
              </a:rPr>
              <a:t>两个连续变量</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 和</a:t>
            </a:r>
            <a:r>
              <a:rPr lang="en-US" altLang="zh-CN" b="0" i="0" u="none" strike="noStrike" baseline="0" dirty="0">
                <a:solidFill>
                  <a:srgbClr val="000000"/>
                </a:solidFill>
                <a:cs typeface="+mn-ea"/>
                <a:sym typeface="+mn-lt"/>
              </a:rPr>
              <a:t>z</a:t>
            </a:r>
            <a:r>
              <a:rPr lang="zh-CN" altLang="en-US" b="0" i="0" u="none" strike="noStrike" baseline="0" dirty="0">
                <a:solidFill>
                  <a:srgbClr val="000000"/>
                </a:solidFill>
                <a:cs typeface="+mn-ea"/>
                <a:sym typeface="+mn-lt"/>
              </a:rPr>
              <a:t> 的冲激函数</a:t>
            </a:r>
            <a:r>
              <a:rPr lang="el-GR" altLang="zh-CN" b="0" i="0" u="none" strike="noStrike" baseline="0" dirty="0">
                <a:solidFill>
                  <a:srgbClr val="000000"/>
                </a:solidFill>
                <a:cs typeface="+mn-ea"/>
                <a:sym typeface="+mn-lt"/>
              </a:rPr>
              <a:t>δ(</a:t>
            </a:r>
            <a:r>
              <a:rPr lang="en-US" altLang="zh-CN" b="0" i="0" u="none" strike="noStrike" baseline="0" dirty="0" err="1">
                <a:solidFill>
                  <a:srgbClr val="000000"/>
                </a:solidFill>
                <a:cs typeface="+mn-ea"/>
                <a:sym typeface="+mn-lt"/>
              </a:rPr>
              <a:t>t,z</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照例定义为</a:t>
            </a:r>
            <a:endParaRPr lang="en-US" altLang="zh-CN" b="0" i="0" u="none" strike="noStrike" baseline="0" dirty="0">
              <a:solidFill>
                <a:srgbClr val="000000"/>
              </a:solidFill>
              <a:cs typeface="+mn-ea"/>
              <a:sym typeface="+mn-lt"/>
            </a:endParaRPr>
          </a:p>
          <a:p>
            <a:pPr marL="0" marR="500" lvl="0" indent="0" rtl="0">
              <a:buNone/>
            </a:pPr>
            <a:endParaRPr lang="zh-CN" altLang="en-US" b="0" i="0" u="none" strike="noStrike" baseline="0" dirty="0">
              <a:solidFill>
                <a:srgbClr val="000000"/>
              </a:solidFill>
              <a:cs typeface="+mn-ea"/>
              <a:sym typeface="+mn-lt"/>
            </a:endParaRPr>
          </a:p>
          <a:p>
            <a:pPr marL="0" marR="500" lvl="0" indent="0" rtl="0">
              <a:buNone/>
            </a:pPr>
            <a:r>
              <a:rPr lang="zh-CN" altLang="en-US" b="0" i="0" u="none" strike="noStrike" baseline="0" dirty="0">
                <a:solidFill>
                  <a:srgbClr val="000000"/>
                </a:solidFill>
                <a:cs typeface="+mn-ea"/>
                <a:sym typeface="+mn-lt"/>
              </a:rPr>
              <a:t>如一维情况中那样，二维冲激在积分下展现了取样性质：</a:t>
            </a:r>
          </a:p>
          <a:p>
            <a:pPr marL="0" marR="500" lvl="0" indent="0" rtl="0">
              <a:buNone/>
            </a:pPr>
            <a:r>
              <a:rPr lang="zh-CN" altLang="en-US" b="0" i="0" u="none" strike="noStrike" baseline="0" dirty="0">
                <a:solidFill>
                  <a:srgbClr val="000000"/>
                </a:solidFill>
                <a:cs typeface="+mn-ea"/>
                <a:sym typeface="+mn-lt"/>
              </a:rPr>
              <a:t>或者，更一般地对</a:t>
            </a:r>
            <a:r>
              <a:rPr lang="en-US" altLang="zh-CN" b="0" i="0" u="none" strike="noStrike" baseline="0" dirty="0">
                <a:solidFill>
                  <a:srgbClr val="000000"/>
                </a:solidFill>
                <a:cs typeface="+mn-ea"/>
                <a:sym typeface="+mn-lt"/>
              </a:rPr>
              <a:t>(</a:t>
            </a:r>
            <a:r>
              <a:rPr lang="en-US" altLang="zh-CN" b="0" i="0" u="none" strike="noStrike" baseline="0" dirty="0" err="1">
                <a:solidFill>
                  <a:srgbClr val="000000"/>
                </a:solidFill>
                <a:cs typeface="+mn-ea"/>
                <a:sym typeface="+mn-lt"/>
              </a:rPr>
              <a:t>to,z</a:t>
            </a:r>
            <a:r>
              <a:rPr lang="zh-CN" altLang="en-US" b="0" i="0" u="none" strike="noStrike" baseline="0" dirty="0">
                <a:solidFill>
                  <a:srgbClr val="000000"/>
                </a:solidFill>
                <a:cs typeface="+mn-ea"/>
                <a:sym typeface="+mn-lt"/>
              </a:rPr>
              <a:t>₀</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处的冲激，有</a:t>
            </a:r>
          </a:p>
          <a:p>
            <a:pPr marL="0" marR="500" lvl="0" indent="0" rtl="0">
              <a:buNone/>
            </a:pPr>
            <a:r>
              <a:rPr lang="zh-CN" altLang="en-US" b="0" i="0" u="none" strike="noStrike" baseline="0" dirty="0">
                <a:solidFill>
                  <a:srgbClr val="000000"/>
                </a:solidFill>
                <a:cs typeface="+mn-ea"/>
                <a:sym typeface="+mn-lt"/>
              </a:rPr>
              <a:t>我们看到，取样性质在冲激所在的位置照例产生函数的值。</a:t>
            </a:r>
          </a:p>
          <a:p>
            <a:pPr marL="0" marR="500" lvl="0" indent="0" rtl="0">
              <a:buNone/>
            </a:pPr>
            <a:r>
              <a:rPr lang="zh-CN" altLang="en-US" b="0" i="0" u="none" strike="noStrike" baseline="0" dirty="0">
                <a:solidFill>
                  <a:srgbClr val="000000"/>
                </a:solidFill>
                <a:cs typeface="+mn-ea"/>
                <a:sym typeface="+mn-lt"/>
              </a:rPr>
              <a:t>对于离散变量</a:t>
            </a:r>
            <a:r>
              <a:rPr lang="en-US" altLang="zh-CN" b="0" i="0" u="none" strike="noStrike" baseline="0" dirty="0">
                <a:solidFill>
                  <a:srgbClr val="000000"/>
                </a:solidFill>
                <a:cs typeface="+mn-ea"/>
                <a:sym typeface="+mn-lt"/>
              </a:rPr>
              <a:t>x</a:t>
            </a:r>
            <a:r>
              <a:rPr lang="zh-CN" altLang="en-US" b="0" i="0" u="none" strike="noStrike" baseline="0" dirty="0">
                <a:solidFill>
                  <a:srgbClr val="000000"/>
                </a:solidFill>
                <a:cs typeface="+mn-ea"/>
                <a:sym typeface="+mn-lt"/>
              </a:rPr>
              <a:t> 和</a:t>
            </a:r>
            <a:r>
              <a:rPr lang="en-US" altLang="zh-CN" b="0" i="0" u="none" strike="noStrike" baseline="0" dirty="0">
                <a:solidFill>
                  <a:srgbClr val="000000"/>
                </a:solidFill>
                <a:cs typeface="+mn-ea"/>
                <a:sym typeface="+mn-lt"/>
              </a:rPr>
              <a:t>y,</a:t>
            </a:r>
            <a:r>
              <a:rPr lang="zh-CN" altLang="en-US" b="0" i="0" u="none" strike="noStrike" baseline="0" dirty="0">
                <a:solidFill>
                  <a:srgbClr val="000000"/>
                </a:solidFill>
                <a:cs typeface="+mn-ea"/>
                <a:sym typeface="+mn-lt"/>
              </a:rPr>
              <a:t>  二维离散单位冲激定义为</a:t>
            </a:r>
          </a:p>
        </p:txBody>
      </p:sp>
      <p:pic>
        <p:nvPicPr>
          <p:cNvPr id="5" name="图片 4">
            <a:extLst>
              <a:ext uri="{FF2B5EF4-FFF2-40B4-BE49-F238E27FC236}">
                <a16:creationId xmlns:a16="http://schemas.microsoft.com/office/drawing/2014/main" id="{138EB073-F377-01D8-61A0-F4CF91C052FE}"/>
              </a:ext>
            </a:extLst>
          </p:cNvPr>
          <p:cNvPicPr>
            <a:picLocks noChangeAspect="1"/>
          </p:cNvPicPr>
          <p:nvPr/>
        </p:nvPicPr>
        <p:blipFill>
          <a:blip r:embed="rId2"/>
          <a:stretch>
            <a:fillRect/>
          </a:stretch>
        </p:blipFill>
        <p:spPr>
          <a:xfrm>
            <a:off x="4563961" y="2906558"/>
            <a:ext cx="3114051" cy="833219"/>
          </a:xfrm>
          <a:prstGeom prst="rect">
            <a:avLst/>
          </a:prstGeom>
        </p:spPr>
      </p:pic>
      <p:pic>
        <p:nvPicPr>
          <p:cNvPr id="7" name="图片 6">
            <a:extLst>
              <a:ext uri="{FF2B5EF4-FFF2-40B4-BE49-F238E27FC236}">
                <a16:creationId xmlns:a16="http://schemas.microsoft.com/office/drawing/2014/main" id="{319ADA24-F0A2-991E-2F71-2C75AFC66F62}"/>
              </a:ext>
            </a:extLst>
          </p:cNvPr>
          <p:cNvPicPr>
            <a:picLocks noChangeAspect="1"/>
          </p:cNvPicPr>
          <p:nvPr/>
        </p:nvPicPr>
        <p:blipFill>
          <a:blip r:embed="rId3"/>
          <a:stretch>
            <a:fillRect/>
          </a:stretch>
        </p:blipFill>
        <p:spPr>
          <a:xfrm>
            <a:off x="6992483" y="3642126"/>
            <a:ext cx="2608986" cy="484526"/>
          </a:xfrm>
          <a:prstGeom prst="rect">
            <a:avLst/>
          </a:prstGeom>
        </p:spPr>
      </p:pic>
      <p:pic>
        <p:nvPicPr>
          <p:cNvPr id="9" name="图片 8">
            <a:extLst>
              <a:ext uri="{FF2B5EF4-FFF2-40B4-BE49-F238E27FC236}">
                <a16:creationId xmlns:a16="http://schemas.microsoft.com/office/drawing/2014/main" id="{FF9EB9F4-A93F-A71C-A2AD-8FABAA1627AE}"/>
              </a:ext>
            </a:extLst>
          </p:cNvPr>
          <p:cNvPicPr>
            <a:picLocks noChangeAspect="1"/>
          </p:cNvPicPr>
          <p:nvPr/>
        </p:nvPicPr>
        <p:blipFill>
          <a:blip r:embed="rId4"/>
          <a:stretch>
            <a:fillRect/>
          </a:stretch>
        </p:blipFill>
        <p:spPr>
          <a:xfrm>
            <a:off x="5304852" y="4239145"/>
            <a:ext cx="2958165" cy="415992"/>
          </a:xfrm>
          <a:prstGeom prst="rect">
            <a:avLst/>
          </a:prstGeom>
        </p:spPr>
      </p:pic>
      <p:pic>
        <p:nvPicPr>
          <p:cNvPr id="11" name="图片 10">
            <a:extLst>
              <a:ext uri="{FF2B5EF4-FFF2-40B4-BE49-F238E27FC236}">
                <a16:creationId xmlns:a16="http://schemas.microsoft.com/office/drawing/2014/main" id="{1E44D7ED-2C77-33DF-DC27-A91E772B9A8B}"/>
              </a:ext>
            </a:extLst>
          </p:cNvPr>
          <p:cNvPicPr>
            <a:picLocks noChangeAspect="1"/>
          </p:cNvPicPr>
          <p:nvPr/>
        </p:nvPicPr>
        <p:blipFill>
          <a:blip r:embed="rId5"/>
          <a:stretch>
            <a:fillRect/>
          </a:stretch>
        </p:blipFill>
        <p:spPr>
          <a:xfrm>
            <a:off x="6120987" y="5244306"/>
            <a:ext cx="2077353" cy="615512"/>
          </a:xfrm>
          <a:prstGeom prst="rect">
            <a:avLst/>
          </a:prstGeom>
        </p:spPr>
      </p:pic>
    </p:spTree>
    <p:extLst>
      <p:ext uri="{BB962C8B-B14F-4D97-AF65-F5344CB8AC3E}">
        <p14:creationId xmlns:p14="http://schemas.microsoft.com/office/powerpoint/2010/main" val="3022114797"/>
      </p:ext>
    </p:extLst>
  </p:cSld>
  <p:clrMapOvr>
    <a:masterClrMapping/>
  </p:clrMapOvr>
  <p:transition spd="slow" advTm="0">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9B7E2B-4558-33A3-F0D1-0A9519650BF1}"/>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二维连续傅里叶变换对</a:t>
            </a:r>
          </a:p>
        </p:txBody>
      </p:sp>
      <p:sp>
        <p:nvSpPr>
          <p:cNvPr id="3" name="文本占位符 2">
            <a:extLst>
              <a:ext uri="{FF2B5EF4-FFF2-40B4-BE49-F238E27FC236}">
                <a16:creationId xmlns:a16="http://schemas.microsoft.com/office/drawing/2014/main" id="{4E3C1E03-CCB4-FE4F-B33E-CF5DDA210A34}"/>
              </a:ext>
            </a:extLst>
          </p:cNvPr>
          <p:cNvSpPr>
            <a:spLocks noGrp="1"/>
          </p:cNvSpPr>
          <p:nvPr>
            <p:ph sz="quarter" idx="12"/>
          </p:nvPr>
        </p:nvSpPr>
        <p:spPr/>
        <p:txBody>
          <a:bodyPr>
            <a:normAutofit/>
          </a:bodyPr>
          <a:lstStyle/>
          <a:p>
            <a:pPr marL="0" marR="500" lvl="0" indent="0" rtl="0">
              <a:buNone/>
            </a:pPr>
            <a:r>
              <a:rPr lang="zh-CN" altLang="en-US" b="0" i="0" u="none" strike="noStrike" baseline="0" dirty="0">
                <a:solidFill>
                  <a:srgbClr val="000000"/>
                </a:solidFill>
                <a:cs typeface="+mn-ea"/>
                <a:sym typeface="+mn-lt"/>
              </a:rPr>
              <a:t>令</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t,z</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是两个连续变量</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和</a:t>
            </a:r>
            <a:r>
              <a:rPr lang="en-US" altLang="zh-CN" b="0" i="0" u="none" strike="noStrike" baseline="0" dirty="0">
                <a:solidFill>
                  <a:srgbClr val="000000"/>
                </a:solidFill>
                <a:cs typeface="+mn-ea"/>
                <a:sym typeface="+mn-lt"/>
              </a:rPr>
              <a:t>z</a:t>
            </a:r>
            <a:r>
              <a:rPr lang="zh-CN" altLang="en-US" b="0" i="0" u="none" strike="noStrike" baseline="0" dirty="0">
                <a:solidFill>
                  <a:srgbClr val="000000"/>
                </a:solidFill>
                <a:cs typeface="+mn-ea"/>
                <a:sym typeface="+mn-lt"/>
              </a:rPr>
              <a:t> 的连续函数，则其二维连续傅里叶变换对为</a:t>
            </a:r>
            <a:endParaRPr lang="en-US" altLang="zh-CN" b="0" i="0" u="none" strike="noStrike" baseline="0" dirty="0">
              <a:solidFill>
                <a:srgbClr val="000000"/>
              </a:solidFill>
              <a:cs typeface="+mn-ea"/>
              <a:sym typeface="+mn-lt"/>
            </a:endParaRPr>
          </a:p>
          <a:p>
            <a:pPr marL="0" marR="500" lvl="0" indent="0" rtl="0">
              <a:buNone/>
            </a:pPr>
            <a:endParaRPr lang="en-US" altLang="zh-CN" dirty="0">
              <a:solidFill>
                <a:srgbClr val="000000"/>
              </a:solidFill>
              <a:cs typeface="+mn-ea"/>
              <a:sym typeface="+mn-lt"/>
            </a:endParaRPr>
          </a:p>
          <a:p>
            <a:pPr marL="0" marR="500" lvl="0" indent="0" rtl="0">
              <a:buNone/>
            </a:pPr>
            <a:endParaRPr lang="en-US" altLang="zh-CN" b="0" i="0" u="none" strike="noStrike" baseline="0" dirty="0">
              <a:solidFill>
                <a:srgbClr val="000000"/>
              </a:solidFill>
              <a:cs typeface="+mn-ea"/>
              <a:sym typeface="+mn-lt"/>
            </a:endParaRPr>
          </a:p>
          <a:p>
            <a:pPr marL="0" marR="500" lvl="0" indent="0" rtl="0">
              <a:buNone/>
            </a:pPr>
            <a:r>
              <a:rPr lang="zh-CN" altLang="en-US" b="0" i="0" u="none" strike="noStrike" baseline="0" dirty="0">
                <a:solidFill>
                  <a:srgbClr val="000000"/>
                </a:solidFill>
                <a:cs typeface="+mn-ea"/>
                <a:sym typeface="+mn-lt"/>
              </a:rPr>
              <a:t>式中，</a:t>
            </a:r>
            <a:r>
              <a:rPr lang="el-GR" altLang="zh-CN" b="0" i="0" u="none" strike="noStrike" baseline="0" dirty="0">
                <a:solidFill>
                  <a:srgbClr val="000000"/>
                </a:solidFill>
                <a:cs typeface="+mn-ea"/>
                <a:sym typeface="+mn-lt"/>
              </a:rPr>
              <a:t>μ</a:t>
            </a:r>
            <a:r>
              <a:rPr lang="zh-CN" altLang="en-US" b="0" i="0" u="none" strike="noStrike" baseline="0" dirty="0">
                <a:solidFill>
                  <a:srgbClr val="000000"/>
                </a:solidFill>
                <a:cs typeface="+mn-ea"/>
                <a:sym typeface="+mn-lt"/>
              </a:rPr>
              <a:t>和</a:t>
            </a:r>
            <a:r>
              <a:rPr lang="en-US" altLang="zh-CN" b="0" i="0" u="none" strike="noStrike" baseline="0" dirty="0">
                <a:solidFill>
                  <a:srgbClr val="000000"/>
                </a:solidFill>
                <a:cs typeface="+mn-ea"/>
                <a:sym typeface="+mn-lt"/>
              </a:rPr>
              <a:t>v</a:t>
            </a:r>
            <a:r>
              <a:rPr lang="zh-CN" altLang="en-US" b="0" i="0" u="none" strike="noStrike" baseline="0" dirty="0">
                <a:solidFill>
                  <a:srgbClr val="000000"/>
                </a:solidFill>
                <a:cs typeface="+mn-ea"/>
                <a:sym typeface="+mn-lt"/>
              </a:rPr>
              <a:t>是频率变量。涉及图像时， </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 和</a:t>
            </a:r>
            <a:r>
              <a:rPr lang="en-US" altLang="zh-CN" b="0" i="0" u="none" strike="noStrike" baseline="0" dirty="0">
                <a:solidFill>
                  <a:srgbClr val="000000"/>
                </a:solidFill>
                <a:cs typeface="+mn-ea"/>
                <a:sym typeface="+mn-lt"/>
              </a:rPr>
              <a:t>z</a:t>
            </a:r>
            <a:r>
              <a:rPr lang="zh-CN" altLang="en-US" b="0" i="0" u="none" strike="noStrike" baseline="0" dirty="0">
                <a:solidFill>
                  <a:srgbClr val="000000"/>
                </a:solidFill>
                <a:cs typeface="+mn-ea"/>
                <a:sym typeface="+mn-lt"/>
              </a:rPr>
              <a:t> 解释为连续空间变量。类似于一维情况，变量</a:t>
            </a:r>
            <a:r>
              <a:rPr lang="el-GR" altLang="zh-CN" b="0" i="0" u="none" strike="noStrike" baseline="0" dirty="0">
                <a:solidFill>
                  <a:srgbClr val="000000"/>
                </a:solidFill>
                <a:cs typeface="+mn-ea"/>
                <a:sym typeface="+mn-lt"/>
              </a:rPr>
              <a:t>μ</a:t>
            </a:r>
            <a:r>
              <a:rPr lang="zh-CN" altLang="en-US" b="0" i="0" u="none" strike="noStrike" baseline="0" dirty="0">
                <a:solidFill>
                  <a:srgbClr val="000000"/>
                </a:solidFill>
                <a:cs typeface="+mn-ea"/>
                <a:sym typeface="+mn-lt"/>
              </a:rPr>
              <a:t>和</a:t>
            </a:r>
            <a:r>
              <a:rPr lang="en-US" altLang="zh-CN" b="0" i="0" u="none" strike="noStrike" baseline="0" dirty="0">
                <a:solidFill>
                  <a:srgbClr val="000000"/>
                </a:solidFill>
                <a:cs typeface="+mn-ea"/>
                <a:sym typeface="+mn-lt"/>
              </a:rPr>
              <a:t>v</a:t>
            </a:r>
            <a:r>
              <a:rPr lang="zh-CN" altLang="en-US" b="0" i="0" u="none" strike="noStrike" baseline="0" dirty="0">
                <a:solidFill>
                  <a:srgbClr val="000000"/>
                </a:solidFill>
                <a:cs typeface="+mn-ea"/>
                <a:sym typeface="+mn-lt"/>
              </a:rPr>
              <a:t> 的域定义了连续频率域。</a:t>
            </a:r>
          </a:p>
        </p:txBody>
      </p:sp>
      <p:pic>
        <p:nvPicPr>
          <p:cNvPr id="5" name="图片 4">
            <a:extLst>
              <a:ext uri="{FF2B5EF4-FFF2-40B4-BE49-F238E27FC236}">
                <a16:creationId xmlns:a16="http://schemas.microsoft.com/office/drawing/2014/main" id="{FF54F172-646C-5164-D748-5ADD1F5F119C}"/>
              </a:ext>
            </a:extLst>
          </p:cNvPr>
          <p:cNvPicPr>
            <a:picLocks noChangeAspect="1"/>
          </p:cNvPicPr>
          <p:nvPr/>
        </p:nvPicPr>
        <p:blipFill>
          <a:blip r:embed="rId2"/>
          <a:stretch>
            <a:fillRect/>
          </a:stretch>
        </p:blipFill>
        <p:spPr>
          <a:xfrm>
            <a:off x="2967950" y="3152274"/>
            <a:ext cx="4818888" cy="1049088"/>
          </a:xfrm>
          <a:prstGeom prst="rect">
            <a:avLst/>
          </a:prstGeom>
        </p:spPr>
      </p:pic>
    </p:spTree>
    <p:extLst>
      <p:ext uri="{BB962C8B-B14F-4D97-AF65-F5344CB8AC3E}">
        <p14:creationId xmlns:p14="http://schemas.microsoft.com/office/powerpoint/2010/main" val="3832962651"/>
      </p:ext>
    </p:extLst>
  </p:cSld>
  <p:clrMapOvr>
    <a:masterClrMapping/>
  </p:clrMapOvr>
  <p:transition spd="slow" advTm="0">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0368B6-733F-22C4-51D6-E023490C29E2}"/>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二维取样和二维取样定理</a:t>
            </a:r>
          </a:p>
        </p:txBody>
      </p:sp>
      <p:sp>
        <p:nvSpPr>
          <p:cNvPr id="3" name="文本占位符 2">
            <a:extLst>
              <a:ext uri="{FF2B5EF4-FFF2-40B4-BE49-F238E27FC236}">
                <a16:creationId xmlns:a16="http://schemas.microsoft.com/office/drawing/2014/main" id="{0C5F134B-7628-E5A8-6BE5-7BFA58E1ABAA}"/>
              </a:ext>
            </a:extLst>
          </p:cNvPr>
          <p:cNvSpPr>
            <a:spLocks noGrp="1"/>
          </p:cNvSpPr>
          <p:nvPr>
            <p:ph sz="quarter" idx="12"/>
          </p:nvPr>
        </p:nvSpPr>
        <p:spPr/>
        <p:txBody>
          <a:bodyPr/>
          <a:lstStyle/>
          <a:p>
            <a:pPr marL="0" marR="500" lvl="0" indent="0" rtl="0">
              <a:buNone/>
            </a:pPr>
            <a:r>
              <a:rPr lang="zh-CN" altLang="en-US" b="0" i="0" u="none" strike="noStrike" baseline="0" dirty="0">
                <a:solidFill>
                  <a:srgbClr val="000000"/>
                </a:solidFill>
                <a:cs typeface="+mn-ea"/>
                <a:sym typeface="+mn-lt"/>
              </a:rPr>
              <a:t>类似于一维取样，二维取样可用一个取样函数</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即一个二维冲激串</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建模：</a:t>
            </a:r>
            <a:endParaRPr lang="en-US" altLang="zh-CN" b="0" i="0" u="none" strike="noStrike" baseline="0" dirty="0">
              <a:solidFill>
                <a:srgbClr val="000000"/>
              </a:solidFill>
              <a:cs typeface="+mn-ea"/>
              <a:sym typeface="+mn-lt"/>
            </a:endParaRPr>
          </a:p>
          <a:p>
            <a:pPr marL="0" marR="500" lvl="0" indent="0" rtl="0">
              <a:buNone/>
            </a:pPr>
            <a:endParaRPr lang="zh-CN" altLang="en-US" b="0" i="0" u="none" strike="noStrike" baseline="0" dirty="0">
              <a:solidFill>
                <a:srgbClr val="000000"/>
              </a:solidFill>
              <a:cs typeface="+mn-ea"/>
              <a:sym typeface="+mn-lt"/>
            </a:endParaRPr>
          </a:p>
          <a:p>
            <a:pPr marL="0" marR="500" lvl="0" indent="0" rtl="0">
              <a:buNone/>
            </a:pPr>
            <a:r>
              <a:rPr lang="zh-CN" altLang="en-US" b="0" i="0" u="none" strike="noStrike" baseline="0" dirty="0">
                <a:solidFill>
                  <a:srgbClr val="000000"/>
                </a:solidFill>
                <a:cs typeface="+mn-ea"/>
                <a:sym typeface="+mn-lt"/>
              </a:rPr>
              <a:t>式中，△</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 和△</a:t>
            </a:r>
            <a:r>
              <a:rPr lang="en-US" altLang="zh-CN" b="0" i="0" u="none" strike="noStrike" baseline="0" dirty="0">
                <a:solidFill>
                  <a:srgbClr val="000000"/>
                </a:solidFill>
                <a:cs typeface="+mn-ea"/>
                <a:sym typeface="+mn-lt"/>
              </a:rPr>
              <a:t>Z</a:t>
            </a:r>
            <a:r>
              <a:rPr lang="zh-CN" altLang="en-US" b="0" i="0" u="none" strike="noStrike" baseline="0" dirty="0">
                <a:solidFill>
                  <a:srgbClr val="000000"/>
                </a:solidFill>
                <a:cs typeface="+mn-ea"/>
                <a:sym typeface="+mn-lt"/>
              </a:rPr>
              <a:t>是连续函数</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z)</a:t>
            </a:r>
            <a:r>
              <a:rPr lang="zh-CN" altLang="en-US" b="0" i="0" u="none" strike="noStrike" baseline="0" dirty="0">
                <a:solidFill>
                  <a:srgbClr val="000000"/>
                </a:solidFill>
                <a:cs typeface="+mn-ea"/>
                <a:sym typeface="+mn-lt"/>
              </a:rPr>
              <a:t>沿</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 轴和</a:t>
            </a:r>
            <a:r>
              <a:rPr lang="en-US" altLang="zh-CN" b="0" i="0" u="none" strike="noStrike" baseline="0" dirty="0">
                <a:solidFill>
                  <a:srgbClr val="000000"/>
                </a:solidFill>
                <a:cs typeface="+mn-ea"/>
                <a:sym typeface="+mn-lt"/>
              </a:rPr>
              <a:t>z</a:t>
            </a:r>
            <a:r>
              <a:rPr lang="zh-CN" altLang="en-US" b="0" i="0" u="none" strike="noStrike" baseline="0" dirty="0">
                <a:solidFill>
                  <a:srgbClr val="000000"/>
                </a:solidFill>
                <a:cs typeface="+mn-ea"/>
                <a:sym typeface="+mn-lt"/>
              </a:rPr>
              <a:t>轴的样本间的间隔。式</a:t>
            </a:r>
            <a:r>
              <a:rPr lang="en-US" altLang="zh-CN" b="0" i="0" u="none" strike="noStrike" baseline="0" dirty="0">
                <a:solidFill>
                  <a:srgbClr val="000000"/>
                </a:solidFill>
                <a:cs typeface="+mn-ea"/>
                <a:sym typeface="+mn-lt"/>
              </a:rPr>
              <a:t>(4.61)</a:t>
            </a:r>
            <a:r>
              <a:rPr lang="zh-CN" altLang="en-US" b="0" i="0" u="none" strike="noStrike" baseline="0" dirty="0">
                <a:solidFill>
                  <a:srgbClr val="000000"/>
                </a:solidFill>
                <a:cs typeface="+mn-ea"/>
                <a:sym typeface="+mn-lt"/>
              </a:rPr>
              <a:t>描述了沿两个轴无限扩展的一组周期冲激</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见图</a:t>
            </a:r>
            <a:r>
              <a:rPr lang="en-US" altLang="zh-CN" b="0" i="0" u="none" strike="noStrike" baseline="0" dirty="0">
                <a:solidFill>
                  <a:srgbClr val="000000"/>
                </a:solidFill>
                <a:cs typeface="+mn-ea"/>
                <a:sym typeface="+mn-lt"/>
              </a:rPr>
              <a:t>4.15)</a:t>
            </a:r>
            <a:r>
              <a:rPr lang="zh-CN" altLang="en-US" b="0" i="0" u="none" strike="noStrike" baseline="0" dirty="0">
                <a:solidFill>
                  <a:srgbClr val="000000"/>
                </a:solidFill>
                <a:cs typeface="+mn-ea"/>
                <a:sym typeface="+mn-lt"/>
              </a:rPr>
              <a:t>。如图</a:t>
            </a:r>
            <a:r>
              <a:rPr lang="en-US" altLang="zh-CN" b="0" i="0" u="none" strike="noStrike" baseline="0" dirty="0">
                <a:solidFill>
                  <a:srgbClr val="000000"/>
                </a:solidFill>
                <a:cs typeface="+mn-ea"/>
                <a:sym typeface="+mn-lt"/>
              </a:rPr>
              <a:t>4.5</a:t>
            </a:r>
            <a:r>
              <a:rPr lang="zh-CN" altLang="en-US" b="0" i="0" u="none" strike="noStrike" baseline="0" dirty="0">
                <a:solidFill>
                  <a:srgbClr val="000000"/>
                </a:solidFill>
                <a:cs typeface="+mn-ea"/>
                <a:sym typeface="+mn-lt"/>
              </a:rPr>
              <a:t> 中说明的一维情况那样，用        乘以</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t,z</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可以得到取样后的函数。</a:t>
            </a:r>
          </a:p>
        </p:txBody>
      </p:sp>
      <p:pic>
        <p:nvPicPr>
          <p:cNvPr id="5" name="图片 4">
            <a:extLst>
              <a:ext uri="{FF2B5EF4-FFF2-40B4-BE49-F238E27FC236}">
                <a16:creationId xmlns:a16="http://schemas.microsoft.com/office/drawing/2014/main" id="{5A6111A8-0522-5F2C-C3C4-C65164A38A76}"/>
              </a:ext>
            </a:extLst>
          </p:cNvPr>
          <p:cNvPicPr>
            <a:picLocks noChangeAspect="1"/>
          </p:cNvPicPr>
          <p:nvPr/>
        </p:nvPicPr>
        <p:blipFill>
          <a:blip r:embed="rId2"/>
          <a:stretch>
            <a:fillRect/>
          </a:stretch>
        </p:blipFill>
        <p:spPr>
          <a:xfrm>
            <a:off x="4785509" y="4580439"/>
            <a:ext cx="2597067" cy="1751053"/>
          </a:xfrm>
          <a:prstGeom prst="rect">
            <a:avLst/>
          </a:prstGeom>
        </p:spPr>
      </p:pic>
      <p:pic>
        <p:nvPicPr>
          <p:cNvPr id="7" name="图片 6">
            <a:extLst>
              <a:ext uri="{FF2B5EF4-FFF2-40B4-BE49-F238E27FC236}">
                <a16:creationId xmlns:a16="http://schemas.microsoft.com/office/drawing/2014/main" id="{E40B103E-3365-5A90-9430-26779D90D359}"/>
              </a:ext>
            </a:extLst>
          </p:cNvPr>
          <p:cNvPicPr>
            <a:picLocks noChangeAspect="1"/>
          </p:cNvPicPr>
          <p:nvPr/>
        </p:nvPicPr>
        <p:blipFill>
          <a:blip r:embed="rId3"/>
          <a:stretch>
            <a:fillRect/>
          </a:stretch>
        </p:blipFill>
        <p:spPr>
          <a:xfrm>
            <a:off x="4785510" y="3196634"/>
            <a:ext cx="2799197" cy="464732"/>
          </a:xfrm>
          <a:prstGeom prst="rect">
            <a:avLst/>
          </a:prstGeom>
        </p:spPr>
      </p:pic>
      <p:pic>
        <p:nvPicPr>
          <p:cNvPr id="9" name="图片 8">
            <a:extLst>
              <a:ext uri="{FF2B5EF4-FFF2-40B4-BE49-F238E27FC236}">
                <a16:creationId xmlns:a16="http://schemas.microsoft.com/office/drawing/2014/main" id="{3FB8C1DB-2D1E-422C-2294-33EC5CBAA1CE}"/>
              </a:ext>
            </a:extLst>
          </p:cNvPr>
          <p:cNvPicPr>
            <a:picLocks noChangeAspect="1"/>
          </p:cNvPicPr>
          <p:nvPr/>
        </p:nvPicPr>
        <p:blipFill rotWithShape="1">
          <a:blip r:embed="rId4"/>
          <a:srcRect l="14686" t="-4041" r="-19383"/>
          <a:stretch/>
        </p:blipFill>
        <p:spPr>
          <a:xfrm>
            <a:off x="9076624" y="4226447"/>
            <a:ext cx="548640" cy="495629"/>
          </a:xfrm>
          <a:prstGeom prst="rect">
            <a:avLst/>
          </a:prstGeom>
        </p:spPr>
      </p:pic>
    </p:spTree>
    <p:extLst>
      <p:ext uri="{BB962C8B-B14F-4D97-AF65-F5344CB8AC3E}">
        <p14:creationId xmlns:p14="http://schemas.microsoft.com/office/powerpoint/2010/main" val="317704032"/>
      </p:ext>
    </p:extLst>
  </p:cSld>
  <p:clrMapOvr>
    <a:masterClrMapping/>
  </p:clrMapOvr>
  <p:transition spd="slow" advTm="0">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DC3C1F-EBBF-67DB-5735-01CAD1305A72}"/>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图像中的混叠</a:t>
            </a:r>
          </a:p>
        </p:txBody>
      </p:sp>
      <p:sp>
        <p:nvSpPr>
          <p:cNvPr id="3" name="文本占位符 2">
            <a:extLst>
              <a:ext uri="{FF2B5EF4-FFF2-40B4-BE49-F238E27FC236}">
                <a16:creationId xmlns:a16="http://schemas.microsoft.com/office/drawing/2014/main" id="{917D7CD0-C04B-EDCD-519A-DD2DD20D0ABA}"/>
              </a:ext>
            </a:extLst>
          </p:cNvPr>
          <p:cNvSpPr>
            <a:spLocks noGrp="1"/>
          </p:cNvSpPr>
          <p:nvPr>
            <p:ph sz="quarter" idx="11"/>
          </p:nvPr>
        </p:nvSpPr>
        <p:spPr/>
        <p:txBody>
          <a:bodyPr>
            <a:normAutofit/>
          </a:bodyPr>
          <a:lstStyle/>
          <a:p>
            <a:pPr marL="0" marR="500" lvl="0" indent="0" rtl="0">
              <a:buNone/>
            </a:pPr>
            <a:r>
              <a:rPr lang="en-US" altLang="zh-CN" b="1" i="0" u="none" strike="noStrike" baseline="0" dirty="0">
                <a:latin typeface="+mn-lt"/>
                <a:ea typeface="+mn-ea"/>
                <a:cs typeface="+mn-ea"/>
                <a:sym typeface="+mn-lt"/>
              </a:rPr>
              <a:t>1.</a:t>
            </a:r>
            <a:r>
              <a:rPr lang="zh-CN" altLang="en-US" b="1" i="0" u="none" strike="noStrike" baseline="0" dirty="0">
                <a:latin typeface="+mn-lt"/>
                <a:ea typeface="+mn-ea"/>
                <a:cs typeface="+mn-ea"/>
                <a:sym typeface="+mn-lt"/>
              </a:rPr>
              <a:t> 从一维混叠展开</a:t>
            </a:r>
            <a:endParaRPr lang="en-US" altLang="zh-CN" b="1" i="0" u="none" strike="noStrike" baseline="0" dirty="0">
              <a:cs typeface="+mn-ea"/>
              <a:sym typeface="+mn-lt"/>
            </a:endParaRPr>
          </a:p>
          <a:p>
            <a:pPr marL="0" marR="500" lvl="0" indent="0" rtl="0">
              <a:buNone/>
            </a:pPr>
            <a:r>
              <a:rPr lang="zh-CN" altLang="en-US" b="0" i="0" u="none" strike="noStrike" baseline="0" dirty="0">
                <a:solidFill>
                  <a:srgbClr val="000000"/>
                </a:solidFill>
                <a:cs typeface="+mn-ea"/>
                <a:sym typeface="+mn-lt"/>
              </a:rPr>
              <a:t>如一维情况中那样，仅当两个连续变量 </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和 </a:t>
            </a:r>
            <a:r>
              <a:rPr lang="en-US" altLang="zh-CN" b="0" i="0" u="none" strike="noStrike" baseline="0" dirty="0">
                <a:solidFill>
                  <a:srgbClr val="000000"/>
                </a:solidFill>
                <a:cs typeface="+mn-ea"/>
                <a:sym typeface="+mn-lt"/>
              </a:rPr>
              <a:t>z</a:t>
            </a:r>
            <a:r>
              <a:rPr lang="zh-CN" altLang="en-US" b="0" i="0" u="none" strike="noStrike" baseline="0" dirty="0">
                <a:solidFill>
                  <a:srgbClr val="000000"/>
                </a:solidFill>
                <a:cs typeface="+mn-ea"/>
                <a:sym typeface="+mn-lt"/>
              </a:rPr>
              <a:t> 的连续函数</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t,z</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在两个坐标方向无限扩展时，连 续函数</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t,z</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一般才可能是带限的。</a:t>
            </a:r>
            <a:endParaRPr lang="en-US" altLang="zh-CN" b="0" i="0" u="none" strike="noStrike" baseline="0" dirty="0">
              <a:solidFill>
                <a:srgbClr val="000000"/>
              </a:solidFill>
              <a:cs typeface="+mn-ea"/>
              <a:sym typeface="+mn-lt"/>
            </a:endParaRPr>
          </a:p>
          <a:p>
            <a:pPr marL="0" marR="500" lvl="0" indent="0" rtl="0">
              <a:buNone/>
            </a:pPr>
            <a:r>
              <a:rPr lang="en-US" altLang="zh-CN" b="1" i="0" u="none" strike="noStrike" baseline="0" dirty="0">
                <a:latin typeface="+mn-lt"/>
                <a:ea typeface="+mn-ea"/>
                <a:cs typeface="+mn-ea"/>
                <a:sym typeface="+mn-lt"/>
              </a:rPr>
              <a:t>2.</a:t>
            </a:r>
            <a:r>
              <a:rPr lang="zh-CN" altLang="en-US" b="1" i="0" u="none" strike="noStrike" baseline="0" dirty="0">
                <a:latin typeface="+mn-lt"/>
                <a:ea typeface="+mn-ea"/>
                <a:cs typeface="+mn-ea"/>
                <a:sym typeface="+mn-lt"/>
              </a:rPr>
              <a:t> 图像重取样和内插</a:t>
            </a:r>
            <a:endParaRPr lang="en-US" altLang="zh-CN" b="0" i="0" u="none" strike="noStrike" baseline="0" dirty="0">
              <a:cs typeface="+mn-ea"/>
              <a:sym typeface="+mn-lt"/>
            </a:endParaRPr>
          </a:p>
          <a:p>
            <a:pPr marL="0" marR="500" lvl="0" indent="0" rtl="0">
              <a:buNone/>
            </a:pPr>
            <a:r>
              <a:rPr lang="zh-CN" altLang="en-US" b="0" i="0" u="none" strike="noStrike" baseline="0" dirty="0">
                <a:solidFill>
                  <a:srgbClr val="000000"/>
                </a:solidFill>
                <a:cs typeface="+mn-ea"/>
                <a:sym typeface="+mn-lt"/>
              </a:rPr>
              <a:t>如一维情况中那样，由函数的一组样本完美重建带限图像函数时，要求在空间域中与</a:t>
            </a:r>
            <a:r>
              <a:rPr lang="en-US" altLang="zh-CN" b="0" i="0" u="none" strike="noStrike" baseline="0" dirty="0" err="1">
                <a:solidFill>
                  <a:srgbClr val="000000"/>
                </a:solidFill>
                <a:cs typeface="+mn-ea"/>
                <a:sym typeface="+mn-lt"/>
              </a:rPr>
              <a:t>sinc</a:t>
            </a:r>
            <a:r>
              <a:rPr lang="zh-CN" altLang="en-US" b="0" i="0" u="none" strike="noStrike" baseline="0" dirty="0">
                <a:solidFill>
                  <a:srgbClr val="000000"/>
                </a:solidFill>
                <a:cs typeface="+mn-ea"/>
                <a:sym typeface="+mn-lt"/>
              </a:rPr>
              <a:t> 函数进行二维卷积运算。</a:t>
            </a:r>
          </a:p>
          <a:p>
            <a:pPr marL="0" marR="500" lvl="0" indent="0" rtl="0">
              <a:buNone/>
            </a:pPr>
            <a:endParaRPr lang="zh-CN" altLang="en-US" b="0" i="0" u="none" strike="noStrike" baseline="0" dirty="0">
              <a:solidFill>
                <a:srgbClr val="000000"/>
              </a:solidFill>
              <a:cs typeface="+mn-ea"/>
              <a:sym typeface="+mn-lt"/>
            </a:endParaRPr>
          </a:p>
        </p:txBody>
      </p:sp>
      <p:sp>
        <p:nvSpPr>
          <p:cNvPr id="4" name="矩形 3">
            <a:extLst>
              <a:ext uri="{FF2B5EF4-FFF2-40B4-BE49-F238E27FC236}">
                <a16:creationId xmlns:a16="http://schemas.microsoft.com/office/drawing/2014/main" id="{D31CAC9A-09E5-5A71-7B0D-3D9CEF4B4B0F}"/>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899695420"/>
      </p:ext>
    </p:extLst>
  </p:cSld>
  <p:clrMapOvr>
    <a:masterClrMapping/>
  </p:clrMapOvr>
  <p:transition spd="slow" advTm="0">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6F3165-47D9-1575-FCB5-6E6049C2050C}"/>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图像中的混叠</a:t>
            </a:r>
          </a:p>
        </p:txBody>
      </p:sp>
      <p:sp>
        <p:nvSpPr>
          <p:cNvPr id="3" name="文本占位符 2">
            <a:extLst>
              <a:ext uri="{FF2B5EF4-FFF2-40B4-BE49-F238E27FC236}">
                <a16:creationId xmlns:a16="http://schemas.microsoft.com/office/drawing/2014/main" id="{16FDA185-B800-EF4F-741D-441870C14998}"/>
              </a:ext>
            </a:extLst>
          </p:cNvPr>
          <p:cNvSpPr>
            <a:spLocks noGrp="1"/>
          </p:cNvSpPr>
          <p:nvPr>
            <p:ph sz="quarter" idx="11"/>
          </p:nvPr>
        </p:nvSpPr>
        <p:spPr/>
        <p:txBody>
          <a:bodyPr/>
          <a:lstStyle/>
          <a:p>
            <a:pPr marL="0" marR="500" lvl="0" indent="0" rtl="0">
              <a:buNone/>
            </a:pPr>
            <a:r>
              <a:rPr lang="en-US" altLang="zh-CN" b="1" i="0" u="none" strike="noStrike" baseline="0" dirty="0">
                <a:latin typeface="+mn-lt"/>
                <a:ea typeface="+mn-ea"/>
                <a:cs typeface="+mn-ea"/>
                <a:sym typeface="+mn-lt"/>
              </a:rPr>
              <a:t>3.</a:t>
            </a:r>
            <a:r>
              <a:rPr lang="zh-CN" altLang="en-US" b="1" i="0" u="none" strike="noStrike" baseline="0" dirty="0">
                <a:latin typeface="+mn-lt"/>
                <a:ea typeface="+mn-ea"/>
                <a:cs typeface="+mn-ea"/>
                <a:sym typeface="+mn-lt"/>
              </a:rPr>
              <a:t> 混叠和莫尔模式</a:t>
            </a:r>
            <a:endParaRPr lang="en-US" altLang="zh-CN" b="0" i="0" u="none" strike="noStrike" baseline="0" dirty="0">
              <a:cs typeface="+mn-ea"/>
              <a:sym typeface="+mn-lt"/>
            </a:endParaRPr>
          </a:p>
          <a:p>
            <a:pPr marL="0" marR="50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4.20</a:t>
            </a:r>
            <a:r>
              <a:rPr lang="zh-CN" altLang="en-US" b="0" i="0" u="none" strike="noStrike" baseline="0" dirty="0">
                <a:solidFill>
                  <a:srgbClr val="000000"/>
                </a:solidFill>
                <a:cs typeface="+mn-ea"/>
                <a:sym typeface="+mn-lt"/>
              </a:rPr>
              <a:t>使用尚未数字化的向量图显示了莫尔效应。 分开时，这些模式都很整洁且互不干涉。然而，将一个模式叠加到另一个模式上的简单行为就创建了一个模式，该模式的频率在任何一幅原模式中都不存在。注意，由两个点模式产生的莫尔效应是如下讨论的重点。</a:t>
            </a:r>
          </a:p>
        </p:txBody>
      </p:sp>
      <p:pic>
        <p:nvPicPr>
          <p:cNvPr id="5" name="图片 4">
            <a:extLst>
              <a:ext uri="{FF2B5EF4-FFF2-40B4-BE49-F238E27FC236}">
                <a16:creationId xmlns:a16="http://schemas.microsoft.com/office/drawing/2014/main" id="{A730EEDE-D2CF-918F-C3CE-4A2783A0B44B}"/>
              </a:ext>
            </a:extLst>
          </p:cNvPr>
          <p:cNvPicPr>
            <a:picLocks noChangeAspect="1"/>
          </p:cNvPicPr>
          <p:nvPr/>
        </p:nvPicPr>
        <p:blipFill>
          <a:blip r:embed="rId2"/>
          <a:stretch>
            <a:fillRect/>
          </a:stretch>
        </p:blipFill>
        <p:spPr>
          <a:xfrm>
            <a:off x="3930139" y="4502566"/>
            <a:ext cx="4331720" cy="2255954"/>
          </a:xfrm>
          <a:prstGeom prst="rect">
            <a:avLst/>
          </a:prstGeom>
        </p:spPr>
      </p:pic>
      <p:sp>
        <p:nvSpPr>
          <p:cNvPr id="6" name="矩形 5">
            <a:extLst>
              <a:ext uri="{FF2B5EF4-FFF2-40B4-BE49-F238E27FC236}">
                <a16:creationId xmlns:a16="http://schemas.microsoft.com/office/drawing/2014/main" id="{79CAAF0E-C712-E25F-0A20-7E79AB67F849}"/>
              </a:ext>
            </a:extLst>
          </p:cNvPr>
          <p:cNvSpPr/>
          <p:nvPr/>
        </p:nvSpPr>
        <p:spPr>
          <a:xfrm>
            <a:off x="801092" y="2446417"/>
            <a:ext cx="10589815" cy="1955324"/>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468703073"/>
      </p:ext>
    </p:extLst>
  </p:cSld>
  <p:clrMapOvr>
    <a:masterClrMapping/>
  </p:clrMapOvr>
  <p:transition spd="slow" advTm="0">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071703" y="2221637"/>
            <a:ext cx="5037589" cy="3091835"/>
            <a:chOff x="6290636" y="2292214"/>
            <a:chExt cx="5037589" cy="3091835"/>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06</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290636" y="3937499"/>
              <a:ext cx="5037589"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二维</a:t>
              </a:r>
              <a:r>
                <a:rPr lang="en-US" altLang="zh-CN"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DFT</a:t>
              </a: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和</a:t>
              </a:r>
              <a:r>
                <a:rPr lang="en-US" altLang="zh-CN"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IDFT</a:t>
              </a: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的一些性质</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2772405076"/>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737618-A8AF-CC89-5F2E-ABA244B30E16}"/>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空间间隔和频率间隔的关系</a:t>
            </a:r>
          </a:p>
        </p:txBody>
      </p:sp>
      <p:sp>
        <p:nvSpPr>
          <p:cNvPr id="3" name="文本占位符 2">
            <a:extLst>
              <a:ext uri="{FF2B5EF4-FFF2-40B4-BE49-F238E27FC236}">
                <a16:creationId xmlns:a16="http://schemas.microsoft.com/office/drawing/2014/main" id="{FC0574A2-7CBA-47C0-814D-7F450280570F}"/>
              </a:ext>
            </a:extLst>
          </p:cNvPr>
          <p:cNvSpPr>
            <a:spLocks noGrp="1"/>
          </p:cNvSpPr>
          <p:nvPr>
            <p:ph sz="quarter" idx="12"/>
          </p:nvPr>
        </p:nvSpPr>
        <p:spPr/>
        <p:txBody>
          <a:bodyPr/>
          <a:lstStyle/>
          <a:p>
            <a:pPr marL="0" marR="500" lvl="0" indent="0" rtl="0">
              <a:buNone/>
            </a:pPr>
            <a:r>
              <a:rPr lang="zh-CN" altLang="en-US" b="0" i="0" u="none" strike="noStrike" baseline="0" dirty="0">
                <a:solidFill>
                  <a:srgbClr val="000000"/>
                </a:solidFill>
                <a:cs typeface="+mn-ea"/>
                <a:sym typeface="+mn-lt"/>
              </a:rPr>
              <a:t>空间取样和对应频率域间隔的关系与</a:t>
            </a:r>
            <a:r>
              <a:rPr lang="en-US" altLang="zh-CN" b="0" i="0" u="none" strike="noStrike" baseline="0" dirty="0">
                <a:solidFill>
                  <a:srgbClr val="000000"/>
                </a:solidFill>
                <a:cs typeface="+mn-ea"/>
                <a:sym typeface="+mn-lt"/>
              </a:rPr>
              <a:t>4.4</a:t>
            </a:r>
            <a:r>
              <a:rPr lang="zh-CN" altLang="en-US" b="0" i="0" u="none" strike="noStrike" baseline="0" dirty="0">
                <a:solidFill>
                  <a:srgbClr val="000000"/>
                </a:solidFill>
                <a:cs typeface="+mn-ea"/>
                <a:sym typeface="+mn-lt"/>
              </a:rPr>
              <a:t>节中的解释相同。假设对连续函数</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t,z</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取样生成了一 幅数字图像</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它由分别在</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方向和</a:t>
            </a:r>
            <a:r>
              <a:rPr lang="en-US" altLang="zh-CN" b="0" i="0" u="none" strike="noStrike" baseline="0" dirty="0">
                <a:solidFill>
                  <a:srgbClr val="000000"/>
                </a:solidFill>
                <a:cs typeface="+mn-ea"/>
                <a:sym typeface="+mn-lt"/>
              </a:rPr>
              <a:t>z</a:t>
            </a:r>
            <a:r>
              <a:rPr lang="zh-CN" altLang="en-US" b="0" i="0" u="none" strike="noStrike" baseline="0" dirty="0">
                <a:solidFill>
                  <a:srgbClr val="000000"/>
                </a:solidFill>
                <a:cs typeface="+mn-ea"/>
                <a:sym typeface="+mn-lt"/>
              </a:rPr>
              <a:t>方向所取的</a:t>
            </a:r>
            <a:r>
              <a:rPr lang="en-US" altLang="zh-CN" b="0" i="0" u="none" strike="noStrike" baseline="0" dirty="0" err="1">
                <a:solidFill>
                  <a:srgbClr val="000000"/>
                </a:solidFill>
                <a:cs typeface="+mn-ea"/>
                <a:sym typeface="+mn-lt"/>
              </a:rPr>
              <a:t>MxN</a:t>
            </a:r>
            <a:r>
              <a:rPr lang="zh-CN" altLang="en-US" b="0" i="0" u="none" strike="noStrike" baseline="0" dirty="0">
                <a:solidFill>
                  <a:srgbClr val="000000"/>
                </a:solidFill>
                <a:cs typeface="+mn-ea"/>
                <a:sym typeface="+mn-lt"/>
              </a:rPr>
              <a:t> 个样本组成。令△</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和△</a:t>
            </a:r>
            <a:r>
              <a:rPr lang="en-US" altLang="zh-CN" b="0" i="0" u="none" strike="noStrike" baseline="0" dirty="0">
                <a:solidFill>
                  <a:srgbClr val="000000"/>
                </a:solidFill>
                <a:cs typeface="+mn-ea"/>
                <a:sym typeface="+mn-lt"/>
              </a:rPr>
              <a:t>Z</a:t>
            </a:r>
            <a:r>
              <a:rPr lang="zh-CN" altLang="en-US" b="0" i="0" u="none" strike="noStrike" baseline="0" dirty="0">
                <a:solidFill>
                  <a:srgbClr val="000000"/>
                </a:solidFill>
                <a:cs typeface="+mn-ea"/>
                <a:sym typeface="+mn-lt"/>
              </a:rPr>
              <a:t>表示样本间的间隔</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见图</a:t>
            </a:r>
            <a:r>
              <a:rPr lang="en-US" altLang="zh-CN" b="0" i="0" u="none" strike="noStrike" baseline="0" dirty="0">
                <a:solidFill>
                  <a:srgbClr val="000000"/>
                </a:solidFill>
                <a:cs typeface="+mn-ea"/>
                <a:sym typeface="+mn-lt"/>
              </a:rPr>
              <a:t>4.15)</a:t>
            </a:r>
            <a:r>
              <a:rPr lang="zh-CN" altLang="en-US" b="0" i="0" u="none" strike="noStrike" baseline="0" dirty="0">
                <a:solidFill>
                  <a:srgbClr val="000000"/>
                </a:solidFill>
                <a:cs typeface="+mn-ea"/>
                <a:sym typeface="+mn-lt"/>
              </a:rPr>
              <a:t>。于是，频率域对应的离散变量间的间隔分别为</a:t>
            </a:r>
          </a:p>
        </p:txBody>
      </p:sp>
      <p:pic>
        <p:nvPicPr>
          <p:cNvPr id="5" name="图片 4">
            <a:extLst>
              <a:ext uri="{FF2B5EF4-FFF2-40B4-BE49-F238E27FC236}">
                <a16:creationId xmlns:a16="http://schemas.microsoft.com/office/drawing/2014/main" id="{F3E915DF-A2CB-B2EA-5300-C8C2518D8BD9}"/>
              </a:ext>
            </a:extLst>
          </p:cNvPr>
          <p:cNvPicPr>
            <a:picLocks noChangeAspect="1"/>
          </p:cNvPicPr>
          <p:nvPr/>
        </p:nvPicPr>
        <p:blipFill rotWithShape="1">
          <a:blip r:embed="rId2"/>
          <a:srcRect b="8637"/>
          <a:stretch/>
        </p:blipFill>
        <p:spPr>
          <a:xfrm>
            <a:off x="1766633" y="4015511"/>
            <a:ext cx="6387172" cy="1374636"/>
          </a:xfrm>
          <a:prstGeom prst="rect">
            <a:avLst/>
          </a:prstGeom>
        </p:spPr>
      </p:pic>
    </p:spTree>
    <p:extLst>
      <p:ext uri="{BB962C8B-B14F-4D97-AF65-F5344CB8AC3E}">
        <p14:creationId xmlns:p14="http://schemas.microsoft.com/office/powerpoint/2010/main" val="2892119970"/>
      </p:ext>
    </p:extLst>
  </p:cSld>
  <p:clrMapOvr>
    <a:masterClrMapping/>
  </p:clrMapOvr>
  <p:transition spd="slow" advTm="0">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2B344-74D6-DFEF-5B33-312D58093FC5}"/>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周期性</a:t>
            </a:r>
          </a:p>
        </p:txBody>
      </p:sp>
      <p:sp>
        <p:nvSpPr>
          <p:cNvPr id="3" name="文本占位符 2">
            <a:extLst>
              <a:ext uri="{FF2B5EF4-FFF2-40B4-BE49-F238E27FC236}">
                <a16:creationId xmlns:a16="http://schemas.microsoft.com/office/drawing/2014/main" id="{3055A609-819C-775D-8BE0-2D211DC02DCE}"/>
              </a:ext>
            </a:extLst>
          </p:cNvPr>
          <p:cNvSpPr>
            <a:spLocks noGrp="1"/>
          </p:cNvSpPr>
          <p:nvPr>
            <p:ph sz="quarter" idx="12"/>
          </p:nvPr>
        </p:nvSpPr>
        <p:spPr/>
        <p:txBody>
          <a:bodyPr>
            <a:normAutofit/>
          </a:bodyPr>
          <a:lstStyle/>
          <a:p>
            <a:pPr marL="0" marR="500" lvl="0" indent="0" rtl="0">
              <a:buNone/>
            </a:pPr>
            <a:r>
              <a:rPr lang="zh-CN" altLang="en-US" b="0" i="0" u="none" strike="noStrike" baseline="0" dirty="0">
                <a:solidFill>
                  <a:srgbClr val="000000"/>
                </a:solidFill>
                <a:cs typeface="+mn-ea"/>
                <a:sym typeface="+mn-lt"/>
              </a:rPr>
              <a:t>如一维情况中那样，二维傅里叶变换及其反变换在</a:t>
            </a:r>
            <a:r>
              <a:rPr lang="en-US" altLang="zh-CN" b="0" i="0" u="none" strike="noStrike" baseline="0" dirty="0">
                <a:solidFill>
                  <a:srgbClr val="000000"/>
                </a:solidFill>
                <a:cs typeface="+mn-ea"/>
                <a:sym typeface="+mn-lt"/>
              </a:rPr>
              <a:t>u</a:t>
            </a:r>
            <a:r>
              <a:rPr lang="zh-CN" altLang="en-US" b="0" i="0" u="none" strike="noStrike" baseline="0" dirty="0">
                <a:solidFill>
                  <a:srgbClr val="000000"/>
                </a:solidFill>
                <a:cs typeface="+mn-ea"/>
                <a:sym typeface="+mn-lt"/>
              </a:rPr>
              <a:t>方向和</a:t>
            </a:r>
            <a:r>
              <a:rPr lang="en-US" altLang="zh-CN" b="0" i="0" u="none" strike="noStrike" baseline="0" dirty="0">
                <a:solidFill>
                  <a:srgbClr val="000000"/>
                </a:solidFill>
                <a:cs typeface="+mn-ea"/>
                <a:sym typeface="+mn-lt"/>
              </a:rPr>
              <a:t>v</a:t>
            </a:r>
            <a:r>
              <a:rPr lang="zh-CN" altLang="en-US" b="0" i="0" u="none" strike="noStrike" baseline="0" dirty="0">
                <a:solidFill>
                  <a:srgbClr val="000000"/>
                </a:solidFill>
                <a:cs typeface="+mn-ea"/>
                <a:sym typeface="+mn-lt"/>
              </a:rPr>
              <a:t>方向是无限周期的，即</a:t>
            </a:r>
            <a:endParaRPr lang="en-US" altLang="zh-CN" b="0" i="0" u="none" strike="noStrike" baseline="0" dirty="0">
              <a:solidFill>
                <a:srgbClr val="000000"/>
              </a:solidFill>
              <a:cs typeface="+mn-ea"/>
              <a:sym typeface="+mn-lt"/>
            </a:endParaRPr>
          </a:p>
          <a:p>
            <a:pPr marL="0" marR="500" lvl="0" indent="0" rtl="0">
              <a:buNone/>
            </a:pPr>
            <a:endParaRPr lang="zh-CN" altLang="en-US" b="0" i="0" u="none" strike="noStrike" baseline="0" dirty="0">
              <a:solidFill>
                <a:srgbClr val="000000"/>
              </a:solidFill>
              <a:cs typeface="+mn-ea"/>
              <a:sym typeface="+mn-lt"/>
            </a:endParaRPr>
          </a:p>
          <a:p>
            <a:pPr marL="0" marR="500" lvl="0" indent="0" rtl="0">
              <a:buNone/>
            </a:pPr>
            <a:endParaRPr lang="en-US" altLang="zh-CN" b="0" i="0" u="none" strike="noStrike" baseline="0" dirty="0">
              <a:solidFill>
                <a:srgbClr val="000000"/>
              </a:solidFill>
              <a:cs typeface="+mn-ea"/>
              <a:sym typeface="+mn-lt"/>
            </a:endParaRPr>
          </a:p>
          <a:p>
            <a:pPr marL="0" marR="500" lvl="0" indent="0" rtl="0">
              <a:buNone/>
            </a:pPr>
            <a:r>
              <a:rPr lang="zh-CN" altLang="en-US" b="0" i="0" u="none" strike="noStrike" baseline="0" dirty="0">
                <a:solidFill>
                  <a:srgbClr val="000000"/>
                </a:solidFill>
                <a:cs typeface="+mn-ea"/>
                <a:sym typeface="+mn-lt"/>
              </a:rPr>
              <a:t>式中， </a:t>
            </a:r>
            <a:r>
              <a:rPr lang="en-US" altLang="zh-CN" b="0" i="0" u="none" strike="noStrike" baseline="0" dirty="0">
                <a:solidFill>
                  <a:srgbClr val="000000"/>
                </a:solidFill>
                <a:cs typeface="+mn-ea"/>
                <a:sym typeface="+mn-lt"/>
              </a:rPr>
              <a:t>k</a:t>
            </a:r>
            <a:r>
              <a:rPr lang="zh-CN" altLang="en-US" b="0" i="0" u="none" strike="noStrike" baseline="0" dirty="0">
                <a:solidFill>
                  <a:srgbClr val="000000"/>
                </a:solidFill>
                <a:cs typeface="+mn-ea"/>
                <a:sym typeface="+mn-lt"/>
              </a:rPr>
              <a:t> 和</a:t>
            </a:r>
            <a:r>
              <a:rPr lang="en-US" altLang="zh-CN" b="0" i="0" u="none" strike="noStrike" baseline="0" dirty="0">
                <a:solidFill>
                  <a:srgbClr val="000000"/>
                </a:solidFill>
                <a:cs typeface="+mn-ea"/>
                <a:sym typeface="+mn-lt"/>
              </a:rPr>
              <a:t>k</a:t>
            </a:r>
            <a:r>
              <a:rPr lang="zh-CN" altLang="en-US" b="0" i="0" u="none" strike="noStrike" baseline="0" dirty="0">
                <a:solidFill>
                  <a:srgbClr val="000000"/>
                </a:solidFill>
                <a:cs typeface="+mn-ea"/>
                <a:sym typeface="+mn-lt"/>
              </a:rPr>
              <a:t>₂ 是整数。</a:t>
            </a:r>
          </a:p>
          <a:p>
            <a:pPr marL="0" marR="500" lvl="0" indent="0" rtl="0">
              <a:buNone/>
            </a:pPr>
            <a:r>
              <a:rPr lang="zh-CN" altLang="en-US" b="0" i="0" u="none" strike="noStrike" baseline="0" dirty="0">
                <a:solidFill>
                  <a:srgbClr val="000000"/>
                </a:solidFill>
                <a:cs typeface="+mn-ea"/>
                <a:sym typeface="+mn-lt"/>
              </a:rPr>
              <a:t>变换及其反变换的周期性在实现基于</a:t>
            </a:r>
            <a:r>
              <a:rPr lang="en-US" altLang="zh-CN" b="0" i="0" u="none" strike="noStrike" baseline="0" dirty="0">
                <a:solidFill>
                  <a:srgbClr val="000000"/>
                </a:solidFill>
                <a:cs typeface="+mn-ea"/>
                <a:sym typeface="+mn-lt"/>
              </a:rPr>
              <a:t>DFT</a:t>
            </a:r>
            <a:r>
              <a:rPr lang="zh-CN" altLang="en-US" b="0" i="0" u="none" strike="noStrike" baseline="0" dirty="0">
                <a:solidFill>
                  <a:srgbClr val="000000"/>
                </a:solidFill>
                <a:cs typeface="+mn-ea"/>
                <a:sym typeface="+mn-lt"/>
              </a:rPr>
              <a:t> 的算法中很重要。</a:t>
            </a:r>
          </a:p>
        </p:txBody>
      </p:sp>
      <p:pic>
        <p:nvPicPr>
          <p:cNvPr id="5" name="图片 4">
            <a:extLst>
              <a:ext uri="{FF2B5EF4-FFF2-40B4-BE49-F238E27FC236}">
                <a16:creationId xmlns:a16="http://schemas.microsoft.com/office/drawing/2014/main" id="{D5EEBE6D-3015-4C52-411D-B83ADDD81AED}"/>
              </a:ext>
            </a:extLst>
          </p:cNvPr>
          <p:cNvPicPr>
            <a:picLocks noChangeAspect="1"/>
          </p:cNvPicPr>
          <p:nvPr/>
        </p:nvPicPr>
        <p:blipFill>
          <a:blip r:embed="rId2"/>
          <a:stretch>
            <a:fillRect/>
          </a:stretch>
        </p:blipFill>
        <p:spPr>
          <a:xfrm>
            <a:off x="2584348" y="3215891"/>
            <a:ext cx="7023304" cy="1009600"/>
          </a:xfrm>
          <a:prstGeom prst="rect">
            <a:avLst/>
          </a:prstGeom>
        </p:spPr>
      </p:pic>
    </p:spTree>
    <p:extLst>
      <p:ext uri="{BB962C8B-B14F-4D97-AF65-F5344CB8AC3E}">
        <p14:creationId xmlns:p14="http://schemas.microsoft.com/office/powerpoint/2010/main" val="1911076481"/>
      </p:ext>
    </p:extLst>
  </p:cSld>
  <p:clrMapOvr>
    <a:masterClrMapping/>
  </p:clrMapOvr>
  <p:transition spd="slow" advTm="0">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9ECC04-D676-724B-1A04-261C6D3A5C29}"/>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对 称 性</a:t>
            </a:r>
          </a:p>
        </p:txBody>
      </p:sp>
      <p:sp>
        <p:nvSpPr>
          <p:cNvPr id="3" name="文本占位符 2">
            <a:extLst>
              <a:ext uri="{FF2B5EF4-FFF2-40B4-BE49-F238E27FC236}">
                <a16:creationId xmlns:a16="http://schemas.microsoft.com/office/drawing/2014/main" id="{DD25247B-706B-FC44-AE00-78B0DA6A55C8}"/>
              </a:ext>
            </a:extLst>
          </p:cNvPr>
          <p:cNvSpPr>
            <a:spLocks noGrp="1"/>
          </p:cNvSpPr>
          <p:nvPr>
            <p:ph sz="quarter" idx="11"/>
          </p:nvPr>
        </p:nvSpPr>
        <p:spPr/>
        <p:txBody>
          <a:bodyPr/>
          <a:lstStyle/>
          <a:p>
            <a:pPr marL="0" marR="500" lvl="0" indent="0" rtl="0">
              <a:buNone/>
            </a:pPr>
            <a:r>
              <a:rPr lang="zh-CN" altLang="en-US" b="0" i="0" u="none" strike="noStrike" baseline="0" dirty="0">
                <a:solidFill>
                  <a:srgbClr val="000000"/>
                </a:solidFill>
                <a:cs typeface="+mn-ea"/>
                <a:sym typeface="+mn-lt"/>
              </a:rPr>
              <a:t>函数分析得到的一个重要结论是，任意实函数或复函数</a:t>
            </a:r>
            <a:r>
              <a:rPr lang="en-US" altLang="zh-CN" b="0" i="0" u="none" strike="noStrike" baseline="0" dirty="0">
                <a:solidFill>
                  <a:srgbClr val="000000"/>
                </a:solidFill>
                <a:cs typeface="+mn-ea"/>
                <a:sym typeface="+mn-lt"/>
              </a:rPr>
              <a:t>w(</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均可表示为奇数部和偶数部之和， 其中奇数部和偶数部既可以是实数，又可以是复数：</a:t>
            </a:r>
            <a:endParaRPr lang="en-US" altLang="zh-CN" b="0" i="0" u="none" strike="noStrike" baseline="0" dirty="0">
              <a:solidFill>
                <a:srgbClr val="000000"/>
              </a:solidFill>
              <a:cs typeface="+mn-ea"/>
              <a:sym typeface="+mn-lt"/>
            </a:endParaRPr>
          </a:p>
          <a:p>
            <a:pPr marL="0" marR="500" lvl="0" indent="0" rtl="0">
              <a:buNone/>
            </a:pPr>
            <a:endParaRPr lang="zh-CN" altLang="en-US" b="0" i="0" u="none" strike="noStrike" baseline="0" dirty="0">
              <a:solidFill>
                <a:srgbClr val="000000"/>
              </a:solidFill>
              <a:cs typeface="+mn-ea"/>
              <a:sym typeface="+mn-lt"/>
            </a:endParaRPr>
          </a:p>
          <a:p>
            <a:pPr marL="0" marR="500" lvl="0" indent="0" rtl="0">
              <a:buNone/>
            </a:pPr>
            <a:r>
              <a:rPr lang="zh-CN" altLang="en-US" b="0" i="0" u="none" strike="noStrike" baseline="0" dirty="0">
                <a:solidFill>
                  <a:srgbClr val="000000"/>
                </a:solidFill>
                <a:cs typeface="+mn-ea"/>
                <a:sym typeface="+mn-lt"/>
              </a:rPr>
              <a:t>式中，对于</a:t>
            </a:r>
            <a:r>
              <a:rPr lang="en-US" altLang="zh-CN" b="0" i="0" u="none" strike="noStrike" baseline="0" dirty="0">
                <a:solidFill>
                  <a:srgbClr val="000000"/>
                </a:solidFill>
                <a:cs typeface="+mn-ea"/>
                <a:sym typeface="+mn-lt"/>
              </a:rPr>
              <a:t>x</a:t>
            </a:r>
            <a:r>
              <a:rPr lang="zh-CN" altLang="en-US" b="0" i="0" u="none" strike="noStrike" baseline="0" dirty="0">
                <a:solidFill>
                  <a:srgbClr val="000000"/>
                </a:solidFill>
                <a:cs typeface="+mn-ea"/>
                <a:sym typeface="+mn-lt"/>
              </a:rPr>
              <a:t> 和</a:t>
            </a:r>
            <a:r>
              <a:rPr lang="en-US" altLang="zh-CN" b="0" i="0" u="none" strike="noStrike" baseline="0" dirty="0">
                <a:solidFill>
                  <a:srgbClr val="000000"/>
                </a:solidFill>
                <a:cs typeface="+mn-ea"/>
                <a:sym typeface="+mn-lt"/>
              </a:rPr>
              <a:t>y</a:t>
            </a:r>
            <a:r>
              <a:rPr lang="zh-CN" altLang="en-US" b="0" i="0" u="none" strike="noStrike" baseline="0" dirty="0">
                <a:solidFill>
                  <a:srgbClr val="000000"/>
                </a:solidFill>
                <a:cs typeface="+mn-ea"/>
                <a:sym typeface="+mn-lt"/>
              </a:rPr>
              <a:t> 的所有有效值，偶数部和奇数部定义如下：</a:t>
            </a:r>
          </a:p>
        </p:txBody>
      </p:sp>
      <p:pic>
        <p:nvPicPr>
          <p:cNvPr id="5" name="图片 4">
            <a:extLst>
              <a:ext uri="{FF2B5EF4-FFF2-40B4-BE49-F238E27FC236}">
                <a16:creationId xmlns:a16="http://schemas.microsoft.com/office/drawing/2014/main" id="{4CA43AA9-C50A-1F44-C7ED-7089BBCA83C3}"/>
              </a:ext>
            </a:extLst>
          </p:cNvPr>
          <p:cNvPicPr>
            <a:picLocks noChangeAspect="1"/>
          </p:cNvPicPr>
          <p:nvPr/>
        </p:nvPicPr>
        <p:blipFill rotWithShape="1">
          <a:blip r:embed="rId2"/>
          <a:srcRect b="19337"/>
          <a:stretch/>
        </p:blipFill>
        <p:spPr>
          <a:xfrm>
            <a:off x="4720802" y="3595873"/>
            <a:ext cx="2750396" cy="338425"/>
          </a:xfrm>
          <a:prstGeom prst="rect">
            <a:avLst/>
          </a:prstGeom>
        </p:spPr>
      </p:pic>
      <p:pic>
        <p:nvPicPr>
          <p:cNvPr id="7" name="图片 6">
            <a:extLst>
              <a:ext uri="{FF2B5EF4-FFF2-40B4-BE49-F238E27FC236}">
                <a16:creationId xmlns:a16="http://schemas.microsoft.com/office/drawing/2014/main" id="{E9C8FC85-5F6A-BDE3-EF0A-78A87E791F3F}"/>
              </a:ext>
            </a:extLst>
          </p:cNvPr>
          <p:cNvPicPr>
            <a:picLocks noChangeAspect="1"/>
          </p:cNvPicPr>
          <p:nvPr/>
        </p:nvPicPr>
        <p:blipFill>
          <a:blip r:embed="rId3"/>
          <a:stretch>
            <a:fillRect/>
          </a:stretch>
        </p:blipFill>
        <p:spPr>
          <a:xfrm>
            <a:off x="3353516" y="4577928"/>
            <a:ext cx="5484968" cy="1448594"/>
          </a:xfrm>
          <a:prstGeom prst="rect">
            <a:avLst/>
          </a:prstGeom>
        </p:spPr>
      </p:pic>
      <p:sp>
        <p:nvSpPr>
          <p:cNvPr id="8" name="矩形 7">
            <a:extLst>
              <a:ext uri="{FF2B5EF4-FFF2-40B4-BE49-F238E27FC236}">
                <a16:creationId xmlns:a16="http://schemas.microsoft.com/office/drawing/2014/main" id="{5B7521E0-C1D5-8C1D-78ED-10502B3B1374}"/>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3748067666"/>
      </p:ext>
    </p:extLst>
  </p:cSld>
  <p:clrMapOvr>
    <a:masterClrMapping/>
  </p:clrMapOvr>
  <p:transition spd="slow" advTm="0">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7B17DF-755F-5CDA-2031-807DED463C04}"/>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傅里叶频谱和相角</a:t>
            </a:r>
          </a:p>
        </p:txBody>
      </p:sp>
      <p:sp>
        <p:nvSpPr>
          <p:cNvPr id="3" name="文本占位符 2">
            <a:extLst>
              <a:ext uri="{FF2B5EF4-FFF2-40B4-BE49-F238E27FC236}">
                <a16:creationId xmlns:a16="http://schemas.microsoft.com/office/drawing/2014/main" id="{AF432151-EC93-0426-4A61-25A2ABAC2A43}"/>
              </a:ext>
            </a:extLst>
          </p:cNvPr>
          <p:cNvSpPr>
            <a:spLocks noGrp="1"/>
          </p:cNvSpPr>
          <p:nvPr>
            <p:ph sz="quarter" idx="12"/>
          </p:nvPr>
        </p:nvSpPr>
        <p:spPr/>
        <p:txBody>
          <a:bodyPr/>
          <a:lstStyle/>
          <a:p>
            <a:pPr marL="0" marR="500" lvl="0" indent="0" rtl="0">
              <a:buNone/>
            </a:pPr>
            <a:r>
              <a:rPr lang="zh-CN" altLang="en-US" b="0" i="0" u="none" strike="noStrike" baseline="0" dirty="0">
                <a:solidFill>
                  <a:srgbClr val="000000"/>
                </a:solidFill>
                <a:cs typeface="+mn-ea"/>
                <a:sym typeface="+mn-lt"/>
              </a:rPr>
              <a:t>因为二维 </a:t>
            </a:r>
            <a:r>
              <a:rPr lang="en-US" altLang="zh-CN" b="0" i="0" u="none" strike="noStrike" baseline="0" dirty="0">
                <a:solidFill>
                  <a:srgbClr val="000000"/>
                </a:solidFill>
                <a:cs typeface="+mn-ea"/>
                <a:sym typeface="+mn-lt"/>
              </a:rPr>
              <a:t>DFT</a:t>
            </a:r>
            <a:r>
              <a:rPr lang="zh-CN" altLang="en-US" b="0" i="0" u="none" strike="noStrike" baseline="0" dirty="0">
                <a:solidFill>
                  <a:srgbClr val="000000"/>
                </a:solidFill>
                <a:cs typeface="+mn-ea"/>
                <a:sym typeface="+mn-lt"/>
              </a:rPr>
              <a:t>通常是复函数，因此可用极坐标形式来表示：</a:t>
            </a:r>
            <a:endParaRPr lang="en-US" altLang="zh-CN" b="0" i="0" u="none" strike="noStrike" baseline="0" dirty="0">
              <a:solidFill>
                <a:srgbClr val="000000"/>
              </a:solidFill>
              <a:cs typeface="+mn-ea"/>
              <a:sym typeface="+mn-lt"/>
            </a:endParaRPr>
          </a:p>
          <a:p>
            <a:pPr marL="0" marR="500" lvl="0" indent="0" rtl="0">
              <a:buNone/>
            </a:pPr>
            <a:endParaRPr lang="zh-CN" altLang="en-US" b="0" i="0" u="none" strike="noStrike" baseline="0" dirty="0">
              <a:solidFill>
                <a:srgbClr val="000000"/>
              </a:solidFill>
              <a:cs typeface="+mn-ea"/>
              <a:sym typeface="+mn-lt"/>
            </a:endParaRPr>
          </a:p>
          <a:p>
            <a:pPr marL="0" marR="500" lvl="0" indent="0" rtl="0">
              <a:buNone/>
            </a:pPr>
            <a:r>
              <a:rPr lang="zh-CN" altLang="en-US" b="0" i="0" u="none" strike="noStrike" baseline="0" dirty="0">
                <a:solidFill>
                  <a:srgbClr val="000000"/>
                </a:solidFill>
                <a:cs typeface="+mn-ea"/>
                <a:sym typeface="+mn-lt"/>
              </a:rPr>
              <a:t>式中，幅度</a:t>
            </a:r>
          </a:p>
          <a:p>
            <a:pPr marL="0" marR="500" lvl="0" indent="0" rtl="0">
              <a:buNone/>
            </a:pPr>
            <a:r>
              <a:rPr lang="zh-CN" altLang="en-US" b="0" i="0" u="none" strike="noStrike" baseline="0" dirty="0">
                <a:solidFill>
                  <a:srgbClr val="000000"/>
                </a:solidFill>
                <a:cs typeface="+mn-ea"/>
                <a:sym typeface="+mn-lt"/>
              </a:rPr>
              <a:t>称为傅里叶频谱</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或频谱</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而</a:t>
            </a:r>
          </a:p>
          <a:p>
            <a:pPr marL="0" marR="500" lvl="0" indent="0" rtl="0">
              <a:buNone/>
            </a:pPr>
            <a:r>
              <a:rPr lang="zh-CN" altLang="en-US" b="0" i="0" u="none" strike="noStrike" baseline="0" dirty="0">
                <a:solidFill>
                  <a:srgbClr val="000000"/>
                </a:solidFill>
                <a:cs typeface="+mn-ea"/>
                <a:sym typeface="+mn-lt"/>
              </a:rPr>
              <a:t>最后，功率谱定义为</a:t>
            </a:r>
          </a:p>
        </p:txBody>
      </p:sp>
      <p:pic>
        <p:nvPicPr>
          <p:cNvPr id="5" name="图片 4">
            <a:extLst>
              <a:ext uri="{FF2B5EF4-FFF2-40B4-BE49-F238E27FC236}">
                <a16:creationId xmlns:a16="http://schemas.microsoft.com/office/drawing/2014/main" id="{8B069B16-2E88-4AA9-CD1A-FFE3048CE573}"/>
              </a:ext>
            </a:extLst>
          </p:cNvPr>
          <p:cNvPicPr>
            <a:picLocks noChangeAspect="1"/>
          </p:cNvPicPr>
          <p:nvPr/>
        </p:nvPicPr>
        <p:blipFill>
          <a:blip r:embed="rId2"/>
          <a:stretch>
            <a:fillRect/>
          </a:stretch>
        </p:blipFill>
        <p:spPr>
          <a:xfrm>
            <a:off x="4130219" y="2920482"/>
            <a:ext cx="3994717" cy="647792"/>
          </a:xfrm>
          <a:prstGeom prst="rect">
            <a:avLst/>
          </a:prstGeom>
        </p:spPr>
      </p:pic>
      <p:pic>
        <p:nvPicPr>
          <p:cNvPr id="7" name="图片 6">
            <a:extLst>
              <a:ext uri="{FF2B5EF4-FFF2-40B4-BE49-F238E27FC236}">
                <a16:creationId xmlns:a16="http://schemas.microsoft.com/office/drawing/2014/main" id="{1691B5EE-B83C-C366-29CB-CED6C3F5EB60}"/>
              </a:ext>
            </a:extLst>
          </p:cNvPr>
          <p:cNvPicPr>
            <a:picLocks noChangeAspect="1"/>
          </p:cNvPicPr>
          <p:nvPr/>
        </p:nvPicPr>
        <p:blipFill>
          <a:blip r:embed="rId3"/>
          <a:stretch>
            <a:fillRect/>
          </a:stretch>
        </p:blipFill>
        <p:spPr>
          <a:xfrm>
            <a:off x="2543826" y="3719269"/>
            <a:ext cx="2419452" cy="412797"/>
          </a:xfrm>
          <a:prstGeom prst="rect">
            <a:avLst/>
          </a:prstGeom>
        </p:spPr>
      </p:pic>
      <p:pic>
        <p:nvPicPr>
          <p:cNvPr id="9" name="图片 8">
            <a:extLst>
              <a:ext uri="{FF2B5EF4-FFF2-40B4-BE49-F238E27FC236}">
                <a16:creationId xmlns:a16="http://schemas.microsoft.com/office/drawing/2014/main" id="{4E1DCBC8-1AD2-A2E7-98B8-6F7C3F91D83E}"/>
              </a:ext>
            </a:extLst>
          </p:cNvPr>
          <p:cNvPicPr>
            <a:picLocks noChangeAspect="1"/>
          </p:cNvPicPr>
          <p:nvPr/>
        </p:nvPicPr>
        <p:blipFill>
          <a:blip r:embed="rId4"/>
          <a:stretch>
            <a:fillRect/>
          </a:stretch>
        </p:blipFill>
        <p:spPr>
          <a:xfrm>
            <a:off x="4130219" y="4343351"/>
            <a:ext cx="2214565" cy="527277"/>
          </a:xfrm>
          <a:prstGeom prst="rect">
            <a:avLst/>
          </a:prstGeom>
        </p:spPr>
      </p:pic>
      <p:pic>
        <p:nvPicPr>
          <p:cNvPr id="11" name="图片 10">
            <a:extLst>
              <a:ext uri="{FF2B5EF4-FFF2-40B4-BE49-F238E27FC236}">
                <a16:creationId xmlns:a16="http://schemas.microsoft.com/office/drawing/2014/main" id="{E3D913D4-5621-54F7-EC80-B334AC1B0A87}"/>
              </a:ext>
            </a:extLst>
          </p:cNvPr>
          <p:cNvPicPr>
            <a:picLocks noChangeAspect="1"/>
          </p:cNvPicPr>
          <p:nvPr/>
        </p:nvPicPr>
        <p:blipFill>
          <a:blip r:embed="rId5"/>
          <a:stretch>
            <a:fillRect/>
          </a:stretch>
        </p:blipFill>
        <p:spPr>
          <a:xfrm>
            <a:off x="3538526" y="4907143"/>
            <a:ext cx="3994717" cy="484208"/>
          </a:xfrm>
          <a:prstGeom prst="rect">
            <a:avLst/>
          </a:prstGeom>
        </p:spPr>
      </p:pic>
    </p:spTree>
    <p:extLst>
      <p:ext uri="{BB962C8B-B14F-4D97-AF65-F5344CB8AC3E}">
        <p14:creationId xmlns:p14="http://schemas.microsoft.com/office/powerpoint/2010/main" val="842461659"/>
      </p:ext>
    </p:extLst>
  </p:cSld>
  <p:clrMapOvr>
    <a:masterClrMapping/>
  </p:clrMapOvr>
  <p:transition spd="slow" advTm="0">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2A1FC4-A8CA-760F-782D-A22C1A9BE0E4}"/>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二维离散卷积定理</a:t>
            </a:r>
          </a:p>
        </p:txBody>
      </p:sp>
      <p:sp>
        <p:nvSpPr>
          <p:cNvPr id="3" name="文本占位符 2">
            <a:extLst>
              <a:ext uri="{FF2B5EF4-FFF2-40B4-BE49-F238E27FC236}">
                <a16:creationId xmlns:a16="http://schemas.microsoft.com/office/drawing/2014/main" id="{5DB0E9CF-5FEF-6A9A-6A4C-1429167CFCDD}"/>
              </a:ext>
            </a:extLst>
          </p:cNvPr>
          <p:cNvSpPr>
            <a:spLocks noGrp="1"/>
          </p:cNvSpPr>
          <p:nvPr>
            <p:ph sz="quarter" idx="12"/>
          </p:nvPr>
        </p:nvSpPr>
        <p:spPr/>
        <p:txBody>
          <a:bodyPr/>
          <a:lstStyle/>
          <a:p>
            <a:pPr marL="0" marR="500" lvl="0" indent="0" rtl="0">
              <a:buNone/>
            </a:pPr>
            <a:r>
              <a:rPr lang="zh-CN" altLang="en-US" b="0" i="0" u="none" strike="noStrike" baseline="0" dirty="0">
                <a:solidFill>
                  <a:srgbClr val="000000"/>
                </a:solidFill>
                <a:cs typeface="+mn-ea"/>
                <a:sym typeface="+mn-lt"/>
              </a:rPr>
              <a:t>将式</a:t>
            </a:r>
            <a:r>
              <a:rPr lang="en-US" altLang="zh-CN" b="0" i="0" u="none" strike="noStrike" baseline="0" dirty="0">
                <a:solidFill>
                  <a:srgbClr val="000000"/>
                </a:solidFill>
                <a:cs typeface="+mn-ea"/>
                <a:sym typeface="+mn-lt"/>
              </a:rPr>
              <a:t>(4.48)</a:t>
            </a:r>
            <a:r>
              <a:rPr lang="zh-CN" altLang="en-US" b="0" i="0" u="none" strike="noStrike" baseline="0" dirty="0">
                <a:solidFill>
                  <a:srgbClr val="000000"/>
                </a:solidFill>
                <a:cs typeface="+mn-ea"/>
                <a:sym typeface="+mn-lt"/>
              </a:rPr>
              <a:t>扩展至两个变量，可得到如下的二维循环卷积表达式：</a:t>
            </a:r>
            <a:endParaRPr lang="en-US" altLang="zh-CN" b="0" i="0" u="none" strike="noStrike" baseline="0" dirty="0">
              <a:solidFill>
                <a:srgbClr val="000000"/>
              </a:solidFill>
              <a:cs typeface="+mn-ea"/>
              <a:sym typeface="+mn-lt"/>
            </a:endParaRPr>
          </a:p>
          <a:p>
            <a:pPr marL="0" marR="500" lvl="0" indent="0" rtl="0">
              <a:buNone/>
            </a:pPr>
            <a:endParaRPr lang="zh-CN" altLang="en-US" b="0" i="0" u="none" strike="noStrike" baseline="0" dirty="0">
              <a:solidFill>
                <a:srgbClr val="000000"/>
              </a:solidFill>
              <a:cs typeface="+mn-ea"/>
              <a:sym typeface="+mn-lt"/>
            </a:endParaRPr>
          </a:p>
          <a:p>
            <a:pPr marL="0" marR="500" lvl="0" indent="0" rtl="0">
              <a:buNone/>
            </a:pPr>
            <a:r>
              <a:rPr lang="zh-CN" altLang="en-US" b="0" i="0" u="none" strike="noStrike" baseline="0" dirty="0">
                <a:solidFill>
                  <a:srgbClr val="000000"/>
                </a:solidFill>
                <a:cs typeface="+mn-ea"/>
                <a:sym typeface="+mn-lt"/>
              </a:rPr>
              <a:t>式中，</a:t>
            </a:r>
            <a:r>
              <a:rPr lang="en-US" altLang="zh-CN" b="0" i="0" u="none" strike="noStrike" baseline="0" dirty="0">
                <a:solidFill>
                  <a:srgbClr val="000000"/>
                </a:solidFill>
                <a:cs typeface="+mn-ea"/>
                <a:sym typeface="+mn-lt"/>
              </a:rPr>
              <a:t>x=0,1,2,</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…,M-</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1,y=0,1,2,</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…,N-</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。如式</a:t>
            </a:r>
            <a:r>
              <a:rPr lang="en-US" altLang="zh-CN" b="0" i="0" u="none" strike="noStrike" baseline="0" dirty="0">
                <a:solidFill>
                  <a:srgbClr val="000000"/>
                </a:solidFill>
                <a:cs typeface="+mn-ea"/>
                <a:sym typeface="+mn-lt"/>
              </a:rPr>
              <a:t>(4.48)</a:t>
            </a:r>
            <a:r>
              <a:rPr lang="zh-CN" altLang="en-US" b="0" i="0" u="none" strike="noStrike" baseline="0" dirty="0">
                <a:solidFill>
                  <a:srgbClr val="000000"/>
                </a:solidFill>
                <a:cs typeface="+mn-ea"/>
                <a:sym typeface="+mn-lt"/>
              </a:rPr>
              <a:t>那样，式</a:t>
            </a:r>
            <a:r>
              <a:rPr lang="en-US" altLang="zh-CN" b="0" i="0" u="none" strike="noStrike" baseline="0" dirty="0">
                <a:solidFill>
                  <a:srgbClr val="000000"/>
                </a:solidFill>
                <a:cs typeface="+mn-ea"/>
                <a:sym typeface="+mn-lt"/>
              </a:rPr>
              <a:t>(4.94)</a:t>
            </a:r>
            <a:r>
              <a:rPr lang="zh-CN" altLang="en-US" b="0" i="0" u="none" strike="noStrike" baseline="0" dirty="0">
                <a:solidFill>
                  <a:srgbClr val="000000"/>
                </a:solidFill>
                <a:cs typeface="+mn-ea"/>
                <a:sym typeface="+mn-lt"/>
              </a:rPr>
              <a:t>给出了一个周期的二维周期序列。二维卷积定理为</a:t>
            </a:r>
          </a:p>
        </p:txBody>
      </p:sp>
      <p:pic>
        <p:nvPicPr>
          <p:cNvPr id="5" name="图片 4">
            <a:extLst>
              <a:ext uri="{FF2B5EF4-FFF2-40B4-BE49-F238E27FC236}">
                <a16:creationId xmlns:a16="http://schemas.microsoft.com/office/drawing/2014/main" id="{88931733-AB09-A124-8E14-7B9EB4E820A6}"/>
              </a:ext>
            </a:extLst>
          </p:cNvPr>
          <p:cNvPicPr>
            <a:picLocks noChangeAspect="1"/>
          </p:cNvPicPr>
          <p:nvPr/>
        </p:nvPicPr>
        <p:blipFill rotWithShape="1">
          <a:blip r:embed="rId2"/>
          <a:srcRect t="1" b="15494"/>
          <a:stretch/>
        </p:blipFill>
        <p:spPr>
          <a:xfrm>
            <a:off x="4236448" y="3200513"/>
            <a:ext cx="3719103" cy="456974"/>
          </a:xfrm>
          <a:prstGeom prst="rect">
            <a:avLst/>
          </a:prstGeom>
        </p:spPr>
      </p:pic>
      <p:pic>
        <p:nvPicPr>
          <p:cNvPr id="7" name="图片 6">
            <a:extLst>
              <a:ext uri="{FF2B5EF4-FFF2-40B4-BE49-F238E27FC236}">
                <a16:creationId xmlns:a16="http://schemas.microsoft.com/office/drawing/2014/main" id="{2CAD92BA-7482-DB7D-EE87-86D6D212912F}"/>
              </a:ext>
            </a:extLst>
          </p:cNvPr>
          <p:cNvPicPr>
            <a:picLocks noChangeAspect="1"/>
          </p:cNvPicPr>
          <p:nvPr/>
        </p:nvPicPr>
        <p:blipFill rotWithShape="1">
          <a:blip r:embed="rId3"/>
          <a:srcRect b="2975"/>
          <a:stretch/>
        </p:blipFill>
        <p:spPr>
          <a:xfrm>
            <a:off x="3658595" y="4841181"/>
            <a:ext cx="4874807" cy="922087"/>
          </a:xfrm>
          <a:prstGeom prst="rect">
            <a:avLst/>
          </a:prstGeom>
        </p:spPr>
      </p:pic>
    </p:spTree>
    <p:extLst>
      <p:ext uri="{BB962C8B-B14F-4D97-AF65-F5344CB8AC3E}">
        <p14:creationId xmlns:p14="http://schemas.microsoft.com/office/powerpoint/2010/main" val="3563982818"/>
      </p:ext>
    </p:extLst>
  </p:cSld>
  <p:clrMapOvr>
    <a:masterClrMapping/>
  </p:clrMapOvr>
  <p:transition spd="slow" advTm="0">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07</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频率域滤波基础</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1116289202"/>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72619C-65C3-18D6-8EC6-9C5CD3EE1B18}"/>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频率域滤波基础知识</a:t>
            </a:r>
          </a:p>
        </p:txBody>
      </p:sp>
      <p:sp>
        <p:nvSpPr>
          <p:cNvPr id="3" name="文本占位符 2">
            <a:extLst>
              <a:ext uri="{FF2B5EF4-FFF2-40B4-BE49-F238E27FC236}">
                <a16:creationId xmlns:a16="http://schemas.microsoft.com/office/drawing/2014/main" id="{84AEDA75-3926-20EF-E7CD-549E06BB636B}"/>
              </a:ext>
            </a:extLst>
          </p:cNvPr>
          <p:cNvSpPr>
            <a:spLocks noGrp="1"/>
          </p:cNvSpPr>
          <p:nvPr>
            <p:ph sz="quarter" idx="12"/>
          </p:nvPr>
        </p:nvSpPr>
        <p:spPr/>
        <p:txBody>
          <a:bodyPr/>
          <a:lstStyle/>
          <a:p>
            <a:pPr marL="0" marR="500" lvl="0" indent="0" rtl="0">
              <a:buNone/>
            </a:pPr>
            <a:r>
              <a:rPr lang="zh-CN" altLang="en-US" b="0" i="0" u="none" strike="noStrike" baseline="0" dirty="0">
                <a:solidFill>
                  <a:srgbClr val="000000"/>
                </a:solidFill>
                <a:cs typeface="+mn-ea"/>
                <a:sym typeface="+mn-lt"/>
              </a:rPr>
              <a:t>频率域滤波的步骤是，首先修改一幅图像的傅里叶变换，然后计算其反变换，得到处理后的结果的空间域表示。因此，若已知大小为</a:t>
            </a:r>
            <a:r>
              <a:rPr lang="en-US" altLang="zh-CN" b="0" i="0" u="none" strike="noStrike" baseline="0" dirty="0">
                <a:solidFill>
                  <a:srgbClr val="000000"/>
                </a:solidFill>
                <a:cs typeface="+mn-ea"/>
                <a:sym typeface="+mn-lt"/>
              </a:rPr>
              <a:t>P×Q</a:t>
            </a:r>
            <a:r>
              <a:rPr lang="zh-CN" altLang="en-US" b="0" i="0" u="none" strike="noStrike" baseline="0" dirty="0">
                <a:solidFill>
                  <a:srgbClr val="000000"/>
                </a:solidFill>
                <a:cs typeface="+mn-ea"/>
                <a:sym typeface="+mn-lt"/>
              </a:rPr>
              <a:t>像素的一幅</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经过填充的</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数字图像</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则我们感兴趣的基本滤波公式为</a:t>
            </a:r>
          </a:p>
        </p:txBody>
      </p:sp>
      <p:pic>
        <p:nvPicPr>
          <p:cNvPr id="5" name="图片 4">
            <a:extLst>
              <a:ext uri="{FF2B5EF4-FFF2-40B4-BE49-F238E27FC236}">
                <a16:creationId xmlns:a16="http://schemas.microsoft.com/office/drawing/2014/main" id="{101D470E-8A81-43A4-1C96-B019C853D6DD}"/>
              </a:ext>
            </a:extLst>
          </p:cNvPr>
          <p:cNvPicPr>
            <a:picLocks noChangeAspect="1"/>
          </p:cNvPicPr>
          <p:nvPr/>
        </p:nvPicPr>
        <p:blipFill rotWithShape="1">
          <a:blip r:embed="rId2"/>
          <a:srcRect b="9192"/>
          <a:stretch/>
        </p:blipFill>
        <p:spPr>
          <a:xfrm>
            <a:off x="4292856" y="4025363"/>
            <a:ext cx="3606286" cy="579611"/>
          </a:xfrm>
          <a:prstGeom prst="rect">
            <a:avLst/>
          </a:prstGeom>
        </p:spPr>
      </p:pic>
    </p:spTree>
    <p:extLst>
      <p:ext uri="{BB962C8B-B14F-4D97-AF65-F5344CB8AC3E}">
        <p14:creationId xmlns:p14="http://schemas.microsoft.com/office/powerpoint/2010/main" val="2591835084"/>
      </p:ext>
    </p:extLst>
  </p:cSld>
  <p:clrMapOvr>
    <a:masterClrMapping/>
  </p:clrMapOvr>
  <p:transition spd="slow" advTm="0">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712108" y="2221637"/>
            <a:ext cx="5756780" cy="3091835"/>
            <a:chOff x="5931041" y="2292214"/>
            <a:chExt cx="5756780" cy="3091835"/>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08</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5931041" y="3937499"/>
              <a:ext cx="5756780"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使用低通频率域滤波器平滑图像</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291659559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E40B40-9FAD-53BF-9312-D455F496D34C}"/>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理想低通滤波器</a:t>
            </a:r>
          </a:p>
        </p:txBody>
      </p:sp>
      <p:sp>
        <p:nvSpPr>
          <p:cNvPr id="3" name="文本占位符 2">
            <a:extLst>
              <a:ext uri="{FF2B5EF4-FFF2-40B4-BE49-F238E27FC236}">
                <a16:creationId xmlns:a16="http://schemas.microsoft.com/office/drawing/2014/main" id="{8A6FDA2C-1F9F-2C60-CA01-2086F07D1299}"/>
              </a:ext>
            </a:extLst>
          </p:cNvPr>
          <p:cNvSpPr>
            <a:spLocks noGrp="1"/>
          </p:cNvSpPr>
          <p:nvPr>
            <p:ph sz="quarter" idx="11"/>
          </p:nvPr>
        </p:nvSpPr>
        <p:spPr/>
        <p:txBody>
          <a:bodyPr/>
          <a:lstStyle/>
          <a:p>
            <a:pPr marL="0" marR="500" lvl="0" indent="0" rtl="0">
              <a:buNone/>
            </a:pPr>
            <a:r>
              <a:rPr lang="zh-CN" altLang="en-US" b="0" i="0" u="none" strike="noStrike" baseline="0" dirty="0">
                <a:solidFill>
                  <a:srgbClr val="000000"/>
                </a:solidFill>
                <a:cs typeface="+mn-ea"/>
                <a:sym typeface="+mn-lt"/>
              </a:rPr>
              <a:t>在以原点为中心的一个圆内无衰减地通过所有频率，而在这个圆外“截止”所有频率的二维低通</a:t>
            </a:r>
          </a:p>
          <a:p>
            <a:pPr marL="0" marR="500" lvl="0" indent="0" rtl="0">
              <a:buNone/>
            </a:pPr>
            <a:r>
              <a:rPr lang="zh-CN" altLang="en-US" b="0" i="0" u="none" strike="noStrike" baseline="0" dirty="0">
                <a:solidFill>
                  <a:srgbClr val="000000"/>
                </a:solidFill>
                <a:cs typeface="+mn-ea"/>
                <a:sym typeface="+mn-lt"/>
              </a:rPr>
              <a:t>滤波器，称为理想低通滤波器 </a:t>
            </a:r>
            <a:r>
              <a:rPr lang="en-US" altLang="zh-CN" b="0" i="0" u="none" strike="noStrike" baseline="0" dirty="0">
                <a:solidFill>
                  <a:srgbClr val="000000"/>
                </a:solidFill>
                <a:cs typeface="+mn-ea"/>
                <a:sym typeface="+mn-lt"/>
              </a:rPr>
              <a:t>(ILPF);</a:t>
            </a:r>
            <a:r>
              <a:rPr lang="zh-CN" altLang="en-US" b="0" i="0" u="none" strike="noStrike" baseline="0" dirty="0">
                <a:solidFill>
                  <a:srgbClr val="000000"/>
                </a:solidFill>
                <a:cs typeface="+mn-ea"/>
                <a:sym typeface="+mn-lt"/>
              </a:rPr>
              <a:t> 它由下面的传递函数规定：</a:t>
            </a:r>
            <a:endParaRPr lang="en-US" altLang="zh-CN" b="0" i="0" u="none" strike="noStrike" baseline="0" dirty="0">
              <a:solidFill>
                <a:srgbClr val="000000"/>
              </a:solidFill>
              <a:cs typeface="+mn-ea"/>
              <a:sym typeface="+mn-lt"/>
            </a:endParaRPr>
          </a:p>
          <a:p>
            <a:pPr marL="0" marR="500" lvl="0" indent="0" rtl="0">
              <a:buNone/>
            </a:pPr>
            <a:endParaRPr lang="zh-CN" altLang="en-US" b="0" i="0" u="none" strike="noStrike" baseline="0" dirty="0">
              <a:solidFill>
                <a:srgbClr val="000000"/>
              </a:solidFill>
              <a:cs typeface="+mn-ea"/>
              <a:sym typeface="+mn-lt"/>
            </a:endParaRPr>
          </a:p>
          <a:p>
            <a:pPr marL="0" marR="500" lvl="0" indent="0" rtl="0">
              <a:buNone/>
            </a:pPr>
            <a:r>
              <a:rPr lang="zh-CN" altLang="en-US" b="0" i="0" u="none" strike="noStrike" baseline="0" dirty="0">
                <a:solidFill>
                  <a:srgbClr val="000000"/>
                </a:solidFill>
                <a:cs typeface="+mn-ea"/>
                <a:sym typeface="+mn-lt"/>
              </a:rPr>
              <a:t>式中， </a:t>
            </a:r>
            <a:r>
              <a:rPr lang="en-US" altLang="zh-CN" b="0" i="0" u="none" strike="noStrike" baseline="0" dirty="0">
                <a:solidFill>
                  <a:srgbClr val="000000"/>
                </a:solidFill>
                <a:cs typeface="+mn-ea"/>
                <a:sym typeface="+mn-lt"/>
              </a:rPr>
              <a:t>Do</a:t>
            </a:r>
            <a:r>
              <a:rPr lang="zh-CN" altLang="en-US" b="0" i="0" u="none" strike="noStrike" baseline="0" dirty="0">
                <a:solidFill>
                  <a:srgbClr val="000000"/>
                </a:solidFill>
                <a:cs typeface="+mn-ea"/>
                <a:sym typeface="+mn-lt"/>
              </a:rPr>
              <a:t> 是一个正常数， </a:t>
            </a:r>
            <a:r>
              <a:rPr lang="en-US" altLang="zh-CN" b="0" i="0" u="none" strike="noStrike" baseline="0" dirty="0">
                <a:solidFill>
                  <a:srgbClr val="000000"/>
                </a:solidFill>
                <a:cs typeface="+mn-ea"/>
                <a:sym typeface="+mn-lt"/>
              </a:rPr>
              <a:t>D(</a:t>
            </a:r>
            <a:r>
              <a:rPr lang="en-US" altLang="zh-CN" b="0" i="0" u="none" strike="noStrike" baseline="0" dirty="0" err="1">
                <a:solidFill>
                  <a:srgbClr val="000000"/>
                </a:solidFill>
                <a:cs typeface="+mn-ea"/>
                <a:sym typeface="+mn-lt"/>
              </a:rPr>
              <a:t>u,v</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是频率域中点</a:t>
            </a:r>
            <a:r>
              <a:rPr lang="en-US" altLang="zh-CN" b="0" i="0" u="none" strike="noStrike" baseline="0" dirty="0">
                <a:solidFill>
                  <a:srgbClr val="000000"/>
                </a:solidFill>
                <a:cs typeface="+mn-ea"/>
                <a:sym typeface="+mn-lt"/>
              </a:rPr>
              <a:t>(</a:t>
            </a:r>
            <a:r>
              <a:rPr lang="en-US" altLang="zh-CN" b="0" i="0" u="none" strike="noStrike" baseline="0" dirty="0" err="1">
                <a:solidFill>
                  <a:srgbClr val="000000"/>
                </a:solidFill>
                <a:cs typeface="+mn-ea"/>
                <a:sym typeface="+mn-lt"/>
              </a:rPr>
              <a:t>u,v</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到</a:t>
            </a:r>
            <a:r>
              <a:rPr lang="en-US" altLang="zh-CN" b="0" i="0" u="none" strike="noStrike" baseline="0" dirty="0">
                <a:solidFill>
                  <a:srgbClr val="000000"/>
                </a:solidFill>
                <a:cs typeface="+mn-ea"/>
                <a:sym typeface="+mn-lt"/>
              </a:rPr>
              <a:t>P×Q</a:t>
            </a:r>
            <a:r>
              <a:rPr lang="zh-CN" altLang="en-US" b="0" i="0" u="none" strike="noStrike" baseline="0" dirty="0">
                <a:solidFill>
                  <a:srgbClr val="000000"/>
                </a:solidFill>
                <a:cs typeface="+mn-ea"/>
                <a:sym typeface="+mn-lt"/>
              </a:rPr>
              <a:t> 频率矩形中心的距离，即</a:t>
            </a:r>
          </a:p>
        </p:txBody>
      </p:sp>
      <p:pic>
        <p:nvPicPr>
          <p:cNvPr id="5" name="图片 4">
            <a:extLst>
              <a:ext uri="{FF2B5EF4-FFF2-40B4-BE49-F238E27FC236}">
                <a16:creationId xmlns:a16="http://schemas.microsoft.com/office/drawing/2014/main" id="{D5C46A08-A22D-6A7D-CB83-9C5408603277}"/>
              </a:ext>
            </a:extLst>
          </p:cNvPr>
          <p:cNvPicPr>
            <a:picLocks noChangeAspect="1"/>
          </p:cNvPicPr>
          <p:nvPr/>
        </p:nvPicPr>
        <p:blipFill>
          <a:blip r:embed="rId2"/>
          <a:stretch>
            <a:fillRect/>
          </a:stretch>
        </p:blipFill>
        <p:spPr>
          <a:xfrm>
            <a:off x="5013104" y="3656957"/>
            <a:ext cx="2165792" cy="475148"/>
          </a:xfrm>
          <a:prstGeom prst="rect">
            <a:avLst/>
          </a:prstGeom>
        </p:spPr>
      </p:pic>
      <p:pic>
        <p:nvPicPr>
          <p:cNvPr id="7" name="图片 6">
            <a:extLst>
              <a:ext uri="{FF2B5EF4-FFF2-40B4-BE49-F238E27FC236}">
                <a16:creationId xmlns:a16="http://schemas.microsoft.com/office/drawing/2014/main" id="{F921BB6B-40D5-E54A-F152-7A176FE33619}"/>
              </a:ext>
            </a:extLst>
          </p:cNvPr>
          <p:cNvPicPr>
            <a:picLocks noChangeAspect="1"/>
          </p:cNvPicPr>
          <p:nvPr/>
        </p:nvPicPr>
        <p:blipFill>
          <a:blip r:embed="rId3"/>
          <a:stretch>
            <a:fillRect/>
          </a:stretch>
        </p:blipFill>
        <p:spPr>
          <a:xfrm>
            <a:off x="4341018" y="4827077"/>
            <a:ext cx="3509964" cy="475148"/>
          </a:xfrm>
          <a:prstGeom prst="rect">
            <a:avLst/>
          </a:prstGeom>
        </p:spPr>
      </p:pic>
      <p:sp>
        <p:nvSpPr>
          <p:cNvPr id="8" name="矩形 7">
            <a:extLst>
              <a:ext uri="{FF2B5EF4-FFF2-40B4-BE49-F238E27FC236}">
                <a16:creationId xmlns:a16="http://schemas.microsoft.com/office/drawing/2014/main" id="{BB7C306C-8C67-981B-26E4-0966C84AD37D}"/>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3573817047"/>
      </p:ext>
    </p:extLst>
  </p:cSld>
  <p:clrMapOvr>
    <a:masterClrMapping/>
  </p:clrMapOvr>
  <p:transition spd="slow" advTm="0">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63A6D6-24F0-CE37-F6E2-DDE393076CAB}"/>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高斯低通滤波器</a:t>
            </a:r>
          </a:p>
        </p:txBody>
      </p:sp>
      <p:sp>
        <p:nvSpPr>
          <p:cNvPr id="3" name="文本占位符 2">
            <a:extLst>
              <a:ext uri="{FF2B5EF4-FFF2-40B4-BE49-F238E27FC236}">
                <a16:creationId xmlns:a16="http://schemas.microsoft.com/office/drawing/2014/main" id="{B768BF8D-D2C0-8BCB-D7F1-598AC25B3FDE}"/>
              </a:ext>
            </a:extLst>
          </p:cNvPr>
          <p:cNvSpPr>
            <a:spLocks noGrp="1"/>
          </p:cNvSpPr>
          <p:nvPr>
            <p:ph sz="quarter" idx="11"/>
          </p:nvPr>
        </p:nvSpPr>
        <p:spPr/>
        <p:txBody>
          <a:bodyPr>
            <a:normAutofit lnSpcReduction="10000"/>
          </a:bodyPr>
          <a:lstStyle/>
          <a:p>
            <a:pPr marL="0" marR="500" lvl="0" indent="0" rtl="0">
              <a:buNone/>
            </a:pPr>
            <a:r>
              <a:rPr lang="zh-CN" altLang="en-US" b="0" i="0" u="none" strike="noStrike" baseline="0" dirty="0">
                <a:solidFill>
                  <a:srgbClr val="000000"/>
                </a:solidFill>
                <a:cs typeface="+mn-ea"/>
                <a:sym typeface="+mn-lt"/>
              </a:rPr>
              <a:t>高斯低通滤波器 </a:t>
            </a:r>
            <a:r>
              <a:rPr lang="en-US" altLang="zh-CN" b="0" i="0" u="none" strike="noStrike" baseline="0" dirty="0">
                <a:solidFill>
                  <a:srgbClr val="000000"/>
                </a:solidFill>
                <a:cs typeface="+mn-ea"/>
                <a:sym typeface="+mn-lt"/>
              </a:rPr>
              <a:t>(GLPF)</a:t>
            </a:r>
            <a:r>
              <a:rPr lang="zh-CN" altLang="en-US" b="0" i="0" u="none" strike="noStrike" baseline="0" dirty="0">
                <a:solidFill>
                  <a:srgbClr val="000000"/>
                </a:solidFill>
                <a:cs typeface="+mn-ea"/>
                <a:sym typeface="+mn-lt"/>
              </a:rPr>
              <a:t> 传递函数有如下形式：</a:t>
            </a:r>
          </a:p>
          <a:p>
            <a:pPr marL="0" marR="500" lvl="0" indent="0" rtl="0">
              <a:buNone/>
            </a:pPr>
            <a:r>
              <a:rPr lang="zh-CN" altLang="en-US" b="0" i="0" u="none" strike="noStrike" baseline="0" dirty="0">
                <a:solidFill>
                  <a:srgbClr val="000000"/>
                </a:solidFill>
                <a:cs typeface="+mn-ea"/>
                <a:sym typeface="+mn-lt"/>
              </a:rPr>
              <a:t>式中，如式</a:t>
            </a:r>
            <a:r>
              <a:rPr lang="en-US" altLang="zh-CN" b="0" i="0" u="none" strike="noStrike" baseline="0" dirty="0">
                <a:solidFill>
                  <a:srgbClr val="000000"/>
                </a:solidFill>
                <a:cs typeface="+mn-ea"/>
                <a:sym typeface="+mn-lt"/>
              </a:rPr>
              <a:t>(4.112)</a:t>
            </a:r>
            <a:r>
              <a:rPr lang="zh-CN" altLang="en-US" b="0" i="0" u="none" strike="noStrike" baseline="0" dirty="0">
                <a:solidFill>
                  <a:srgbClr val="000000"/>
                </a:solidFill>
                <a:cs typeface="+mn-ea"/>
                <a:sym typeface="+mn-lt"/>
              </a:rPr>
              <a:t>中那样，</a:t>
            </a:r>
            <a:r>
              <a:rPr lang="en-US" altLang="zh-CN" b="0" i="0" u="none" strike="noStrike" baseline="0" dirty="0">
                <a:solidFill>
                  <a:srgbClr val="000000"/>
                </a:solidFill>
                <a:cs typeface="+mn-ea"/>
                <a:sym typeface="+mn-lt"/>
              </a:rPr>
              <a:t>D(</a:t>
            </a:r>
            <a:r>
              <a:rPr lang="en-US" altLang="zh-CN" b="0" i="0" u="none" strike="noStrike" baseline="0" dirty="0" err="1">
                <a:solidFill>
                  <a:srgbClr val="000000"/>
                </a:solidFill>
                <a:cs typeface="+mn-ea"/>
                <a:sym typeface="+mn-lt"/>
              </a:rPr>
              <a:t>u,v</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是</a:t>
            </a:r>
            <a:r>
              <a:rPr lang="en-US" altLang="zh-CN" b="0" i="0" u="none" strike="noStrike" baseline="0" dirty="0" err="1">
                <a:solidFill>
                  <a:srgbClr val="000000"/>
                </a:solidFill>
                <a:cs typeface="+mn-ea"/>
                <a:sym typeface="+mn-lt"/>
              </a:rPr>
              <a:t>PxQ</a:t>
            </a:r>
            <a:r>
              <a:rPr lang="zh-CN" altLang="en-US" b="0" i="0" u="none" strike="noStrike" baseline="0" dirty="0">
                <a:solidFill>
                  <a:srgbClr val="000000"/>
                </a:solidFill>
                <a:cs typeface="+mn-ea"/>
                <a:sym typeface="+mn-lt"/>
              </a:rPr>
              <a:t>频率矩形中心到矩形中包含的任意一点</a:t>
            </a:r>
            <a:r>
              <a:rPr lang="en-US" altLang="zh-CN" b="0" i="0" u="none" strike="noStrike" baseline="0" dirty="0">
                <a:solidFill>
                  <a:srgbClr val="000000"/>
                </a:solidFill>
                <a:cs typeface="+mn-ea"/>
                <a:sym typeface="+mn-lt"/>
              </a:rPr>
              <a:t>(</a:t>
            </a:r>
            <a:r>
              <a:rPr lang="en-US" altLang="zh-CN" b="0" i="0" u="none" strike="noStrike" baseline="0" dirty="0" err="1">
                <a:solidFill>
                  <a:srgbClr val="000000"/>
                </a:solidFill>
                <a:cs typeface="+mn-ea"/>
                <a:sym typeface="+mn-lt"/>
              </a:rPr>
              <a:t>u,v</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的距离。不同于前面关于高斯函数的表达式，这里并不使用乘以一个常数的方法来使传递函数与</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本节和后面几节中讨论的</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滤波器一致，它的最大值是</a:t>
            </a: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a:t>
            </a:r>
            <a:r>
              <a:rPr lang="el-GR" altLang="zh-CN" b="0" i="0" u="none" strike="noStrike" baseline="0" dirty="0">
                <a:solidFill>
                  <a:srgbClr val="000000"/>
                </a:solidFill>
                <a:cs typeface="+mn-ea"/>
                <a:sym typeface="+mn-lt"/>
              </a:rPr>
              <a:t>σ</a:t>
            </a:r>
            <a:r>
              <a:rPr lang="zh-CN" altLang="en-US" b="0" i="0" u="none" strike="noStrike" baseline="0" dirty="0">
                <a:solidFill>
                  <a:srgbClr val="000000"/>
                </a:solidFill>
                <a:cs typeface="+mn-ea"/>
                <a:sym typeface="+mn-lt"/>
              </a:rPr>
              <a:t>照例是关于中心分离度的测度。令</a:t>
            </a:r>
            <a:r>
              <a:rPr lang="el-GR" altLang="zh-CN" b="0" i="0" u="none" strike="noStrike" baseline="0" dirty="0">
                <a:solidFill>
                  <a:srgbClr val="000000"/>
                </a:solidFill>
                <a:cs typeface="+mn-ea"/>
                <a:sym typeface="+mn-lt"/>
              </a:rPr>
              <a:t>σ=</a:t>
            </a:r>
            <a:r>
              <a:rPr lang="en-US" altLang="zh-CN" b="0" i="0" u="none" strike="noStrike" baseline="0" dirty="0">
                <a:solidFill>
                  <a:srgbClr val="000000"/>
                </a:solidFill>
                <a:cs typeface="+mn-ea"/>
                <a:sym typeface="+mn-lt"/>
              </a:rPr>
              <a:t>Do,</a:t>
            </a:r>
            <a:r>
              <a:rPr lang="zh-CN" altLang="en-US" b="0" i="0" u="none" strike="noStrike" baseline="0" dirty="0">
                <a:solidFill>
                  <a:srgbClr val="000000"/>
                </a:solidFill>
                <a:cs typeface="+mn-ea"/>
                <a:sym typeface="+mn-lt"/>
              </a:rPr>
              <a:t> 我们可以采用本节中表示其他函数的同样方法来表示高斯传递函数：</a:t>
            </a:r>
            <a:endParaRPr lang="en-US" altLang="zh-CN" b="0" i="0" u="none" strike="noStrike" baseline="0" dirty="0">
              <a:solidFill>
                <a:srgbClr val="000000"/>
              </a:solidFill>
              <a:cs typeface="+mn-ea"/>
              <a:sym typeface="+mn-lt"/>
            </a:endParaRPr>
          </a:p>
          <a:p>
            <a:pPr marL="0" marR="500" lvl="0" indent="0" rtl="0">
              <a:buNone/>
            </a:pPr>
            <a:endParaRPr lang="zh-CN" altLang="en-US" b="0" i="0" u="none" strike="noStrike" baseline="0" dirty="0">
              <a:solidFill>
                <a:srgbClr val="000000"/>
              </a:solidFill>
              <a:cs typeface="+mn-ea"/>
              <a:sym typeface="+mn-lt"/>
            </a:endParaRPr>
          </a:p>
          <a:p>
            <a:pPr marL="0" marR="500" lvl="0" indent="0" rtl="0">
              <a:buNone/>
            </a:pPr>
            <a:r>
              <a:rPr lang="zh-CN" altLang="en-US" b="0" i="0" u="none" strike="noStrike" baseline="0" dirty="0">
                <a:solidFill>
                  <a:srgbClr val="000000"/>
                </a:solidFill>
                <a:cs typeface="+mn-ea"/>
                <a:sym typeface="+mn-lt"/>
              </a:rPr>
              <a:t>式中， </a:t>
            </a:r>
            <a:r>
              <a:rPr lang="en-US" altLang="zh-CN" b="0" i="0" u="none" strike="noStrike" baseline="0" dirty="0">
                <a:solidFill>
                  <a:srgbClr val="000000"/>
                </a:solidFill>
                <a:cs typeface="+mn-ea"/>
                <a:sym typeface="+mn-lt"/>
              </a:rPr>
              <a:t>D</a:t>
            </a:r>
            <a:r>
              <a:rPr lang="zh-CN" altLang="en-US" b="0" i="0" u="none" strike="noStrike" baseline="0" dirty="0">
                <a:solidFill>
                  <a:srgbClr val="000000"/>
                </a:solidFill>
                <a:cs typeface="+mn-ea"/>
                <a:sym typeface="+mn-lt"/>
              </a:rPr>
              <a:t>₀ 是截止频率。当</a:t>
            </a:r>
            <a:r>
              <a:rPr lang="en-US" altLang="zh-CN" b="0" i="0" u="none" strike="noStrike" baseline="0" dirty="0">
                <a:solidFill>
                  <a:srgbClr val="000000"/>
                </a:solidFill>
                <a:cs typeface="+mn-ea"/>
                <a:sym typeface="+mn-lt"/>
              </a:rPr>
              <a:t>D(</a:t>
            </a:r>
            <a:r>
              <a:rPr lang="en-US" altLang="zh-CN" b="0" i="0" u="none" strike="noStrike" baseline="0" dirty="0" err="1">
                <a:solidFill>
                  <a:srgbClr val="000000"/>
                </a:solidFill>
                <a:cs typeface="+mn-ea"/>
                <a:sym typeface="+mn-lt"/>
              </a:rPr>
              <a:t>u,v</a:t>
            </a:r>
            <a:r>
              <a:rPr lang="en-US" altLang="zh-CN" b="0" i="0" u="none" strike="noStrike" baseline="0" dirty="0">
                <a:solidFill>
                  <a:srgbClr val="000000"/>
                </a:solidFill>
                <a:cs typeface="+mn-ea"/>
                <a:sym typeface="+mn-lt"/>
              </a:rPr>
              <a:t>)=D</a:t>
            </a:r>
            <a:r>
              <a:rPr lang="zh-CN" altLang="en-US" b="0" i="0" u="none" strike="noStrike" baseline="0" dirty="0">
                <a:solidFill>
                  <a:srgbClr val="000000"/>
                </a:solidFill>
                <a:cs typeface="+mn-ea"/>
                <a:sym typeface="+mn-lt"/>
              </a:rPr>
              <a:t>₀  时，</a:t>
            </a:r>
            <a:r>
              <a:rPr lang="en-US" altLang="zh-CN" b="0" i="0" u="none" strike="noStrike" baseline="0" dirty="0">
                <a:solidFill>
                  <a:srgbClr val="000000"/>
                </a:solidFill>
                <a:cs typeface="+mn-ea"/>
                <a:sym typeface="+mn-lt"/>
              </a:rPr>
              <a:t>GLPF</a:t>
            </a:r>
            <a:r>
              <a:rPr lang="zh-CN" altLang="en-US" b="0" i="0" u="none" strike="noStrike" baseline="0" dirty="0">
                <a:solidFill>
                  <a:srgbClr val="000000"/>
                </a:solidFill>
                <a:cs typeface="+mn-ea"/>
                <a:sym typeface="+mn-lt"/>
              </a:rPr>
              <a:t> 传递函数下降到其最大值</a:t>
            </a:r>
            <a:r>
              <a:rPr lang="en-US" altLang="zh-CN" b="0" i="0" u="none" strike="noStrike" baseline="0" dirty="0">
                <a:solidFill>
                  <a:srgbClr val="000000"/>
                </a:solidFill>
                <a:cs typeface="+mn-ea"/>
                <a:sym typeface="+mn-lt"/>
              </a:rPr>
              <a:t>1.0</a:t>
            </a:r>
            <a:r>
              <a:rPr lang="zh-CN" altLang="en-US" b="0" i="0" u="none" strike="noStrike" baseline="0" dirty="0">
                <a:solidFill>
                  <a:srgbClr val="000000"/>
                </a:solidFill>
                <a:cs typeface="+mn-ea"/>
                <a:sym typeface="+mn-lt"/>
              </a:rPr>
              <a:t>的</a:t>
            </a:r>
            <a:r>
              <a:rPr lang="en-US" altLang="zh-CN" b="0" i="0" u="none" strike="noStrike" baseline="0" dirty="0">
                <a:solidFill>
                  <a:srgbClr val="000000"/>
                </a:solidFill>
                <a:cs typeface="+mn-ea"/>
                <a:sym typeface="+mn-lt"/>
              </a:rPr>
              <a:t>0.607</a:t>
            </a:r>
            <a:r>
              <a:rPr lang="zh-CN" altLang="en-US" b="0" i="0" u="none" strike="noStrike" baseline="0" dirty="0">
                <a:solidFill>
                  <a:srgbClr val="000000"/>
                </a:solidFill>
                <a:cs typeface="+mn-ea"/>
                <a:sym typeface="+mn-lt"/>
              </a:rPr>
              <a:t>。</a:t>
            </a:r>
          </a:p>
        </p:txBody>
      </p:sp>
      <p:pic>
        <p:nvPicPr>
          <p:cNvPr id="5" name="图片 4">
            <a:extLst>
              <a:ext uri="{FF2B5EF4-FFF2-40B4-BE49-F238E27FC236}">
                <a16:creationId xmlns:a16="http://schemas.microsoft.com/office/drawing/2014/main" id="{5D9AD9BD-49C9-D50F-DA92-071571E03315}"/>
              </a:ext>
            </a:extLst>
          </p:cNvPr>
          <p:cNvPicPr>
            <a:picLocks noChangeAspect="1"/>
          </p:cNvPicPr>
          <p:nvPr/>
        </p:nvPicPr>
        <p:blipFill rotWithShape="1">
          <a:blip r:embed="rId2"/>
          <a:srcRect t="-824" b="27858"/>
          <a:stretch/>
        </p:blipFill>
        <p:spPr>
          <a:xfrm>
            <a:off x="4895017" y="4863836"/>
            <a:ext cx="2401966" cy="374775"/>
          </a:xfrm>
          <a:prstGeom prst="rect">
            <a:avLst/>
          </a:prstGeom>
        </p:spPr>
      </p:pic>
      <p:pic>
        <p:nvPicPr>
          <p:cNvPr id="7" name="图片 6">
            <a:extLst>
              <a:ext uri="{FF2B5EF4-FFF2-40B4-BE49-F238E27FC236}">
                <a16:creationId xmlns:a16="http://schemas.microsoft.com/office/drawing/2014/main" id="{E3AB5910-8BD7-0BB2-314F-447E08AD99EB}"/>
              </a:ext>
            </a:extLst>
          </p:cNvPr>
          <p:cNvPicPr>
            <a:picLocks noChangeAspect="1"/>
          </p:cNvPicPr>
          <p:nvPr/>
        </p:nvPicPr>
        <p:blipFill rotWithShape="1">
          <a:blip r:embed="rId3"/>
          <a:srcRect t="4921"/>
          <a:stretch/>
        </p:blipFill>
        <p:spPr>
          <a:xfrm>
            <a:off x="5961245" y="2519127"/>
            <a:ext cx="1942245" cy="461665"/>
          </a:xfrm>
          <a:prstGeom prst="rect">
            <a:avLst/>
          </a:prstGeom>
        </p:spPr>
      </p:pic>
      <p:sp>
        <p:nvSpPr>
          <p:cNvPr id="8" name="矩形 7">
            <a:extLst>
              <a:ext uri="{FF2B5EF4-FFF2-40B4-BE49-F238E27FC236}">
                <a16:creationId xmlns:a16="http://schemas.microsoft.com/office/drawing/2014/main" id="{CA1EA0BE-8977-4E18-4B2A-619969590E19}"/>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041347541"/>
      </p:ext>
    </p:extLst>
  </p:cSld>
  <p:clrMapOvr>
    <a:masterClrMapping/>
  </p:clrMapOvr>
  <p:transition spd="slow" advTm="0">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4D08EF-7B21-8E3A-4E05-F24EF30A8FF0}"/>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巴特沃斯低通滤波器</a:t>
            </a:r>
          </a:p>
        </p:txBody>
      </p:sp>
      <p:sp>
        <p:nvSpPr>
          <p:cNvPr id="3" name="文本占位符 2">
            <a:extLst>
              <a:ext uri="{FF2B5EF4-FFF2-40B4-BE49-F238E27FC236}">
                <a16:creationId xmlns:a16="http://schemas.microsoft.com/office/drawing/2014/main" id="{AD32351A-7124-AE11-7280-357DBA0214D4}"/>
              </a:ext>
            </a:extLst>
          </p:cNvPr>
          <p:cNvSpPr>
            <a:spLocks noGrp="1"/>
          </p:cNvSpPr>
          <p:nvPr>
            <p:ph sz="quarter" idx="11"/>
          </p:nvPr>
        </p:nvSpPr>
        <p:spPr/>
        <p:txBody>
          <a:bodyPr/>
          <a:lstStyle/>
          <a:p>
            <a:pPr marL="0" marR="500" lvl="0" indent="0" rtl="0">
              <a:buNone/>
            </a:pPr>
            <a:r>
              <a:rPr lang="zh-CN" altLang="en-US" b="0" i="0" u="none" strike="noStrike" baseline="0" dirty="0">
                <a:solidFill>
                  <a:srgbClr val="000000"/>
                </a:solidFill>
                <a:cs typeface="+mn-ea"/>
                <a:sym typeface="+mn-lt"/>
              </a:rPr>
              <a:t>截止频率位于距频率矩形中心</a:t>
            </a:r>
            <a:r>
              <a:rPr lang="en-US" altLang="zh-CN" b="0" i="0" u="none" strike="noStrike" baseline="0" dirty="0">
                <a:solidFill>
                  <a:srgbClr val="000000"/>
                </a:solidFill>
                <a:cs typeface="+mn-ea"/>
                <a:sym typeface="+mn-lt"/>
              </a:rPr>
              <a:t>D</a:t>
            </a:r>
            <a:r>
              <a:rPr lang="zh-CN" altLang="en-US" b="0" i="0" u="none" strike="noStrike" baseline="0" dirty="0">
                <a:solidFill>
                  <a:srgbClr val="000000"/>
                </a:solidFill>
                <a:cs typeface="+mn-ea"/>
                <a:sym typeface="+mn-lt"/>
              </a:rPr>
              <a:t>₀ 处的</a:t>
            </a:r>
            <a:r>
              <a:rPr lang="en-US" altLang="zh-CN" b="0" i="0" u="none" strike="noStrike" baseline="0" dirty="0">
                <a:solidFill>
                  <a:srgbClr val="000000"/>
                </a:solidFill>
                <a:cs typeface="+mn-ea"/>
                <a:sym typeface="+mn-lt"/>
              </a:rPr>
              <a:t>n</a:t>
            </a:r>
            <a:r>
              <a:rPr lang="zh-CN" altLang="en-US" b="0" i="0" u="none" strike="noStrike" baseline="0" dirty="0">
                <a:solidFill>
                  <a:srgbClr val="000000"/>
                </a:solidFill>
                <a:cs typeface="+mn-ea"/>
                <a:sym typeface="+mn-lt"/>
              </a:rPr>
              <a:t>阶巴特沃斯低通滤波器</a:t>
            </a:r>
            <a:r>
              <a:rPr lang="en-US" altLang="zh-CN" b="0" i="0" u="none" strike="noStrike" baseline="0" dirty="0">
                <a:solidFill>
                  <a:srgbClr val="000000"/>
                </a:solidFill>
                <a:cs typeface="+mn-ea"/>
                <a:sym typeface="+mn-lt"/>
              </a:rPr>
              <a:t>(BLPF)</a:t>
            </a:r>
            <a:r>
              <a:rPr lang="zh-CN" altLang="en-US" b="0" i="0" u="none" strike="noStrike" baseline="0" dirty="0">
                <a:solidFill>
                  <a:srgbClr val="000000"/>
                </a:solidFill>
                <a:cs typeface="+mn-ea"/>
                <a:sym typeface="+mn-lt"/>
              </a:rPr>
              <a:t>的传递函数定义为</a:t>
            </a:r>
            <a:endParaRPr lang="en-US" altLang="zh-CN" b="0" i="0" u="none" strike="noStrike" baseline="0" dirty="0">
              <a:solidFill>
                <a:srgbClr val="000000"/>
              </a:solidFill>
              <a:cs typeface="+mn-ea"/>
              <a:sym typeface="+mn-lt"/>
            </a:endParaRPr>
          </a:p>
          <a:p>
            <a:pPr marL="0" marR="500" lvl="0" indent="0" rtl="0">
              <a:buNone/>
            </a:pPr>
            <a:endParaRPr lang="zh-CN" altLang="en-US" b="0" i="0" u="none" strike="noStrike" baseline="0" dirty="0">
              <a:solidFill>
                <a:srgbClr val="000000"/>
              </a:solidFill>
              <a:cs typeface="+mn-ea"/>
              <a:sym typeface="+mn-lt"/>
            </a:endParaRPr>
          </a:p>
          <a:p>
            <a:pPr marL="0" marR="500" lvl="0" indent="0" rtl="0">
              <a:buNone/>
            </a:pPr>
            <a:r>
              <a:rPr lang="zh-CN" altLang="en-US" b="0" i="0" u="none" strike="noStrike" baseline="0" dirty="0">
                <a:solidFill>
                  <a:srgbClr val="000000"/>
                </a:solidFill>
                <a:cs typeface="+mn-ea"/>
                <a:sym typeface="+mn-lt"/>
              </a:rPr>
              <a:t>式中，</a:t>
            </a:r>
            <a:r>
              <a:rPr lang="en-US" altLang="zh-CN" b="0" i="0" u="none" strike="noStrike" baseline="0" dirty="0">
                <a:solidFill>
                  <a:srgbClr val="000000"/>
                </a:solidFill>
                <a:cs typeface="+mn-ea"/>
                <a:sym typeface="+mn-lt"/>
              </a:rPr>
              <a:t>D(</a:t>
            </a:r>
            <a:r>
              <a:rPr lang="en-US" altLang="zh-CN" b="0" i="0" u="none" strike="noStrike" baseline="0" dirty="0" err="1">
                <a:solidFill>
                  <a:srgbClr val="000000"/>
                </a:solidFill>
                <a:cs typeface="+mn-ea"/>
                <a:sym typeface="+mn-lt"/>
              </a:rPr>
              <a:t>u,v</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由式</a:t>
            </a:r>
            <a:r>
              <a:rPr lang="en-US" altLang="zh-CN" b="0" i="0" u="none" strike="noStrike" baseline="0" dirty="0">
                <a:solidFill>
                  <a:srgbClr val="000000"/>
                </a:solidFill>
                <a:cs typeface="+mn-ea"/>
                <a:sym typeface="+mn-lt"/>
              </a:rPr>
              <a:t>(4.112)</a:t>
            </a:r>
            <a:r>
              <a:rPr lang="zh-CN" altLang="en-US" b="0" i="0" u="none" strike="noStrike" baseline="0" dirty="0">
                <a:solidFill>
                  <a:srgbClr val="000000"/>
                </a:solidFill>
                <a:cs typeface="+mn-ea"/>
                <a:sym typeface="+mn-lt"/>
              </a:rPr>
              <a:t>给出。图</a:t>
            </a:r>
            <a:r>
              <a:rPr lang="en-US" altLang="zh-CN" b="0" i="0" u="none" strike="noStrike" baseline="0" dirty="0">
                <a:solidFill>
                  <a:srgbClr val="000000"/>
                </a:solidFill>
                <a:cs typeface="+mn-ea"/>
                <a:sym typeface="+mn-lt"/>
              </a:rPr>
              <a:t>4.45</a:t>
            </a:r>
            <a:r>
              <a:rPr lang="zh-CN" altLang="en-US" b="0" i="0" u="none" strike="noStrike" baseline="0" dirty="0">
                <a:solidFill>
                  <a:srgbClr val="000000"/>
                </a:solidFill>
                <a:cs typeface="+mn-ea"/>
                <a:sym typeface="+mn-lt"/>
              </a:rPr>
              <a:t>显示了这个</a:t>
            </a:r>
            <a:r>
              <a:rPr lang="en-US" altLang="zh-CN" b="0" i="0" u="none" strike="noStrike" baseline="0" dirty="0">
                <a:solidFill>
                  <a:srgbClr val="000000"/>
                </a:solidFill>
                <a:cs typeface="+mn-ea"/>
                <a:sym typeface="+mn-lt"/>
              </a:rPr>
              <a:t>BLPF</a:t>
            </a:r>
            <a:r>
              <a:rPr lang="zh-CN" altLang="en-US" b="0" i="0" u="none" strike="noStrike" baseline="0" dirty="0">
                <a:solidFill>
                  <a:srgbClr val="000000"/>
                </a:solidFill>
                <a:cs typeface="+mn-ea"/>
                <a:sym typeface="+mn-lt"/>
              </a:rPr>
              <a:t>函数的透视图、图像和径向剖面。</a:t>
            </a:r>
          </a:p>
        </p:txBody>
      </p:sp>
      <p:pic>
        <p:nvPicPr>
          <p:cNvPr id="5" name="图片 4">
            <a:extLst>
              <a:ext uri="{FF2B5EF4-FFF2-40B4-BE49-F238E27FC236}">
                <a16:creationId xmlns:a16="http://schemas.microsoft.com/office/drawing/2014/main" id="{E5A95D53-936F-7481-85ED-A4ADCD45DF92}"/>
              </a:ext>
            </a:extLst>
          </p:cNvPr>
          <p:cNvPicPr>
            <a:picLocks noChangeAspect="1"/>
          </p:cNvPicPr>
          <p:nvPr/>
        </p:nvPicPr>
        <p:blipFill rotWithShape="1">
          <a:blip r:embed="rId2"/>
          <a:srcRect b="9231"/>
          <a:stretch/>
        </p:blipFill>
        <p:spPr>
          <a:xfrm>
            <a:off x="5096327" y="3003131"/>
            <a:ext cx="1999345" cy="499573"/>
          </a:xfrm>
          <a:prstGeom prst="rect">
            <a:avLst/>
          </a:prstGeom>
        </p:spPr>
      </p:pic>
      <p:pic>
        <p:nvPicPr>
          <p:cNvPr id="7" name="图片 6">
            <a:extLst>
              <a:ext uri="{FF2B5EF4-FFF2-40B4-BE49-F238E27FC236}">
                <a16:creationId xmlns:a16="http://schemas.microsoft.com/office/drawing/2014/main" id="{6A7A7611-C3DD-10D6-937E-F6118D070A92}"/>
              </a:ext>
            </a:extLst>
          </p:cNvPr>
          <p:cNvPicPr>
            <a:picLocks noChangeAspect="1"/>
          </p:cNvPicPr>
          <p:nvPr/>
        </p:nvPicPr>
        <p:blipFill>
          <a:blip r:embed="rId3"/>
          <a:stretch>
            <a:fillRect/>
          </a:stretch>
        </p:blipFill>
        <p:spPr>
          <a:xfrm>
            <a:off x="2675155" y="4202713"/>
            <a:ext cx="6841689" cy="2486845"/>
          </a:xfrm>
          <a:prstGeom prst="rect">
            <a:avLst/>
          </a:prstGeom>
        </p:spPr>
      </p:pic>
      <p:sp>
        <p:nvSpPr>
          <p:cNvPr id="8" name="矩形 7">
            <a:extLst>
              <a:ext uri="{FF2B5EF4-FFF2-40B4-BE49-F238E27FC236}">
                <a16:creationId xmlns:a16="http://schemas.microsoft.com/office/drawing/2014/main" id="{4B55130A-C0A6-5DBE-E6A5-87C1F4639AED}"/>
              </a:ext>
            </a:extLst>
          </p:cNvPr>
          <p:cNvSpPr/>
          <p:nvPr/>
        </p:nvSpPr>
        <p:spPr>
          <a:xfrm>
            <a:off x="801092" y="2446417"/>
            <a:ext cx="10589815" cy="1614290"/>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851497056"/>
      </p:ext>
    </p:extLst>
  </p:cSld>
  <p:clrMapOvr>
    <a:masterClrMapping/>
  </p:clrMapOvr>
  <p:transition spd="slow" advTm="0">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3091835"/>
            <a:chOff x="6133596" y="2292214"/>
            <a:chExt cx="5326558" cy="3091835"/>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09</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使用高通滤波器锐化图像</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2381962713"/>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E36882-85D4-C582-2E33-EB4639238BE9}"/>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由低通滤波器得到理想、高斯和巴特沃斯高通滤波器</a:t>
            </a:r>
          </a:p>
        </p:txBody>
      </p:sp>
      <p:sp>
        <p:nvSpPr>
          <p:cNvPr id="3" name="文本占位符 2">
            <a:extLst>
              <a:ext uri="{FF2B5EF4-FFF2-40B4-BE49-F238E27FC236}">
                <a16:creationId xmlns:a16="http://schemas.microsoft.com/office/drawing/2014/main" id="{98885340-A083-CC92-B798-A937484F00FF}"/>
              </a:ext>
            </a:extLst>
          </p:cNvPr>
          <p:cNvSpPr>
            <a:spLocks noGrp="1"/>
          </p:cNvSpPr>
          <p:nvPr>
            <p:ph sz="quarter" idx="12"/>
          </p:nvPr>
        </p:nvSpPr>
        <p:spPr>
          <a:xfrm>
            <a:off x="1024732" y="2516808"/>
            <a:ext cx="5818830" cy="3230517"/>
          </a:xfrm>
        </p:spPr>
        <p:txBody>
          <a:bodyPr/>
          <a:lstStyle/>
          <a:p>
            <a:pPr marL="0" marR="50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4.51 </a:t>
            </a:r>
            <a:r>
              <a:rPr lang="zh-CN" altLang="en-US" b="0" i="0" u="none" strike="noStrike" baseline="0" dirty="0">
                <a:solidFill>
                  <a:srgbClr val="000000"/>
                </a:solidFill>
                <a:cs typeface="+mn-ea"/>
                <a:sym typeface="+mn-lt"/>
              </a:rPr>
              <a:t>显示了上述传递函数的三维图、图像和径向剖面。像前面一样，我们发现图中第三行的</a:t>
            </a:r>
            <a:r>
              <a:rPr lang="en-US" altLang="zh-CN" b="0" i="0" u="none" strike="noStrike" baseline="0" dirty="0">
                <a:solidFill>
                  <a:srgbClr val="000000"/>
                </a:solidFill>
                <a:cs typeface="+mn-ea"/>
                <a:sym typeface="+mn-lt"/>
              </a:rPr>
              <a:t>BHPF</a:t>
            </a:r>
            <a:r>
              <a:rPr lang="zh-CN" altLang="en-US" b="0" i="0" u="none" strike="noStrike" baseline="0" dirty="0">
                <a:solidFill>
                  <a:srgbClr val="000000"/>
                </a:solidFill>
                <a:cs typeface="+mn-ea"/>
                <a:sym typeface="+mn-lt"/>
              </a:rPr>
              <a:t> 传递函数表示</a:t>
            </a:r>
            <a:r>
              <a:rPr lang="en-US" altLang="zh-CN" b="0" i="0" u="none" strike="noStrike" baseline="0" dirty="0">
                <a:solidFill>
                  <a:srgbClr val="000000"/>
                </a:solidFill>
                <a:cs typeface="+mn-ea"/>
                <a:sym typeface="+mn-lt"/>
              </a:rPr>
              <a:t>IHPF</a:t>
            </a:r>
            <a:r>
              <a:rPr lang="zh-CN" altLang="en-US" b="0" i="0" u="none" strike="noStrike" baseline="0" dirty="0">
                <a:solidFill>
                  <a:srgbClr val="000000"/>
                </a:solidFill>
                <a:cs typeface="+mn-ea"/>
                <a:sym typeface="+mn-lt"/>
              </a:rPr>
              <a:t>的锐利度和</a:t>
            </a:r>
            <a:r>
              <a:rPr lang="en-US" altLang="zh-CN" b="0" i="0" u="none" strike="noStrike" baseline="0" dirty="0">
                <a:solidFill>
                  <a:srgbClr val="000000"/>
                </a:solidFill>
                <a:cs typeface="+mn-ea"/>
                <a:sym typeface="+mn-lt"/>
              </a:rPr>
              <a:t>GHPF</a:t>
            </a:r>
            <a:r>
              <a:rPr lang="zh-CN" altLang="en-US" b="0" i="0" u="none" strike="noStrike" baseline="0" dirty="0">
                <a:solidFill>
                  <a:srgbClr val="000000"/>
                </a:solidFill>
                <a:cs typeface="+mn-ea"/>
                <a:sym typeface="+mn-lt"/>
              </a:rPr>
              <a:t> 传递函数的宽阔平滑性之间的过渡。</a:t>
            </a:r>
          </a:p>
        </p:txBody>
      </p:sp>
      <p:pic>
        <p:nvPicPr>
          <p:cNvPr id="5" name="图片 4">
            <a:extLst>
              <a:ext uri="{FF2B5EF4-FFF2-40B4-BE49-F238E27FC236}">
                <a16:creationId xmlns:a16="http://schemas.microsoft.com/office/drawing/2014/main" id="{F6654DB1-E3AD-830B-638C-33A27C441E60}"/>
              </a:ext>
            </a:extLst>
          </p:cNvPr>
          <p:cNvPicPr>
            <a:picLocks noChangeAspect="1"/>
          </p:cNvPicPr>
          <p:nvPr/>
        </p:nvPicPr>
        <p:blipFill>
          <a:blip r:embed="rId2"/>
          <a:stretch>
            <a:fillRect/>
          </a:stretch>
        </p:blipFill>
        <p:spPr>
          <a:xfrm>
            <a:off x="6734243" y="2396390"/>
            <a:ext cx="4414287" cy="3932181"/>
          </a:xfrm>
          <a:prstGeom prst="rect">
            <a:avLst/>
          </a:prstGeom>
        </p:spPr>
      </p:pic>
    </p:spTree>
    <p:extLst>
      <p:ext uri="{BB962C8B-B14F-4D97-AF65-F5344CB8AC3E}">
        <p14:creationId xmlns:p14="http://schemas.microsoft.com/office/powerpoint/2010/main" val="1160935611"/>
      </p:ext>
    </p:extLst>
  </p:cSld>
  <p:clrMapOvr>
    <a:masterClrMapping/>
  </p:clrMapOvr>
  <p:transition spd="slow" advTm="0">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0370B7-F275-3466-B346-D1766D6CF523}"/>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频率域中的拉普拉斯</a:t>
            </a:r>
          </a:p>
        </p:txBody>
      </p:sp>
      <p:sp>
        <p:nvSpPr>
          <p:cNvPr id="3" name="文本占位符 2">
            <a:extLst>
              <a:ext uri="{FF2B5EF4-FFF2-40B4-BE49-F238E27FC236}">
                <a16:creationId xmlns:a16="http://schemas.microsoft.com/office/drawing/2014/main" id="{2F2EF046-21DB-419C-BC04-7E4639F0B1A1}"/>
              </a:ext>
            </a:extLst>
          </p:cNvPr>
          <p:cNvSpPr>
            <a:spLocks noGrp="1"/>
          </p:cNvSpPr>
          <p:nvPr>
            <p:ph sz="quarter" idx="12"/>
          </p:nvPr>
        </p:nvSpPr>
        <p:spPr/>
        <p:txBody>
          <a:bodyPr/>
          <a:lstStyle/>
          <a:p>
            <a:pPr marL="0" marR="500" lvl="0" indent="0" rtl="0">
              <a:buNone/>
            </a:pPr>
            <a:r>
              <a:rPr lang="en-US" altLang="zh-CN" b="0" i="0" u="none" strike="noStrike" baseline="0" dirty="0">
                <a:solidFill>
                  <a:srgbClr val="000000"/>
                </a:solidFill>
                <a:cs typeface="+mn-ea"/>
                <a:sym typeface="+mn-lt"/>
              </a:rPr>
              <a:t>3.6</a:t>
            </a:r>
            <a:r>
              <a:rPr lang="zh-CN" altLang="en-US" b="0" i="0" u="none" strike="noStrike" baseline="0" dirty="0">
                <a:solidFill>
                  <a:srgbClr val="000000"/>
                </a:solidFill>
                <a:cs typeface="+mn-ea"/>
                <a:sym typeface="+mn-lt"/>
              </a:rPr>
              <a:t> 节中已用拉普拉斯对空间域图像进行了锐化。本节重温拉普拉斯，并说明它能得到与频率域技术等效的结果。可以证明</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见习题</a:t>
            </a:r>
            <a:r>
              <a:rPr lang="en-US" altLang="zh-CN" b="0" i="0" u="none" strike="noStrike" baseline="0" dirty="0">
                <a:solidFill>
                  <a:srgbClr val="000000"/>
                </a:solidFill>
                <a:cs typeface="+mn-ea"/>
                <a:sym typeface="+mn-lt"/>
              </a:rPr>
              <a:t>4.52),</a:t>
            </a:r>
            <a:r>
              <a:rPr lang="zh-CN" altLang="en-US" b="0" i="0" u="none" strike="noStrike" baseline="0" dirty="0">
                <a:solidFill>
                  <a:srgbClr val="000000"/>
                </a:solidFill>
                <a:cs typeface="+mn-ea"/>
                <a:sym typeface="+mn-lt"/>
              </a:rPr>
              <a:t>拉普拉斯可用如下滤波器传递函数在频率域中实现：</a:t>
            </a:r>
          </a:p>
        </p:txBody>
      </p:sp>
      <p:pic>
        <p:nvPicPr>
          <p:cNvPr id="5" name="图片 4">
            <a:extLst>
              <a:ext uri="{FF2B5EF4-FFF2-40B4-BE49-F238E27FC236}">
                <a16:creationId xmlns:a16="http://schemas.microsoft.com/office/drawing/2014/main" id="{F6A8EA60-E8A3-1A90-AB86-E29548B20515}"/>
              </a:ext>
            </a:extLst>
          </p:cNvPr>
          <p:cNvPicPr>
            <a:picLocks noChangeAspect="1"/>
          </p:cNvPicPr>
          <p:nvPr/>
        </p:nvPicPr>
        <p:blipFill rotWithShape="1">
          <a:blip r:embed="rId2"/>
          <a:srcRect t="19611"/>
          <a:stretch/>
        </p:blipFill>
        <p:spPr>
          <a:xfrm>
            <a:off x="4494787" y="4083941"/>
            <a:ext cx="3202426" cy="443862"/>
          </a:xfrm>
          <a:prstGeom prst="rect">
            <a:avLst/>
          </a:prstGeom>
        </p:spPr>
      </p:pic>
    </p:spTree>
    <p:extLst>
      <p:ext uri="{BB962C8B-B14F-4D97-AF65-F5344CB8AC3E}">
        <p14:creationId xmlns:p14="http://schemas.microsoft.com/office/powerpoint/2010/main" val="1866847454"/>
      </p:ext>
    </p:extLst>
  </p:cSld>
  <p:clrMapOvr>
    <a:masterClrMapping/>
  </p:clrMapOvr>
  <p:transition spd="slow" advTm="0">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C83AE9-24B8-5439-30A1-C0676C37C74A}"/>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钝化掩蔽、高提升滤波和高频强调滤波</a:t>
            </a:r>
          </a:p>
        </p:txBody>
      </p:sp>
      <p:sp>
        <p:nvSpPr>
          <p:cNvPr id="3" name="文本占位符 2">
            <a:extLst>
              <a:ext uri="{FF2B5EF4-FFF2-40B4-BE49-F238E27FC236}">
                <a16:creationId xmlns:a16="http://schemas.microsoft.com/office/drawing/2014/main" id="{313CDB5C-DD35-7B17-38F6-CDEFFD20C247}"/>
              </a:ext>
            </a:extLst>
          </p:cNvPr>
          <p:cNvSpPr>
            <a:spLocks noGrp="1"/>
          </p:cNvSpPr>
          <p:nvPr>
            <p:ph sz="quarter" idx="11"/>
          </p:nvPr>
        </p:nvSpPr>
        <p:spPr/>
        <p:txBody>
          <a:bodyPr/>
          <a:lstStyle/>
          <a:p>
            <a:pPr marL="0" marR="500" lvl="0" indent="0" rtl="0">
              <a:buNone/>
            </a:pPr>
            <a:r>
              <a:rPr lang="zh-CN" altLang="en-US" b="0" i="0" u="none" strike="noStrike" baseline="0" dirty="0">
                <a:solidFill>
                  <a:srgbClr val="000000"/>
                </a:solidFill>
                <a:cs typeface="+mn-ea"/>
                <a:sym typeface="+mn-lt"/>
              </a:rPr>
              <a:t>本节讨论</a:t>
            </a:r>
            <a:r>
              <a:rPr lang="en-US" altLang="zh-CN" b="0" i="0" u="none" strike="noStrike" baseline="0" dirty="0">
                <a:solidFill>
                  <a:srgbClr val="000000"/>
                </a:solidFill>
                <a:cs typeface="+mn-ea"/>
                <a:sym typeface="+mn-lt"/>
              </a:rPr>
              <a:t>3.6</a:t>
            </a:r>
            <a:r>
              <a:rPr lang="zh-CN" altLang="en-US" b="0" i="0" u="none" strike="noStrike" baseline="0" dirty="0">
                <a:solidFill>
                  <a:srgbClr val="000000"/>
                </a:solidFill>
                <a:cs typeface="+mn-ea"/>
                <a:sym typeface="+mn-lt"/>
              </a:rPr>
              <a:t>节中介绍过的钝化蔽、高提升滤波图像锐化技术的频率域表达式。使用频率域方法， 式</a:t>
            </a:r>
            <a:r>
              <a:rPr lang="en-US" altLang="zh-CN" b="0" i="0" u="none" strike="noStrike" baseline="0" dirty="0">
                <a:solidFill>
                  <a:srgbClr val="000000"/>
                </a:solidFill>
                <a:cs typeface="+mn-ea"/>
                <a:sym typeface="+mn-lt"/>
              </a:rPr>
              <a:t>(3.55)</a:t>
            </a:r>
            <a:r>
              <a:rPr lang="zh-CN" altLang="en-US" b="0" i="0" u="none" strike="noStrike" baseline="0" dirty="0">
                <a:solidFill>
                  <a:srgbClr val="000000"/>
                </a:solidFill>
                <a:cs typeface="+mn-ea"/>
                <a:sym typeface="+mn-lt"/>
              </a:rPr>
              <a:t>中定义的模板为</a:t>
            </a:r>
            <a:endParaRPr lang="en-US" altLang="zh-CN" b="0" i="0" u="none" strike="noStrike" baseline="0" dirty="0">
              <a:solidFill>
                <a:srgbClr val="000000"/>
              </a:solidFill>
              <a:cs typeface="+mn-ea"/>
              <a:sym typeface="+mn-lt"/>
            </a:endParaRPr>
          </a:p>
          <a:p>
            <a:pPr marL="0" marR="500" lvl="0" indent="0" rtl="0">
              <a:buNone/>
            </a:pPr>
            <a:endParaRPr lang="en-US" altLang="zh-CN" dirty="0">
              <a:solidFill>
                <a:srgbClr val="000000"/>
              </a:solidFill>
              <a:cs typeface="+mn-ea"/>
              <a:sym typeface="+mn-lt"/>
            </a:endParaRPr>
          </a:p>
          <a:p>
            <a:pPr marL="0" marR="500" lvl="0" indent="0" rtl="0">
              <a:buNone/>
            </a:pPr>
            <a:r>
              <a:rPr lang="zh-CN" altLang="en-US" b="0" i="0" u="none" strike="noStrike" baseline="0" dirty="0">
                <a:solidFill>
                  <a:srgbClr val="000000"/>
                </a:solidFill>
                <a:cs typeface="+mn-ea"/>
                <a:sym typeface="+mn-lt"/>
              </a:rPr>
              <a:t>其中，</a:t>
            </a:r>
          </a:p>
        </p:txBody>
      </p:sp>
      <p:pic>
        <p:nvPicPr>
          <p:cNvPr id="5" name="图片 4">
            <a:extLst>
              <a:ext uri="{FF2B5EF4-FFF2-40B4-BE49-F238E27FC236}">
                <a16:creationId xmlns:a16="http://schemas.microsoft.com/office/drawing/2014/main" id="{B0C7A2A9-3FE8-9715-9152-FFD83DCDB3DC}"/>
              </a:ext>
            </a:extLst>
          </p:cNvPr>
          <p:cNvPicPr>
            <a:picLocks noChangeAspect="1"/>
          </p:cNvPicPr>
          <p:nvPr/>
        </p:nvPicPr>
        <p:blipFill>
          <a:blip r:embed="rId2"/>
          <a:stretch>
            <a:fillRect/>
          </a:stretch>
        </p:blipFill>
        <p:spPr>
          <a:xfrm>
            <a:off x="4793367" y="3554047"/>
            <a:ext cx="2605266" cy="390160"/>
          </a:xfrm>
          <a:prstGeom prst="rect">
            <a:avLst/>
          </a:prstGeom>
        </p:spPr>
      </p:pic>
      <p:pic>
        <p:nvPicPr>
          <p:cNvPr id="7" name="图片 6">
            <a:extLst>
              <a:ext uri="{FF2B5EF4-FFF2-40B4-BE49-F238E27FC236}">
                <a16:creationId xmlns:a16="http://schemas.microsoft.com/office/drawing/2014/main" id="{DBF78ABC-7160-713D-1C5B-46DD5984EDAE}"/>
              </a:ext>
            </a:extLst>
          </p:cNvPr>
          <p:cNvPicPr>
            <a:picLocks noChangeAspect="1"/>
          </p:cNvPicPr>
          <p:nvPr/>
        </p:nvPicPr>
        <p:blipFill>
          <a:blip r:embed="rId3"/>
          <a:stretch>
            <a:fillRect/>
          </a:stretch>
        </p:blipFill>
        <p:spPr>
          <a:xfrm>
            <a:off x="4701927" y="4796220"/>
            <a:ext cx="2788146" cy="475703"/>
          </a:xfrm>
          <a:prstGeom prst="rect">
            <a:avLst/>
          </a:prstGeom>
        </p:spPr>
      </p:pic>
      <p:sp>
        <p:nvSpPr>
          <p:cNvPr id="8" name="矩形 7">
            <a:extLst>
              <a:ext uri="{FF2B5EF4-FFF2-40B4-BE49-F238E27FC236}">
                <a16:creationId xmlns:a16="http://schemas.microsoft.com/office/drawing/2014/main" id="{A8E3C3F7-D9F3-B919-07B1-77F5C84FC264}"/>
              </a:ext>
            </a:extLst>
          </p:cNvPr>
          <p:cNvSpPr/>
          <p:nvPr/>
        </p:nvSpPr>
        <p:spPr>
          <a:xfrm>
            <a:off x="801092" y="2446417"/>
            <a:ext cx="10589815" cy="3059234"/>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524553414"/>
      </p:ext>
    </p:extLst>
  </p:cSld>
  <p:clrMapOvr>
    <a:masterClrMapping/>
  </p:clrMapOvr>
  <p:transition spd="slow" advTm="0">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83FE2A-7B9A-FA5D-1529-5341E5AAF20B}"/>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同态滤波</a:t>
            </a:r>
          </a:p>
        </p:txBody>
      </p:sp>
      <p:sp>
        <p:nvSpPr>
          <p:cNvPr id="3" name="文本占位符 2">
            <a:extLst>
              <a:ext uri="{FF2B5EF4-FFF2-40B4-BE49-F238E27FC236}">
                <a16:creationId xmlns:a16="http://schemas.microsoft.com/office/drawing/2014/main" id="{D9DD1D45-8893-175F-453B-5E901E3AC14B}"/>
              </a:ext>
            </a:extLst>
          </p:cNvPr>
          <p:cNvSpPr>
            <a:spLocks noGrp="1"/>
          </p:cNvSpPr>
          <p:nvPr>
            <p:ph sz="quarter" idx="11"/>
          </p:nvPr>
        </p:nvSpPr>
        <p:spPr/>
        <p:txBody>
          <a:bodyPr/>
          <a:lstStyle/>
          <a:p>
            <a:pPr marL="0" marR="500" lvl="0" indent="0" rtl="0">
              <a:buNone/>
            </a:pPr>
            <a:r>
              <a:rPr lang="zh-CN" altLang="en-US" b="0" i="0" u="none" strike="noStrike" baseline="0" dirty="0">
                <a:solidFill>
                  <a:srgbClr val="000000"/>
                </a:solidFill>
                <a:cs typeface="+mn-ea"/>
                <a:sym typeface="+mn-lt"/>
              </a:rPr>
              <a:t>使用</a:t>
            </a:r>
            <a:r>
              <a:rPr lang="en-US" altLang="zh-CN" b="0" i="0" u="none" strike="noStrike" baseline="0" dirty="0">
                <a:solidFill>
                  <a:srgbClr val="000000"/>
                </a:solidFill>
                <a:cs typeface="+mn-ea"/>
                <a:sym typeface="+mn-lt"/>
              </a:rPr>
              <a:t>2.3</a:t>
            </a:r>
            <a:r>
              <a:rPr lang="zh-CN" altLang="en-US" b="0" i="0" u="none" strike="noStrike" baseline="0" dirty="0">
                <a:solidFill>
                  <a:srgbClr val="000000"/>
                </a:solidFill>
                <a:cs typeface="+mn-ea"/>
                <a:sym typeface="+mn-lt"/>
              </a:rPr>
              <a:t>节中介绍的照射</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反射模型可以开发一个频率域程序，这个程序通过灰度范围压缩和对比 度增强来同时改善图像的外观。由</a:t>
            </a:r>
            <a:r>
              <a:rPr lang="en-US" altLang="zh-CN" b="0" i="0" u="none" strike="noStrike" baseline="0" dirty="0">
                <a:solidFill>
                  <a:srgbClr val="000000"/>
                </a:solidFill>
                <a:cs typeface="+mn-ea"/>
                <a:sym typeface="+mn-lt"/>
              </a:rPr>
              <a:t>2.3</a:t>
            </a:r>
            <a:r>
              <a:rPr lang="zh-CN" altLang="en-US" b="0" i="0" u="none" strike="noStrike" baseline="0" dirty="0">
                <a:solidFill>
                  <a:srgbClr val="000000"/>
                </a:solidFill>
                <a:cs typeface="+mn-ea"/>
                <a:sym typeface="+mn-lt"/>
              </a:rPr>
              <a:t>节的讨论可知，图像</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可以表示为其照射分量</a:t>
            </a:r>
            <a:r>
              <a:rPr lang="en-US" altLang="zh-CN" b="0" i="0" u="none" strike="noStrike" baseline="0" dirty="0" err="1">
                <a:solidFill>
                  <a:srgbClr val="000000"/>
                </a:solidFill>
                <a:cs typeface="+mn-ea"/>
                <a:sym typeface="+mn-lt"/>
              </a:rPr>
              <a:t>i</a:t>
            </a:r>
            <a:r>
              <a:rPr lang="en-US" altLang="zh-CN" b="0" i="0" u="none" strike="noStrike" baseline="0" dirty="0">
                <a:solidFill>
                  <a:srgbClr val="000000"/>
                </a:solidFill>
                <a:cs typeface="+mn-ea"/>
                <a:sym typeface="+mn-lt"/>
              </a:rPr>
              <a:t>(</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和反射分量 </a:t>
            </a:r>
            <a:r>
              <a:rPr lang="en-US" altLang="zh-CN" b="0" i="0" u="none" strike="noStrike" baseline="0" dirty="0">
                <a:solidFill>
                  <a:srgbClr val="000000"/>
                </a:solidFill>
                <a:cs typeface="+mn-ea"/>
                <a:sym typeface="+mn-lt"/>
              </a:rPr>
              <a:t>r(</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的乘积，即</a:t>
            </a:r>
            <a:endParaRPr lang="en-US" altLang="zh-CN" b="0" i="0" u="none" strike="noStrike" baseline="0" dirty="0">
              <a:solidFill>
                <a:srgbClr val="000000"/>
              </a:solidFill>
              <a:cs typeface="+mn-ea"/>
              <a:sym typeface="+mn-lt"/>
            </a:endParaRPr>
          </a:p>
          <a:p>
            <a:pPr marL="0" marR="500" lvl="0" indent="0" rtl="0">
              <a:buNone/>
            </a:pPr>
            <a:endParaRPr lang="zh-CN" altLang="en-US" b="0" i="0" u="none" strike="noStrike" baseline="0" dirty="0">
              <a:solidFill>
                <a:srgbClr val="000000"/>
              </a:solidFill>
              <a:cs typeface="+mn-ea"/>
              <a:sym typeface="+mn-lt"/>
            </a:endParaRPr>
          </a:p>
          <a:p>
            <a:pPr marL="0" marR="500" lvl="0" indent="0" rtl="0">
              <a:buNone/>
            </a:pPr>
            <a:r>
              <a:rPr lang="zh-CN" altLang="en-US" b="0" i="0" u="none" strike="noStrike" baseline="0" dirty="0">
                <a:solidFill>
                  <a:srgbClr val="000000"/>
                </a:solidFill>
                <a:cs typeface="+mn-ea"/>
                <a:sym typeface="+mn-lt"/>
              </a:rPr>
              <a:t>上式不能直接对照射和反射频率分量进行运算，因为乘积的傅里叶变换不是变换的乘积： </a:t>
            </a:r>
          </a:p>
        </p:txBody>
      </p:sp>
      <p:pic>
        <p:nvPicPr>
          <p:cNvPr id="5" name="图片 4">
            <a:extLst>
              <a:ext uri="{FF2B5EF4-FFF2-40B4-BE49-F238E27FC236}">
                <a16:creationId xmlns:a16="http://schemas.microsoft.com/office/drawing/2014/main" id="{211B81E7-93C1-1C38-50BE-11969F25AD20}"/>
              </a:ext>
            </a:extLst>
          </p:cNvPr>
          <p:cNvPicPr>
            <a:picLocks noChangeAspect="1"/>
          </p:cNvPicPr>
          <p:nvPr/>
        </p:nvPicPr>
        <p:blipFill>
          <a:blip r:embed="rId2"/>
          <a:stretch>
            <a:fillRect/>
          </a:stretch>
        </p:blipFill>
        <p:spPr>
          <a:xfrm>
            <a:off x="4993236" y="3954931"/>
            <a:ext cx="2205527" cy="394366"/>
          </a:xfrm>
          <a:prstGeom prst="rect">
            <a:avLst/>
          </a:prstGeom>
        </p:spPr>
      </p:pic>
      <p:pic>
        <p:nvPicPr>
          <p:cNvPr id="7" name="图片 6">
            <a:extLst>
              <a:ext uri="{FF2B5EF4-FFF2-40B4-BE49-F238E27FC236}">
                <a16:creationId xmlns:a16="http://schemas.microsoft.com/office/drawing/2014/main" id="{4F7D2036-862D-57D0-6476-E7D5AB70A715}"/>
              </a:ext>
            </a:extLst>
          </p:cNvPr>
          <p:cNvPicPr>
            <a:picLocks noChangeAspect="1"/>
          </p:cNvPicPr>
          <p:nvPr/>
        </p:nvPicPr>
        <p:blipFill>
          <a:blip r:embed="rId3"/>
          <a:stretch>
            <a:fillRect/>
          </a:stretch>
        </p:blipFill>
        <p:spPr>
          <a:xfrm>
            <a:off x="4584163" y="5157269"/>
            <a:ext cx="3023674" cy="450643"/>
          </a:xfrm>
          <a:prstGeom prst="rect">
            <a:avLst/>
          </a:prstGeom>
        </p:spPr>
      </p:pic>
      <p:sp>
        <p:nvSpPr>
          <p:cNvPr id="8" name="矩形 7">
            <a:extLst>
              <a:ext uri="{FF2B5EF4-FFF2-40B4-BE49-F238E27FC236}">
                <a16:creationId xmlns:a16="http://schemas.microsoft.com/office/drawing/2014/main" id="{F604C91D-37C0-5DA1-6E94-2678C7CB268A}"/>
              </a:ext>
            </a:extLst>
          </p:cNvPr>
          <p:cNvSpPr/>
          <p:nvPr/>
        </p:nvSpPr>
        <p:spPr>
          <a:xfrm>
            <a:off x="801092" y="2446417"/>
            <a:ext cx="10589815" cy="3328741"/>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232139601"/>
      </p:ext>
    </p:extLst>
  </p:cSld>
  <p:clrMapOvr>
    <a:masterClrMapping/>
  </p:clrMapOvr>
  <p:transition spd="slow" advTm="0">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10</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选择性滤波</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1967685859"/>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6495C7-8A23-FED6-5B30-CDC7C9C50734}"/>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带阻滤波器和带通滤波器</a:t>
            </a:r>
          </a:p>
        </p:txBody>
      </p:sp>
      <p:sp>
        <p:nvSpPr>
          <p:cNvPr id="3" name="文本占位符 2">
            <a:extLst>
              <a:ext uri="{FF2B5EF4-FFF2-40B4-BE49-F238E27FC236}">
                <a16:creationId xmlns:a16="http://schemas.microsoft.com/office/drawing/2014/main" id="{1E94DCDA-4EBD-4895-D5C4-6CD74752A5D9}"/>
              </a:ext>
            </a:extLst>
          </p:cNvPr>
          <p:cNvSpPr>
            <a:spLocks noGrp="1"/>
          </p:cNvSpPr>
          <p:nvPr>
            <p:ph sz="quarter" idx="12"/>
          </p:nvPr>
        </p:nvSpPr>
        <p:spPr>
          <a:xfrm>
            <a:off x="1024731" y="2516808"/>
            <a:ext cx="10236827" cy="3230517"/>
          </a:xfrm>
        </p:spPr>
        <p:txBody>
          <a:bodyPr/>
          <a:lstStyle/>
          <a:p>
            <a:pPr marR="500"/>
            <a:r>
              <a:rPr lang="zh-CN" altLang="en-US" b="0" i="0" u="none" strike="noStrike" baseline="0" dirty="0">
                <a:solidFill>
                  <a:srgbClr val="000000"/>
                </a:solidFill>
                <a:cs typeface="+mn-ea"/>
                <a:sym typeface="+mn-lt"/>
              </a:rPr>
              <a:t>如</a:t>
            </a:r>
            <a:r>
              <a:rPr lang="en-US" altLang="zh-CN" b="0" i="0" u="none" strike="noStrike" baseline="0" dirty="0">
                <a:solidFill>
                  <a:srgbClr val="000000"/>
                </a:solidFill>
                <a:cs typeface="+mn-ea"/>
                <a:sym typeface="+mn-lt"/>
              </a:rPr>
              <a:t>3.7</a:t>
            </a:r>
            <a:r>
              <a:rPr lang="zh-CN" altLang="en-US" b="0" i="0" u="none" strike="noStrike" baseline="0" dirty="0">
                <a:solidFill>
                  <a:srgbClr val="000000"/>
                </a:solidFill>
                <a:cs typeface="+mn-ea"/>
                <a:sym typeface="+mn-lt"/>
              </a:rPr>
              <a:t>节中介绍的那样，频率域中的带通和带阻滤波器传递函数，可通过组合低通和高通滤波器传递函数来构建，其中高通滤波器也是由低通滤波器推导而来的</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见图</a:t>
            </a:r>
            <a:r>
              <a:rPr lang="en-US" altLang="zh-CN" b="0" i="0" u="none" strike="noStrike" baseline="0" dirty="0">
                <a:solidFill>
                  <a:srgbClr val="000000"/>
                </a:solidFill>
                <a:cs typeface="+mn-ea"/>
                <a:sym typeface="+mn-lt"/>
              </a:rPr>
              <a:t>3.52)</a:t>
            </a:r>
            <a:r>
              <a:rPr lang="zh-CN" altLang="en-US" b="0" i="0" u="none" strike="noStrike" baseline="0" dirty="0">
                <a:solidFill>
                  <a:srgbClr val="000000"/>
                </a:solidFill>
                <a:cs typeface="+mn-ea"/>
                <a:sym typeface="+mn-lt"/>
              </a:rPr>
              <a:t>。</a:t>
            </a:r>
            <a:endParaRPr lang="en-US" altLang="zh-CN" b="0" i="0" u="none" strike="noStrike" baseline="0" dirty="0">
              <a:solidFill>
                <a:srgbClr val="000000"/>
              </a:solidFill>
              <a:cs typeface="+mn-ea"/>
              <a:sym typeface="+mn-lt"/>
            </a:endParaRPr>
          </a:p>
          <a:p>
            <a:pPr marR="500"/>
            <a:r>
              <a:rPr lang="zh-CN" altLang="en-US" b="0" i="0" u="none" strike="noStrike" baseline="0" dirty="0">
                <a:solidFill>
                  <a:srgbClr val="000000"/>
                </a:solidFill>
                <a:cs typeface="+mn-ea"/>
                <a:sym typeface="+mn-lt"/>
              </a:rPr>
              <a:t>换句话说，低通滤波器传递函数是形成高通、带阻和带通滤波器传递函数的基础。此外，采用由低通传递函数获得高通传递函数的同样方式，可由带阻滤波器传递函数获得高通滤滤器传递函数：</a:t>
            </a:r>
          </a:p>
        </p:txBody>
      </p:sp>
      <p:pic>
        <p:nvPicPr>
          <p:cNvPr id="5" name="图片 4">
            <a:extLst>
              <a:ext uri="{FF2B5EF4-FFF2-40B4-BE49-F238E27FC236}">
                <a16:creationId xmlns:a16="http://schemas.microsoft.com/office/drawing/2014/main" id="{8FBA6E47-F642-0F20-895C-38EEFD33BA16}"/>
              </a:ext>
            </a:extLst>
          </p:cNvPr>
          <p:cNvPicPr>
            <a:picLocks noChangeAspect="1"/>
          </p:cNvPicPr>
          <p:nvPr/>
        </p:nvPicPr>
        <p:blipFill>
          <a:blip r:embed="rId2"/>
          <a:stretch>
            <a:fillRect/>
          </a:stretch>
        </p:blipFill>
        <p:spPr>
          <a:xfrm>
            <a:off x="4618111" y="5031761"/>
            <a:ext cx="2955777" cy="540927"/>
          </a:xfrm>
          <a:prstGeom prst="rect">
            <a:avLst/>
          </a:prstGeom>
        </p:spPr>
      </p:pic>
    </p:spTree>
    <p:extLst>
      <p:ext uri="{BB962C8B-B14F-4D97-AF65-F5344CB8AC3E}">
        <p14:creationId xmlns:p14="http://schemas.microsoft.com/office/powerpoint/2010/main" val="4033771897"/>
      </p:ext>
    </p:extLst>
  </p:cSld>
  <p:clrMapOvr>
    <a:masterClrMapping/>
  </p:clrMapOvr>
  <p:transition spd="slow" advTm="0">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8DE7B3-919C-7D61-DB24-D3D440A18BEF}"/>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陷波滤波器</a:t>
            </a:r>
          </a:p>
        </p:txBody>
      </p:sp>
      <p:sp>
        <p:nvSpPr>
          <p:cNvPr id="3" name="文本占位符 2">
            <a:extLst>
              <a:ext uri="{FF2B5EF4-FFF2-40B4-BE49-F238E27FC236}">
                <a16:creationId xmlns:a16="http://schemas.microsoft.com/office/drawing/2014/main" id="{1BD5E753-0B33-3E55-22BC-3E012C6E19EF}"/>
              </a:ext>
            </a:extLst>
          </p:cNvPr>
          <p:cNvSpPr>
            <a:spLocks noGrp="1"/>
          </p:cNvSpPr>
          <p:nvPr>
            <p:ph sz="quarter" idx="11"/>
          </p:nvPr>
        </p:nvSpPr>
        <p:spPr/>
        <p:txBody>
          <a:bodyPr>
            <a:normAutofit/>
          </a:bodyPr>
          <a:lstStyle/>
          <a:p>
            <a:pPr marL="0" marR="500" lvl="0" indent="0" rtl="0">
              <a:buNone/>
            </a:pPr>
            <a:r>
              <a:rPr lang="zh-CN" altLang="en-US" b="0" i="0" u="none" strike="noStrike" baseline="0" dirty="0">
                <a:solidFill>
                  <a:srgbClr val="000000"/>
                </a:solidFill>
                <a:cs typeface="+mn-ea"/>
                <a:sym typeface="+mn-lt"/>
              </a:rPr>
              <a:t>陷波滤波器是最有用的选择性滤波器。陷波滤波器阻止</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或通过</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事先定义的频率矩形邻域中的频率。零相移滤波器必须关于原点</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频率矩形中心</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对称，因此，中心为</a:t>
            </a:r>
            <a:r>
              <a:rPr lang="en-US" altLang="zh-CN" b="0" i="0" u="none" strike="noStrike" baseline="0" dirty="0">
                <a:solidFill>
                  <a:srgbClr val="000000"/>
                </a:solidFill>
                <a:cs typeface="+mn-ea"/>
                <a:sym typeface="+mn-lt"/>
              </a:rPr>
              <a:t>(</a:t>
            </a:r>
            <a:r>
              <a:rPr lang="en-US" altLang="zh-CN" b="0" i="0" u="none" strike="noStrike" baseline="0" dirty="0" err="1">
                <a:solidFill>
                  <a:srgbClr val="000000"/>
                </a:solidFill>
                <a:cs typeface="+mn-ea"/>
                <a:sym typeface="+mn-lt"/>
              </a:rPr>
              <a:t>u</a:t>
            </a:r>
            <a:r>
              <a:rPr lang="en-US" altLang="zh-CN" sz="1100" b="0" i="0" u="none" strike="noStrike" baseline="0" dirty="0" err="1">
                <a:solidFill>
                  <a:srgbClr val="000000"/>
                </a:solidFill>
                <a:cs typeface="+mn-ea"/>
                <a:sym typeface="+mn-lt"/>
              </a:rPr>
              <a:t>o</a:t>
            </a:r>
            <a:r>
              <a:rPr lang="en-US" altLang="zh-CN" b="0" i="0" u="none" strike="noStrike" baseline="0" dirty="0" err="1">
                <a:solidFill>
                  <a:srgbClr val="000000"/>
                </a:solidFill>
                <a:cs typeface="+mn-ea"/>
                <a:sym typeface="+mn-lt"/>
              </a:rPr>
              <a:t>,v</a:t>
            </a:r>
            <a:r>
              <a:rPr lang="en-US" altLang="zh-CN" sz="1100" b="0" i="0" u="none" strike="noStrike" baseline="0" dirty="0" err="1">
                <a:solidFill>
                  <a:srgbClr val="000000"/>
                </a:solidFill>
                <a:cs typeface="+mn-ea"/>
                <a:sym typeface="+mn-lt"/>
              </a:rPr>
              <a:t>o</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的陷波滤波器传递函 数在</a:t>
            </a:r>
            <a:r>
              <a:rPr lang="en-US" altLang="zh-CN" b="0" i="0" u="none" strike="noStrike" baseline="0" dirty="0">
                <a:solidFill>
                  <a:srgbClr val="000000"/>
                </a:solidFill>
                <a:cs typeface="+mn-ea"/>
                <a:sym typeface="+mn-lt"/>
              </a:rPr>
              <a:t>(-</a:t>
            </a:r>
            <a:r>
              <a:rPr lang="en-US" altLang="zh-CN" b="0" i="0" u="none" strike="noStrike" baseline="0" dirty="0" err="1">
                <a:solidFill>
                  <a:srgbClr val="000000"/>
                </a:solidFill>
                <a:cs typeface="+mn-ea"/>
                <a:sym typeface="+mn-lt"/>
              </a:rPr>
              <a:t>u</a:t>
            </a:r>
            <a:r>
              <a:rPr lang="en-US" altLang="zh-CN" sz="1100" b="0" i="0" u="none" strike="noStrike" baseline="0" dirty="0" err="1">
                <a:solidFill>
                  <a:srgbClr val="000000"/>
                </a:solidFill>
                <a:cs typeface="+mn-ea"/>
                <a:sym typeface="+mn-lt"/>
              </a:rPr>
              <a:t>o</a:t>
            </a:r>
            <a:r>
              <a:rPr lang="en-US" altLang="zh-CN" b="0" i="0" u="none" strike="noStrike" baseline="0" dirty="0">
                <a:solidFill>
                  <a:srgbClr val="000000"/>
                </a:solidFill>
                <a:cs typeface="+mn-ea"/>
                <a:sym typeface="+mn-lt"/>
              </a:rPr>
              <a:t>,-</a:t>
            </a:r>
            <a:r>
              <a:rPr lang="en-US" altLang="zh-CN" b="0" i="0" u="none" strike="noStrike" baseline="0" dirty="0" err="1">
                <a:solidFill>
                  <a:srgbClr val="000000"/>
                </a:solidFill>
                <a:cs typeface="+mn-ea"/>
                <a:sym typeface="+mn-lt"/>
              </a:rPr>
              <a:t>v</a:t>
            </a:r>
            <a:r>
              <a:rPr lang="en-US" altLang="zh-CN" sz="1100" b="0" i="0" u="none" strike="noStrike" baseline="0" dirty="0" err="1">
                <a:solidFill>
                  <a:srgbClr val="000000"/>
                </a:solidFill>
                <a:cs typeface="+mn-ea"/>
                <a:sym typeface="+mn-lt"/>
              </a:rPr>
              <a:t>o</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位置必须有一个对应的陷波。陷波带阻滤波器传递函数可用中心被平移到陷波滤波中心的高通滤波器函数的乘积来产生。 一般形式为</a:t>
            </a:r>
          </a:p>
        </p:txBody>
      </p:sp>
      <p:pic>
        <p:nvPicPr>
          <p:cNvPr id="5" name="图片 4">
            <a:extLst>
              <a:ext uri="{FF2B5EF4-FFF2-40B4-BE49-F238E27FC236}">
                <a16:creationId xmlns:a16="http://schemas.microsoft.com/office/drawing/2014/main" id="{CE47EE91-7F60-D269-997F-A71CF7E43CB1}"/>
              </a:ext>
            </a:extLst>
          </p:cNvPr>
          <p:cNvPicPr>
            <a:picLocks noChangeAspect="1"/>
          </p:cNvPicPr>
          <p:nvPr/>
        </p:nvPicPr>
        <p:blipFill rotWithShape="1">
          <a:blip r:embed="rId2"/>
          <a:srcRect b="7272"/>
          <a:stretch/>
        </p:blipFill>
        <p:spPr>
          <a:xfrm>
            <a:off x="4826316" y="4537015"/>
            <a:ext cx="2539368" cy="570834"/>
          </a:xfrm>
          <a:prstGeom prst="rect">
            <a:avLst/>
          </a:prstGeom>
        </p:spPr>
      </p:pic>
      <p:sp>
        <p:nvSpPr>
          <p:cNvPr id="6" name="矩形 5">
            <a:extLst>
              <a:ext uri="{FF2B5EF4-FFF2-40B4-BE49-F238E27FC236}">
                <a16:creationId xmlns:a16="http://schemas.microsoft.com/office/drawing/2014/main" id="{D270A460-EB7B-A805-4D43-7DE8A0F25010}"/>
              </a:ext>
            </a:extLst>
          </p:cNvPr>
          <p:cNvSpPr/>
          <p:nvPr/>
        </p:nvSpPr>
        <p:spPr>
          <a:xfrm>
            <a:off x="801092" y="2446418"/>
            <a:ext cx="10589815" cy="2855808"/>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85032627"/>
      </p:ext>
    </p:extLst>
  </p:cSld>
  <p:clrMapOvr>
    <a:masterClrMapping/>
  </p:clrMapOvr>
  <p:transition spd="slow" advTm="0">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6000" dirty="0">
                  <a:solidFill>
                    <a:prstClr val="white"/>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11</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快速傅里叶变换</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149897989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699446-B816-0327-2587-6E27F41FB7EA}"/>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二维</a:t>
            </a:r>
            <a:r>
              <a:rPr lang="en-US" altLang="zh-CN" b="1" i="0" u="none" strike="noStrike" baseline="0" dirty="0">
                <a:solidFill>
                  <a:srgbClr val="0070C0"/>
                </a:solidFill>
                <a:latin typeface="+mn-lt"/>
                <a:ea typeface="+mn-ea"/>
                <a:cs typeface="+mn-ea"/>
                <a:sym typeface="+mn-lt"/>
              </a:rPr>
              <a:t>DFT</a:t>
            </a:r>
            <a:r>
              <a:rPr lang="zh-CN" altLang="en-US" b="1" i="0" u="none" strike="noStrike" baseline="0" dirty="0">
                <a:solidFill>
                  <a:srgbClr val="0070C0"/>
                </a:solidFill>
                <a:latin typeface="+mn-lt"/>
                <a:ea typeface="+mn-ea"/>
                <a:cs typeface="+mn-ea"/>
                <a:sym typeface="+mn-lt"/>
              </a:rPr>
              <a:t>的可分离性</a:t>
            </a:r>
          </a:p>
        </p:txBody>
      </p:sp>
      <p:sp>
        <p:nvSpPr>
          <p:cNvPr id="3" name="文本占位符 2">
            <a:extLst>
              <a:ext uri="{FF2B5EF4-FFF2-40B4-BE49-F238E27FC236}">
                <a16:creationId xmlns:a16="http://schemas.microsoft.com/office/drawing/2014/main" id="{FD21BAB3-A615-A890-49CC-7E37FBAAD53E}"/>
              </a:ext>
            </a:extLst>
          </p:cNvPr>
          <p:cNvSpPr>
            <a:spLocks noGrp="1"/>
          </p:cNvSpPr>
          <p:nvPr>
            <p:ph sz="quarter" idx="11"/>
          </p:nvPr>
        </p:nvSpPr>
        <p:spPr/>
        <p:txBody>
          <a:bodyPr>
            <a:noAutofit/>
          </a:bodyPr>
          <a:lstStyle/>
          <a:p>
            <a:pPr marL="0" marR="500" lvl="0" indent="0" rtl="0">
              <a:buNone/>
            </a:pPr>
            <a:r>
              <a:rPr lang="zh-CN" altLang="en-US" b="0" i="0" u="none" strike="noStrike" baseline="0" dirty="0">
                <a:solidFill>
                  <a:srgbClr val="000000"/>
                </a:solidFill>
                <a:cs typeface="+mn-ea"/>
                <a:sym typeface="+mn-lt"/>
              </a:rPr>
              <a:t>如表</a:t>
            </a:r>
            <a:r>
              <a:rPr lang="en-US" altLang="zh-CN" b="0" i="0" u="none" strike="noStrike" baseline="0" dirty="0">
                <a:solidFill>
                  <a:srgbClr val="000000"/>
                </a:solidFill>
                <a:cs typeface="+mn-ea"/>
                <a:sym typeface="+mn-lt"/>
              </a:rPr>
              <a:t>4.3</a:t>
            </a:r>
            <a:r>
              <a:rPr lang="zh-CN" altLang="en-US" b="0" i="0" u="none" strike="noStrike" baseline="0" dirty="0">
                <a:solidFill>
                  <a:srgbClr val="000000"/>
                </a:solidFill>
                <a:cs typeface="+mn-ea"/>
                <a:sym typeface="+mn-lt"/>
              </a:rPr>
              <a:t>中提及的那样，二维</a:t>
            </a:r>
            <a:r>
              <a:rPr lang="en-US" altLang="zh-CN" b="0" i="0" u="none" strike="noStrike" baseline="0" dirty="0">
                <a:solidFill>
                  <a:srgbClr val="000000"/>
                </a:solidFill>
                <a:cs typeface="+mn-ea"/>
                <a:sym typeface="+mn-lt"/>
              </a:rPr>
              <a:t>DFT</a:t>
            </a:r>
            <a:r>
              <a:rPr lang="zh-CN" altLang="en-US" b="0" i="0" u="none" strike="noStrike" baseline="0" dirty="0">
                <a:solidFill>
                  <a:srgbClr val="000000"/>
                </a:solidFill>
                <a:cs typeface="+mn-ea"/>
                <a:sym typeface="+mn-lt"/>
              </a:rPr>
              <a:t>可分成多个一维变换。我们可把式</a:t>
            </a:r>
            <a:r>
              <a:rPr lang="en-US" altLang="zh-CN" b="0" i="0" u="none" strike="noStrike" baseline="0" dirty="0">
                <a:solidFill>
                  <a:srgbClr val="000000"/>
                </a:solidFill>
                <a:cs typeface="+mn-ea"/>
                <a:sym typeface="+mn-lt"/>
              </a:rPr>
              <a:t>(4.67)</a:t>
            </a:r>
            <a:r>
              <a:rPr lang="zh-CN" altLang="en-US" b="0" i="0" u="none" strike="noStrike" baseline="0" dirty="0">
                <a:solidFill>
                  <a:srgbClr val="000000"/>
                </a:solidFill>
                <a:cs typeface="+mn-ea"/>
                <a:sym typeface="+mn-lt"/>
              </a:rPr>
              <a:t>写为</a:t>
            </a:r>
            <a:endParaRPr lang="en-US" altLang="zh-CN" b="0" i="0" u="none" strike="noStrike" baseline="0" dirty="0">
              <a:solidFill>
                <a:srgbClr val="000000"/>
              </a:solidFill>
              <a:cs typeface="+mn-ea"/>
              <a:sym typeface="+mn-lt"/>
            </a:endParaRPr>
          </a:p>
          <a:p>
            <a:pPr marL="0" marR="500" lvl="0" indent="0" rtl="0">
              <a:buNone/>
            </a:pPr>
            <a:endParaRPr lang="zh-CN" altLang="en-US" b="0" i="0" u="none" strike="noStrike" baseline="0" dirty="0">
              <a:solidFill>
                <a:srgbClr val="000000"/>
              </a:solidFill>
              <a:cs typeface="+mn-ea"/>
              <a:sym typeface="+mn-lt"/>
            </a:endParaRPr>
          </a:p>
          <a:p>
            <a:pPr marL="0" marR="500" lvl="0" indent="0" rtl="0">
              <a:buNone/>
            </a:pPr>
            <a:r>
              <a:rPr lang="zh-CN" altLang="en-US" dirty="0">
                <a:solidFill>
                  <a:srgbClr val="000000"/>
                </a:solidFill>
                <a:cs typeface="+mn-ea"/>
                <a:sym typeface="+mn-lt"/>
              </a:rPr>
              <a:t>式中</a:t>
            </a:r>
            <a:endParaRPr lang="en-US" altLang="zh-CN" dirty="0">
              <a:solidFill>
                <a:srgbClr val="000000"/>
              </a:solidFill>
              <a:cs typeface="+mn-ea"/>
              <a:sym typeface="+mn-lt"/>
            </a:endParaRPr>
          </a:p>
          <a:p>
            <a:pPr marL="0" marR="500" lvl="0" indent="0" rtl="0">
              <a:buNone/>
            </a:pPr>
            <a:endParaRPr lang="en-US" altLang="zh-CN" b="0" i="0" u="none" strike="noStrike" baseline="0" dirty="0">
              <a:solidFill>
                <a:srgbClr val="000000"/>
              </a:solidFill>
              <a:cs typeface="+mn-ea"/>
              <a:sym typeface="+mn-lt"/>
            </a:endParaRPr>
          </a:p>
          <a:p>
            <a:pPr marL="0" marR="500" lvl="0" indent="0" rtl="0">
              <a:buNone/>
            </a:pPr>
            <a:r>
              <a:rPr lang="zh-CN" altLang="en-US" b="0" i="0" u="none" strike="noStrike" baseline="0" dirty="0">
                <a:solidFill>
                  <a:srgbClr val="000000"/>
                </a:solidFill>
                <a:cs typeface="+mn-ea"/>
                <a:sym typeface="+mn-lt"/>
              </a:rPr>
              <a:t>对于</a:t>
            </a:r>
            <a:r>
              <a:rPr lang="en-US" altLang="zh-CN" b="0" i="0" u="none" strike="noStrike" baseline="0" dirty="0">
                <a:solidFill>
                  <a:srgbClr val="000000"/>
                </a:solidFill>
                <a:cs typeface="+mn-ea"/>
                <a:sym typeface="+mn-lt"/>
              </a:rPr>
              <a:t>x</a:t>
            </a:r>
            <a:r>
              <a:rPr lang="zh-CN" altLang="en-US" b="0" i="0" u="none" strike="noStrike" baseline="0" dirty="0">
                <a:solidFill>
                  <a:srgbClr val="000000"/>
                </a:solidFill>
                <a:cs typeface="+mn-ea"/>
                <a:sym typeface="+mn-lt"/>
              </a:rPr>
              <a:t> 的一个值及</a:t>
            </a:r>
            <a:r>
              <a:rPr lang="en-US" altLang="zh-CN" b="0" i="0" u="none" strike="noStrike" baseline="0" dirty="0">
                <a:solidFill>
                  <a:srgbClr val="000000"/>
                </a:solidFill>
                <a:cs typeface="+mn-ea"/>
                <a:sym typeface="+mn-lt"/>
              </a:rPr>
              <a:t>v=0,1,2,</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…,N-</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 我们看到，</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x,v</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是</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的一行的一维</a:t>
            </a:r>
            <a:r>
              <a:rPr lang="en-US" altLang="zh-CN" b="0" i="0" u="none" strike="noStrike" baseline="0" dirty="0">
                <a:solidFill>
                  <a:srgbClr val="000000"/>
                </a:solidFill>
                <a:cs typeface="+mn-ea"/>
                <a:sym typeface="+mn-lt"/>
              </a:rPr>
              <a:t>DFT</a:t>
            </a:r>
            <a:r>
              <a:rPr lang="zh-CN" altLang="en-US" b="0" i="0" u="none" strike="noStrike" baseline="0" dirty="0">
                <a:solidFill>
                  <a:srgbClr val="000000"/>
                </a:solidFill>
                <a:cs typeface="+mn-ea"/>
                <a:sym typeface="+mn-lt"/>
              </a:rPr>
              <a:t>。在式</a:t>
            </a:r>
            <a:r>
              <a:rPr lang="en-US" altLang="zh-CN" b="0" i="0" u="none" strike="noStrike" baseline="0" dirty="0">
                <a:solidFill>
                  <a:srgbClr val="000000"/>
                </a:solidFill>
                <a:cs typeface="+mn-ea"/>
                <a:sym typeface="+mn-lt"/>
              </a:rPr>
              <a:t>(4.157)</a:t>
            </a:r>
            <a:r>
              <a:rPr lang="zh-CN" altLang="en-US" b="0" i="0" u="none" strike="noStrike" baseline="0" dirty="0">
                <a:solidFill>
                  <a:srgbClr val="000000"/>
                </a:solidFill>
                <a:cs typeface="+mn-ea"/>
                <a:sym typeface="+mn-lt"/>
              </a:rPr>
              <a:t>中通过让</a:t>
            </a:r>
            <a:r>
              <a:rPr lang="en-US" altLang="zh-CN" b="0" i="0" u="none" strike="noStrike" baseline="0" dirty="0">
                <a:solidFill>
                  <a:srgbClr val="000000"/>
                </a:solidFill>
                <a:cs typeface="+mn-ea"/>
                <a:sym typeface="+mn-lt"/>
              </a:rPr>
              <a:t>x</a:t>
            </a:r>
            <a:r>
              <a:rPr lang="zh-CN" altLang="en-US" b="0" i="0" u="none" strike="noStrike" baseline="0" dirty="0">
                <a:solidFill>
                  <a:srgbClr val="000000"/>
                </a:solidFill>
                <a:cs typeface="+mn-ea"/>
                <a:sym typeface="+mn-lt"/>
              </a:rPr>
              <a:t>从</a:t>
            </a:r>
            <a:r>
              <a:rPr lang="en-US" altLang="zh-CN" b="0" i="0" u="none" strike="noStrike" baseline="0" dirty="0">
                <a:solidFill>
                  <a:srgbClr val="000000"/>
                </a:solidFill>
                <a:cs typeface="+mn-ea"/>
                <a:sym typeface="+mn-lt"/>
              </a:rPr>
              <a:t>0</a:t>
            </a:r>
            <a:r>
              <a:rPr lang="zh-CN" altLang="en-US" b="0" i="0" u="none" strike="noStrike" baseline="0" dirty="0">
                <a:solidFill>
                  <a:srgbClr val="000000"/>
                </a:solidFill>
                <a:cs typeface="+mn-ea"/>
                <a:sym typeface="+mn-lt"/>
              </a:rPr>
              <a:t>到</a:t>
            </a:r>
            <a:r>
              <a:rPr lang="en-US" altLang="zh-CN" b="0" i="0" u="none" strike="noStrike" baseline="0" dirty="0">
                <a:solidFill>
                  <a:srgbClr val="000000"/>
                </a:solidFill>
                <a:cs typeface="+mn-ea"/>
                <a:sym typeface="+mn-lt"/>
              </a:rPr>
              <a:t>M-1</a:t>
            </a:r>
            <a:r>
              <a:rPr lang="zh-CN" altLang="en-US" b="0" i="0" u="none" strike="noStrike" baseline="0" dirty="0">
                <a:solidFill>
                  <a:srgbClr val="000000"/>
                </a:solidFill>
                <a:cs typeface="+mn-ea"/>
                <a:sym typeface="+mn-lt"/>
              </a:rPr>
              <a:t>变化</a:t>
            </a:r>
            <a:r>
              <a:rPr lang="zh-CN" altLang="en-US" dirty="0">
                <a:solidFill>
                  <a:srgbClr val="000000"/>
                </a:solidFill>
                <a:cs typeface="+mn-ea"/>
                <a:sym typeface="+mn-lt"/>
              </a:rPr>
              <a:t>，</a:t>
            </a:r>
            <a:r>
              <a:rPr lang="zh-CN" altLang="en-US" b="0" i="0" u="none" strike="noStrike" baseline="0" dirty="0">
                <a:solidFill>
                  <a:srgbClr val="000000"/>
                </a:solidFill>
                <a:cs typeface="+mn-ea"/>
                <a:sym typeface="+mn-lt"/>
              </a:rPr>
              <a:t>对</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的所有行计算一组一维</a:t>
            </a:r>
            <a:r>
              <a:rPr lang="en-US" altLang="zh-CN" b="0" i="0" u="none" strike="noStrike" baseline="0" dirty="0">
                <a:solidFill>
                  <a:srgbClr val="000000"/>
                </a:solidFill>
                <a:cs typeface="+mn-ea"/>
                <a:sym typeface="+mn-lt"/>
              </a:rPr>
              <a:t>DFT</a:t>
            </a:r>
            <a:r>
              <a:rPr lang="zh-CN" altLang="en-US" b="0" i="0" u="none" strike="noStrike" baseline="0" dirty="0">
                <a:solidFill>
                  <a:srgbClr val="000000"/>
                </a:solidFill>
                <a:cs typeface="+mn-ea"/>
                <a:sym typeface="+mn-lt"/>
              </a:rPr>
              <a:t>。类似地，式</a:t>
            </a:r>
            <a:r>
              <a:rPr lang="en-US" altLang="zh-CN" b="0" i="0" u="none" strike="noStrike" baseline="0" dirty="0">
                <a:solidFill>
                  <a:srgbClr val="000000"/>
                </a:solidFill>
                <a:cs typeface="+mn-ea"/>
                <a:sym typeface="+mn-lt"/>
              </a:rPr>
              <a:t>(4.156)</a:t>
            </a:r>
            <a:r>
              <a:rPr lang="zh-CN" altLang="en-US" b="0" i="0" u="none" strike="noStrike" baseline="0" dirty="0">
                <a:solidFill>
                  <a:srgbClr val="000000"/>
                </a:solidFill>
                <a:cs typeface="+mn-ea"/>
                <a:sym typeface="+mn-lt"/>
              </a:rPr>
              <a:t>中的计算是</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x,v</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的各列的一维变换。</a:t>
            </a:r>
          </a:p>
        </p:txBody>
      </p:sp>
      <p:pic>
        <p:nvPicPr>
          <p:cNvPr id="5" name="图片 4">
            <a:extLst>
              <a:ext uri="{FF2B5EF4-FFF2-40B4-BE49-F238E27FC236}">
                <a16:creationId xmlns:a16="http://schemas.microsoft.com/office/drawing/2014/main" id="{DA1AA042-B183-883D-AD77-4C28D7012216}"/>
              </a:ext>
            </a:extLst>
          </p:cNvPr>
          <p:cNvPicPr>
            <a:picLocks noChangeAspect="1"/>
          </p:cNvPicPr>
          <p:nvPr/>
        </p:nvPicPr>
        <p:blipFill>
          <a:blip r:embed="rId2"/>
          <a:stretch>
            <a:fillRect/>
          </a:stretch>
        </p:blipFill>
        <p:spPr>
          <a:xfrm>
            <a:off x="4567233" y="3072711"/>
            <a:ext cx="3057533" cy="488531"/>
          </a:xfrm>
          <a:prstGeom prst="rect">
            <a:avLst/>
          </a:prstGeom>
        </p:spPr>
      </p:pic>
      <p:pic>
        <p:nvPicPr>
          <p:cNvPr id="7" name="图片 6">
            <a:extLst>
              <a:ext uri="{FF2B5EF4-FFF2-40B4-BE49-F238E27FC236}">
                <a16:creationId xmlns:a16="http://schemas.microsoft.com/office/drawing/2014/main" id="{0D258548-0986-A340-8096-54216B9C43B1}"/>
              </a:ext>
            </a:extLst>
          </p:cNvPr>
          <p:cNvPicPr>
            <a:picLocks noChangeAspect="1"/>
          </p:cNvPicPr>
          <p:nvPr/>
        </p:nvPicPr>
        <p:blipFill>
          <a:blip r:embed="rId3"/>
          <a:stretch>
            <a:fillRect/>
          </a:stretch>
        </p:blipFill>
        <p:spPr>
          <a:xfrm>
            <a:off x="5108315" y="4187536"/>
            <a:ext cx="1975369" cy="488532"/>
          </a:xfrm>
          <a:prstGeom prst="rect">
            <a:avLst/>
          </a:prstGeom>
        </p:spPr>
      </p:pic>
      <p:sp>
        <p:nvSpPr>
          <p:cNvPr id="8" name="矩形 7">
            <a:extLst>
              <a:ext uri="{FF2B5EF4-FFF2-40B4-BE49-F238E27FC236}">
                <a16:creationId xmlns:a16="http://schemas.microsoft.com/office/drawing/2014/main" id="{ADFE4BCC-A773-FBAB-33EC-1CFE83B3C38E}"/>
              </a:ext>
            </a:extLst>
          </p:cNvPr>
          <p:cNvSpPr/>
          <p:nvPr/>
        </p:nvSpPr>
        <p:spPr>
          <a:xfrm>
            <a:off x="801092" y="2446417"/>
            <a:ext cx="10589815" cy="3752252"/>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333019007"/>
      </p:ext>
    </p:extLst>
  </p:cSld>
  <p:clrMapOvr>
    <a:masterClrMapping/>
  </p:clrMapOvr>
  <p:transition spd="slow" advTm="0">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46BE8C-59E2-248F-C8B9-1C5947D2C9DC}"/>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使 用</a:t>
            </a:r>
            <a:r>
              <a:rPr lang="en-US" altLang="zh-CN" b="1" i="0" u="none" strike="noStrike" baseline="0">
                <a:solidFill>
                  <a:srgbClr val="0070C0"/>
                </a:solidFill>
                <a:latin typeface="+mn-lt"/>
                <a:ea typeface="+mn-ea"/>
                <a:cs typeface="+mn-ea"/>
                <a:sym typeface="+mn-lt"/>
              </a:rPr>
              <a:t>DFT</a:t>
            </a:r>
            <a:r>
              <a:rPr lang="zh-CN" altLang="en-US" b="1" i="0" u="none" strike="noStrike" baseline="0">
                <a:solidFill>
                  <a:srgbClr val="0070C0"/>
                </a:solidFill>
                <a:latin typeface="+mn-lt"/>
                <a:ea typeface="+mn-ea"/>
                <a:cs typeface="+mn-ea"/>
                <a:sym typeface="+mn-lt"/>
              </a:rPr>
              <a:t>  算法计算</a:t>
            </a:r>
            <a:r>
              <a:rPr lang="en-US" altLang="zh-CN" b="1" i="0" u="none" strike="noStrike" baseline="0">
                <a:solidFill>
                  <a:srgbClr val="0070C0"/>
                </a:solidFill>
                <a:latin typeface="+mn-lt"/>
                <a:ea typeface="+mn-ea"/>
                <a:cs typeface="+mn-ea"/>
                <a:sym typeface="+mn-lt"/>
              </a:rPr>
              <a:t>IDFT</a:t>
            </a:r>
            <a:endParaRPr lang="zh-CN" altLang="en-US" b="1" i="0" u="none" strike="noStrike" baseline="0">
              <a:solidFill>
                <a:srgbClr val="0070C0"/>
              </a:solidFill>
              <a:latin typeface="+mn-lt"/>
              <a:ea typeface="+mn-ea"/>
              <a:cs typeface="+mn-ea"/>
              <a:sym typeface="+mn-lt"/>
            </a:endParaRPr>
          </a:p>
        </p:txBody>
      </p:sp>
      <p:sp>
        <p:nvSpPr>
          <p:cNvPr id="3" name="文本占位符 2">
            <a:extLst>
              <a:ext uri="{FF2B5EF4-FFF2-40B4-BE49-F238E27FC236}">
                <a16:creationId xmlns:a16="http://schemas.microsoft.com/office/drawing/2014/main" id="{02E0090C-80A5-222F-FDFB-681E3965A681}"/>
              </a:ext>
            </a:extLst>
          </p:cNvPr>
          <p:cNvSpPr>
            <a:spLocks noGrp="1"/>
          </p:cNvSpPr>
          <p:nvPr>
            <p:ph sz="quarter" idx="12"/>
          </p:nvPr>
        </p:nvSpPr>
        <p:spPr/>
        <p:txBody>
          <a:bodyPr>
            <a:normAutofit/>
          </a:bodyPr>
          <a:lstStyle/>
          <a:p>
            <a:pPr marL="0" marR="500" lvl="0" indent="0" rtl="0">
              <a:buNone/>
            </a:pPr>
            <a:r>
              <a:rPr lang="zh-CN" altLang="en-US" b="0" i="0" u="none" strike="noStrike" baseline="0" dirty="0">
                <a:solidFill>
                  <a:srgbClr val="000000"/>
                </a:solidFill>
                <a:cs typeface="+mn-ea"/>
                <a:sym typeface="+mn-lt"/>
              </a:rPr>
              <a:t>式</a:t>
            </a:r>
            <a:r>
              <a:rPr lang="en-US" altLang="zh-CN" b="0" i="0" u="none" strike="noStrike" baseline="0" dirty="0">
                <a:solidFill>
                  <a:srgbClr val="000000"/>
                </a:solidFill>
                <a:cs typeface="+mn-ea"/>
                <a:sym typeface="+mn-lt"/>
              </a:rPr>
              <a:t>(4.68)</a:t>
            </a:r>
            <a:r>
              <a:rPr lang="zh-CN" altLang="en-US" b="0" i="0" u="none" strike="noStrike" baseline="0" dirty="0">
                <a:solidFill>
                  <a:srgbClr val="000000"/>
                </a:solidFill>
                <a:cs typeface="+mn-ea"/>
                <a:sym typeface="+mn-lt"/>
              </a:rPr>
              <a:t>的两边取复共轭，并将得到的结果乘以</a:t>
            </a:r>
            <a:r>
              <a:rPr lang="en-US" altLang="zh-CN" b="0" i="0" u="none" strike="noStrike" baseline="0" dirty="0">
                <a:solidFill>
                  <a:srgbClr val="000000"/>
                </a:solidFill>
                <a:cs typeface="+mn-ea"/>
                <a:sym typeface="+mn-lt"/>
              </a:rPr>
              <a:t>MN</a:t>
            </a:r>
            <a:r>
              <a:rPr lang="zh-CN" altLang="en-US" b="0" i="0" u="none" strike="noStrike" baseline="0" dirty="0">
                <a:solidFill>
                  <a:srgbClr val="000000"/>
                </a:solidFill>
                <a:cs typeface="+mn-ea"/>
                <a:sym typeface="+mn-lt"/>
              </a:rPr>
              <a:t> 得</a:t>
            </a:r>
            <a:endParaRPr lang="en-US" altLang="zh-CN" b="0" i="0" u="none" strike="noStrike" baseline="0" dirty="0">
              <a:solidFill>
                <a:srgbClr val="000000"/>
              </a:solidFill>
              <a:cs typeface="+mn-ea"/>
              <a:sym typeface="+mn-lt"/>
            </a:endParaRPr>
          </a:p>
          <a:p>
            <a:pPr marL="0" marR="500" lvl="0" indent="0" rtl="0">
              <a:buNone/>
            </a:pPr>
            <a:endParaRPr lang="zh-CN" altLang="en-US" b="0" i="0" u="none" strike="noStrike" baseline="0" dirty="0">
              <a:solidFill>
                <a:srgbClr val="000000"/>
              </a:solidFill>
              <a:cs typeface="+mn-ea"/>
              <a:sym typeface="+mn-lt"/>
            </a:endParaRPr>
          </a:p>
          <a:p>
            <a:pPr marL="0" marR="500" lvl="0" indent="0" rtl="0">
              <a:buNone/>
            </a:pPr>
            <a:r>
              <a:rPr lang="zh-CN" altLang="en-US" b="0" i="0" u="none" strike="noStrike" baseline="0" dirty="0">
                <a:solidFill>
                  <a:srgbClr val="000000"/>
                </a:solidFill>
                <a:cs typeface="+mn-ea"/>
                <a:sym typeface="+mn-lt"/>
              </a:rPr>
              <a:t>然而，我们发现上式的右侧是          的</a:t>
            </a:r>
            <a:r>
              <a:rPr lang="en-US" altLang="zh-CN" b="0" i="0" u="none" strike="noStrike" baseline="0" dirty="0">
                <a:solidFill>
                  <a:srgbClr val="000000"/>
                </a:solidFill>
                <a:cs typeface="+mn-ea"/>
                <a:sym typeface="+mn-lt"/>
              </a:rPr>
              <a:t>DFT</a:t>
            </a:r>
            <a:r>
              <a:rPr lang="zh-CN" altLang="en-US" b="0" i="0" u="none" strike="noStrike" baseline="0" dirty="0">
                <a:solidFill>
                  <a:srgbClr val="000000"/>
                </a:solidFill>
                <a:cs typeface="+mn-ea"/>
                <a:sym typeface="+mn-lt"/>
              </a:rPr>
              <a:t>。因此，式</a:t>
            </a:r>
            <a:r>
              <a:rPr lang="en-US" altLang="zh-CN" b="0" i="0" u="none" strike="noStrike" baseline="0" dirty="0">
                <a:solidFill>
                  <a:srgbClr val="000000"/>
                </a:solidFill>
                <a:cs typeface="+mn-ea"/>
                <a:sym typeface="+mn-lt"/>
              </a:rPr>
              <a:t>(4.158)</a:t>
            </a:r>
            <a:r>
              <a:rPr lang="zh-CN" altLang="en-US" b="0" i="0" u="none" strike="noStrike" baseline="0" dirty="0">
                <a:solidFill>
                  <a:srgbClr val="000000"/>
                </a:solidFill>
                <a:cs typeface="+mn-ea"/>
                <a:sym typeface="+mn-lt"/>
              </a:rPr>
              <a:t>表明，若把          代入计算二维傅里叶正变换的算法中，则结果将是              。 取复共轭并将结果乘以</a:t>
            </a:r>
            <a:r>
              <a:rPr lang="en-US" altLang="zh-CN" b="0" i="0" u="none" strike="noStrike" baseline="0" dirty="0">
                <a:solidFill>
                  <a:srgbClr val="000000"/>
                </a:solidFill>
                <a:cs typeface="+mn-ea"/>
                <a:sym typeface="+mn-lt"/>
              </a:rPr>
              <a:t>1/MN</a:t>
            </a:r>
            <a:r>
              <a:rPr lang="zh-CN" altLang="en-US" b="0" i="0" u="none" strike="noStrike" baseline="0" dirty="0">
                <a:solidFill>
                  <a:srgbClr val="000000"/>
                </a:solidFill>
                <a:cs typeface="+mn-ea"/>
                <a:sym typeface="+mn-lt"/>
              </a:rPr>
              <a:t> 将得到</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它是</a:t>
            </a:r>
            <a:r>
              <a:rPr lang="en-US" altLang="zh-CN" b="0" i="0" u="none" strike="noStrike" baseline="0" dirty="0">
                <a:solidFill>
                  <a:srgbClr val="000000"/>
                </a:solidFill>
                <a:cs typeface="+mn-ea"/>
                <a:sym typeface="+mn-lt"/>
              </a:rPr>
              <a:t>F(</a:t>
            </a:r>
            <a:r>
              <a:rPr lang="en-US" altLang="zh-CN" b="0" i="0" u="none" strike="noStrike" baseline="0" dirty="0" err="1">
                <a:solidFill>
                  <a:srgbClr val="000000"/>
                </a:solidFill>
                <a:cs typeface="+mn-ea"/>
                <a:sym typeface="+mn-lt"/>
              </a:rPr>
              <a:t>u,v</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的反变换。</a:t>
            </a:r>
          </a:p>
        </p:txBody>
      </p:sp>
      <p:pic>
        <p:nvPicPr>
          <p:cNvPr id="5" name="图片 4">
            <a:extLst>
              <a:ext uri="{FF2B5EF4-FFF2-40B4-BE49-F238E27FC236}">
                <a16:creationId xmlns:a16="http://schemas.microsoft.com/office/drawing/2014/main" id="{7F5F2EFE-B1D9-831B-C4C3-191919D2B7CB}"/>
              </a:ext>
            </a:extLst>
          </p:cNvPr>
          <p:cNvPicPr>
            <a:picLocks noChangeAspect="1"/>
          </p:cNvPicPr>
          <p:nvPr/>
        </p:nvPicPr>
        <p:blipFill>
          <a:blip r:embed="rId2"/>
          <a:stretch>
            <a:fillRect/>
          </a:stretch>
        </p:blipFill>
        <p:spPr>
          <a:xfrm>
            <a:off x="4619549" y="3194996"/>
            <a:ext cx="2952900" cy="468007"/>
          </a:xfrm>
          <a:prstGeom prst="rect">
            <a:avLst/>
          </a:prstGeom>
        </p:spPr>
      </p:pic>
      <p:pic>
        <p:nvPicPr>
          <p:cNvPr id="7" name="图片 6">
            <a:extLst>
              <a:ext uri="{FF2B5EF4-FFF2-40B4-BE49-F238E27FC236}">
                <a16:creationId xmlns:a16="http://schemas.microsoft.com/office/drawing/2014/main" id="{D7DE48F8-8D66-1653-0A59-5CEECF47D9B3}"/>
              </a:ext>
            </a:extLst>
          </p:cNvPr>
          <p:cNvPicPr>
            <a:picLocks noChangeAspect="1"/>
          </p:cNvPicPr>
          <p:nvPr/>
        </p:nvPicPr>
        <p:blipFill rotWithShape="1">
          <a:blip r:embed="rId3"/>
          <a:srcRect l="11346" t="-2010" b="-1"/>
          <a:stretch/>
        </p:blipFill>
        <p:spPr>
          <a:xfrm>
            <a:off x="4466122" y="3830855"/>
            <a:ext cx="515101" cy="301211"/>
          </a:xfrm>
          <a:prstGeom prst="rect">
            <a:avLst/>
          </a:prstGeom>
        </p:spPr>
      </p:pic>
      <p:pic>
        <p:nvPicPr>
          <p:cNvPr id="9" name="图片 8">
            <a:extLst>
              <a:ext uri="{FF2B5EF4-FFF2-40B4-BE49-F238E27FC236}">
                <a16:creationId xmlns:a16="http://schemas.microsoft.com/office/drawing/2014/main" id="{C762AB12-13FD-B8FE-616F-88508E08405E}"/>
              </a:ext>
            </a:extLst>
          </p:cNvPr>
          <p:cNvPicPr>
            <a:picLocks noChangeAspect="1"/>
          </p:cNvPicPr>
          <p:nvPr/>
        </p:nvPicPr>
        <p:blipFill>
          <a:blip r:embed="rId4"/>
          <a:stretch>
            <a:fillRect/>
          </a:stretch>
        </p:blipFill>
        <p:spPr>
          <a:xfrm>
            <a:off x="9111615" y="3830855"/>
            <a:ext cx="552450" cy="295275"/>
          </a:xfrm>
          <a:prstGeom prst="rect">
            <a:avLst/>
          </a:prstGeom>
        </p:spPr>
      </p:pic>
      <p:pic>
        <p:nvPicPr>
          <p:cNvPr id="11" name="图片 10">
            <a:extLst>
              <a:ext uri="{FF2B5EF4-FFF2-40B4-BE49-F238E27FC236}">
                <a16:creationId xmlns:a16="http://schemas.microsoft.com/office/drawing/2014/main" id="{1F73BA5F-2933-2CEA-2736-72D547C8A29A}"/>
              </a:ext>
            </a:extLst>
          </p:cNvPr>
          <p:cNvPicPr>
            <a:picLocks noChangeAspect="1"/>
          </p:cNvPicPr>
          <p:nvPr/>
        </p:nvPicPr>
        <p:blipFill>
          <a:blip r:embed="rId5"/>
          <a:stretch>
            <a:fillRect/>
          </a:stretch>
        </p:blipFill>
        <p:spPr>
          <a:xfrm>
            <a:off x="5498180" y="4341191"/>
            <a:ext cx="714375" cy="238125"/>
          </a:xfrm>
          <a:prstGeom prst="rect">
            <a:avLst/>
          </a:prstGeom>
        </p:spPr>
      </p:pic>
    </p:spTree>
    <p:extLst>
      <p:ext uri="{BB962C8B-B14F-4D97-AF65-F5344CB8AC3E}">
        <p14:creationId xmlns:p14="http://schemas.microsoft.com/office/powerpoint/2010/main" val="2448407396"/>
      </p:ext>
    </p:extLst>
  </p:cSld>
  <p:clrMapOvr>
    <a:masterClrMapping/>
  </p:clrMapOvr>
  <p:transition spd="slow" advTm="0">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56FD49-2683-EC2D-FE39-9313A28E0122}"/>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快速傅里叶变换 </a:t>
            </a:r>
            <a:r>
              <a:rPr lang="en-US" altLang="zh-CN" b="1" i="0" u="none" strike="noStrike" baseline="0">
                <a:solidFill>
                  <a:srgbClr val="0070C0"/>
                </a:solidFill>
                <a:latin typeface="+mn-lt"/>
                <a:ea typeface="+mn-ea"/>
                <a:cs typeface="+mn-ea"/>
                <a:sym typeface="+mn-lt"/>
              </a:rPr>
              <a:t>(FFT)</a:t>
            </a:r>
            <a:endParaRPr lang="zh-CN" altLang="en-US" b="1" i="0" u="none" strike="noStrike" baseline="0">
              <a:solidFill>
                <a:srgbClr val="0070C0"/>
              </a:solidFill>
              <a:latin typeface="+mn-lt"/>
              <a:ea typeface="+mn-ea"/>
              <a:cs typeface="+mn-ea"/>
              <a:sym typeface="+mn-lt"/>
            </a:endParaRPr>
          </a:p>
        </p:txBody>
      </p:sp>
      <p:sp>
        <p:nvSpPr>
          <p:cNvPr id="3" name="文本占位符 2">
            <a:extLst>
              <a:ext uri="{FF2B5EF4-FFF2-40B4-BE49-F238E27FC236}">
                <a16:creationId xmlns:a16="http://schemas.microsoft.com/office/drawing/2014/main" id="{C612DFA6-C32D-E052-1584-B47AF0E0623E}"/>
              </a:ext>
            </a:extLst>
          </p:cNvPr>
          <p:cNvSpPr>
            <a:spLocks noGrp="1"/>
          </p:cNvSpPr>
          <p:nvPr>
            <p:ph sz="quarter" idx="12"/>
          </p:nvPr>
        </p:nvSpPr>
        <p:spPr/>
        <p:txBody>
          <a:bodyPr>
            <a:normAutofit/>
          </a:bodyPr>
          <a:lstStyle/>
          <a:p>
            <a:pPr marR="500" lvl="0" rtl="0"/>
            <a:r>
              <a:rPr lang="zh-CN" altLang="en-US" b="0" i="0" u="none" strike="noStrike" baseline="0" dirty="0">
                <a:solidFill>
                  <a:srgbClr val="000000"/>
                </a:solidFill>
                <a:cs typeface="+mn-ea"/>
                <a:sym typeface="+mn-lt"/>
              </a:rPr>
              <a:t>若我们不得不直接实现式</a:t>
            </a:r>
            <a:r>
              <a:rPr lang="en-US" altLang="zh-CN" b="0" i="0" u="none" strike="noStrike" baseline="0" dirty="0">
                <a:solidFill>
                  <a:srgbClr val="000000"/>
                </a:solidFill>
                <a:cs typeface="+mn-ea"/>
                <a:sym typeface="+mn-lt"/>
              </a:rPr>
              <a:t>(4.67)</a:t>
            </a:r>
            <a:r>
              <a:rPr lang="zh-CN" altLang="en-US" b="0" i="0" u="none" strike="noStrike" baseline="0" dirty="0">
                <a:solidFill>
                  <a:srgbClr val="000000"/>
                </a:solidFill>
                <a:cs typeface="+mn-ea"/>
                <a:sym typeface="+mn-lt"/>
              </a:rPr>
              <a:t>和式</a:t>
            </a:r>
            <a:r>
              <a:rPr lang="en-US" altLang="zh-CN" b="0" i="0" u="none" strike="noStrike" baseline="0" dirty="0">
                <a:solidFill>
                  <a:srgbClr val="000000"/>
                </a:solidFill>
                <a:cs typeface="+mn-ea"/>
                <a:sym typeface="+mn-lt"/>
              </a:rPr>
              <a:t>(4.68),</a:t>
            </a:r>
            <a:r>
              <a:rPr lang="zh-CN" altLang="en-US" b="0" i="0" u="none" strike="noStrike" baseline="0" dirty="0">
                <a:solidFill>
                  <a:srgbClr val="000000"/>
                </a:solidFill>
                <a:cs typeface="+mn-ea"/>
                <a:sym typeface="+mn-lt"/>
              </a:rPr>
              <a:t>则在频率域进行处理并不实际。蛮力实现这些公式时，需要约</a:t>
            </a:r>
            <a:r>
              <a:rPr lang="en-US" altLang="zh-CN" b="0" i="0" u="none" strike="noStrike" baseline="0" dirty="0">
                <a:solidFill>
                  <a:srgbClr val="000000"/>
                </a:solidFill>
                <a:cs typeface="+mn-ea"/>
                <a:sym typeface="+mn-lt"/>
              </a:rPr>
              <a:t>(MM²</a:t>
            </a:r>
            <a:r>
              <a:rPr lang="zh-CN" altLang="en-US" b="0" i="0" u="none" strike="noStrike" baseline="0" dirty="0">
                <a:solidFill>
                  <a:srgbClr val="000000"/>
                </a:solidFill>
                <a:cs typeface="+mn-ea"/>
                <a:sym typeface="+mn-lt"/>
              </a:rPr>
              <a:t>次乘法和加法运算。对于中等大小的图像</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如</a:t>
            </a:r>
            <a:r>
              <a:rPr lang="en-US" altLang="zh-CN" b="0" i="0" u="none" strike="noStrike" baseline="0" dirty="0">
                <a:solidFill>
                  <a:srgbClr val="000000"/>
                </a:solidFill>
                <a:cs typeface="+mn-ea"/>
                <a:sym typeface="+mn-lt"/>
              </a:rPr>
              <a:t>2048×2048</a:t>
            </a:r>
            <a:r>
              <a:rPr lang="zh-CN" altLang="en-US" b="0" i="0" u="none" strike="noStrike" baseline="0" dirty="0">
                <a:solidFill>
                  <a:srgbClr val="000000"/>
                </a:solidFill>
                <a:cs typeface="+mn-ea"/>
                <a:sym typeface="+mn-lt"/>
              </a:rPr>
              <a:t>像素</a:t>
            </a:r>
            <a:r>
              <a:rPr lang="en-US" altLang="zh-CN" b="0" i="0" u="none" strike="noStrike" baseline="0" dirty="0">
                <a:solidFill>
                  <a:srgbClr val="000000"/>
                </a:solidFill>
                <a:cs typeface="+mn-ea"/>
                <a:sym typeface="+mn-lt"/>
              </a:rPr>
              <a:t>)</a:t>
            </a:r>
            <a:r>
              <a:rPr lang="zh-CN" altLang="en-US" dirty="0">
                <a:solidFill>
                  <a:srgbClr val="000000"/>
                </a:solidFill>
                <a:cs typeface="+mn-ea"/>
                <a:sym typeface="+mn-lt"/>
              </a:rPr>
              <a:t>，</a:t>
            </a:r>
            <a:r>
              <a:rPr lang="zh-CN" altLang="en-US" b="0" i="0" u="none" strike="noStrike" baseline="0" dirty="0">
                <a:solidFill>
                  <a:srgbClr val="000000"/>
                </a:solidFill>
                <a:cs typeface="+mn-ea"/>
                <a:sym typeface="+mn-lt"/>
              </a:rPr>
              <a:t>这意味着仅进行一次二维</a:t>
            </a:r>
            <a:r>
              <a:rPr lang="en-US" altLang="zh-CN" b="0" i="0" u="none" strike="noStrike" baseline="0" dirty="0">
                <a:solidFill>
                  <a:srgbClr val="000000"/>
                </a:solidFill>
                <a:cs typeface="+mn-ea"/>
                <a:sym typeface="+mn-lt"/>
              </a:rPr>
              <a:t>DFT</a:t>
            </a:r>
            <a:r>
              <a:rPr lang="zh-CN" altLang="en-US" b="0" i="0" u="none" strike="noStrike" baseline="0" dirty="0">
                <a:solidFill>
                  <a:srgbClr val="000000"/>
                </a:solidFill>
                <a:cs typeface="+mn-ea"/>
                <a:sym typeface="+mn-lt"/>
              </a:rPr>
              <a:t>运算就需要约</a:t>
            </a:r>
            <a:r>
              <a:rPr lang="en-US" altLang="zh-CN" b="0" i="0" u="none" strike="noStrike" baseline="0" dirty="0">
                <a:solidFill>
                  <a:srgbClr val="000000"/>
                </a:solidFill>
                <a:cs typeface="+mn-ea"/>
                <a:sym typeface="+mn-lt"/>
              </a:rPr>
              <a:t>17</a:t>
            </a:r>
            <a:r>
              <a:rPr lang="zh-CN" altLang="en-US" b="0" i="0" u="none" strike="noStrike" baseline="0" dirty="0">
                <a:solidFill>
                  <a:srgbClr val="000000"/>
                </a:solidFill>
                <a:cs typeface="+mn-ea"/>
                <a:sym typeface="+mn-lt"/>
              </a:rPr>
              <a:t>万亿次乘法和加法，还不包括计算一次并存储到查找表中的指数运算。</a:t>
            </a:r>
            <a:endParaRPr lang="en-US" altLang="zh-CN" b="0" i="0" u="none" strike="noStrike" baseline="0" dirty="0">
              <a:solidFill>
                <a:srgbClr val="000000"/>
              </a:solidFill>
              <a:cs typeface="+mn-ea"/>
              <a:sym typeface="+mn-lt"/>
            </a:endParaRPr>
          </a:p>
          <a:p>
            <a:pPr marR="500" lvl="0" rtl="0"/>
            <a:r>
              <a:rPr lang="zh-CN" altLang="en-US" b="0" i="0" u="none" strike="noStrike" baseline="0" dirty="0">
                <a:solidFill>
                  <a:srgbClr val="000000"/>
                </a:solidFill>
                <a:cs typeface="+mn-ea"/>
                <a:sym typeface="+mn-lt"/>
              </a:rPr>
              <a:t>如果人们未发现将计算量降到</a:t>
            </a:r>
            <a:r>
              <a:rPr lang="en-US" altLang="zh-CN" b="0" i="0" u="none" strike="noStrike" baseline="0" dirty="0" err="1">
                <a:solidFill>
                  <a:srgbClr val="000000"/>
                </a:solidFill>
                <a:cs typeface="+mn-ea"/>
                <a:sym typeface="+mn-lt"/>
              </a:rPr>
              <a:t>MNlog</a:t>
            </a:r>
            <a:r>
              <a:rPr lang="zh-CN" altLang="en-US" b="0" i="0" u="none" strike="noStrike" baseline="0" dirty="0">
                <a:solidFill>
                  <a:srgbClr val="000000"/>
                </a:solidFill>
                <a:cs typeface="+mn-ea"/>
                <a:sym typeface="+mn-lt"/>
              </a:rPr>
              <a:t>₂</a:t>
            </a:r>
            <a:r>
              <a:rPr lang="en-US" altLang="zh-CN" b="0" i="0" u="none" strike="noStrike" baseline="0" dirty="0">
                <a:solidFill>
                  <a:srgbClr val="000000"/>
                </a:solidFill>
                <a:cs typeface="+mn-ea"/>
                <a:sym typeface="+mn-lt"/>
              </a:rPr>
              <a:t>MN</a:t>
            </a:r>
            <a:r>
              <a:rPr lang="zh-CN" altLang="en-US" b="0" i="0" u="none" strike="noStrike" baseline="0" dirty="0">
                <a:solidFill>
                  <a:srgbClr val="000000"/>
                </a:solidFill>
                <a:cs typeface="+mn-ea"/>
                <a:sym typeface="+mn-lt"/>
              </a:rPr>
              <a:t>次乘法和加法的快速傅里叶变换</a:t>
            </a:r>
            <a:r>
              <a:rPr lang="en-US" altLang="zh-CN" b="0" i="0" u="none" strike="noStrike" baseline="0" dirty="0">
                <a:solidFill>
                  <a:srgbClr val="000000"/>
                </a:solidFill>
                <a:cs typeface="+mn-ea"/>
                <a:sym typeface="+mn-lt"/>
              </a:rPr>
              <a:t>(FFT),</a:t>
            </a:r>
            <a:r>
              <a:rPr lang="zh-CN" altLang="en-US" b="0" i="0" u="none" strike="noStrike" baseline="0" dirty="0">
                <a:solidFill>
                  <a:srgbClr val="000000"/>
                </a:solidFill>
                <a:cs typeface="+mn-ea"/>
                <a:sym typeface="+mn-lt"/>
              </a:rPr>
              <a:t> 那么可以肯定地说本章介绍的内容几乎没有任何实用价值。</a:t>
            </a:r>
            <a:r>
              <a:rPr lang="en-US" altLang="zh-CN" b="0" i="0" u="none" strike="noStrike" baseline="0" dirty="0">
                <a:solidFill>
                  <a:srgbClr val="000000"/>
                </a:solidFill>
                <a:cs typeface="+mn-ea"/>
                <a:sym typeface="+mn-lt"/>
              </a:rPr>
              <a:t>FFT</a:t>
            </a:r>
            <a:r>
              <a:rPr lang="zh-CN" altLang="en-US" b="0" i="0" u="none" strike="noStrike" baseline="0" dirty="0">
                <a:solidFill>
                  <a:srgbClr val="000000"/>
                </a:solidFill>
                <a:cs typeface="+mn-ea"/>
                <a:sym typeface="+mn-lt"/>
              </a:rPr>
              <a:t>缩减的计算量的确非常可观。</a:t>
            </a:r>
          </a:p>
        </p:txBody>
      </p:sp>
    </p:spTree>
    <p:extLst>
      <p:ext uri="{BB962C8B-B14F-4D97-AF65-F5344CB8AC3E}">
        <p14:creationId xmlns:p14="http://schemas.microsoft.com/office/powerpoint/2010/main" val="2623026586"/>
      </p:ext>
    </p:extLst>
  </p:cSld>
  <p:clrMapOvr>
    <a:masterClrMapping/>
  </p:clrMapOvr>
  <p:transition spd="slow" advTm="0">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2" name="组合 301"/>
          <p:cNvGrpSpPr/>
          <p:nvPr/>
        </p:nvGrpSpPr>
        <p:grpSpPr>
          <a:xfrm>
            <a:off x="951918" y="2003875"/>
            <a:ext cx="4621778" cy="1257438"/>
            <a:chOff x="951918" y="1752810"/>
            <a:chExt cx="4621778" cy="1257438"/>
          </a:xfrm>
        </p:grpSpPr>
        <p:sp>
          <p:nvSpPr>
            <p:cNvPr id="295" name="椭圆 294"/>
            <p:cNvSpPr/>
            <p:nvPr/>
          </p:nvSpPr>
          <p:spPr>
            <a:xfrm>
              <a:off x="3440154" y="1752810"/>
              <a:ext cx="1219200" cy="1219200"/>
            </a:xfrm>
            <a:prstGeom prst="ellipse">
              <a:avLst/>
            </a:pr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85" name="文本框 284"/>
            <p:cNvSpPr txBox="1"/>
            <p:nvPr/>
          </p:nvSpPr>
          <p:spPr>
            <a:xfrm>
              <a:off x="951918" y="2240807"/>
              <a:ext cx="4621778"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prstClr val="black">
                      <a:lumMod val="85000"/>
                      <a:lumOff val="15000"/>
                    </a:prstClr>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感谢观看，再见！</a:t>
              </a:r>
            </a:p>
          </p:txBody>
        </p:sp>
      </p:grpSp>
      <p:grpSp>
        <p:nvGrpSpPr>
          <p:cNvPr id="2" name="组合 1">
            <a:extLst>
              <a:ext uri="{FF2B5EF4-FFF2-40B4-BE49-F238E27FC236}">
                <a16:creationId xmlns:a16="http://schemas.microsoft.com/office/drawing/2014/main" id="{4BE357EE-D036-5636-DC77-B48D4D7055E5}"/>
              </a:ext>
            </a:extLst>
          </p:cNvPr>
          <p:cNvGrpSpPr/>
          <p:nvPr/>
        </p:nvGrpSpPr>
        <p:grpSpPr>
          <a:xfrm>
            <a:off x="951918" y="4412946"/>
            <a:ext cx="4142910" cy="479114"/>
            <a:chOff x="5646962" y="4937787"/>
            <a:chExt cx="1453481" cy="482463"/>
          </a:xfrm>
          <a:effectLst/>
        </p:grpSpPr>
        <p:sp>
          <p:nvSpPr>
            <p:cNvPr id="3" name="任意多边形: 形状 12">
              <a:extLst>
                <a:ext uri="{FF2B5EF4-FFF2-40B4-BE49-F238E27FC236}">
                  <a16:creationId xmlns:a16="http://schemas.microsoft.com/office/drawing/2014/main" id="{B8825F78-788B-5888-4DE8-08CDF7B2BB1A}"/>
                </a:ext>
              </a:extLst>
            </p:cNvPr>
            <p:cNvSpPr/>
            <p:nvPr/>
          </p:nvSpPr>
          <p:spPr>
            <a:xfrm flipH="1" flipV="1">
              <a:off x="5646962" y="4937787"/>
              <a:ext cx="1453481" cy="482463"/>
            </a:xfrm>
            <a:prstGeom prst="roundRect">
              <a:avLst>
                <a:gd name="adj" fmla="val 50000"/>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4" name="文本框 3">
              <a:extLst>
                <a:ext uri="{FF2B5EF4-FFF2-40B4-BE49-F238E27FC236}">
                  <a16:creationId xmlns:a16="http://schemas.microsoft.com/office/drawing/2014/main" id="{95D6DFA9-4BAC-CC65-293E-89A0FE6CFA72}"/>
                </a:ext>
              </a:extLst>
            </p:cNvPr>
            <p:cNvSpPr txBox="1"/>
            <p:nvPr/>
          </p:nvSpPr>
          <p:spPr>
            <a:xfrm>
              <a:off x="5715384" y="4993062"/>
              <a:ext cx="1316636" cy="37191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60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数字图像处理（第四版）</a:t>
              </a:r>
            </a:p>
          </p:txBody>
        </p:sp>
      </p:grpSp>
      <p:sp>
        <p:nvSpPr>
          <p:cNvPr id="5" name="Freeform 24">
            <a:extLst>
              <a:ext uri="{FF2B5EF4-FFF2-40B4-BE49-F238E27FC236}">
                <a16:creationId xmlns:a16="http://schemas.microsoft.com/office/drawing/2014/main" id="{CA6C89E0-1294-29F9-32FC-0C6AE93501E4}"/>
              </a:ext>
            </a:extLst>
          </p:cNvPr>
          <p:cNvSpPr>
            <a:spLocks/>
          </p:cNvSpPr>
          <p:nvPr/>
        </p:nvSpPr>
        <p:spPr bwMode="auto">
          <a:xfrm>
            <a:off x="951918" y="3660494"/>
            <a:ext cx="171824" cy="429542"/>
          </a:xfrm>
          <a:prstGeom prst="roundRect">
            <a:avLst/>
          </a:prstGeom>
          <a:solidFill>
            <a:srgbClr val="0463C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6" name="Inhaltsplatzhalter 4">
            <a:extLst>
              <a:ext uri="{FF2B5EF4-FFF2-40B4-BE49-F238E27FC236}">
                <a16:creationId xmlns:a16="http://schemas.microsoft.com/office/drawing/2014/main" id="{FAA5296B-124B-0722-3B9F-18899F4AC0A1}"/>
              </a:ext>
            </a:extLst>
          </p:cNvPr>
          <p:cNvSpPr txBox="1">
            <a:spLocks/>
          </p:cNvSpPr>
          <p:nvPr/>
        </p:nvSpPr>
        <p:spPr>
          <a:xfrm>
            <a:off x="1254141" y="3736766"/>
            <a:ext cx="3787962" cy="276999"/>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dist">
              <a:lnSpc>
                <a:spcPct val="100000"/>
              </a:lnSpc>
              <a:spcAft>
                <a:spcPts val="1200"/>
              </a:spcAft>
              <a:buNone/>
            </a:pPr>
            <a:r>
              <a:rPr lang="zh-CN" altLang="en-US" sz="1800" b="1"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国外电子与通信教材系列</a:t>
            </a:r>
          </a:p>
        </p:txBody>
      </p:sp>
    </p:spTree>
    <p:extLst>
      <p:ext uri="{BB962C8B-B14F-4D97-AF65-F5344CB8AC3E}">
        <p14:creationId xmlns:p14="http://schemas.microsoft.com/office/powerpoint/2010/main" val="29427444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02"/>
                                        </p:tgtEl>
                                        <p:attrNameLst>
                                          <p:attrName>style.visibility</p:attrName>
                                        </p:attrNameLst>
                                      </p:cBhvr>
                                      <p:to>
                                        <p:strVal val="visible"/>
                                      </p:to>
                                    </p:set>
                                    <p:anim calcmode="lin" valueType="num">
                                      <p:cBhvr additive="base">
                                        <p:cTn id="7" dur="500" fill="hold"/>
                                        <p:tgtEl>
                                          <p:spTgt spid="302"/>
                                        </p:tgtEl>
                                        <p:attrNameLst>
                                          <p:attrName>ppt_x</p:attrName>
                                        </p:attrNameLst>
                                      </p:cBhvr>
                                      <p:tavLst>
                                        <p:tav tm="0">
                                          <p:val>
                                            <p:strVal val="#ppt_x"/>
                                          </p:val>
                                        </p:tav>
                                        <p:tav tm="100000">
                                          <p:val>
                                            <p:strVal val="#ppt_x"/>
                                          </p:val>
                                        </p:tav>
                                      </p:tavLst>
                                    </p:anim>
                                    <p:anim calcmode="lin" valueType="num">
                                      <p:cBhvr additive="base">
                                        <p:cTn id="8" dur="500" fill="hold"/>
                                        <p:tgtEl>
                                          <p:spTgt spid="30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accel="20000" decel="80000"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1+#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20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par>
                          <p:cTn id="17" fill="hold">
                            <p:stCondLst>
                              <p:cond delay="1200"/>
                            </p:stCondLst>
                            <p:childTnLst>
                              <p:par>
                                <p:cTn id="18" presetID="2" presetClass="entr" presetSubtype="4"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vikbdng">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【ch02】数字图像基础</Template>
  <TotalTime>102</TotalTime>
  <Words>3262</Words>
  <Application>Microsoft Office PowerPoint</Application>
  <PresentationFormat>宽屏</PresentationFormat>
  <Paragraphs>167</Paragraphs>
  <Slides>48</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48</vt:i4>
      </vt:variant>
    </vt:vector>
  </HeadingPairs>
  <TitlesOfParts>
    <vt:vector size="53" baseType="lpstr">
      <vt:lpstr>阿里巴巴普惠体</vt:lpstr>
      <vt:lpstr>Arial</vt:lpstr>
      <vt:lpstr>Cambria Math</vt:lpstr>
      <vt:lpstr>Wingdings</vt:lpstr>
      <vt:lpstr>Office 主题</vt:lpstr>
      <vt:lpstr>PowerPoint 演示文稿</vt:lpstr>
      <vt:lpstr>PowerPoint 演示文稿</vt:lpstr>
      <vt:lpstr>傅里叶级数和变换简史</vt:lpstr>
      <vt:lpstr>PowerPoint 演示文稿</vt:lpstr>
      <vt:lpstr>复 数</vt:lpstr>
      <vt:lpstr>傅里叶级数</vt:lpstr>
      <vt:lpstr>冲激函数及其取样(筛选)性质</vt:lpstr>
      <vt:lpstr>连续单变量函数的傅里叶变换</vt:lpstr>
      <vt:lpstr>卷积</vt:lpstr>
      <vt:lpstr>PowerPoint 演示文稿</vt:lpstr>
      <vt:lpstr>取 样</vt:lpstr>
      <vt:lpstr>取样定理</vt:lpstr>
      <vt:lpstr>混叠</vt:lpstr>
      <vt:lpstr>由取样后的数据重建(复原)函数</vt:lpstr>
      <vt:lpstr>PowerPoint 演示文稿</vt:lpstr>
      <vt:lpstr>由取样后的函数的连续变换得到 DFT</vt:lpstr>
      <vt:lpstr>取样和频率间隔的关系</vt:lpstr>
      <vt:lpstr>PowerPoint 演示文稿</vt:lpstr>
      <vt:lpstr>二维冲激及其取样性质</vt:lpstr>
      <vt:lpstr>二维连续傅里叶变换对</vt:lpstr>
      <vt:lpstr>二维取样和二维取样定理</vt:lpstr>
      <vt:lpstr>图像中的混叠</vt:lpstr>
      <vt:lpstr>图像中的混叠</vt:lpstr>
      <vt:lpstr>PowerPoint 演示文稿</vt:lpstr>
      <vt:lpstr>空间间隔和频率间隔的关系</vt:lpstr>
      <vt:lpstr>周期性</vt:lpstr>
      <vt:lpstr>对 称 性</vt:lpstr>
      <vt:lpstr>傅里叶频谱和相角</vt:lpstr>
      <vt:lpstr>二维离散卷积定理</vt:lpstr>
      <vt:lpstr>PowerPoint 演示文稿</vt:lpstr>
      <vt:lpstr>频率域滤波基础知识</vt:lpstr>
      <vt:lpstr>PowerPoint 演示文稿</vt:lpstr>
      <vt:lpstr>理想低通滤波器</vt:lpstr>
      <vt:lpstr>高斯低通滤波器</vt:lpstr>
      <vt:lpstr>巴特沃斯低通滤波器</vt:lpstr>
      <vt:lpstr>PowerPoint 演示文稿</vt:lpstr>
      <vt:lpstr>由低通滤波器得到理想、高斯和巴特沃斯高通滤波器</vt:lpstr>
      <vt:lpstr>频率域中的拉普拉斯</vt:lpstr>
      <vt:lpstr>钝化掩蔽、高提升滤波和高频强调滤波</vt:lpstr>
      <vt:lpstr>同态滤波</vt:lpstr>
      <vt:lpstr>PowerPoint 演示文稿</vt:lpstr>
      <vt:lpstr>带阻滤波器和带通滤波器</vt:lpstr>
      <vt:lpstr>陷波滤波器</vt:lpstr>
      <vt:lpstr>PowerPoint 演示文稿</vt:lpstr>
      <vt:lpstr>二维DFT的可分离性</vt:lpstr>
      <vt:lpstr>使 用DFT  算法计算IDFT</vt:lpstr>
      <vt:lpstr>快速傅里叶变换 (FFT)</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第4章 频率域滤波</dc:title>
  <dc:creator>娜 王</dc:creator>
  <cp:lastModifiedBy>娜 王</cp:lastModifiedBy>
  <cp:revision>4</cp:revision>
  <dcterms:created xsi:type="dcterms:W3CDTF">2023-10-12T11:59:44Z</dcterms:created>
  <dcterms:modified xsi:type="dcterms:W3CDTF">2023-10-19T02:02:05Z</dcterms:modified>
</cp:coreProperties>
</file>