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Lst>
  <p:sldIdLst>
    <p:sldId id="280" r:id="rId2"/>
    <p:sldId id="281" r:id="rId3"/>
    <p:sldId id="257" r:id="rId4"/>
    <p:sldId id="282" r:id="rId5"/>
    <p:sldId id="259" r:id="rId6"/>
    <p:sldId id="260" r:id="rId7"/>
    <p:sldId id="261" r:id="rId8"/>
    <p:sldId id="289" r:id="rId9"/>
    <p:sldId id="262" r:id="rId10"/>
    <p:sldId id="263" r:id="rId11"/>
    <p:sldId id="283" r:id="rId12"/>
    <p:sldId id="264" r:id="rId13"/>
    <p:sldId id="265" r:id="rId14"/>
    <p:sldId id="266" r:id="rId15"/>
    <p:sldId id="284" r:id="rId16"/>
    <p:sldId id="268" r:id="rId17"/>
    <p:sldId id="269" r:id="rId18"/>
    <p:sldId id="270" r:id="rId19"/>
    <p:sldId id="285" r:id="rId20"/>
    <p:sldId id="271" r:id="rId21"/>
    <p:sldId id="286" r:id="rId22"/>
    <p:sldId id="273" r:id="rId23"/>
    <p:sldId id="274" r:id="rId24"/>
    <p:sldId id="287" r:id="rId25"/>
    <p:sldId id="276" r:id="rId26"/>
    <p:sldId id="277" r:id="rId27"/>
    <p:sldId id="290" r:id="rId28"/>
    <p:sldId id="278" r:id="rId29"/>
    <p:sldId id="279" r:id="rId30"/>
    <p:sldId id="288"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00" autoAdjust="0"/>
    <p:restoredTop sz="94660"/>
  </p:normalViewPr>
  <p:slideViewPr>
    <p:cSldViewPr snapToGrid="0">
      <p:cViewPr varScale="1">
        <p:scale>
          <a:sx n="94" d="100"/>
          <a:sy n="94" d="100"/>
        </p:scale>
        <p:origin x="114" y="3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首页">
    <p:spTree>
      <p:nvGrpSpPr>
        <p:cNvPr id="1" name=""/>
        <p:cNvGrpSpPr/>
        <p:nvPr/>
      </p:nvGrpSpPr>
      <p:grpSpPr>
        <a:xfrm>
          <a:off x="0" y="0"/>
          <a:ext cx="0" cy="0"/>
          <a:chOff x="0" y="0"/>
          <a:chExt cx="0" cy="0"/>
        </a:xfrm>
      </p:grpSpPr>
      <p:sp>
        <p:nvSpPr>
          <p:cNvPr id="17" name="任意多边形: 形状 16"/>
          <p:cNvSpPr/>
          <p:nvPr/>
        </p:nvSpPr>
        <p:spPr>
          <a:xfrm>
            <a:off x="0"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a:off x="2733914" y="5295998"/>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nvGrpSpPr>
          <p:cNvPr id="22" name="组合 21"/>
          <p:cNvGrpSpPr/>
          <p:nvPr/>
        </p:nvGrpSpPr>
        <p:grpSpPr>
          <a:xfrm>
            <a:off x="5389245" y="-304800"/>
            <a:ext cx="7221855" cy="6395720"/>
            <a:chOff x="5389435" y="-304798"/>
            <a:chExt cx="7221666" cy="6395847"/>
          </a:xfrm>
        </p:grpSpPr>
        <p:grpSp>
          <p:nvGrpSpPr>
            <p:cNvPr id="16" name="组合 15"/>
            <p:cNvGrpSpPr/>
            <p:nvPr userDrawn="1"/>
          </p:nvGrpSpPr>
          <p:grpSpPr>
            <a:xfrm>
              <a:off x="5389435" y="-304798"/>
              <a:ext cx="7221666" cy="6395847"/>
              <a:chOff x="4970335" y="-304798"/>
              <a:chExt cx="7221666" cy="6395847"/>
            </a:xfrm>
          </p:grpSpPr>
          <p:sp>
            <p:nvSpPr>
              <p:cNvPr id="9" name="任意多边形: 形状 8"/>
              <p:cNvSpPr/>
              <p:nvPr/>
            </p:nvSpPr>
            <p:spPr>
              <a:xfrm rot="16200000">
                <a:off x="5383244" y="-717707"/>
                <a:ext cx="6395847"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0" name="任意多边形: 形状 9"/>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1" name="椭圆 10"/>
              <p:cNvSpPr/>
              <p:nvPr/>
            </p:nvSpPr>
            <p:spPr>
              <a:xfrm>
                <a:off x="6781800" y="2709637"/>
                <a:ext cx="2438400" cy="2438400"/>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2" name="任意多边形: 形状 11"/>
              <p:cNvSpPr/>
              <p:nvPr/>
            </p:nvSpPr>
            <p:spPr>
              <a:xfrm rot="16200000">
                <a:off x="9418682" y="1817763"/>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cxnSp>
          <p:nvCxnSpPr>
            <p:cNvPr id="21" name="直接连接符 20"/>
            <p:cNvCxnSpPr/>
            <p:nvPr userDrawn="1"/>
          </p:nvCxnSpPr>
          <p:spPr>
            <a:xfrm>
              <a:off x="5427535" y="1957388"/>
              <a:ext cx="168404" cy="328612"/>
            </a:xfrm>
            <a:prstGeom prst="line">
              <a:avLst/>
            </a:prstGeom>
            <a:ln w="12700">
              <a:solidFill>
                <a:srgbClr val="C8CBCD"/>
              </a:solidFill>
            </a:ln>
          </p:spPr>
          <p:style>
            <a:lnRef idx="1">
              <a:schemeClr val="accent1"/>
            </a:lnRef>
            <a:fillRef idx="0">
              <a:schemeClr val="accent1"/>
            </a:fillRef>
            <a:effectRef idx="0">
              <a:schemeClr val="accent1"/>
            </a:effectRef>
            <a:fontRef idx="minor">
              <a:schemeClr val="tx1"/>
            </a:fontRef>
          </p:style>
        </p:cxnSp>
      </p:gr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217355099"/>
      </p:ext>
    </p:extLst>
  </p:cSld>
  <p:clrMapOvr>
    <a:masterClrMapping/>
  </p:clrMapOvr>
  <p:transition spd="slow" advTm="0">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with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1000"/>
                                        <p:tgtEl>
                                          <p:spTgt spid="22"/>
                                        </p:tgtEl>
                                      </p:cBhvr>
                                    </p:animEffect>
                                    <p:anim calcmode="lin" valueType="num">
                                      <p:cBhvr>
                                        <p:cTn id="8" dur="1000" fill="hold"/>
                                        <p:tgtEl>
                                          <p:spTgt spid="22"/>
                                        </p:tgtEl>
                                        <p:attrNameLst>
                                          <p:attrName>ppt_x</p:attrName>
                                        </p:attrNameLst>
                                      </p:cBhvr>
                                      <p:tavLst>
                                        <p:tav tm="0">
                                          <p:val>
                                            <p:strVal val="#ppt_x"/>
                                          </p:val>
                                        </p:tav>
                                        <p:tav tm="100000">
                                          <p:val>
                                            <p:strVal val="#ppt_x"/>
                                          </p:val>
                                        </p:tav>
                                      </p:tavLst>
                                    </p:anim>
                                    <p:anim calcmode="lin" valueType="num">
                                      <p:cBhvr>
                                        <p:cTn id="9" dur="1000" fill="hold"/>
                                        <p:tgtEl>
                                          <p:spTgt spid="22"/>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300"/>
                                  </p:stCondLst>
                                  <p:childTnLst>
                                    <p:set>
                                      <p:cBhvr>
                                        <p:cTn id="11" dur="1" fill="hold">
                                          <p:stCondLst>
                                            <p:cond delay="0"/>
                                          </p:stCondLst>
                                        </p:cTn>
                                        <p:tgtEl>
                                          <p:spTgt spid="17"/>
                                        </p:tgtEl>
                                        <p:attrNameLst>
                                          <p:attrName>style.visibility</p:attrName>
                                        </p:attrNameLst>
                                      </p:cBhvr>
                                      <p:to>
                                        <p:strVal val="visible"/>
                                      </p:to>
                                    </p:set>
                                    <p:animEffect transition="in" filter="fade">
                                      <p:cBhvr>
                                        <p:cTn id="12" dur="500"/>
                                        <p:tgtEl>
                                          <p:spTgt spid="17"/>
                                        </p:tgtEl>
                                      </p:cBhvr>
                                    </p:animEffect>
                                  </p:childTnLst>
                                </p:cTn>
                              </p:par>
                              <p:par>
                                <p:cTn id="13" presetID="10" presetClass="entr" presetSubtype="0" fill="hold" grpId="0" nodeType="withEffect">
                                  <p:stCondLst>
                                    <p:cond delay="600"/>
                                  </p:stCondLst>
                                  <p:childTnLst>
                                    <p:set>
                                      <p:cBhvr>
                                        <p:cTn id="14" dur="1" fill="hold">
                                          <p:stCondLst>
                                            <p:cond delay="0"/>
                                          </p:stCondLst>
                                        </p:cTn>
                                        <p:tgtEl>
                                          <p:spTgt spid="18"/>
                                        </p:tgtEl>
                                        <p:attrNameLst>
                                          <p:attrName>style.visibility</p:attrName>
                                        </p:attrNameLst>
                                      </p:cBhvr>
                                      <p:to>
                                        <p:strVal val="visible"/>
                                      </p:to>
                                    </p:set>
                                    <p:animEffect transition="in" filter="fade">
                                      <p:cBhvr>
                                        <p:cTn id="15"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序号页">
    <p:spTree>
      <p:nvGrpSpPr>
        <p:cNvPr id="1" name=""/>
        <p:cNvGrpSpPr/>
        <p:nvPr/>
      </p:nvGrpSpPr>
      <p:grpSpPr>
        <a:xfrm>
          <a:off x="0" y="0"/>
          <a:ext cx="0" cy="0"/>
          <a:chOff x="0" y="0"/>
          <a:chExt cx="0" cy="0"/>
        </a:xfrm>
      </p:grpSpPr>
      <p:grpSp>
        <p:nvGrpSpPr>
          <p:cNvPr id="12" name="组合 11"/>
          <p:cNvGrpSpPr/>
          <p:nvPr/>
        </p:nvGrpSpPr>
        <p:grpSpPr>
          <a:xfrm flipH="1">
            <a:off x="-1697057" y="-344712"/>
            <a:ext cx="7221666" cy="7232166"/>
            <a:chOff x="4970334" y="-304798"/>
            <a:chExt cx="7221666" cy="6431342"/>
          </a:xfrm>
          <a:effectLst>
            <a:outerShdw blurRad="50800" dist="38100" dir="2700000" algn="tl" rotWithShape="0">
              <a:prstClr val="black">
                <a:alpha val="20000"/>
              </a:prstClr>
            </a:outerShdw>
          </a:effectLst>
        </p:grpSpPr>
        <p:sp>
          <p:nvSpPr>
            <p:cNvPr id="13" name="任意多边形: 形状 12"/>
            <p:cNvSpPr/>
            <p:nvPr/>
          </p:nvSpPr>
          <p:spPr>
            <a:xfrm rot="16200000">
              <a:off x="5365496" y="-699960"/>
              <a:ext cx="6431342" cy="7221666"/>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4" name="任意多边形: 形状 13"/>
            <p:cNvSpPr/>
            <p:nvPr/>
          </p:nvSpPr>
          <p:spPr>
            <a:xfrm rot="16200000">
              <a:off x="5253261" y="-515155"/>
              <a:ext cx="2180771" cy="2601486"/>
            </a:xfrm>
            <a:custGeom>
              <a:avLst/>
              <a:gdLst>
                <a:gd name="connsiteX0" fmla="*/ 1880924 w 2180771"/>
                <a:gd name="connsiteY0" fmla="*/ 763130 h 2601486"/>
                <a:gd name="connsiteX1" fmla="*/ 1880924 w 2180771"/>
                <a:gd name="connsiteY1" fmla="*/ 2530378 h 2601486"/>
                <a:gd name="connsiteX2" fmla="*/ 1863032 w 2180771"/>
                <a:gd name="connsiteY2" fmla="*/ 2536926 h 2601486"/>
                <a:gd name="connsiteX3" fmla="*/ 1436007 w 2180771"/>
                <a:gd name="connsiteY3" fmla="*/ 2601486 h 2601486"/>
                <a:gd name="connsiteX4" fmla="*/ 0 w 2180771"/>
                <a:gd name="connsiteY4" fmla="*/ 1165479 h 2601486"/>
                <a:gd name="connsiteX5" fmla="*/ 522574 w 2180771"/>
                <a:gd name="connsiteY5" fmla="*/ 57386 h 2601486"/>
                <a:gd name="connsiteX6" fmla="*/ 599315 w 2180771"/>
                <a:gd name="connsiteY6" fmla="*/ 0 h 2601486"/>
                <a:gd name="connsiteX7" fmla="*/ 705163 w 2180771"/>
                <a:gd name="connsiteY7" fmla="*/ 52521 h 2601486"/>
                <a:gd name="connsiteX8" fmla="*/ 1704137 w 2180771"/>
                <a:gd name="connsiteY8" fmla="*/ 629279 h 2601486"/>
                <a:gd name="connsiteX9" fmla="*/ 1815005 w 2180771"/>
                <a:gd name="connsiteY9" fmla="*/ 703972 h 2601486"/>
                <a:gd name="connsiteX10" fmla="*/ 2006548 w 2180771"/>
                <a:gd name="connsiteY10" fmla="*/ 907075 h 2601486"/>
                <a:gd name="connsiteX11" fmla="*/ 1986860 w 2180771"/>
                <a:gd name="connsiteY11" fmla="*/ 879387 h 2601486"/>
                <a:gd name="connsiteX12" fmla="*/ 1995060 w 2180771"/>
                <a:gd name="connsiteY12" fmla="*/ 889072 h 2601486"/>
                <a:gd name="connsiteX13" fmla="*/ 2053189 w 2180771"/>
                <a:gd name="connsiteY13" fmla="*/ 1931884 h 2601486"/>
                <a:gd name="connsiteX14" fmla="*/ 2053176 w 2180771"/>
                <a:gd name="connsiteY14" fmla="*/ 1931910 h 2601486"/>
                <a:gd name="connsiteX15" fmla="*/ 1880925 w 2180771"/>
                <a:gd name="connsiteY15" fmla="*/ 2230259 h 2601486"/>
                <a:gd name="connsiteX16" fmla="*/ 1880925 w 2180771"/>
                <a:gd name="connsiteY16" fmla="*/ 2230257 h 2601486"/>
                <a:gd name="connsiteX17" fmla="*/ 2053176 w 2180771"/>
                <a:gd name="connsiteY17" fmla="*/ 1931909 h 2601486"/>
                <a:gd name="connsiteX18" fmla="*/ 2068692 w 2180771"/>
                <a:gd name="connsiteY18" fmla="*/ 1007598 h 2601486"/>
                <a:gd name="connsiteX19" fmla="*/ 2052044 w 2180771"/>
                <a:gd name="connsiteY19" fmla="*/ 978380 h 2601486"/>
                <a:gd name="connsiteX20" fmla="*/ 2063335 w 2180771"/>
                <a:gd name="connsiteY20" fmla="*/ 996075 h 2601486"/>
                <a:gd name="connsiteX21" fmla="*/ 2101939 w 2180771"/>
                <a:gd name="connsiteY21" fmla="*/ 1833636 h 2601486"/>
                <a:gd name="connsiteX22" fmla="*/ 2095166 w 2180771"/>
                <a:gd name="connsiteY22" fmla="*/ 1850517 h 2601486"/>
                <a:gd name="connsiteX23" fmla="*/ 2053189 w 2180771"/>
                <a:gd name="connsiteY23" fmla="*/ 1931884 h 2601486"/>
                <a:gd name="connsiteX24" fmla="*/ 2113879 w 2180771"/>
                <a:gd name="connsiteY24" fmla="*/ 1803879 h 2601486"/>
                <a:gd name="connsiteX25" fmla="*/ 2107267 w 2180771"/>
                <a:gd name="connsiteY25" fmla="*/ 1822898 h 2601486"/>
                <a:gd name="connsiteX26" fmla="*/ 2101939 w 2180771"/>
                <a:gd name="connsiteY26" fmla="*/ 1833636 h 2601486"/>
                <a:gd name="connsiteX27" fmla="*/ 2139904 w 2180771"/>
                <a:gd name="connsiteY27" fmla="*/ 1729011 h 2601486"/>
                <a:gd name="connsiteX28" fmla="*/ 2128657 w 2180771"/>
                <a:gd name="connsiteY28" fmla="*/ 1767046 h 2601486"/>
                <a:gd name="connsiteX29" fmla="*/ 2113879 w 2180771"/>
                <a:gd name="connsiteY29" fmla="*/ 1803879 h 2601486"/>
                <a:gd name="connsiteX30" fmla="*/ 2148810 w 2180771"/>
                <a:gd name="connsiteY30" fmla="*/ 1698893 h 2601486"/>
                <a:gd name="connsiteX31" fmla="*/ 2146335 w 2180771"/>
                <a:gd name="connsiteY31" fmla="*/ 1710510 h 2601486"/>
                <a:gd name="connsiteX32" fmla="*/ 2139904 w 2180771"/>
                <a:gd name="connsiteY32" fmla="*/ 1729011 h 2601486"/>
                <a:gd name="connsiteX33" fmla="*/ 2157689 w 2180771"/>
                <a:gd name="connsiteY33" fmla="*/ 1251116 h 2601486"/>
                <a:gd name="connsiteX34" fmla="*/ 2150333 w 2180771"/>
                <a:gd name="connsiteY34" fmla="*/ 1218457 h 2601486"/>
                <a:gd name="connsiteX35" fmla="*/ 2154097 w 2180771"/>
                <a:gd name="connsiteY35" fmla="*/ 1230476 h 2601486"/>
                <a:gd name="connsiteX36" fmla="*/ 2170719 w 2180771"/>
                <a:gd name="connsiteY36" fmla="*/ 1596043 h 2601486"/>
                <a:gd name="connsiteX37" fmla="*/ 2153795 w 2180771"/>
                <a:gd name="connsiteY37" fmla="*/ 1682035 h 2601486"/>
                <a:gd name="connsiteX38" fmla="*/ 2148810 w 2180771"/>
                <a:gd name="connsiteY38" fmla="*/ 1698893 h 2601486"/>
                <a:gd name="connsiteX39" fmla="*/ 2176181 w 2180771"/>
                <a:gd name="connsiteY39" fmla="*/ 1367039 h 2601486"/>
                <a:gd name="connsiteX40" fmla="*/ 2172063 w 2180771"/>
                <a:gd name="connsiteY40" fmla="*/ 1333720 h 2601486"/>
                <a:gd name="connsiteX41" fmla="*/ 2175673 w 2180771"/>
                <a:gd name="connsiteY41" fmla="*/ 1354469 h 2601486"/>
                <a:gd name="connsiteX42" fmla="*/ 2180771 w 2180771"/>
                <a:gd name="connsiteY42" fmla="*/ 1480722 h 2601486"/>
                <a:gd name="connsiteX43" fmla="*/ 2170722 w 2180771"/>
                <a:gd name="connsiteY43" fmla="*/ 1596025 h 2601486"/>
                <a:gd name="connsiteX44" fmla="*/ 2170719 w 2180771"/>
                <a:gd name="connsiteY44" fmla="*/ 1596043 h 2601486"/>
                <a:gd name="connsiteX45" fmla="*/ 2170722 w 2180771"/>
                <a:gd name="connsiteY45" fmla="*/ 1596025 h 26014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180771" h="2601486">
                  <a:moveTo>
                    <a:pt x="1880924" y="763130"/>
                  </a:moveTo>
                  <a:lnTo>
                    <a:pt x="1880924" y="2530378"/>
                  </a:lnTo>
                  <a:lnTo>
                    <a:pt x="1863032" y="2536926"/>
                  </a:lnTo>
                  <a:cubicBezTo>
                    <a:pt x="1728135" y="2578883"/>
                    <a:pt x="1584711" y="2601486"/>
                    <a:pt x="1436007" y="2601486"/>
                  </a:cubicBezTo>
                  <a:cubicBezTo>
                    <a:pt x="642922" y="2601486"/>
                    <a:pt x="0" y="1958564"/>
                    <a:pt x="0" y="1165479"/>
                  </a:cubicBezTo>
                  <a:cubicBezTo>
                    <a:pt x="0" y="719369"/>
                    <a:pt x="203425" y="320771"/>
                    <a:pt x="522574" y="57386"/>
                  </a:cubicBezTo>
                  <a:lnTo>
                    <a:pt x="599315" y="0"/>
                  </a:lnTo>
                  <a:lnTo>
                    <a:pt x="705163" y="52521"/>
                  </a:lnTo>
                  <a:lnTo>
                    <a:pt x="1704137" y="629279"/>
                  </a:lnTo>
                  <a:cubicBezTo>
                    <a:pt x="1743333" y="651909"/>
                    <a:pt x="1780314" y="676901"/>
                    <a:pt x="1815005" y="703972"/>
                  </a:cubicBezTo>
                  <a:close/>
                  <a:moveTo>
                    <a:pt x="2006548" y="907075"/>
                  </a:moveTo>
                  <a:lnTo>
                    <a:pt x="1986860" y="879387"/>
                  </a:lnTo>
                  <a:lnTo>
                    <a:pt x="1995060" y="889072"/>
                  </a:lnTo>
                  <a:close/>
                  <a:moveTo>
                    <a:pt x="2053189" y="1931884"/>
                  </a:moveTo>
                  <a:lnTo>
                    <a:pt x="2053176" y="1931910"/>
                  </a:lnTo>
                  <a:lnTo>
                    <a:pt x="1880925" y="2230259"/>
                  </a:lnTo>
                  <a:lnTo>
                    <a:pt x="1880925" y="2230257"/>
                  </a:lnTo>
                  <a:lnTo>
                    <a:pt x="2053176" y="1931909"/>
                  </a:lnTo>
                  <a:close/>
                  <a:moveTo>
                    <a:pt x="2068692" y="1007598"/>
                  </a:moveTo>
                  <a:lnTo>
                    <a:pt x="2052044" y="978380"/>
                  </a:lnTo>
                  <a:lnTo>
                    <a:pt x="2063335" y="996075"/>
                  </a:lnTo>
                  <a:close/>
                  <a:moveTo>
                    <a:pt x="2101939" y="1833636"/>
                  </a:moveTo>
                  <a:lnTo>
                    <a:pt x="2095166" y="1850517"/>
                  </a:lnTo>
                  <a:lnTo>
                    <a:pt x="2053189" y="1931884"/>
                  </a:lnTo>
                  <a:close/>
                  <a:moveTo>
                    <a:pt x="2113879" y="1803879"/>
                  </a:moveTo>
                  <a:lnTo>
                    <a:pt x="2107267" y="1822898"/>
                  </a:lnTo>
                  <a:lnTo>
                    <a:pt x="2101939" y="1833636"/>
                  </a:lnTo>
                  <a:close/>
                  <a:moveTo>
                    <a:pt x="2139904" y="1729011"/>
                  </a:moveTo>
                  <a:lnTo>
                    <a:pt x="2128657" y="1767046"/>
                  </a:lnTo>
                  <a:lnTo>
                    <a:pt x="2113879" y="1803879"/>
                  </a:lnTo>
                  <a:close/>
                  <a:moveTo>
                    <a:pt x="2148810" y="1698893"/>
                  </a:moveTo>
                  <a:lnTo>
                    <a:pt x="2146335" y="1710510"/>
                  </a:lnTo>
                  <a:lnTo>
                    <a:pt x="2139904" y="1729011"/>
                  </a:lnTo>
                  <a:close/>
                  <a:moveTo>
                    <a:pt x="2157689" y="1251116"/>
                  </a:moveTo>
                  <a:lnTo>
                    <a:pt x="2150333" y="1218457"/>
                  </a:lnTo>
                  <a:lnTo>
                    <a:pt x="2154097" y="1230476"/>
                  </a:lnTo>
                  <a:close/>
                  <a:moveTo>
                    <a:pt x="2170719" y="1596043"/>
                  </a:moveTo>
                  <a:lnTo>
                    <a:pt x="2153795" y="1682035"/>
                  </a:lnTo>
                  <a:lnTo>
                    <a:pt x="2148810" y="1698893"/>
                  </a:lnTo>
                  <a:close/>
                  <a:moveTo>
                    <a:pt x="2176181" y="1367039"/>
                  </a:moveTo>
                  <a:lnTo>
                    <a:pt x="2172063" y="1333720"/>
                  </a:lnTo>
                  <a:lnTo>
                    <a:pt x="2175673" y="1354469"/>
                  </a:lnTo>
                  <a:close/>
                  <a:moveTo>
                    <a:pt x="2180771" y="1480722"/>
                  </a:moveTo>
                  <a:cubicBezTo>
                    <a:pt x="2179773" y="1519151"/>
                    <a:pt x="2176442" y="1557656"/>
                    <a:pt x="2170722" y="1596025"/>
                  </a:cubicBezTo>
                  <a:lnTo>
                    <a:pt x="2170719" y="1596043"/>
                  </a:lnTo>
                  <a:lnTo>
                    <a:pt x="2170722" y="1596025"/>
                  </a:ln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5" name="椭圆 14"/>
            <p:cNvSpPr/>
            <p:nvPr/>
          </p:nvSpPr>
          <p:spPr>
            <a:xfrm>
              <a:off x="6690135" y="2426414"/>
              <a:ext cx="1961282" cy="1961282"/>
            </a:xfrm>
            <a:prstGeom prst="ellipse">
              <a:avLst/>
            </a:pr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6" name="任意多边形: 形状 15"/>
            <p:cNvSpPr/>
            <p:nvPr/>
          </p:nvSpPr>
          <p:spPr>
            <a:xfrm rot="16200000">
              <a:off x="8765537" y="2166106"/>
              <a:ext cx="3851186" cy="1695450"/>
            </a:xfrm>
            <a:custGeom>
              <a:avLst/>
              <a:gdLst>
                <a:gd name="connsiteX0" fmla="*/ 3851186 w 3851186"/>
                <a:gd name="connsiteY0" fmla="*/ 1695450 h 1695450"/>
                <a:gd name="connsiteX1" fmla="*/ 1839831 w 3851186"/>
                <a:gd name="connsiteY1" fmla="*/ 1695450 h 1695450"/>
                <a:gd name="connsiteX2" fmla="*/ 1306432 w 3851186"/>
                <a:gd name="connsiteY2" fmla="*/ 1695450 h 1695450"/>
                <a:gd name="connsiteX3" fmla="*/ 0 w 3851186"/>
                <a:gd name="connsiteY3" fmla="*/ 1695450 h 1695450"/>
                <a:gd name="connsiteX4" fmla="*/ 21970 w 3851186"/>
                <a:gd name="connsiteY4" fmla="*/ 1551497 h 1695450"/>
                <a:gd name="connsiteX5" fmla="*/ 1925594 w 3851186"/>
                <a:gd name="connsiteY5" fmla="*/ 0 h 1695450"/>
                <a:gd name="connsiteX6" fmla="*/ 3829216 w 3851186"/>
                <a:gd name="connsiteY6" fmla="*/ 1551497 h 1695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1186" h="1695450">
                  <a:moveTo>
                    <a:pt x="3851186" y="1695450"/>
                  </a:moveTo>
                  <a:lnTo>
                    <a:pt x="1839831" y="1695450"/>
                  </a:lnTo>
                  <a:lnTo>
                    <a:pt x="1306432" y="1695450"/>
                  </a:lnTo>
                  <a:lnTo>
                    <a:pt x="0" y="1695450"/>
                  </a:lnTo>
                  <a:lnTo>
                    <a:pt x="21970" y="1551497"/>
                  </a:lnTo>
                  <a:cubicBezTo>
                    <a:pt x="203158" y="666060"/>
                    <a:pt x="986593" y="0"/>
                    <a:pt x="1925594" y="0"/>
                  </a:cubicBezTo>
                  <a:cubicBezTo>
                    <a:pt x="2864594" y="0"/>
                    <a:pt x="3648029" y="666060"/>
                    <a:pt x="3829216" y="1551497"/>
                  </a:cubicBezTo>
                  <a:close/>
                </a:path>
              </a:pathLst>
            </a:custGeom>
            <a:gradFill>
              <a:gsLst>
                <a:gs pos="0">
                  <a:srgbClr val="F2F9FF">
                    <a:alpha val="27000"/>
                  </a:srgbClr>
                </a:gs>
                <a:gs pos="100000">
                  <a:srgbClr val="F2F9FF">
                    <a:alpha val="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grpSp>
      <p:sp>
        <p:nvSpPr>
          <p:cNvPr id="23" name="任意多边形: 形状 22"/>
          <p:cNvSpPr/>
          <p:nvPr/>
        </p:nvSpPr>
        <p:spPr>
          <a:xfrm flipH="1">
            <a:off x="10602589" y="2807982"/>
            <a:ext cx="1583750" cy="3179395"/>
          </a:xfrm>
          <a:custGeom>
            <a:avLst/>
            <a:gdLst>
              <a:gd name="connsiteX0" fmla="*/ 0 w 1252875"/>
              <a:gd name="connsiteY0" fmla="*/ 0 h 2515160"/>
              <a:gd name="connsiteX1" fmla="*/ 123651 w 1252875"/>
              <a:gd name="connsiteY1" fmla="*/ 6244 h 2515160"/>
              <a:gd name="connsiteX2" fmla="*/ 1252875 w 1252875"/>
              <a:gd name="connsiteY2" fmla="*/ 1257580 h 2515160"/>
              <a:gd name="connsiteX3" fmla="*/ 123651 w 1252875"/>
              <a:gd name="connsiteY3" fmla="*/ 2508916 h 2515160"/>
              <a:gd name="connsiteX4" fmla="*/ 0 w 1252875"/>
              <a:gd name="connsiteY4" fmla="*/ 2515160 h 25151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2875" h="2515160">
                <a:moveTo>
                  <a:pt x="0" y="0"/>
                </a:moveTo>
                <a:lnTo>
                  <a:pt x="123651" y="6244"/>
                </a:lnTo>
                <a:cubicBezTo>
                  <a:pt x="757919" y="70658"/>
                  <a:pt x="1252875" y="606318"/>
                  <a:pt x="1252875" y="1257580"/>
                </a:cubicBezTo>
                <a:cubicBezTo>
                  <a:pt x="1252875" y="1908843"/>
                  <a:pt x="757919" y="2444503"/>
                  <a:pt x="123651" y="2508916"/>
                </a:cubicBezTo>
                <a:lnTo>
                  <a:pt x="0" y="2515160"/>
                </a:ln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8" name="任意多边形: 形状 17"/>
          <p:cNvSpPr/>
          <p:nvPr/>
        </p:nvSpPr>
        <p:spPr>
          <a:xfrm flipV="1">
            <a:off x="8128592" y="-1372"/>
            <a:ext cx="2978956" cy="1146672"/>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19" name="任意多边形: 形状 18"/>
          <p:cNvSpPr/>
          <p:nvPr/>
        </p:nvSpPr>
        <p:spPr>
          <a:xfrm flipH="1">
            <a:off x="4294452" y="5266545"/>
            <a:ext cx="4134465" cy="1591455"/>
          </a:xfrm>
          <a:custGeom>
            <a:avLst/>
            <a:gdLst>
              <a:gd name="connsiteX0" fmla="*/ 1936014 w 3872028"/>
              <a:gd name="connsiteY0" fmla="*/ 0 h 1490437"/>
              <a:gd name="connsiteX1" fmla="*/ 3851067 w 3872028"/>
              <a:gd name="connsiteY1" fmla="*/ 1408917 h 1490437"/>
              <a:gd name="connsiteX2" fmla="*/ 3872028 w 3872028"/>
              <a:gd name="connsiteY2" fmla="*/ 1490437 h 1490437"/>
              <a:gd name="connsiteX3" fmla="*/ 0 w 3872028"/>
              <a:gd name="connsiteY3" fmla="*/ 1490437 h 1490437"/>
              <a:gd name="connsiteX4" fmla="*/ 20961 w 3872028"/>
              <a:gd name="connsiteY4" fmla="*/ 1408917 h 1490437"/>
              <a:gd name="connsiteX5" fmla="*/ 1936014 w 3872028"/>
              <a:gd name="connsiteY5" fmla="*/ 0 h 149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872028" h="1490437">
                <a:moveTo>
                  <a:pt x="1936014" y="0"/>
                </a:moveTo>
                <a:cubicBezTo>
                  <a:pt x="2835812" y="0"/>
                  <a:pt x="3597185" y="592662"/>
                  <a:pt x="3851067" y="1408917"/>
                </a:cubicBezTo>
                <a:lnTo>
                  <a:pt x="3872028" y="1490437"/>
                </a:lnTo>
                <a:lnTo>
                  <a:pt x="0" y="1490437"/>
                </a:lnTo>
                <a:lnTo>
                  <a:pt x="20961" y="1408917"/>
                </a:lnTo>
                <a:cubicBezTo>
                  <a:pt x="274843" y="592662"/>
                  <a:pt x="1036217" y="0"/>
                  <a:pt x="1936014" y="0"/>
                </a:cubicBezTo>
                <a:close/>
              </a:path>
            </a:pathLst>
          </a:cu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3" name="图片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Tree>
    <p:extLst>
      <p:ext uri="{BB962C8B-B14F-4D97-AF65-F5344CB8AC3E}">
        <p14:creationId xmlns:p14="http://schemas.microsoft.com/office/powerpoint/2010/main" val="3359317062"/>
      </p:ext>
    </p:extLst>
  </p:cSld>
  <p:clrMapOvr>
    <a:masterClrMapping/>
  </p:clrMapOvr>
  <p:transition spd="slow" advTm="0">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7"/>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Tree>
    <p:extLst>
      <p:ext uri="{BB962C8B-B14F-4D97-AF65-F5344CB8AC3E}">
        <p14:creationId xmlns:p14="http://schemas.microsoft.com/office/powerpoint/2010/main" val="1225959371"/>
      </p:ext>
    </p:extLst>
  </p:cSld>
  <p:clrMapOvr>
    <a:masterClrMapping/>
  </p:clrMapOvr>
  <p:transition spd="slow" advTm="0">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3" name="内容占位符 22"/>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背景</a:t>
            </a:r>
            <a:endParaRPr lang="zh-CN" altLang="en-US" sz="2800" dirty="0">
              <a:solidFill>
                <a:srgbClr val="0091D9"/>
              </a:solidFill>
            </a:endParaRPr>
          </a:p>
        </p:txBody>
      </p:sp>
    </p:spTree>
    <p:extLst>
      <p:ext uri="{BB962C8B-B14F-4D97-AF65-F5344CB8AC3E}">
        <p14:creationId xmlns:p14="http://schemas.microsoft.com/office/powerpoint/2010/main" val="1508061806"/>
      </p:ext>
    </p:extLst>
  </p:cSld>
  <p:clrMapOvr>
    <a:masterClrMapping/>
  </p:clrMapOvr>
  <p:transition spd="slow" advTm="0">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1">
    <p:spTree>
      <p:nvGrpSpPr>
        <p:cNvPr id="1" name=""/>
        <p:cNvGrpSpPr/>
        <p:nvPr/>
      </p:nvGrpSpPr>
      <p:grpSpPr>
        <a:xfrm>
          <a:off x="0" y="0"/>
          <a:ext cx="0" cy="0"/>
          <a:chOff x="0" y="0"/>
          <a:chExt cx="0" cy="0"/>
        </a:xfrm>
      </p:grpSpPr>
      <p:sp>
        <p:nvSpPr>
          <p:cNvPr id="3" name="矩形 2"/>
          <p:cNvSpPr/>
          <p:nvPr/>
        </p:nvSpPr>
        <p:spPr>
          <a:xfrm>
            <a:off x="0" y="150640"/>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边界预处理</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62AED257-6608-F684-FDF7-453FCBCDB899}"/>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114170455"/>
      </p:ext>
    </p:extLst>
  </p:cSld>
  <p:clrMapOvr>
    <a:masterClrMapping/>
  </p:clrMapOvr>
  <p:transition spd="slow" advTm="0">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边界预处理</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A93AFA8-1552-A5E1-62B6-A0D6CA73065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780279222"/>
      </p:ext>
    </p:extLst>
  </p:cSld>
  <p:clrMapOvr>
    <a:masterClrMapping/>
  </p:clrMapOvr>
  <p:transition spd="slow" advTm="0">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3-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边界特征描述子</a:t>
            </a:r>
            <a:endPar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endParaRPr>
          </a:p>
        </p:txBody>
      </p:sp>
      <p:sp>
        <p:nvSpPr>
          <p:cNvPr id="5" name="内容占位符 13">
            <a:extLst>
              <a:ext uri="{FF2B5EF4-FFF2-40B4-BE49-F238E27FC236}">
                <a16:creationId xmlns:a16="http://schemas.microsoft.com/office/drawing/2014/main" id="{466479E4-8403-CE56-FD03-D3FF95C8F40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454672143"/>
      </p:ext>
    </p:extLst>
  </p:cSld>
  <p:clrMapOvr>
    <a:masterClrMapping/>
  </p:clrMapOvr>
  <p:transition spd="slow" advTm="0">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3-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03</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边界特征描述子</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245495973"/>
      </p:ext>
    </p:extLst>
  </p:cSld>
  <p:clrMapOvr>
    <a:masterClrMapping/>
  </p:clrMapOvr>
  <p:transition spd="slow" advTm="0">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4-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区域特征描述子</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D6272E6-0B32-CAD6-9441-D69B3FD5D0A5}"/>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962937303"/>
      </p:ext>
    </p:extLst>
  </p:cSld>
  <p:clrMapOvr>
    <a:masterClrMapping/>
  </p:clrMapOvr>
  <p:transition spd="slow" advTm="0">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04</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区域特征描述子</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22068212"/>
      </p:ext>
    </p:extLst>
  </p:cSld>
  <p:clrMapOvr>
    <a:masterClrMapping/>
  </p:clrMapOvr>
  <p:transition spd="slow" advTm="0">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作为特征描述子的主分量</a:t>
            </a:r>
          </a:p>
        </p:txBody>
      </p:sp>
      <p:sp>
        <p:nvSpPr>
          <p:cNvPr id="5" name="内容占位符 13">
            <a:extLst>
              <a:ext uri="{FF2B5EF4-FFF2-40B4-BE49-F238E27FC236}">
                <a16:creationId xmlns:a16="http://schemas.microsoft.com/office/drawing/2014/main" id="{966149E0-02F8-E714-9001-D2AE8AAF8C86}"/>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513910889"/>
      </p:ext>
    </p:extLst>
  </p:cSld>
  <p:clrMapOvr>
    <a:masterClrMapping/>
  </p:clrMapOvr>
  <p:transition spd="slow" advTm="0">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5-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05</a:t>
            </a:r>
            <a:r>
              <a:rPr lang="en-US" altLang="zh-CN" sz="2800" dirty="0">
                <a:solidFill>
                  <a:srgbClr val="0091D9"/>
                </a:solidFill>
              </a:rPr>
              <a:t>         </a:t>
            </a:r>
            <a:r>
              <a:rPr lang="zh-CN" altLang="en-US" sz="2800" dirty="0">
                <a:solidFill>
                  <a:srgbClr val="0091D9"/>
                </a:solidFill>
              </a:rPr>
              <a:t>作为特征描述子的主分量</a:t>
            </a:r>
          </a:p>
        </p:txBody>
      </p:sp>
      <p:sp>
        <p:nvSpPr>
          <p:cNvPr id="9" name="内容占位符 22">
            <a:extLst>
              <a:ext uri="{FF2B5EF4-FFF2-40B4-BE49-F238E27FC236}">
                <a16:creationId xmlns:a16="http://schemas.microsoft.com/office/drawing/2014/main" id="{24BB56DF-BF63-A4EA-5908-0B38ECD2F1A9}"/>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308098473"/>
      </p:ext>
    </p:extLst>
  </p:cSld>
  <p:clrMapOvr>
    <a:masterClrMapping/>
  </p:clrMapOvr>
  <p:transition spd="slow" advTm="0">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6-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整体图像特征</a:t>
            </a:r>
          </a:p>
        </p:txBody>
      </p:sp>
      <p:sp>
        <p:nvSpPr>
          <p:cNvPr id="5" name="内容占位符 13">
            <a:extLst>
              <a:ext uri="{FF2B5EF4-FFF2-40B4-BE49-F238E27FC236}">
                <a16:creationId xmlns:a16="http://schemas.microsoft.com/office/drawing/2014/main" id="{06BCA3F6-5664-F501-6FD0-70447969329C}"/>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624527652"/>
      </p:ext>
    </p:extLst>
  </p:cSld>
  <p:clrMapOvr>
    <a:masterClrMapping/>
  </p:clrMapOvr>
  <p:transition spd="slow" advTm="0">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6-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06</a:t>
            </a:r>
            <a:r>
              <a:rPr lang="en-US" altLang="zh-CN" sz="2800" dirty="0">
                <a:solidFill>
                  <a:srgbClr val="0091D9"/>
                </a:solidFill>
              </a:rPr>
              <a:t>         </a:t>
            </a:r>
            <a:r>
              <a:rPr lang="zh-CN" altLang="en-US" sz="2800" dirty="0">
                <a:solidFill>
                  <a:srgbClr val="0091D9"/>
                </a:solidFill>
              </a:rPr>
              <a:t>整体图像特征</a:t>
            </a: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396397781"/>
      </p:ext>
    </p:extLst>
  </p:cSld>
  <p:clrMapOvr>
    <a:masterClrMapping/>
  </p:clrMapOvr>
  <p:transition spd="slow" advTm="0">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7-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dirty="0">
                <a:solidFill>
                  <a:srgbClr val="0091D9"/>
                </a:solidFill>
              </a:rPr>
              <a:t>尺度不变特征变换 </a:t>
            </a:r>
            <a:r>
              <a:rPr lang="en-US" altLang="zh-CN" sz="2800" dirty="0">
                <a:solidFill>
                  <a:srgbClr val="0091D9"/>
                </a:solidFill>
              </a:rPr>
              <a:t>(SIFT)</a:t>
            </a:r>
            <a:endParaRPr lang="zh-CN" altLang="en-US" sz="2800" dirty="0">
              <a:solidFill>
                <a:srgbClr val="0091D9"/>
              </a:solidFill>
            </a:endParaRPr>
          </a:p>
        </p:txBody>
      </p:sp>
      <p:sp>
        <p:nvSpPr>
          <p:cNvPr id="5" name="内容占位符 13">
            <a:extLst>
              <a:ext uri="{FF2B5EF4-FFF2-40B4-BE49-F238E27FC236}">
                <a16:creationId xmlns:a16="http://schemas.microsoft.com/office/drawing/2014/main" id="{D8D25C8B-C245-8E0A-A2F7-F760B52DB5CE}"/>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284047577"/>
      </p:ext>
    </p:extLst>
  </p:cSld>
  <p:clrMapOvr>
    <a:masterClrMapping/>
  </p:clrMapOvr>
  <p:transition spd="slow" advTm="0">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7-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07</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尺度不变特征变换 </a:t>
            </a:r>
            <a:r>
              <a:rPr lang="en-US" altLang="zh-CN"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(SIFT)</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584165677"/>
      </p:ext>
    </p:extLst>
  </p:cSld>
  <p:clrMapOvr>
    <a:masterClrMapping/>
  </p:clrMapOvr>
  <p:transition spd="slow" advTm="0">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8-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dirty="0">
                <a:solidFill>
                  <a:srgbClr val="0091D9"/>
                </a:solidFill>
              </a:rPr>
              <a:t>报告</a:t>
            </a:r>
          </a:p>
        </p:txBody>
      </p:sp>
      <p:sp>
        <p:nvSpPr>
          <p:cNvPr id="5" name="内容占位符 13">
            <a:extLst>
              <a:ext uri="{FF2B5EF4-FFF2-40B4-BE49-F238E27FC236}">
                <a16:creationId xmlns:a16="http://schemas.microsoft.com/office/drawing/2014/main" id="{5B59B8AD-F428-9E59-3261-293228BD90A3}"/>
              </a:ext>
            </a:extLst>
          </p:cNvPr>
          <p:cNvSpPr>
            <a:spLocks noGrp="1"/>
          </p:cNvSpPr>
          <p:nvPr>
            <p:ph sz="quarter" idx="11"/>
          </p:nvPr>
        </p:nvSpPr>
        <p:spPr>
          <a:xfrm>
            <a:off x="801093" y="2432500"/>
            <a:ext cx="10652971"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854897036"/>
      </p:ext>
    </p:extLst>
  </p:cSld>
  <p:clrMapOvr>
    <a:masterClrMapping/>
  </p:clrMapOvr>
  <p:transition spd="slow" advTm="0">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8-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08</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4286795240"/>
      </p:ext>
    </p:extLst>
  </p:cSld>
  <p:clrMapOvr>
    <a:masterClrMapping/>
  </p:clrMapOvr>
  <p:transition spd="slow" advTm="0">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9-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dirty="0">
                <a:solidFill>
                  <a:srgbClr val="0091D9"/>
                </a:solidFill>
              </a:rPr>
              <a:t>函</a:t>
            </a:r>
          </a:p>
        </p:txBody>
      </p:sp>
    </p:spTree>
    <p:extLst>
      <p:ext uri="{BB962C8B-B14F-4D97-AF65-F5344CB8AC3E}">
        <p14:creationId xmlns:p14="http://schemas.microsoft.com/office/powerpoint/2010/main" val="4175470287"/>
      </p:ext>
    </p:extLst>
  </p:cSld>
  <p:clrMapOvr>
    <a:masterClrMapping/>
  </p:clrMapOvr>
  <p:transition spd="slow" advTm="0">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9-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a:t>
            </a:r>
            <a:r>
              <a:rPr lang="en-US" altLang="zh-CN" sz="2800" dirty="0">
                <a:solidFill>
                  <a:schemeClr val="bg1">
                    <a:alpha val="80000"/>
                  </a:schemeClr>
                </a:solidFill>
              </a:rPr>
              <a:t>09</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3409262867"/>
      </p:ext>
    </p:extLst>
  </p:cSld>
  <p:clrMapOvr>
    <a:masterClrMapping/>
  </p:clrMapOvr>
  <p:transition spd="slow" advTm="0">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0-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1973331892"/>
      </p:ext>
    </p:extLst>
  </p:cSld>
  <p:clrMapOvr>
    <a:masterClrMapping/>
  </p:clrMapOvr>
  <p:transition spd="slow" advTm="0">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0-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0</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658199452"/>
      </p:ext>
    </p:extLst>
  </p:cSld>
  <p:clrMapOvr>
    <a:masterClrMapping/>
  </p:clrMapOvr>
  <p:transition spd="slow" advTm="0">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1-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2277692160"/>
      </p:ext>
    </p:extLst>
  </p:cSld>
  <p:clrMapOvr>
    <a:masterClrMapping/>
  </p:clrMapOvr>
  <p:transition spd="slow" advTm="0">
    <p:wipe dir="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11-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1</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1327186050"/>
      </p:ext>
    </p:extLst>
  </p:cSld>
  <p:clrMapOvr>
    <a:masterClrMapping/>
  </p:clrMapOvr>
  <p:transition spd="slow" advTm="0">
    <p:wipe dir="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12-1">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sp>
        <p:nvSpPr>
          <p:cNvPr id="2"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pic>
        <p:nvPicPr>
          <p:cNvPr id="11" name="图片 10"/>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sp>
        <p:nvSpPr>
          <p:cNvPr id="14" name="内容占位符 13"/>
          <p:cNvSpPr>
            <a:spLocks noGrp="1"/>
          </p:cNvSpPr>
          <p:nvPr>
            <p:ph sz="quarter" idx="11"/>
          </p:nvPr>
        </p:nvSpPr>
        <p:spPr>
          <a:xfrm>
            <a:off x="524202" y="2368647"/>
            <a:ext cx="11299202" cy="3540427"/>
          </a:xfrm>
          <a:prstGeom prst="rect">
            <a:avLst/>
          </a:prstGeom>
        </p:spPr>
        <p:txBody>
          <a:bodyPr/>
          <a:lstStyle>
            <a:lvl1pPr eaLnBrk="1" fontAlgn="auto" latinLnBrk="0" hangingPunct="1">
              <a:lnSpc>
                <a:spcPct val="150000"/>
              </a:lnSpc>
              <a:defRPr sz="2000"/>
            </a:lvl1pPr>
            <a:lvl2pPr eaLnBrk="1" fontAlgn="auto" latinLnBrk="0" hangingPunct="1">
              <a:lnSpc>
                <a:spcPct val="150000"/>
              </a:lnSpc>
              <a:defRPr sz="2000"/>
            </a:lvl2pPr>
            <a:lvl3pPr eaLnBrk="1" fontAlgn="auto" latinLnBrk="0" hangingPunct="1">
              <a:lnSpc>
                <a:spcPct val="150000"/>
              </a:lnSpc>
              <a:defRPr sz="2000"/>
            </a:lvl3pPr>
            <a:lvl4pPr eaLnBrk="1" fontAlgn="auto" latinLnBrk="0" hangingPunct="1">
              <a:lnSpc>
                <a:spcPct val="150000"/>
              </a:lnSpc>
              <a:defRPr sz="2000"/>
            </a:lvl4pPr>
            <a:lvl5pPr eaLnBrk="1" fontAlgn="auto" latinLnBrk="0" hangingPunct="1">
              <a:lnSpc>
                <a:spcPct val="15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grpSp>
        <p:nvGrpSpPr>
          <p:cNvPr id="6" name="组合 5"/>
          <p:cNvGrpSpPr/>
          <p:nvPr/>
        </p:nvGrpSpPr>
        <p:grpSpPr>
          <a:xfrm>
            <a:off x="801093" y="1443871"/>
            <a:ext cx="714694" cy="714694"/>
            <a:chOff x="8289913" y="2508666"/>
            <a:chExt cx="714694" cy="714694"/>
          </a:xfrm>
        </p:grpSpPr>
        <p:sp>
          <p:nvSpPr>
            <p:cNvPr id="7" name="椭圆 6"/>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8"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9" name="标题 1"/>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dirty="0">
                <a:solidFill>
                  <a:srgbClr val="0091D9"/>
                </a:solidFill>
              </a:rPr>
              <a:t>会议纪要</a:t>
            </a:r>
          </a:p>
        </p:txBody>
      </p:sp>
    </p:spTree>
    <p:extLst>
      <p:ext uri="{BB962C8B-B14F-4D97-AF65-F5344CB8AC3E}">
        <p14:creationId xmlns:p14="http://schemas.microsoft.com/office/powerpoint/2010/main" val="2959953808"/>
      </p:ext>
    </p:extLst>
  </p:cSld>
  <p:clrMapOvr>
    <a:masterClrMapping/>
  </p:clrMapOvr>
  <p:transition spd="slow" advTm="0">
    <p:wipe dir="r"/>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12-2">
    <p:spTree>
      <p:nvGrpSpPr>
        <p:cNvPr id="1" name=""/>
        <p:cNvGrpSpPr/>
        <p:nvPr/>
      </p:nvGrpSpPr>
      <p:grpSpPr>
        <a:xfrm>
          <a:off x="0" y="0"/>
          <a:ext cx="0" cy="0"/>
          <a:chOff x="0" y="0"/>
          <a:chExt cx="0" cy="0"/>
        </a:xfrm>
      </p:grpSpPr>
      <p:sp>
        <p:nvSpPr>
          <p:cNvPr id="3" name="矩形 2"/>
          <p:cNvSpPr/>
          <p:nvPr/>
        </p:nvSpPr>
        <p:spPr>
          <a:xfrm>
            <a:off x="0" y="159657"/>
            <a:ext cx="12192000" cy="798286"/>
          </a:xfrm>
          <a:prstGeom prst="rect">
            <a:avLst/>
          </a:prstGeom>
          <a:solidFill>
            <a:srgbClr val="D6E8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任意多边形: 形状 3"/>
          <p:cNvSpPr/>
          <p:nvPr/>
        </p:nvSpPr>
        <p:spPr>
          <a:xfrm rot="5400000" flipH="1">
            <a:off x="130629" y="-188683"/>
            <a:ext cx="1219197" cy="1480455"/>
          </a:xfrm>
          <a:custGeom>
            <a:avLst/>
            <a:gdLst>
              <a:gd name="connsiteX0" fmla="*/ 6096001 w 6395847"/>
              <a:gd name="connsiteY0" fmla="*/ 7221665 h 7221666"/>
              <a:gd name="connsiteX1" fmla="*/ 6096001 w 6395847"/>
              <a:gd name="connsiteY1" fmla="*/ 7221666 h 7221666"/>
              <a:gd name="connsiteX2" fmla="*/ 3314700 w 6395847"/>
              <a:gd name="connsiteY2" fmla="*/ 7221666 h 7221666"/>
              <a:gd name="connsiteX3" fmla="*/ 2781301 w 6395847"/>
              <a:gd name="connsiteY3" fmla="*/ 7221666 h 7221666"/>
              <a:gd name="connsiteX4" fmla="*/ 0 w 6395847"/>
              <a:gd name="connsiteY4" fmla="*/ 7221666 h 7221666"/>
              <a:gd name="connsiteX5" fmla="*/ 0 w 6395847"/>
              <a:gd name="connsiteY5" fmla="*/ 3447952 h 7221666"/>
              <a:gd name="connsiteX6" fmla="*/ 1 w 6395847"/>
              <a:gd name="connsiteY6" fmla="*/ 3447952 h 7221666"/>
              <a:gd name="connsiteX7" fmla="*/ 1 w 6395847"/>
              <a:gd name="connsiteY7" fmla="*/ 3019060 h 7221666"/>
              <a:gd name="connsiteX8" fmla="*/ 279301 w 6395847"/>
              <a:gd name="connsiteY8" fmla="*/ 2344769 h 7221666"/>
              <a:gd name="connsiteX9" fmla="*/ 405446 w 6395847"/>
              <a:gd name="connsiteY9" fmla="*/ 2240690 h 7221666"/>
              <a:gd name="connsiteX10" fmla="*/ 404464 w 6395847"/>
              <a:gd name="connsiteY10" fmla="*/ 2239038 h 7221666"/>
              <a:gd name="connsiteX11" fmla="*/ 415115 w 6395847"/>
              <a:gd name="connsiteY11" fmla="*/ 2232712 h 7221666"/>
              <a:gd name="connsiteX12" fmla="*/ 420431 w 6395847"/>
              <a:gd name="connsiteY12" fmla="*/ 2228326 h 7221666"/>
              <a:gd name="connsiteX13" fmla="*/ 444464 w 6395847"/>
              <a:gd name="connsiteY13" fmla="*/ 2215281 h 7221666"/>
              <a:gd name="connsiteX14" fmla="*/ 3989796 w 6395847"/>
              <a:gd name="connsiteY14" fmla="*/ 109665 h 7221666"/>
              <a:gd name="connsiteX15" fmla="*/ 3993587 w 6395847"/>
              <a:gd name="connsiteY15" fmla="*/ 116048 h 7221666"/>
              <a:gd name="connsiteX16" fmla="*/ 4025229 w 6395847"/>
              <a:gd name="connsiteY16" fmla="*/ 96652 h 7221666"/>
              <a:gd name="connsiteX17" fmla="*/ 4920239 w 6395847"/>
              <a:gd name="connsiteY17" fmla="*/ 127915 h 7221666"/>
              <a:gd name="connsiteX18" fmla="*/ 5919213 w 6395847"/>
              <a:gd name="connsiteY18" fmla="*/ 704673 h 7221666"/>
              <a:gd name="connsiteX19" fmla="*/ 6030081 w 6395847"/>
              <a:gd name="connsiteY19" fmla="*/ 779366 h 7221666"/>
              <a:gd name="connsiteX20" fmla="*/ 6096000 w 6395847"/>
              <a:gd name="connsiteY20" fmla="*/ 838524 h 7221666"/>
              <a:gd name="connsiteX21" fmla="*/ 6096000 w 6395847"/>
              <a:gd name="connsiteY21" fmla="*/ 7221665 h 7221666"/>
              <a:gd name="connsiteX22" fmla="*/ 6221624 w 6395847"/>
              <a:gd name="connsiteY22" fmla="*/ 982469 h 7221666"/>
              <a:gd name="connsiteX23" fmla="*/ 6201936 w 6395847"/>
              <a:gd name="connsiteY23" fmla="*/ 954781 h 7221666"/>
              <a:gd name="connsiteX24" fmla="*/ 6210136 w 6395847"/>
              <a:gd name="connsiteY24" fmla="*/ 964466 h 7221666"/>
              <a:gd name="connsiteX25" fmla="*/ 6283768 w 6395847"/>
              <a:gd name="connsiteY25" fmla="*/ 1082992 h 7221666"/>
              <a:gd name="connsiteX26" fmla="*/ 6267120 w 6395847"/>
              <a:gd name="connsiteY26" fmla="*/ 1053774 h 7221666"/>
              <a:gd name="connsiteX27" fmla="*/ 6278411 w 6395847"/>
              <a:gd name="connsiteY27" fmla="*/ 1071469 h 7221666"/>
              <a:gd name="connsiteX28" fmla="*/ 6372765 w 6395847"/>
              <a:gd name="connsiteY28" fmla="*/ 1326510 h 7221666"/>
              <a:gd name="connsiteX29" fmla="*/ 6365409 w 6395847"/>
              <a:gd name="connsiteY29" fmla="*/ 1293851 h 7221666"/>
              <a:gd name="connsiteX30" fmla="*/ 6369173 w 6395847"/>
              <a:gd name="connsiteY30" fmla="*/ 1305870 h 7221666"/>
              <a:gd name="connsiteX31" fmla="*/ 6391257 w 6395847"/>
              <a:gd name="connsiteY31" fmla="*/ 1442433 h 7221666"/>
              <a:gd name="connsiteX32" fmla="*/ 6387139 w 6395847"/>
              <a:gd name="connsiteY32" fmla="*/ 1409114 h 7221666"/>
              <a:gd name="connsiteX33" fmla="*/ 6390749 w 6395847"/>
              <a:gd name="connsiteY33" fmla="*/ 1429863 h 7221666"/>
              <a:gd name="connsiteX34" fmla="*/ 6395847 w 6395847"/>
              <a:gd name="connsiteY34" fmla="*/ 1556116 h 7221666"/>
              <a:gd name="connsiteX35" fmla="*/ 6268252 w 6395847"/>
              <a:gd name="connsiteY35" fmla="*/ 2007304 h 7221666"/>
              <a:gd name="connsiteX36" fmla="*/ 6096001 w 6395847"/>
              <a:gd name="connsiteY36" fmla="*/ 2305652 h 7221666"/>
              <a:gd name="connsiteX37" fmla="*/ 6096001 w 6395847"/>
              <a:gd name="connsiteY37" fmla="*/ 2305651 h 7221666"/>
              <a:gd name="connsiteX38" fmla="*/ 6268252 w 6395847"/>
              <a:gd name="connsiteY38" fmla="*/ 2007303 h 7221666"/>
              <a:gd name="connsiteX39" fmla="*/ 6385798 w 6395847"/>
              <a:gd name="connsiteY39" fmla="*/ 1671419 h 7221666"/>
              <a:gd name="connsiteX40" fmla="*/ 6395847 w 6395847"/>
              <a:gd name="connsiteY40" fmla="*/ 1556116 h 7221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6395847" h="7221666">
                <a:moveTo>
                  <a:pt x="6096001" y="7221665"/>
                </a:moveTo>
                <a:lnTo>
                  <a:pt x="6096001" y="7221666"/>
                </a:lnTo>
                <a:lnTo>
                  <a:pt x="3314700" y="7221666"/>
                </a:lnTo>
                <a:lnTo>
                  <a:pt x="2781301" y="7221666"/>
                </a:lnTo>
                <a:lnTo>
                  <a:pt x="0" y="7221666"/>
                </a:lnTo>
                <a:lnTo>
                  <a:pt x="0" y="3447952"/>
                </a:lnTo>
                <a:lnTo>
                  <a:pt x="1" y="3447952"/>
                </a:lnTo>
                <a:lnTo>
                  <a:pt x="1" y="3019060"/>
                </a:lnTo>
                <a:cubicBezTo>
                  <a:pt x="1" y="2755733"/>
                  <a:pt x="106735" y="2517335"/>
                  <a:pt x="279301" y="2344769"/>
                </a:cubicBezTo>
                <a:lnTo>
                  <a:pt x="405446" y="2240690"/>
                </a:lnTo>
                <a:lnTo>
                  <a:pt x="404464" y="2239038"/>
                </a:lnTo>
                <a:lnTo>
                  <a:pt x="415115" y="2232712"/>
                </a:lnTo>
                <a:lnTo>
                  <a:pt x="420431" y="2228326"/>
                </a:lnTo>
                <a:lnTo>
                  <a:pt x="444464" y="2215281"/>
                </a:lnTo>
                <a:lnTo>
                  <a:pt x="3989796" y="109665"/>
                </a:lnTo>
                <a:lnTo>
                  <a:pt x="3993587" y="116048"/>
                </a:lnTo>
                <a:lnTo>
                  <a:pt x="4025229" y="96652"/>
                </a:lnTo>
                <a:cubicBezTo>
                  <a:pt x="4300466" y="-37338"/>
                  <a:pt x="4635179" y="-36664"/>
                  <a:pt x="4920239" y="127915"/>
                </a:cubicBezTo>
                <a:lnTo>
                  <a:pt x="5919213" y="704673"/>
                </a:lnTo>
                <a:cubicBezTo>
                  <a:pt x="5958409" y="727303"/>
                  <a:pt x="5995390" y="752295"/>
                  <a:pt x="6030081" y="779366"/>
                </a:cubicBezTo>
                <a:lnTo>
                  <a:pt x="6096000" y="838524"/>
                </a:lnTo>
                <a:lnTo>
                  <a:pt x="6096000" y="7221665"/>
                </a:lnTo>
                <a:close/>
                <a:moveTo>
                  <a:pt x="6221624" y="982469"/>
                </a:moveTo>
                <a:lnTo>
                  <a:pt x="6201936" y="954781"/>
                </a:lnTo>
                <a:lnTo>
                  <a:pt x="6210136" y="964466"/>
                </a:lnTo>
                <a:close/>
                <a:moveTo>
                  <a:pt x="6283768" y="1082992"/>
                </a:moveTo>
                <a:lnTo>
                  <a:pt x="6267120" y="1053774"/>
                </a:lnTo>
                <a:lnTo>
                  <a:pt x="6278411" y="1071469"/>
                </a:lnTo>
                <a:close/>
                <a:moveTo>
                  <a:pt x="6372765" y="1326510"/>
                </a:moveTo>
                <a:lnTo>
                  <a:pt x="6365409" y="1293851"/>
                </a:lnTo>
                <a:lnTo>
                  <a:pt x="6369173" y="1305870"/>
                </a:lnTo>
                <a:close/>
                <a:moveTo>
                  <a:pt x="6391257" y="1442433"/>
                </a:moveTo>
                <a:lnTo>
                  <a:pt x="6387139" y="1409114"/>
                </a:lnTo>
                <a:lnTo>
                  <a:pt x="6390749" y="1429863"/>
                </a:lnTo>
                <a:close/>
                <a:moveTo>
                  <a:pt x="6395847" y="1556116"/>
                </a:moveTo>
                <a:cubicBezTo>
                  <a:pt x="6391855" y="1709831"/>
                  <a:pt x="6350542" y="1864774"/>
                  <a:pt x="6268252" y="2007304"/>
                </a:cubicBezTo>
                <a:lnTo>
                  <a:pt x="6096001" y="2305652"/>
                </a:lnTo>
                <a:lnTo>
                  <a:pt x="6096001" y="2305651"/>
                </a:lnTo>
                <a:lnTo>
                  <a:pt x="6268252" y="2007303"/>
                </a:lnTo>
                <a:cubicBezTo>
                  <a:pt x="6329969" y="1900406"/>
                  <a:pt x="6368637" y="1786526"/>
                  <a:pt x="6385798" y="1671419"/>
                </a:cubicBezTo>
                <a:lnTo>
                  <a:pt x="6395847" y="1556116"/>
                </a:lnTo>
                <a:close/>
              </a:path>
            </a:pathLst>
          </a:custGeom>
          <a:gradFill>
            <a:gsLst>
              <a:gs pos="0">
                <a:srgbClr val="0165C5"/>
              </a:gs>
              <a:gs pos="100000">
                <a:srgbClr val="0165C5"/>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dirty="0">
              <a:latin typeface="阿里巴巴普惠体" panose="00020600040101010101" pitchFamily="18" charset="-122"/>
              <a:ea typeface="微软雅黑" panose="020B0503020204020204" pitchFamily="34" charset="-122"/>
              <a:sym typeface="Segoe UI" panose="020B0502040204020203" pitchFamily="34" charset="0"/>
            </a:endParaRPr>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61915" y="375709"/>
            <a:ext cx="2251713" cy="383211"/>
          </a:xfrm>
          <a:prstGeom prst="rect">
            <a:avLst/>
          </a:prstGeom>
        </p:spPr>
      </p:pic>
      <p:grpSp>
        <p:nvGrpSpPr>
          <p:cNvPr id="7" name="组合 6"/>
          <p:cNvGrpSpPr/>
          <p:nvPr/>
        </p:nvGrpSpPr>
        <p:grpSpPr>
          <a:xfrm>
            <a:off x="801093" y="1443871"/>
            <a:ext cx="714694" cy="714694"/>
            <a:chOff x="8289913" y="2508666"/>
            <a:chExt cx="714694" cy="714694"/>
          </a:xfrm>
        </p:grpSpPr>
        <p:sp>
          <p:nvSpPr>
            <p:cNvPr id="8" name="椭圆 7"/>
            <p:cNvSpPr/>
            <p:nvPr/>
          </p:nvSpPr>
          <p:spPr>
            <a:xfrm>
              <a:off x="8289913" y="2508666"/>
              <a:ext cx="714694" cy="714694"/>
            </a:xfrm>
            <a:prstGeom prst="ellipse">
              <a:avLst/>
            </a:prstGeom>
            <a:solidFill>
              <a:srgbClr val="0463C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5400"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0" name="arrow-pointing-left-circular-button_20407"/>
            <p:cNvSpPr>
              <a:spLocks noChangeAspect="1"/>
            </p:cNvSpPr>
            <p:nvPr/>
          </p:nvSpPr>
          <p:spPr bwMode="auto">
            <a:xfrm>
              <a:off x="8444698" y="2663709"/>
              <a:ext cx="405123" cy="404607"/>
            </a:xfrm>
            <a:custGeom>
              <a:avLst/>
              <a:gdLst>
                <a:gd name="T0" fmla="*/ 2307 w 4612"/>
                <a:gd name="T1" fmla="*/ 4614 h 4614"/>
                <a:gd name="T2" fmla="*/ 0 w 4612"/>
                <a:gd name="T3" fmla="*/ 2307 h 4614"/>
                <a:gd name="T4" fmla="*/ 2307 w 4612"/>
                <a:gd name="T5" fmla="*/ 0 h 4614"/>
                <a:gd name="T6" fmla="*/ 4612 w 4612"/>
                <a:gd name="T7" fmla="*/ 2227 h 4614"/>
                <a:gd name="T8" fmla="*/ 2031 w 4612"/>
                <a:gd name="T9" fmla="*/ 2222 h 4614"/>
                <a:gd name="T10" fmla="*/ 2479 w 4612"/>
                <a:gd name="T11" fmla="*/ 1775 h 4614"/>
                <a:gd name="T12" fmla="*/ 2367 w 4612"/>
                <a:gd name="T13" fmla="*/ 1662 h 4614"/>
                <a:gd name="T14" fmla="*/ 1727 w 4612"/>
                <a:gd name="T15" fmla="*/ 2302 h 4614"/>
                <a:gd name="T16" fmla="*/ 2378 w 4612"/>
                <a:gd name="T17" fmla="*/ 2952 h 4614"/>
                <a:gd name="T18" fmla="*/ 2490 w 4612"/>
                <a:gd name="T19" fmla="*/ 2840 h 4614"/>
                <a:gd name="T20" fmla="*/ 2032 w 4612"/>
                <a:gd name="T21" fmla="*/ 2381 h 4614"/>
                <a:gd name="T22" fmla="*/ 4612 w 4612"/>
                <a:gd name="T23" fmla="*/ 2387 h 4614"/>
                <a:gd name="T24" fmla="*/ 2307 w 4612"/>
                <a:gd name="T25" fmla="*/ 4614 h 46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12" h="4614">
                  <a:moveTo>
                    <a:pt x="2307" y="4614"/>
                  </a:moveTo>
                  <a:cubicBezTo>
                    <a:pt x="1035" y="4614"/>
                    <a:pt x="0" y="3579"/>
                    <a:pt x="0" y="2307"/>
                  </a:cubicBezTo>
                  <a:cubicBezTo>
                    <a:pt x="0" y="1035"/>
                    <a:pt x="1035" y="0"/>
                    <a:pt x="2307" y="0"/>
                  </a:cubicBezTo>
                  <a:cubicBezTo>
                    <a:pt x="3553" y="0"/>
                    <a:pt x="4570" y="992"/>
                    <a:pt x="4612" y="2227"/>
                  </a:cubicBezTo>
                  <a:lnTo>
                    <a:pt x="2031" y="2222"/>
                  </a:lnTo>
                  <a:lnTo>
                    <a:pt x="2479" y="1775"/>
                  </a:lnTo>
                  <a:lnTo>
                    <a:pt x="2367" y="1662"/>
                  </a:lnTo>
                  <a:lnTo>
                    <a:pt x="1727" y="2302"/>
                  </a:lnTo>
                  <a:lnTo>
                    <a:pt x="2378" y="2952"/>
                  </a:lnTo>
                  <a:lnTo>
                    <a:pt x="2490" y="2840"/>
                  </a:lnTo>
                  <a:lnTo>
                    <a:pt x="2032" y="2381"/>
                  </a:lnTo>
                  <a:lnTo>
                    <a:pt x="4612" y="2387"/>
                  </a:lnTo>
                  <a:cubicBezTo>
                    <a:pt x="4570" y="3622"/>
                    <a:pt x="3553" y="4614"/>
                    <a:pt x="2307" y="4614"/>
                  </a:cubicBezTo>
                  <a:close/>
                </a:path>
              </a:pathLst>
            </a:custGeom>
            <a:solidFill>
              <a:schemeClr val="bg1"/>
            </a:solidFill>
            <a:ln>
              <a:noFill/>
            </a:ln>
          </p:spPr>
          <p:txBody>
            <a:bodyPr/>
            <a:lstStyle/>
            <a:p>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
        <p:nvSpPr>
          <p:cNvPr id="11" name="矩形 3"/>
          <p:cNvSpPr/>
          <p:nvPr/>
        </p:nvSpPr>
        <p:spPr>
          <a:xfrm>
            <a:off x="747487" y="2313608"/>
            <a:ext cx="10697028" cy="4077297"/>
          </a:xfrm>
          <a:prstGeom prst="rect">
            <a:avLst/>
          </a:prstGeom>
          <a:solidFill>
            <a:schemeClr val="bg1"/>
          </a:solidFill>
          <a:ln>
            <a:no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1440" tIns="45720" rIns="91440" bIns="45720" rtlCol="0" anchor="ctr">
            <a:normAutofit/>
          </a:bodyPr>
          <a:lstStyle>
            <a:defPPr>
              <a:defRPr lang="ru-RU"/>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algn="ctr"/>
            <a:endParaRPr lang="ru-RU">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15" name="标题 1"/>
          <p:cNvSpPr>
            <a:spLocks noGrp="1"/>
          </p:cNvSpPr>
          <p:nvPr>
            <p:ph type="title" hasCustomPrompt="1"/>
          </p:nvPr>
        </p:nvSpPr>
        <p:spPr>
          <a:xfrm>
            <a:off x="1670572" y="1555775"/>
            <a:ext cx="10127342" cy="461665"/>
          </a:xfrm>
          <a:prstGeom prst="rect">
            <a:avLst/>
          </a:prstGeom>
          <a:noFill/>
        </p:spPr>
        <p:txBody>
          <a:bodyPr wrap="square" rtlCol="0">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marL="0" lvl="0"/>
            <a:r>
              <a:rPr lang="zh-CN" altLang="en-US" dirty="0"/>
              <a:t>单击此处编辑母版标题样式 </a:t>
            </a:r>
          </a:p>
        </p:txBody>
      </p:sp>
      <p:sp>
        <p:nvSpPr>
          <p:cNvPr id="2" name="标题 1">
            <a:extLst>
              <a:ext uri="{FF2B5EF4-FFF2-40B4-BE49-F238E27FC236}">
                <a16:creationId xmlns:a16="http://schemas.microsoft.com/office/drawing/2014/main" id="{E057B88A-48E7-5510-D21C-302607EC0201}"/>
              </a:ext>
            </a:extLst>
          </p:cNvPr>
          <p:cNvSpPr>
            <a:spLocks noGrp="1"/>
          </p:cNvSpPr>
          <p:nvPr/>
        </p:nvSpPr>
        <p:spPr>
          <a:xfrm>
            <a:off x="290830" y="384278"/>
            <a:ext cx="11506835" cy="484300"/>
          </a:xfrm>
          <a:prstGeom prst="rect">
            <a:avLst/>
          </a:prstGeom>
          <a:noFill/>
        </p:spPr>
        <p:txBody>
          <a:bodyPr vert="horz" wrap="square" lIns="91440" tIns="45720" rIns="91440" bIns="45720" rtlCol="0" anchor="ctr">
            <a:spAutoFit/>
          </a:bodyPr>
          <a:lstStyle>
            <a:lvl1pPr algn="l">
              <a:lnSpc>
                <a:spcPct val="100000"/>
              </a:lnSpc>
              <a:defRPr lang="zh-CN" altLang="en-US" sz="2400" b="1" kern="1200"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defRPr>
            </a:lvl1pPr>
          </a:lstStyle>
          <a:p>
            <a:pPr lvl="0" indent="0" algn="l">
              <a:lnSpc>
                <a:spcPct val="90000"/>
              </a:lnSpc>
              <a:spcBef>
                <a:spcPts val="1000"/>
              </a:spcBef>
              <a:spcAft>
                <a:spcPts val="0"/>
              </a:spcAft>
              <a:buClrTx/>
              <a:buSzTx/>
              <a:buFont typeface="Arial" panose="020B0604020202020204" pitchFamily="34" charset="0"/>
              <a:buNone/>
              <a:defRPr/>
            </a:pPr>
            <a:r>
              <a:rPr lang="en-US" altLang="zh-CN" sz="2800" dirty="0">
                <a:solidFill>
                  <a:schemeClr val="bg1"/>
                </a:solidFill>
              </a:rPr>
              <a:t>  1</a:t>
            </a:r>
            <a:r>
              <a:rPr lang="en-US" altLang="zh-CN" sz="2800" dirty="0">
                <a:solidFill>
                  <a:schemeClr val="bg1">
                    <a:alpha val="80000"/>
                  </a:schemeClr>
                </a:solidFill>
              </a:rPr>
              <a:t>2</a:t>
            </a:r>
            <a:r>
              <a:rPr lang="en-US" altLang="zh-CN" sz="2800" dirty="0">
                <a:solidFill>
                  <a:srgbClr val="0091D9"/>
                </a:solidFill>
              </a:rPr>
              <a:t>         </a:t>
            </a:r>
            <a:r>
              <a:rPr lang="zh-CN" altLang="en-US" sz="2800" b="1" kern="1200" dirty="0">
                <a:solidFill>
                  <a:srgbClr val="0091D9"/>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财务管理的环境</a:t>
            </a:r>
            <a:endParaRPr lang="zh-CN" altLang="en-US" sz="2800" dirty="0">
              <a:solidFill>
                <a:srgbClr val="0091D9"/>
              </a:solidFill>
            </a:endParaRPr>
          </a:p>
        </p:txBody>
      </p:sp>
      <p:sp>
        <p:nvSpPr>
          <p:cNvPr id="9" name="内容占位符 22">
            <a:extLst>
              <a:ext uri="{FF2B5EF4-FFF2-40B4-BE49-F238E27FC236}">
                <a16:creationId xmlns:a16="http://schemas.microsoft.com/office/drawing/2014/main" id="{4FCB1552-F63F-5BAC-C851-A95C7C1C282C}"/>
              </a:ext>
            </a:extLst>
          </p:cNvPr>
          <p:cNvSpPr>
            <a:spLocks noGrp="1"/>
          </p:cNvSpPr>
          <p:nvPr>
            <p:ph sz="quarter" idx="12"/>
          </p:nvPr>
        </p:nvSpPr>
        <p:spPr>
          <a:xfrm>
            <a:off x="1024731" y="2516808"/>
            <a:ext cx="10142537" cy="3230517"/>
          </a:xfrm>
          <a:prstGeom prst="rect">
            <a:avLst/>
          </a:prstGeom>
        </p:spPr>
        <p:txBody>
          <a:bodyPr/>
          <a:lstStyle>
            <a:lvl1pPr>
              <a:lnSpc>
                <a:spcPct val="150000"/>
              </a:lnSpc>
              <a:defRPr sz="2000"/>
            </a:lvl1pPr>
            <a:lvl2pPr>
              <a:defRPr sz="2000"/>
            </a:lvl2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zh-CN" altLang="en-US" dirty="0"/>
          </a:p>
        </p:txBody>
      </p:sp>
    </p:spTree>
    <p:extLst>
      <p:ext uri="{BB962C8B-B14F-4D97-AF65-F5344CB8AC3E}">
        <p14:creationId xmlns:p14="http://schemas.microsoft.com/office/powerpoint/2010/main" val="2569818089"/>
      </p:ext>
    </p:extLst>
  </p:cSld>
  <p:clrMapOvr>
    <a:masterClrMapping/>
  </p:clrMapOvr>
  <p:transition spd="slow" advTm="0">
    <p:wipe dir="r"/>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标题和文本">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8860BB-E3C5-4D22-8BEC-68FDB1E314FC}"/>
              </a:ext>
            </a:extLst>
          </p:cNvPr>
          <p:cNvSpPr>
            <a:spLocks noGrp="1"/>
          </p:cNvSpPr>
          <p:nvPr>
            <p:ph type="title"/>
          </p:nvPr>
        </p:nvSpPr>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8564C3A6-28A5-477B-8FD3-82774CA65DB8}"/>
              </a:ext>
            </a:extLst>
          </p:cNvPr>
          <p:cNvSpPr>
            <a:spLocks noGrp="1"/>
          </p:cNvSpPr>
          <p:nvPr>
            <p:ph type="body"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2360E54-6845-42DD-84DC-A39854FA1A77}"/>
              </a:ext>
            </a:extLst>
          </p:cNvPr>
          <p:cNvSpPr>
            <a:spLocks noGrp="1"/>
          </p:cNvSpPr>
          <p:nvPr>
            <p:ph type="dt" sz="half" idx="10"/>
          </p:nvPr>
        </p:nvSpPr>
        <p:spPr/>
        <p:txBody>
          <a:bodyPr/>
          <a:lstStyle/>
          <a:p>
            <a:fld id="{46510587-1BA4-40CC-B683-98A988CC429E}" type="datetimeFigureOut">
              <a:rPr lang="zh-CN" altLang="en-US" smtClean="0"/>
              <a:t>2023/10/20</a:t>
            </a:fld>
            <a:endParaRPr lang="zh-CN" altLang="en-US"/>
          </a:p>
        </p:txBody>
      </p:sp>
      <p:sp>
        <p:nvSpPr>
          <p:cNvPr id="5" name="页脚占位符 4">
            <a:extLst>
              <a:ext uri="{FF2B5EF4-FFF2-40B4-BE49-F238E27FC236}">
                <a16:creationId xmlns:a16="http://schemas.microsoft.com/office/drawing/2014/main" id="{9ADABCB2-5F2D-434F-8110-4656AF3E9F6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3C4DEC2A-E2D0-43AA-976A-170C369B5040}"/>
              </a:ext>
            </a:extLst>
          </p:cNvPr>
          <p:cNvSpPr>
            <a:spLocks noGrp="1"/>
          </p:cNvSpPr>
          <p:nvPr>
            <p:ph type="sldNum" sz="quarter" idx="12"/>
          </p:nvPr>
        </p:nvSpPr>
        <p:spPr/>
        <p:txBody>
          <a:bodyPr/>
          <a:lstStyle/>
          <a:p>
            <a:fld id="{6E19442F-F040-4C44-90A0-544E7CAD3C47}" type="slidenum">
              <a:rPr lang="zh-CN" altLang="en-US" smtClean="0"/>
              <a:t>‹#›</a:t>
            </a:fld>
            <a:endParaRPr lang="zh-CN" altLang="en-US"/>
          </a:p>
        </p:txBody>
      </p:sp>
    </p:spTree>
    <p:extLst>
      <p:ext uri="{BB962C8B-B14F-4D97-AF65-F5344CB8AC3E}">
        <p14:creationId xmlns:p14="http://schemas.microsoft.com/office/powerpoint/2010/main" val="32757655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矩形 6"/>
          <p:cNvSpPr/>
          <p:nvPr/>
        </p:nvSpPr>
        <p:spPr>
          <a:xfrm>
            <a:off x="0" y="0"/>
            <a:ext cx="12192000" cy="6858000"/>
          </a:xfrm>
          <a:prstGeom prst="rect">
            <a:avLst/>
          </a:prstGeom>
          <a:solidFill>
            <a:srgbClr val="EAF2F5">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294614198"/>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 id="2147483680" r:id="rId19"/>
    <p:sldLayoutId id="2147483681" r:id="rId20"/>
    <p:sldLayoutId id="2147483682" r:id="rId21"/>
    <p:sldLayoutId id="2147483683" r:id="rId22"/>
    <p:sldLayoutId id="2147483684" r:id="rId23"/>
    <p:sldLayoutId id="2147483685" r:id="rId24"/>
    <p:sldLayoutId id="2147483686" r:id="rId25"/>
    <p:sldLayoutId id="2147483687" r:id="rId26"/>
    <p:sldLayoutId id="2147483688" r:id="rId27"/>
  </p:sldLayoutIdLst>
  <p:transition spd="slow" advTm="0">
    <p:wipe dir="r"/>
  </p:transition>
  <p:txStyles>
    <p:titleStyle>
      <a:lvl1pPr algn="l" defTabSz="914400" rtl="0" eaLnBrk="1" latinLnBrk="0" hangingPunct="1">
        <a:lnSpc>
          <a:spcPct val="90000"/>
        </a:lnSpc>
        <a:spcBef>
          <a:spcPct val="0"/>
        </a:spcBef>
        <a:buNone/>
        <a:defRPr sz="2400" b="1" kern="1200">
          <a:solidFill>
            <a:schemeClr val="accent1">
              <a:lumMod val="75000"/>
            </a:schemeClr>
          </a:solidFill>
          <a:latin typeface="+mj-lt"/>
          <a:ea typeface="+mj-ea"/>
          <a:cs typeface="+mj-cs"/>
        </a:defRPr>
      </a:lvl1pPr>
    </p:titleStyle>
    <p:bodyStyle>
      <a:lvl1pPr marL="228600" indent="-228600" algn="l" defTabSz="914400" rtl="0" eaLnBrk="1" fontAlgn="auto" latinLnBrk="0" hangingPunct="1">
        <a:lnSpc>
          <a:spcPct val="15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 name="组合 285"/>
          <p:cNvGrpSpPr/>
          <p:nvPr/>
        </p:nvGrpSpPr>
        <p:grpSpPr>
          <a:xfrm>
            <a:off x="1142271" y="4495729"/>
            <a:ext cx="4142910" cy="479114"/>
            <a:chOff x="5646962" y="4937787"/>
            <a:chExt cx="1453481" cy="482463"/>
          </a:xfrm>
          <a:effectLst/>
        </p:grpSpPr>
        <p:sp>
          <p:nvSpPr>
            <p:cNvPr id="287" name="任意多边形: 形状 12"/>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8" name="文本框 287"/>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grpSp>
        <p:nvGrpSpPr>
          <p:cNvPr id="302" name="组合 301"/>
          <p:cNvGrpSpPr/>
          <p:nvPr/>
        </p:nvGrpSpPr>
        <p:grpSpPr>
          <a:xfrm>
            <a:off x="1027366" y="1310600"/>
            <a:ext cx="3707553" cy="2186039"/>
            <a:chOff x="951801" y="1752810"/>
            <a:chExt cx="3707553" cy="2186039"/>
          </a:xfrm>
        </p:grpSpPr>
        <p:sp>
          <p:nvSpPr>
            <p:cNvPr id="285" name="文本框 284"/>
            <p:cNvSpPr txBox="1"/>
            <p:nvPr/>
          </p:nvSpPr>
          <p:spPr>
            <a:xfrm>
              <a:off x="951801" y="3015519"/>
              <a:ext cx="2909771"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特征提取</a:t>
              </a:r>
            </a:p>
          </p:txBody>
        </p:sp>
        <p:grpSp>
          <p:nvGrpSpPr>
            <p:cNvPr id="301" name="组合 300"/>
            <p:cNvGrpSpPr/>
            <p:nvPr/>
          </p:nvGrpSpPr>
          <p:grpSpPr>
            <a:xfrm>
              <a:off x="951801" y="1752810"/>
              <a:ext cx="3707553" cy="1252400"/>
              <a:chOff x="951801" y="1680239"/>
              <a:chExt cx="3707553" cy="1252400"/>
            </a:xfrm>
          </p:grpSpPr>
          <p:sp>
            <p:nvSpPr>
              <p:cNvPr id="290" name="文本框 289"/>
              <p:cNvSpPr txBox="1"/>
              <p:nvPr/>
            </p:nvSpPr>
            <p:spPr>
              <a:xfrm>
                <a:off x="951801" y="2009309"/>
                <a:ext cx="2909771" cy="92333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第十一章</a:t>
                </a:r>
                <a:endParaRPr kumimoji="0" lang="en-US" altLang="zh-CN" sz="5400" b="1" i="0" u="none" strike="noStrike" kern="1200" cap="none" spc="0" normalizeH="0" baseline="0" noProof="0" dirty="0">
                  <a:ln>
                    <a:noFill/>
                  </a:ln>
                  <a:solidFill>
                    <a:srgbClr val="0065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95" name="椭圆 294"/>
              <p:cNvSpPr/>
              <p:nvPr/>
            </p:nvSpPr>
            <p:spPr>
              <a:xfrm>
                <a:off x="3440154" y="1680239"/>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grpSp>
      <p:sp>
        <p:nvSpPr>
          <p:cNvPr id="2" name="Freeform 24">
            <a:extLst>
              <a:ext uri="{FF2B5EF4-FFF2-40B4-BE49-F238E27FC236}">
                <a16:creationId xmlns:a16="http://schemas.microsoft.com/office/drawing/2014/main" id="{05D286A2-ECB7-9BA2-9D1F-172FDB772080}"/>
              </a:ext>
            </a:extLst>
          </p:cNvPr>
          <p:cNvSpPr>
            <a:spLocks/>
          </p:cNvSpPr>
          <p:nvPr/>
        </p:nvSpPr>
        <p:spPr bwMode="auto">
          <a:xfrm>
            <a:off x="1142271" y="3743277"/>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 name="Inhaltsplatzhalter 4">
            <a:extLst>
              <a:ext uri="{FF2B5EF4-FFF2-40B4-BE49-F238E27FC236}">
                <a16:creationId xmlns:a16="http://schemas.microsoft.com/office/drawing/2014/main" id="{61215E34-C4A2-0714-4A5F-AD7D334A7606}"/>
              </a:ext>
            </a:extLst>
          </p:cNvPr>
          <p:cNvSpPr txBox="1">
            <a:spLocks/>
          </p:cNvSpPr>
          <p:nvPr/>
        </p:nvSpPr>
        <p:spPr>
          <a:xfrm>
            <a:off x="1444494" y="3819549"/>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endParaRPr kumimoji="0" lang="zh-CN" altLang="en-US" sz="1800" b="1" i="0" u="none" strike="noStrike" kern="1200" cap="none" spc="0" normalizeH="0" baseline="0" noProof="0" dirty="0">
              <a:ln>
                <a:noFill/>
              </a:ln>
              <a:solidFill>
                <a:srgbClr val="0463C4"/>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627095788"/>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additive="base">
                                        <p:cTn id="12" dur="500" fill="hold"/>
                                        <p:tgtEl>
                                          <p:spTgt spid="2"/>
                                        </p:tgtEl>
                                        <p:attrNameLst>
                                          <p:attrName>ppt_x</p:attrName>
                                        </p:attrNameLst>
                                      </p:cBhvr>
                                      <p:tavLst>
                                        <p:tav tm="0">
                                          <p:val>
                                            <p:strVal val="1+#ppt_w/2"/>
                                          </p:val>
                                        </p:tav>
                                        <p:tav tm="100000">
                                          <p:val>
                                            <p:strVal val="#ppt_x"/>
                                          </p:val>
                                        </p:tav>
                                      </p:tavLst>
                                    </p:anim>
                                    <p:anim calcmode="lin" valueType="num">
                                      <p:cBhvr additive="base">
                                        <p:cTn id="13" dur="500" fill="hold"/>
                                        <p:tgtEl>
                                          <p:spTgt spid="2"/>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3"/>
                                        </p:tgtEl>
                                        <p:attrNameLst>
                                          <p:attrName>style.visibility</p:attrName>
                                        </p:attrNameLst>
                                      </p:cBhvr>
                                      <p:to>
                                        <p:strVal val="visible"/>
                                      </p:to>
                                    </p:set>
                                    <p:animEffect transition="in" filter="wipe(left)">
                                      <p:cBhvr>
                                        <p:cTn id="16" dur="500"/>
                                        <p:tgtEl>
                                          <p:spTgt spid="3"/>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86"/>
                                        </p:tgtEl>
                                        <p:attrNameLst>
                                          <p:attrName>style.visibility</p:attrName>
                                        </p:attrNameLst>
                                      </p:cBhvr>
                                      <p:to>
                                        <p:strVal val="visible"/>
                                      </p:to>
                                    </p:set>
                                    <p:anim calcmode="lin" valueType="num">
                                      <p:cBhvr additive="base">
                                        <p:cTn id="20" dur="500" fill="hold"/>
                                        <p:tgtEl>
                                          <p:spTgt spid="286"/>
                                        </p:tgtEl>
                                        <p:attrNameLst>
                                          <p:attrName>ppt_x</p:attrName>
                                        </p:attrNameLst>
                                      </p:cBhvr>
                                      <p:tavLst>
                                        <p:tav tm="0">
                                          <p:val>
                                            <p:strVal val="#ppt_x"/>
                                          </p:val>
                                        </p:tav>
                                        <p:tav tm="100000">
                                          <p:val>
                                            <p:strVal val="#ppt_x"/>
                                          </p:val>
                                        </p:tav>
                                      </p:tavLst>
                                    </p:anim>
                                    <p:anim calcmode="lin" valueType="num">
                                      <p:cBhvr additive="base">
                                        <p:cTn id="21" dur="500" fill="hold"/>
                                        <p:tgtEl>
                                          <p:spTgt spid="28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01</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背景</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216579521"/>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BAC69B-CAC0-4AD7-4B5F-FBBBBC7C4C81}"/>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背景概述</a:t>
            </a:r>
          </a:p>
        </p:txBody>
      </p:sp>
      <p:sp>
        <p:nvSpPr>
          <p:cNvPr id="3" name="文本占位符 2">
            <a:extLst>
              <a:ext uri="{FF2B5EF4-FFF2-40B4-BE49-F238E27FC236}">
                <a16:creationId xmlns:a16="http://schemas.microsoft.com/office/drawing/2014/main" id="{5A8899D3-7948-E84A-94DC-F6E49ED03A54}"/>
              </a:ext>
            </a:extLst>
          </p:cNvPr>
          <p:cNvSpPr>
            <a:spLocks noGrp="1"/>
          </p:cNvSpPr>
          <p:nvPr>
            <p:ph sz="quarter" idx="11"/>
          </p:nvPr>
        </p:nvSpPr>
        <p:spPr>
          <a:xfrm>
            <a:off x="801094" y="2432500"/>
            <a:ext cx="10589814" cy="3540427"/>
          </a:xfrm>
        </p:spPr>
        <p:txBody>
          <a:bodyPr>
            <a:normAutofit/>
          </a:bodyPr>
          <a:lstStyle/>
          <a:p>
            <a:pPr marR="890" lvl="0" rtl="0"/>
            <a:r>
              <a:rPr lang="zh-CN" altLang="en-US" b="0" i="0" u="none" strike="noStrike" baseline="0" dirty="0">
                <a:solidFill>
                  <a:srgbClr val="000000"/>
                </a:solidFill>
                <a:cs typeface="+mn-ea"/>
                <a:sym typeface="+mn-lt"/>
              </a:rPr>
              <a:t>图像特征提取主要有两个方面：</a:t>
            </a:r>
            <a:r>
              <a:rPr lang="zh-CN" altLang="en-US" b="1" i="0" u="none" strike="noStrike" baseline="0" dirty="0">
                <a:solidFill>
                  <a:srgbClr val="000000"/>
                </a:solidFill>
                <a:cs typeface="+mn-ea"/>
                <a:sym typeface="+mn-lt"/>
              </a:rPr>
              <a:t>特征检测和特征描述</a:t>
            </a:r>
            <a:r>
              <a:rPr lang="zh-CN" altLang="en-US" b="0" i="0" u="none" strike="noStrike" baseline="0" dirty="0">
                <a:solidFill>
                  <a:srgbClr val="000000"/>
                </a:solidFill>
                <a:cs typeface="+mn-ea"/>
                <a:sym typeface="+mn-lt"/>
              </a:rPr>
              <a:t>。也就是说，特征提取是指既检测特征又描述特征。为了有用，特征提取过程必须包括特征检测和特征描述。在说明特征检测和描述的图像处理与分析中，我们会遇到不同的术语，使用一个简单的例子有助于我们澄清这些术语的用法。假设我们为一些图像处理任务使用目标角作为特征。</a:t>
            </a:r>
            <a:endParaRPr lang="en-US" altLang="zh-CN" b="0" i="0" u="none" strike="noStrike" baseline="0" dirty="0">
              <a:solidFill>
                <a:srgbClr val="000000"/>
              </a:solidFill>
              <a:cs typeface="+mn-ea"/>
              <a:sym typeface="+mn-lt"/>
            </a:endParaRPr>
          </a:p>
          <a:p>
            <a:pPr marR="890" lvl="0" rtl="0"/>
            <a:r>
              <a:rPr lang="zh-CN" altLang="en-US" b="0" i="0" u="none" strike="noStrike" baseline="0" dirty="0">
                <a:solidFill>
                  <a:srgbClr val="000000"/>
                </a:solidFill>
                <a:cs typeface="+mn-ea"/>
                <a:sym typeface="+mn-lt"/>
              </a:rPr>
              <a:t>另一方面，描述是指为检测到的特征分配定量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或定性</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属性，如角方向和相对于其他角的位置。换句话说，只知道图像中的角是不够的，还需要额外的信息即这些角的属性来帮助我们区分一幅图像中的不同目标或区分不同的图像。</a:t>
            </a:r>
          </a:p>
        </p:txBody>
      </p:sp>
      <p:sp>
        <p:nvSpPr>
          <p:cNvPr id="4" name="矩形 3">
            <a:extLst>
              <a:ext uri="{FF2B5EF4-FFF2-40B4-BE49-F238E27FC236}">
                <a16:creationId xmlns:a16="http://schemas.microsoft.com/office/drawing/2014/main" id="{FEEB9ED4-E593-D782-0B81-F8A6EFA0EBAE}"/>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0376632"/>
      </p:ext>
    </p:extLst>
  </p:cSld>
  <p:clrMapOvr>
    <a:masterClrMapping/>
  </p:clrMapOvr>
  <p:transition spd="slow" advTm="0">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02</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边界预处理</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21565548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01A74C-0EB4-98F8-7FAF-21D594306BB8}"/>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边界跟踪</a:t>
            </a:r>
          </a:p>
        </p:txBody>
      </p:sp>
      <p:sp>
        <p:nvSpPr>
          <p:cNvPr id="3" name="文本占位符 2">
            <a:extLst>
              <a:ext uri="{FF2B5EF4-FFF2-40B4-BE49-F238E27FC236}">
                <a16:creationId xmlns:a16="http://schemas.microsoft.com/office/drawing/2014/main" id="{7B5F4D18-31A6-8B2A-3C6F-ACFE733C8D66}"/>
              </a:ext>
            </a:extLst>
          </p:cNvPr>
          <p:cNvSpPr>
            <a:spLocks noGrp="1"/>
          </p:cNvSpPr>
          <p:nvPr>
            <p:ph sz="quarter" idx="12"/>
          </p:nvPr>
        </p:nvSpPr>
        <p:spPr/>
        <p:txBody>
          <a:bodyPr/>
          <a:lstStyle/>
          <a:p>
            <a:pPr marL="0" marR="89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11.1</a:t>
            </a:r>
            <a:r>
              <a:rPr lang="zh-CN" altLang="en-US" b="0" i="0" u="none" strike="noStrike" baseline="0" dirty="0">
                <a:solidFill>
                  <a:srgbClr val="000000"/>
                </a:solidFill>
                <a:cs typeface="+mn-ea"/>
                <a:sym typeface="+mn-lt"/>
              </a:rPr>
              <a:t>说明了这个算法的前几步。很容易验证</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见习题</a:t>
            </a:r>
            <a:r>
              <a:rPr lang="en-US" altLang="zh-CN" b="0" i="0" u="none" strike="noStrike" baseline="0" dirty="0">
                <a:solidFill>
                  <a:srgbClr val="000000"/>
                </a:solidFill>
                <a:cs typeface="+mn-ea"/>
                <a:sym typeface="+mn-lt"/>
              </a:rPr>
              <a:t>11.1),</a:t>
            </a:r>
            <a:r>
              <a:rPr lang="zh-CN" altLang="en-US" b="0" i="0" u="none" strike="noStrike" baseline="0" dirty="0">
                <a:solidFill>
                  <a:srgbClr val="000000"/>
                </a:solidFill>
                <a:cs typeface="+mn-ea"/>
                <a:sym typeface="+mn-lt"/>
              </a:rPr>
              <a:t>继续这一过程会产生正确的边界，如图</a:t>
            </a:r>
            <a:r>
              <a:rPr lang="en-US" altLang="zh-CN" b="0" i="0" u="none" strike="noStrike" baseline="0" dirty="0">
                <a:solidFill>
                  <a:srgbClr val="000000"/>
                </a:solidFill>
                <a:cs typeface="+mn-ea"/>
                <a:sym typeface="+mn-lt"/>
              </a:rPr>
              <a:t>11.1(f)</a:t>
            </a:r>
            <a:r>
              <a:rPr lang="zh-CN" altLang="en-US" b="0" i="0" u="none" strike="noStrike" baseline="0" dirty="0">
                <a:solidFill>
                  <a:srgbClr val="000000"/>
                </a:solidFill>
                <a:cs typeface="+mn-ea"/>
                <a:sym typeface="+mn-lt"/>
              </a:rPr>
              <a:t>所示，边界上的点是按顺时针顺序排列的。</a:t>
            </a:r>
          </a:p>
        </p:txBody>
      </p:sp>
      <p:pic>
        <p:nvPicPr>
          <p:cNvPr id="5" name="图片 4">
            <a:extLst>
              <a:ext uri="{FF2B5EF4-FFF2-40B4-BE49-F238E27FC236}">
                <a16:creationId xmlns:a16="http://schemas.microsoft.com/office/drawing/2014/main" id="{2FF1D208-C375-33F8-1F33-05D21C95E9A2}"/>
              </a:ext>
            </a:extLst>
          </p:cNvPr>
          <p:cNvPicPr>
            <a:picLocks noChangeAspect="1"/>
          </p:cNvPicPr>
          <p:nvPr/>
        </p:nvPicPr>
        <p:blipFill>
          <a:blip r:embed="rId2"/>
          <a:stretch>
            <a:fillRect/>
          </a:stretch>
        </p:blipFill>
        <p:spPr>
          <a:xfrm>
            <a:off x="2090736" y="3719667"/>
            <a:ext cx="8010525" cy="2171700"/>
          </a:xfrm>
          <a:prstGeom prst="rect">
            <a:avLst/>
          </a:prstGeom>
        </p:spPr>
      </p:pic>
    </p:spTree>
    <p:extLst>
      <p:ext uri="{BB962C8B-B14F-4D97-AF65-F5344CB8AC3E}">
        <p14:creationId xmlns:p14="http://schemas.microsoft.com/office/powerpoint/2010/main" val="4167839233"/>
      </p:ext>
    </p:extLst>
  </p:cSld>
  <p:clrMapOvr>
    <a:masterClrMapping/>
  </p:clrMapOvr>
  <p:transition spd="slow" advTm="0">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D05ED0-6BAE-A0EF-FEAA-D0AB9C45D3F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链码</a:t>
            </a:r>
          </a:p>
        </p:txBody>
      </p:sp>
      <p:sp>
        <p:nvSpPr>
          <p:cNvPr id="3" name="文本占位符 2">
            <a:extLst>
              <a:ext uri="{FF2B5EF4-FFF2-40B4-BE49-F238E27FC236}">
                <a16:creationId xmlns:a16="http://schemas.microsoft.com/office/drawing/2014/main" id="{F273FE9B-78A8-B4BC-E3CB-790EAC3E3997}"/>
              </a:ext>
            </a:extLst>
          </p:cNvPr>
          <p:cNvSpPr>
            <a:spLocks noGrp="1"/>
          </p:cNvSpPr>
          <p:nvPr>
            <p:ph sz="quarter" idx="11"/>
          </p:nvPr>
        </p:nvSpPr>
        <p:spPr/>
        <p:txBody>
          <a:bodyPr>
            <a:noAutofit/>
          </a:bodyPr>
          <a:lstStyle/>
          <a:p>
            <a:pPr marL="0" marR="89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弗里曼链码</a:t>
            </a:r>
          </a:p>
          <a:p>
            <a:pPr marL="0" marR="890" lvl="0" indent="0" rtl="0">
              <a:buNone/>
            </a:pPr>
            <a:r>
              <a:rPr lang="zh-CN" altLang="en-US" b="0" i="0" u="none" strike="noStrike" baseline="0" dirty="0">
                <a:solidFill>
                  <a:srgbClr val="000000"/>
                </a:solidFill>
                <a:cs typeface="+mn-ea"/>
                <a:sym typeface="+mn-lt"/>
              </a:rPr>
              <a:t>一般来说，链码表示基于线段的</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连通或</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连通。使用一种编号方案来对每个段段的方向进行编码，如图</a:t>
            </a:r>
            <a:r>
              <a:rPr lang="en-US" altLang="zh-CN" b="0" i="0" u="none" strike="noStrike" baseline="0" dirty="0">
                <a:solidFill>
                  <a:srgbClr val="000000"/>
                </a:solidFill>
                <a:cs typeface="+mn-ea"/>
                <a:sym typeface="+mn-lt"/>
              </a:rPr>
              <a:t>11.3</a:t>
            </a:r>
            <a:r>
              <a:rPr lang="zh-CN" altLang="en-US" b="0" i="0" u="none" strike="noStrike" baseline="0" dirty="0">
                <a:solidFill>
                  <a:srgbClr val="000000"/>
                </a:solidFill>
                <a:cs typeface="+mn-ea"/>
                <a:sym typeface="+mn-lt"/>
              </a:rPr>
              <a:t>所示。由这种方向数序列形成的边界码称为弗里曼链码。</a:t>
            </a:r>
          </a:p>
          <a:p>
            <a:pPr marL="0" marR="890" lvl="0" indent="0" rtl="0">
              <a:buNone/>
            </a:pPr>
            <a:endParaRPr lang="zh-CN" altLang="en-US" b="0" i="0" u="none" strike="noStrike" baseline="0" dirty="0">
              <a:solidFill>
                <a:srgbClr val="000000"/>
              </a:solidFill>
              <a:cs typeface="+mn-ea"/>
              <a:sym typeface="+mn-lt"/>
            </a:endParaRPr>
          </a:p>
          <a:p>
            <a:pPr marL="0" marR="89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斜率链码</a:t>
            </a:r>
          </a:p>
          <a:p>
            <a:pPr marL="0" marR="890" lvl="0" indent="0" rtl="0">
              <a:buNone/>
            </a:pPr>
            <a:r>
              <a:rPr lang="zh-CN" altLang="en-US" b="0" i="0" u="none" strike="noStrike" baseline="0" dirty="0">
                <a:solidFill>
                  <a:srgbClr val="000000"/>
                </a:solidFill>
                <a:cs typeface="+mn-ea"/>
                <a:sym typeface="+mn-lt"/>
              </a:rPr>
              <a:t>使用弗里曼链码时，通常要求重取样边界来平滑小的变化，这意味着首先要定义一个网格，然后 将所有的边界点分配给网格中最接近的邻点。</a:t>
            </a:r>
          </a:p>
        </p:txBody>
      </p:sp>
      <p:pic>
        <p:nvPicPr>
          <p:cNvPr id="5" name="图片 4">
            <a:extLst>
              <a:ext uri="{FF2B5EF4-FFF2-40B4-BE49-F238E27FC236}">
                <a16:creationId xmlns:a16="http://schemas.microsoft.com/office/drawing/2014/main" id="{46A77D3A-33E4-B7C0-6989-DD35C01039FE}"/>
              </a:ext>
            </a:extLst>
          </p:cNvPr>
          <p:cNvPicPr>
            <a:picLocks noChangeAspect="1"/>
          </p:cNvPicPr>
          <p:nvPr/>
        </p:nvPicPr>
        <p:blipFill>
          <a:blip r:embed="rId2"/>
          <a:stretch>
            <a:fillRect/>
          </a:stretch>
        </p:blipFill>
        <p:spPr>
          <a:xfrm>
            <a:off x="4698629" y="3938936"/>
            <a:ext cx="2794741" cy="1363289"/>
          </a:xfrm>
          <a:prstGeom prst="rect">
            <a:avLst/>
          </a:prstGeom>
        </p:spPr>
      </p:pic>
      <p:sp>
        <p:nvSpPr>
          <p:cNvPr id="6" name="矩形 5">
            <a:extLst>
              <a:ext uri="{FF2B5EF4-FFF2-40B4-BE49-F238E27FC236}">
                <a16:creationId xmlns:a16="http://schemas.microsoft.com/office/drawing/2014/main" id="{F8D9EF43-650A-3B67-21F8-200FACCD40BD}"/>
              </a:ext>
            </a:extLst>
          </p:cNvPr>
          <p:cNvSpPr/>
          <p:nvPr/>
        </p:nvSpPr>
        <p:spPr>
          <a:xfrm>
            <a:off x="801092" y="2446417"/>
            <a:ext cx="10589815" cy="384622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3306633067"/>
      </p:ext>
    </p:extLst>
  </p:cSld>
  <p:clrMapOvr>
    <a:masterClrMapping/>
  </p:clrMapOvr>
  <p:transition spd="slow" advTm="0">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C7C362-79A0-CC38-4F7C-DF3CE78B058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用最小周长多边形近似边界</a:t>
            </a:r>
          </a:p>
        </p:txBody>
      </p:sp>
      <p:sp>
        <p:nvSpPr>
          <p:cNvPr id="3" name="文本占位符 2">
            <a:extLst>
              <a:ext uri="{FF2B5EF4-FFF2-40B4-BE49-F238E27FC236}">
                <a16:creationId xmlns:a16="http://schemas.microsoft.com/office/drawing/2014/main" id="{20C83855-F9C7-E167-4E7F-1664EF607467}"/>
              </a:ext>
            </a:extLst>
          </p:cNvPr>
          <p:cNvSpPr>
            <a:spLocks noGrp="1"/>
          </p:cNvSpPr>
          <p:nvPr>
            <p:ph sz="quarter" idx="11"/>
          </p:nvPr>
        </p:nvSpPr>
        <p:spPr/>
        <p:txBody>
          <a:bodyPr>
            <a:normAutofit/>
          </a:bodyPr>
          <a:lstStyle/>
          <a:p>
            <a:pPr marL="0" marR="89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 基础</a:t>
            </a:r>
          </a:p>
          <a:p>
            <a:pPr marL="0" marR="890" lvl="0" indent="0" rtl="0">
              <a:buNone/>
            </a:pPr>
            <a:r>
              <a:rPr lang="zh-CN" altLang="en-US" b="0" i="0" u="none" strike="noStrike" baseline="0" dirty="0">
                <a:solidFill>
                  <a:srgbClr val="000000"/>
                </a:solidFill>
                <a:cs typeface="+mn-ea"/>
                <a:sym typeface="+mn-lt"/>
              </a:rPr>
              <a:t>计算</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的一种直观方法是用一组级联的单元来封闭边界</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见图</a:t>
            </a:r>
            <a:r>
              <a:rPr lang="en-US" altLang="zh-CN" b="0" i="0" u="none" strike="noStrike" baseline="0" dirty="0">
                <a:solidFill>
                  <a:srgbClr val="000000"/>
                </a:solidFill>
                <a:cs typeface="+mn-ea"/>
                <a:sym typeface="+mn-lt"/>
              </a:rPr>
              <a:t>11.7(a)],</a:t>
            </a:r>
            <a:r>
              <a:rPr lang="zh-CN" altLang="en-US" b="0" i="0" u="none" strike="noStrike" baseline="0" dirty="0">
                <a:solidFill>
                  <a:srgbClr val="000000"/>
                </a:solidFill>
                <a:cs typeface="+mn-ea"/>
                <a:sym typeface="+mn-lt"/>
              </a:rPr>
              <a:t>如图</a:t>
            </a:r>
            <a:r>
              <a:rPr lang="en-US" altLang="zh-CN" b="0" i="0" u="none" strike="noStrike" baseline="0" dirty="0">
                <a:solidFill>
                  <a:srgbClr val="000000"/>
                </a:solidFill>
                <a:cs typeface="+mn-ea"/>
                <a:sym typeface="+mn-lt"/>
              </a:rPr>
              <a:t>11.7(b)</a:t>
            </a:r>
            <a:r>
              <a:rPr lang="zh-CN" altLang="en-US" b="0" i="0" u="none" strike="noStrike" baseline="0" dirty="0">
                <a:solidFill>
                  <a:srgbClr val="000000"/>
                </a:solidFill>
                <a:cs typeface="+mn-ea"/>
                <a:sym typeface="+mn-lt"/>
              </a:rPr>
              <a:t>中所示。 我们可将边界想象成包含在图</a:t>
            </a:r>
            <a:r>
              <a:rPr lang="en-US" altLang="zh-CN" b="0" i="0" u="none" strike="noStrike" baseline="0" dirty="0">
                <a:solidFill>
                  <a:srgbClr val="000000"/>
                </a:solidFill>
                <a:cs typeface="+mn-ea"/>
                <a:sym typeface="+mn-lt"/>
              </a:rPr>
              <a:t>11.7(b)</a:t>
            </a:r>
            <a:r>
              <a:rPr lang="zh-CN" altLang="en-US" b="0" i="0" u="none" strike="noStrike" baseline="0" dirty="0">
                <a:solidFill>
                  <a:srgbClr val="000000"/>
                </a:solidFill>
                <a:cs typeface="+mn-ea"/>
                <a:sym typeface="+mn-lt"/>
              </a:rPr>
              <a:t>中灰色单元内的橡皮筋。</a:t>
            </a:r>
          </a:p>
        </p:txBody>
      </p:sp>
      <p:pic>
        <p:nvPicPr>
          <p:cNvPr id="5" name="图片 4">
            <a:extLst>
              <a:ext uri="{FF2B5EF4-FFF2-40B4-BE49-F238E27FC236}">
                <a16:creationId xmlns:a16="http://schemas.microsoft.com/office/drawing/2014/main" id="{F0171FA7-6AE8-BFBD-FF9E-85A910F161D6}"/>
              </a:ext>
            </a:extLst>
          </p:cNvPr>
          <p:cNvPicPr>
            <a:picLocks noChangeAspect="1"/>
          </p:cNvPicPr>
          <p:nvPr/>
        </p:nvPicPr>
        <p:blipFill>
          <a:blip r:embed="rId2"/>
          <a:stretch>
            <a:fillRect/>
          </a:stretch>
        </p:blipFill>
        <p:spPr>
          <a:xfrm>
            <a:off x="3347883" y="4086664"/>
            <a:ext cx="5496233" cy="2586850"/>
          </a:xfrm>
          <a:prstGeom prst="rect">
            <a:avLst/>
          </a:prstGeom>
        </p:spPr>
      </p:pic>
      <p:sp>
        <p:nvSpPr>
          <p:cNvPr id="6" name="矩形 5">
            <a:extLst>
              <a:ext uri="{FF2B5EF4-FFF2-40B4-BE49-F238E27FC236}">
                <a16:creationId xmlns:a16="http://schemas.microsoft.com/office/drawing/2014/main" id="{1558AE53-A51A-AE05-72DB-38770AE5A158}"/>
              </a:ext>
            </a:extLst>
          </p:cNvPr>
          <p:cNvSpPr/>
          <p:nvPr/>
        </p:nvSpPr>
        <p:spPr>
          <a:xfrm>
            <a:off x="801092" y="2446417"/>
            <a:ext cx="10589815" cy="159464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696318904"/>
      </p:ext>
    </p:extLst>
  </p:cSld>
  <p:clrMapOvr>
    <a:masterClrMapping/>
  </p:clrMapOvr>
  <p:transition spd="slow" advTm="0">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C7C362-79A0-CC38-4F7C-DF3CE78B0586}"/>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用最小周长多边形近似边界</a:t>
            </a:r>
          </a:p>
        </p:txBody>
      </p:sp>
      <p:sp>
        <p:nvSpPr>
          <p:cNvPr id="3" name="文本占位符 2">
            <a:extLst>
              <a:ext uri="{FF2B5EF4-FFF2-40B4-BE49-F238E27FC236}">
                <a16:creationId xmlns:a16="http://schemas.microsoft.com/office/drawing/2014/main" id="{20C83855-F9C7-E167-4E7F-1664EF607467}"/>
              </a:ext>
            </a:extLst>
          </p:cNvPr>
          <p:cNvSpPr>
            <a:spLocks noGrp="1"/>
          </p:cNvSpPr>
          <p:nvPr>
            <p:ph sz="quarter" idx="11"/>
          </p:nvPr>
        </p:nvSpPr>
        <p:spPr/>
        <p:txBody>
          <a:bodyPr>
            <a:noAutofit/>
          </a:bodyPr>
          <a:lstStyle/>
          <a:p>
            <a:pPr marL="0" marR="890" lvl="0" indent="0" rtl="0">
              <a:buNone/>
            </a:pPr>
            <a:r>
              <a:rPr lang="en-US" altLang="zh-CN" b="1" i="0" u="none" strike="noStrike" baseline="0" dirty="0">
                <a:solidFill>
                  <a:srgbClr val="000000"/>
                </a:solidFill>
                <a:cs typeface="+mn-ea"/>
                <a:sym typeface="+mn-lt"/>
              </a:rPr>
              <a:t>2.MPP</a:t>
            </a:r>
            <a:r>
              <a:rPr lang="zh-CN" altLang="en-US" b="1" i="0" u="none" strike="noStrike" baseline="0" dirty="0">
                <a:solidFill>
                  <a:srgbClr val="000000"/>
                </a:solidFill>
                <a:cs typeface="+mn-ea"/>
                <a:sym typeface="+mn-lt"/>
              </a:rPr>
              <a:t>  算法</a:t>
            </a:r>
          </a:p>
          <a:p>
            <a:pPr marL="0" marR="890" lvl="0" indent="0" rtl="0">
              <a:buNone/>
            </a:pPr>
            <a:r>
              <a:rPr lang="zh-CN" altLang="en-US" b="0" i="0" u="none" strike="noStrike" baseline="0" dirty="0">
                <a:solidFill>
                  <a:srgbClr val="000000"/>
                </a:solidFill>
                <a:cs typeface="+mn-ea"/>
                <a:sym typeface="+mn-lt"/>
              </a:rPr>
              <a:t>令蓝色</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表示镜像凹顶点，可以给出如下的观察结果：</a:t>
            </a:r>
          </a:p>
          <a:p>
            <a:pPr marL="0" marR="890" lvl="0" indent="0" rtl="0">
              <a:buNone/>
            </a:pP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 由简单连通的细胞复合体包围的</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不是自相交的。</a:t>
            </a:r>
          </a:p>
          <a:p>
            <a:pPr marL="0" marR="890" lvl="0" indent="0" rtl="0">
              <a:buNone/>
            </a:pPr>
            <a:r>
              <a:rPr lang="en-US" altLang="zh-CN" b="0" i="0" u="none" strike="noStrike" baseline="0" dirty="0">
                <a:solidFill>
                  <a:srgbClr val="000000"/>
                </a:solidFill>
                <a:cs typeface="+mn-ea"/>
                <a:sym typeface="+mn-lt"/>
              </a:rPr>
              <a:t>2.MPP</a:t>
            </a:r>
            <a:r>
              <a:rPr lang="zh-CN" altLang="en-US" b="0" i="0" u="none" strike="noStrike" baseline="0" dirty="0">
                <a:solidFill>
                  <a:srgbClr val="000000"/>
                </a:solidFill>
                <a:cs typeface="+mn-ea"/>
                <a:sym typeface="+mn-lt"/>
              </a:rPr>
              <a:t>的每个凸顶点都是</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 顶点，但边界上的每个</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顶点并不都是</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的顶点。</a:t>
            </a:r>
          </a:p>
          <a:p>
            <a:pPr marL="0" marR="890" lvl="0" indent="0" rtl="0">
              <a:buNone/>
            </a:pPr>
            <a:r>
              <a:rPr lang="en-US" altLang="zh-CN" b="0" i="0" u="none" strike="noStrike" baseline="0" dirty="0">
                <a:solidFill>
                  <a:srgbClr val="000000"/>
                </a:solidFill>
                <a:cs typeface="+mn-ea"/>
                <a:sym typeface="+mn-lt"/>
              </a:rPr>
              <a:t>3.MPP</a:t>
            </a:r>
            <a:r>
              <a:rPr lang="zh-CN" altLang="en-US" b="0" i="0" u="none" strike="noStrike" baseline="0" dirty="0">
                <a:solidFill>
                  <a:srgbClr val="000000"/>
                </a:solidFill>
                <a:cs typeface="+mn-ea"/>
                <a:sym typeface="+mn-lt"/>
              </a:rPr>
              <a:t>的每个镜像凹顶点都是</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顶点，但边界上的每个</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顶点并不都是</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的顶点。</a:t>
            </a:r>
          </a:p>
          <a:p>
            <a:pPr marL="0" marR="890" lvl="0" indent="0" rtl="0">
              <a:buNone/>
            </a:pP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 所有</a:t>
            </a:r>
            <a:r>
              <a:rPr lang="en-US" altLang="zh-CN" b="0" i="0" u="none" strike="noStrike" baseline="0" dirty="0">
                <a:solidFill>
                  <a:srgbClr val="000000"/>
                </a:solidFill>
                <a:cs typeface="+mn-ea"/>
                <a:sym typeface="+mn-lt"/>
              </a:rPr>
              <a:t>B</a:t>
            </a:r>
            <a:r>
              <a:rPr lang="zh-CN" altLang="en-US" b="0" i="0" u="none" strike="noStrike" baseline="0" dirty="0">
                <a:solidFill>
                  <a:srgbClr val="000000"/>
                </a:solidFill>
                <a:cs typeface="+mn-ea"/>
                <a:sym typeface="+mn-lt"/>
              </a:rPr>
              <a:t> 顶点都在</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上或在</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外部，所有</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顶点都在</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上或</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内部。</a:t>
            </a:r>
          </a:p>
          <a:p>
            <a:pPr marL="0" marR="890" lvl="0" indent="0" rtl="0">
              <a:buNone/>
            </a:pPr>
            <a:r>
              <a:rPr lang="en-US" altLang="zh-CN" b="0" i="0" u="none" strike="noStrike" baseline="0" dirty="0">
                <a:solidFill>
                  <a:srgbClr val="000000"/>
                </a:solidFill>
                <a:cs typeface="+mn-ea"/>
                <a:sym typeface="+mn-lt"/>
              </a:rPr>
              <a:t>5.</a:t>
            </a:r>
            <a:r>
              <a:rPr lang="zh-CN" altLang="en-US" b="0" i="0" u="none" strike="noStrike" baseline="0" dirty="0">
                <a:solidFill>
                  <a:srgbClr val="000000"/>
                </a:solidFill>
                <a:cs typeface="+mn-ea"/>
                <a:sym typeface="+mn-lt"/>
              </a:rPr>
              <a:t> 由细胞复合体包围的顶点序列中，最左上方的顶点总是</a:t>
            </a:r>
            <a:r>
              <a:rPr lang="en-US" altLang="zh-CN" b="0" i="0" u="none" strike="noStrike" baseline="0" dirty="0">
                <a:solidFill>
                  <a:srgbClr val="000000"/>
                </a:solidFill>
                <a:cs typeface="+mn-ea"/>
                <a:sym typeface="+mn-lt"/>
              </a:rPr>
              <a:t>MPP</a:t>
            </a:r>
            <a:r>
              <a:rPr lang="zh-CN" altLang="en-US" b="0" i="0" u="none" strike="noStrike" baseline="0" dirty="0">
                <a:solidFill>
                  <a:srgbClr val="000000"/>
                </a:solidFill>
                <a:cs typeface="+mn-ea"/>
                <a:sym typeface="+mn-lt"/>
              </a:rPr>
              <a:t>的一个</a:t>
            </a:r>
            <a:r>
              <a:rPr lang="en-US" altLang="zh-CN" b="0" i="0" u="none" strike="noStrike" baseline="0" dirty="0">
                <a:solidFill>
                  <a:srgbClr val="000000"/>
                </a:solidFill>
                <a:cs typeface="+mn-ea"/>
                <a:sym typeface="+mn-lt"/>
              </a:rPr>
              <a:t>W</a:t>
            </a:r>
            <a:r>
              <a:rPr lang="zh-CN" altLang="en-US" b="0" i="0" u="none" strike="noStrike" baseline="0" dirty="0">
                <a:solidFill>
                  <a:srgbClr val="000000"/>
                </a:solidFill>
                <a:cs typeface="+mn-ea"/>
                <a:sym typeface="+mn-lt"/>
              </a:rPr>
              <a:t>顶点</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见习题</a:t>
            </a:r>
            <a:r>
              <a:rPr lang="en-US" altLang="zh-CN" b="0" i="0" u="none" strike="noStrike" baseline="0" dirty="0">
                <a:solidFill>
                  <a:srgbClr val="000000"/>
                </a:solidFill>
                <a:cs typeface="+mn-ea"/>
                <a:sym typeface="+mn-lt"/>
              </a:rPr>
              <a:t>11.8)</a:t>
            </a:r>
            <a:r>
              <a:rPr lang="zh-CN" altLang="en-US" b="0" i="0" u="none" strike="noStrike" baseline="0" dirty="0">
                <a:solidFill>
                  <a:srgbClr val="000000"/>
                </a:solidFill>
                <a:cs typeface="+mn-ea"/>
                <a:sym typeface="+mn-lt"/>
              </a:rPr>
              <a:t>。</a:t>
            </a:r>
          </a:p>
        </p:txBody>
      </p:sp>
      <p:sp>
        <p:nvSpPr>
          <p:cNvPr id="4" name="矩形 3">
            <a:extLst>
              <a:ext uri="{FF2B5EF4-FFF2-40B4-BE49-F238E27FC236}">
                <a16:creationId xmlns:a16="http://schemas.microsoft.com/office/drawing/2014/main" id="{2A23A85A-A61E-5CB0-BA76-297C8846858E}"/>
              </a:ext>
            </a:extLst>
          </p:cNvPr>
          <p:cNvSpPr/>
          <p:nvPr/>
        </p:nvSpPr>
        <p:spPr>
          <a:xfrm>
            <a:off x="801092" y="2446416"/>
            <a:ext cx="10589815" cy="4033041"/>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005676658"/>
      </p:ext>
    </p:extLst>
  </p:cSld>
  <p:clrMapOvr>
    <a:masterClrMapping/>
  </p:clrMapOvr>
  <p:transition spd="slow" advTm="0">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1F22DDE-0BA1-E226-41B4-C3883E60912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标记图</a:t>
            </a:r>
          </a:p>
        </p:txBody>
      </p:sp>
      <p:sp>
        <p:nvSpPr>
          <p:cNvPr id="3" name="文本占位符 2">
            <a:extLst>
              <a:ext uri="{FF2B5EF4-FFF2-40B4-BE49-F238E27FC236}">
                <a16:creationId xmlns:a16="http://schemas.microsoft.com/office/drawing/2014/main" id="{5D79F8B2-BDC0-56AE-7838-42856FFC0547}"/>
              </a:ext>
            </a:extLst>
          </p:cNvPr>
          <p:cNvSpPr>
            <a:spLocks noGrp="1"/>
          </p:cNvSpPr>
          <p:nvPr>
            <p:ph sz="quarter" idx="12"/>
          </p:nvPr>
        </p:nvSpPr>
        <p:spPr/>
        <p:txBody>
          <a:bodyPr/>
          <a:lstStyle/>
          <a:p>
            <a:pPr marL="0" marR="890" lvl="0" indent="0" rtl="0">
              <a:buNone/>
            </a:pPr>
            <a:r>
              <a:rPr lang="zh-CN" altLang="en-US" b="0" i="0" u="none" strike="noStrike" baseline="0" dirty="0">
                <a:solidFill>
                  <a:srgbClr val="000000"/>
                </a:solidFill>
                <a:cs typeface="+mn-ea"/>
                <a:sym typeface="+mn-lt"/>
              </a:rPr>
              <a:t>标记图是二维边界的一维函数表示，它可以各种方式生成。最简单的方法之一是把质心到边界的距离画成角度的函数，如图</a:t>
            </a:r>
            <a:r>
              <a:rPr lang="en-US" altLang="zh-CN" b="0" i="0" u="none" strike="noStrike" baseline="0" dirty="0">
                <a:solidFill>
                  <a:srgbClr val="000000"/>
                </a:solidFill>
                <a:cs typeface="+mn-ea"/>
                <a:sym typeface="+mn-lt"/>
              </a:rPr>
              <a:t>11.10</a:t>
            </a:r>
            <a:r>
              <a:rPr lang="zh-CN" altLang="en-US" b="0" i="0" u="none" strike="noStrike" baseline="0" dirty="0">
                <a:solidFill>
                  <a:srgbClr val="000000"/>
                </a:solidFill>
                <a:cs typeface="+mn-ea"/>
                <a:sym typeface="+mn-lt"/>
              </a:rPr>
              <a:t>所示。使用标记图的基本思想是将边界表示简化为一维函数，因为一维函数与原始的二维边界相比更容易描述。</a:t>
            </a:r>
          </a:p>
        </p:txBody>
      </p:sp>
      <p:pic>
        <p:nvPicPr>
          <p:cNvPr id="5" name="图片 4">
            <a:extLst>
              <a:ext uri="{FF2B5EF4-FFF2-40B4-BE49-F238E27FC236}">
                <a16:creationId xmlns:a16="http://schemas.microsoft.com/office/drawing/2014/main" id="{36FB7654-409D-29C5-219D-ABDCAF2AE77D}"/>
              </a:ext>
            </a:extLst>
          </p:cNvPr>
          <p:cNvPicPr>
            <a:picLocks noChangeAspect="1"/>
          </p:cNvPicPr>
          <p:nvPr/>
        </p:nvPicPr>
        <p:blipFill>
          <a:blip r:embed="rId2"/>
          <a:stretch>
            <a:fillRect/>
          </a:stretch>
        </p:blipFill>
        <p:spPr>
          <a:xfrm>
            <a:off x="3916540" y="4007771"/>
            <a:ext cx="4358917" cy="2238922"/>
          </a:xfrm>
          <a:prstGeom prst="rect">
            <a:avLst/>
          </a:prstGeom>
        </p:spPr>
      </p:pic>
    </p:spTree>
    <p:extLst>
      <p:ext uri="{BB962C8B-B14F-4D97-AF65-F5344CB8AC3E}">
        <p14:creationId xmlns:p14="http://schemas.microsoft.com/office/powerpoint/2010/main" val="1273184890"/>
      </p:ext>
    </p:extLst>
  </p:cSld>
  <p:clrMapOvr>
    <a:masterClrMapping/>
  </p:clrMapOvr>
  <p:transition spd="slow" advTm="0">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7E3C9B6-6CDD-DE8F-5F8C-7E77C5268BF0}"/>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骨架、中轴和距离变换</a:t>
            </a:r>
          </a:p>
        </p:txBody>
      </p:sp>
      <p:sp>
        <p:nvSpPr>
          <p:cNvPr id="3" name="文本占位符 2">
            <a:extLst>
              <a:ext uri="{FF2B5EF4-FFF2-40B4-BE49-F238E27FC236}">
                <a16:creationId xmlns:a16="http://schemas.microsoft.com/office/drawing/2014/main" id="{F54C8051-284E-D624-05B7-8BD9ACE95EB8}"/>
              </a:ext>
            </a:extLst>
          </p:cNvPr>
          <p:cNvSpPr>
            <a:spLocks noGrp="1"/>
          </p:cNvSpPr>
          <p:nvPr>
            <p:ph sz="quarter" idx="11"/>
          </p:nvPr>
        </p:nvSpPr>
        <p:spPr/>
        <p:txBody>
          <a:bodyPr>
            <a:normAutofit/>
          </a:bodyPr>
          <a:lstStyle/>
          <a:p>
            <a:pPr marL="0" marR="890" lvl="0" indent="0" rtl="0">
              <a:buNone/>
            </a:pPr>
            <a:r>
              <a:rPr lang="zh-CN" altLang="en-US" b="0" i="0" u="none" strike="noStrike" baseline="0" dirty="0">
                <a:solidFill>
                  <a:srgbClr val="000000"/>
                </a:solidFill>
                <a:cs typeface="+mn-ea"/>
                <a:sym typeface="+mn-lt"/>
              </a:rPr>
              <a:t>获取骨架时采用如下两种方法之一：</a:t>
            </a:r>
            <a:r>
              <a:rPr lang="en-US" altLang="zh-CN" b="0" i="0" u="none" strike="noStrike" baseline="0" dirty="0">
                <a:solidFill>
                  <a:srgbClr val="000000"/>
                </a:solidFill>
                <a:cs typeface="+mn-ea"/>
                <a:sym typeface="+mn-lt"/>
              </a:rPr>
              <a:t>(1)</a:t>
            </a:r>
            <a:r>
              <a:rPr lang="zh-CN" altLang="en-US" b="0" i="0" u="none" strike="noStrike" baseline="0" dirty="0">
                <a:solidFill>
                  <a:srgbClr val="000000"/>
                </a:solidFill>
                <a:cs typeface="+mn-ea"/>
                <a:sym typeface="+mn-lt"/>
              </a:rPr>
              <a:t>在保持端点和线的连通性的同时，</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如使用形态学腐蚀</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连续细化区域</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这种方法称为拓扑保持细化</a:t>
            </a:r>
            <a:r>
              <a:rPr lang="en-US" altLang="zh-CN" b="0" i="0" u="none" strike="noStrike" baseline="0" dirty="0">
                <a:solidFill>
                  <a:srgbClr val="000000"/>
                </a:solidFill>
                <a:cs typeface="+mn-ea"/>
                <a:sym typeface="+mn-lt"/>
              </a:rPr>
              <a:t>);(2)</a:t>
            </a:r>
            <a:r>
              <a:rPr lang="zh-CN" altLang="en-US" b="0" i="0" u="none" strike="noStrike" baseline="0" dirty="0">
                <a:solidFill>
                  <a:srgbClr val="000000"/>
                </a:solidFill>
                <a:cs typeface="+mn-ea"/>
                <a:sym typeface="+mn-lt"/>
              </a:rPr>
              <a:t>通过有效实现 </a:t>
            </a:r>
            <a:r>
              <a:rPr lang="en-US" altLang="zh-CN" b="0" i="0" u="none" strike="noStrike" baseline="0" dirty="0">
                <a:solidFill>
                  <a:srgbClr val="000000"/>
                </a:solidFill>
                <a:cs typeface="+mn-ea"/>
                <a:sym typeface="+mn-lt"/>
              </a:rPr>
              <a:t>Blum[1967]</a:t>
            </a:r>
            <a:r>
              <a:rPr lang="zh-CN" altLang="en-US" b="0" i="0" u="none" strike="noStrike" baseline="0" dirty="0">
                <a:solidFill>
                  <a:srgbClr val="000000"/>
                </a:solidFill>
                <a:cs typeface="+mn-ea"/>
                <a:sym typeface="+mn-lt"/>
              </a:rPr>
              <a:t>提出的中轴变换</a:t>
            </a:r>
            <a:r>
              <a:rPr lang="en-US" altLang="zh-CN" b="0" i="0" u="none" strike="noStrike" baseline="0" dirty="0">
                <a:solidFill>
                  <a:srgbClr val="000000"/>
                </a:solidFill>
                <a:cs typeface="+mn-ea"/>
                <a:sym typeface="+mn-lt"/>
              </a:rPr>
              <a:t>(MAT)</a:t>
            </a:r>
            <a:r>
              <a:rPr lang="zh-CN" altLang="en-US" b="0" i="0" u="none" strike="noStrike" baseline="0" dirty="0">
                <a:solidFill>
                  <a:srgbClr val="000000"/>
                </a:solidFill>
                <a:cs typeface="+mn-ea"/>
                <a:sym typeface="+mn-lt"/>
              </a:rPr>
              <a:t>  来计算区域的中轴。图</a:t>
            </a:r>
            <a:r>
              <a:rPr lang="en-US" altLang="zh-CN" b="0" i="0" u="none" strike="noStrike" baseline="0" dirty="0">
                <a:solidFill>
                  <a:srgbClr val="000000"/>
                </a:solidFill>
                <a:cs typeface="+mn-ea"/>
                <a:sym typeface="+mn-lt"/>
              </a:rPr>
              <a:t>11.12</a:t>
            </a:r>
            <a:r>
              <a:rPr lang="zh-CN" altLang="en-US" b="0" i="0" u="none" strike="noStrike" baseline="0" dirty="0">
                <a:solidFill>
                  <a:srgbClr val="000000"/>
                </a:solidFill>
                <a:cs typeface="+mn-ea"/>
                <a:sym typeface="+mn-lt"/>
              </a:rPr>
              <a:t>显示了一些使用欧氏距离的例子。使用欧氏距离时，得到的骨架与使用</a:t>
            </a:r>
            <a:r>
              <a:rPr lang="en-US" altLang="zh-CN" b="0" i="0" u="none" strike="noStrike" baseline="0" dirty="0">
                <a:solidFill>
                  <a:srgbClr val="000000"/>
                </a:solidFill>
                <a:cs typeface="+mn-ea"/>
                <a:sym typeface="+mn-lt"/>
              </a:rPr>
              <a:t>9.5</a:t>
            </a:r>
            <a:r>
              <a:rPr lang="zh-CN" altLang="en-US" b="0" i="0" u="none" strike="noStrike" baseline="0" dirty="0">
                <a:solidFill>
                  <a:srgbClr val="000000"/>
                </a:solidFill>
                <a:cs typeface="+mn-ea"/>
                <a:sym typeface="+mn-lt"/>
              </a:rPr>
              <a:t> 节中的最大圆盘获得的骨架相同。一个区域的骨架定义为这个区域的中轴。</a:t>
            </a:r>
          </a:p>
        </p:txBody>
      </p:sp>
      <p:pic>
        <p:nvPicPr>
          <p:cNvPr id="5" name="图片 4">
            <a:extLst>
              <a:ext uri="{FF2B5EF4-FFF2-40B4-BE49-F238E27FC236}">
                <a16:creationId xmlns:a16="http://schemas.microsoft.com/office/drawing/2014/main" id="{6A5A2433-2810-9BEA-A24A-0AAAAD146E1B}"/>
              </a:ext>
            </a:extLst>
          </p:cNvPr>
          <p:cNvPicPr>
            <a:picLocks noChangeAspect="1"/>
          </p:cNvPicPr>
          <p:nvPr/>
        </p:nvPicPr>
        <p:blipFill>
          <a:blip r:embed="rId2"/>
          <a:stretch>
            <a:fillRect/>
          </a:stretch>
        </p:blipFill>
        <p:spPr>
          <a:xfrm>
            <a:off x="3730880" y="4498634"/>
            <a:ext cx="4730238" cy="2036837"/>
          </a:xfrm>
          <a:prstGeom prst="rect">
            <a:avLst/>
          </a:prstGeom>
        </p:spPr>
      </p:pic>
      <p:sp>
        <p:nvSpPr>
          <p:cNvPr id="6" name="矩形 5">
            <a:extLst>
              <a:ext uri="{FF2B5EF4-FFF2-40B4-BE49-F238E27FC236}">
                <a16:creationId xmlns:a16="http://schemas.microsoft.com/office/drawing/2014/main" id="{4CEC29EA-7CCD-225B-75A4-702D50F60342}"/>
              </a:ext>
            </a:extLst>
          </p:cNvPr>
          <p:cNvSpPr/>
          <p:nvPr/>
        </p:nvSpPr>
        <p:spPr>
          <a:xfrm>
            <a:off x="801092" y="2446417"/>
            <a:ext cx="10589815" cy="1904733"/>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101659341"/>
      </p:ext>
    </p:extLst>
  </p:cSld>
  <p:clrMapOvr>
    <a:masterClrMapping/>
  </p:clrMapOvr>
  <p:transition spd="slow" advTm="0">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724545" y="2221637"/>
            <a:ext cx="5731905" cy="2414726"/>
            <a:chOff x="5943478" y="2292214"/>
            <a:chExt cx="5731905"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03</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5943478" y="3937499"/>
              <a:ext cx="5731905"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边界特征描述子</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934639200"/>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1AC5B82-F9C9-9D13-77CF-B67C100F0EC6}"/>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形状数</a:t>
            </a:r>
          </a:p>
        </p:txBody>
      </p:sp>
      <p:sp>
        <p:nvSpPr>
          <p:cNvPr id="3" name="文本占位符 2">
            <a:extLst>
              <a:ext uri="{FF2B5EF4-FFF2-40B4-BE49-F238E27FC236}">
                <a16:creationId xmlns:a16="http://schemas.microsoft.com/office/drawing/2014/main" id="{AA5E3205-9037-3596-C9C9-7BF558781BCE}"/>
              </a:ext>
            </a:extLst>
          </p:cNvPr>
          <p:cNvSpPr>
            <a:spLocks noGrp="1"/>
          </p:cNvSpPr>
          <p:nvPr>
            <p:ph sz="quarter" idx="11"/>
          </p:nvPr>
        </p:nvSpPr>
        <p:spPr/>
        <p:txBody>
          <a:bodyPr>
            <a:normAutofit/>
          </a:bodyPr>
          <a:lstStyle/>
          <a:p>
            <a:pPr marL="0" marR="89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11.16</a:t>
            </a:r>
            <a:r>
              <a:rPr lang="zh-CN" altLang="en-US" b="0" i="0" u="none" strike="noStrike" baseline="0" dirty="0">
                <a:solidFill>
                  <a:srgbClr val="000000"/>
                </a:solidFill>
                <a:cs typeface="+mn-ea"/>
                <a:sym typeface="+mn-lt"/>
              </a:rPr>
              <a:t> 显示了阶为</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a:t>
            </a:r>
            <a:r>
              <a:rPr lang="en-US" altLang="zh-CN" b="0" i="0" u="none" strike="noStrike" baseline="0" dirty="0">
                <a:solidFill>
                  <a:srgbClr val="000000"/>
                </a:solidFill>
                <a:cs typeface="+mn-ea"/>
                <a:sym typeface="+mn-lt"/>
              </a:rPr>
              <a:t>6</a:t>
            </a:r>
            <a:r>
              <a:rPr lang="zh-CN" altLang="en-US" b="0" i="0" u="none" strike="noStrike" baseline="0" dirty="0">
                <a:solidFill>
                  <a:srgbClr val="000000"/>
                </a:solidFill>
                <a:cs typeface="+mn-ea"/>
                <a:sym typeface="+mn-lt"/>
              </a:rPr>
              <a:t>和</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的所有形状，以及它们的链码表示、一阶差分和对应的形状数。虽然</a:t>
            </a:r>
            <a:r>
              <a:rPr lang="en-US" altLang="zh-CN" b="0" i="0" u="none" strike="noStrike" baseline="0" dirty="0">
                <a:solidFill>
                  <a:srgbClr val="000000"/>
                </a:solidFill>
                <a:cs typeface="+mn-ea"/>
                <a:sym typeface="+mn-lt"/>
              </a:rPr>
              <a:t>4</a:t>
            </a:r>
            <a:r>
              <a:rPr lang="zh-CN" altLang="en-US" b="0" i="0" u="none" strike="noStrike" baseline="0" dirty="0">
                <a:solidFill>
                  <a:srgbClr val="000000"/>
                </a:solidFill>
                <a:cs typeface="+mn-ea"/>
                <a:sym typeface="+mn-lt"/>
              </a:rPr>
              <a:t>方向链码的一阶差分与</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增量为</a:t>
            </a:r>
            <a:r>
              <a:rPr lang="en-US" altLang="zh-CN" b="0" i="0" u="none" strike="noStrike" baseline="0" dirty="0">
                <a:solidFill>
                  <a:srgbClr val="000000"/>
                </a:solidFill>
                <a:cs typeface="+mn-ea"/>
                <a:sym typeface="+mn-lt"/>
              </a:rPr>
              <a:t>90°</a:t>
            </a:r>
            <a:r>
              <a:rPr lang="zh-CN" altLang="en-US" b="0" i="0" u="none" strike="noStrike" baseline="0" dirty="0">
                <a:solidFill>
                  <a:srgbClr val="000000"/>
                </a:solidFill>
                <a:cs typeface="+mn-ea"/>
                <a:sym typeface="+mn-lt"/>
              </a:rPr>
              <a:t>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旋转无关，但编码后的边界通常依赖于网格的方向。归一化网格方向的一种方法是让链码网格与上一节定义的基本矩形的两侧对齐。</a:t>
            </a:r>
          </a:p>
        </p:txBody>
      </p:sp>
      <p:pic>
        <p:nvPicPr>
          <p:cNvPr id="5" name="图片 4">
            <a:extLst>
              <a:ext uri="{FF2B5EF4-FFF2-40B4-BE49-F238E27FC236}">
                <a16:creationId xmlns:a16="http://schemas.microsoft.com/office/drawing/2014/main" id="{8738FEFB-581A-A8D6-277B-3DC3B9D9B6C3}"/>
              </a:ext>
            </a:extLst>
          </p:cNvPr>
          <p:cNvPicPr>
            <a:picLocks noChangeAspect="1"/>
          </p:cNvPicPr>
          <p:nvPr/>
        </p:nvPicPr>
        <p:blipFill>
          <a:blip r:embed="rId2"/>
          <a:stretch>
            <a:fillRect/>
          </a:stretch>
        </p:blipFill>
        <p:spPr>
          <a:xfrm>
            <a:off x="4479360" y="4053066"/>
            <a:ext cx="3233277" cy="2714628"/>
          </a:xfrm>
          <a:prstGeom prst="rect">
            <a:avLst/>
          </a:prstGeom>
        </p:spPr>
      </p:pic>
      <p:sp>
        <p:nvSpPr>
          <p:cNvPr id="6" name="矩形 5">
            <a:extLst>
              <a:ext uri="{FF2B5EF4-FFF2-40B4-BE49-F238E27FC236}">
                <a16:creationId xmlns:a16="http://schemas.microsoft.com/office/drawing/2014/main" id="{27600BA6-96F7-F68C-2293-462F10044135}"/>
              </a:ext>
            </a:extLst>
          </p:cNvPr>
          <p:cNvSpPr/>
          <p:nvPr/>
        </p:nvSpPr>
        <p:spPr>
          <a:xfrm>
            <a:off x="801092" y="2446417"/>
            <a:ext cx="10589815" cy="1498494"/>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932968724"/>
      </p:ext>
    </p:extLst>
  </p:cSld>
  <p:clrMapOvr>
    <a:masterClrMapping/>
  </p:clrMapOvr>
  <p:transition spd="slow" advTm="0">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66103-02B8-636C-DC51-3498E656EF0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傅里叶描述子</a:t>
            </a:r>
          </a:p>
        </p:txBody>
      </p:sp>
      <p:sp>
        <p:nvSpPr>
          <p:cNvPr id="3" name="文本占位符 2">
            <a:extLst>
              <a:ext uri="{FF2B5EF4-FFF2-40B4-BE49-F238E27FC236}">
                <a16:creationId xmlns:a16="http://schemas.microsoft.com/office/drawing/2014/main" id="{CDEAC6D3-1AA1-EB24-72B0-E7CE334E67A0}"/>
              </a:ext>
            </a:extLst>
          </p:cNvPr>
          <p:cNvSpPr>
            <a:spLocks noGrp="1"/>
          </p:cNvSpPr>
          <p:nvPr>
            <p:ph sz="quarter" idx="12"/>
          </p:nvPr>
        </p:nvSpPr>
        <p:spPr/>
        <p:txBody>
          <a:bodyPr/>
          <a:lstStyle/>
          <a:p>
            <a:pPr marL="0" marR="89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11.18</a:t>
            </a:r>
            <a:r>
              <a:rPr lang="zh-CN" altLang="en-US" b="0" i="0" u="none" strike="noStrike" baseline="0" dirty="0">
                <a:solidFill>
                  <a:srgbClr val="000000"/>
                </a:solidFill>
                <a:cs typeface="+mn-ea"/>
                <a:sym typeface="+mn-lt"/>
              </a:rPr>
              <a:t>显示了</a:t>
            </a:r>
            <a:r>
              <a:rPr lang="en-US" altLang="zh-CN"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 平面上的一个数字边界，它由</a:t>
            </a:r>
            <a:r>
              <a:rPr lang="en-US" altLang="zh-CN" b="0" i="0" u="none" strike="noStrike" baseline="0" dirty="0">
                <a:solidFill>
                  <a:srgbClr val="000000"/>
                </a:solidFill>
                <a:cs typeface="+mn-ea"/>
                <a:sym typeface="+mn-lt"/>
              </a:rPr>
              <a:t>K</a:t>
            </a:r>
            <a:r>
              <a:rPr lang="zh-CN" altLang="en-US" b="0" i="0" u="none" strike="noStrike" baseline="0" dirty="0">
                <a:solidFill>
                  <a:srgbClr val="000000"/>
                </a:solidFill>
                <a:cs typeface="+mn-ea"/>
                <a:sym typeface="+mn-lt"/>
              </a:rPr>
              <a:t>个点组成。</a:t>
            </a:r>
          </a:p>
        </p:txBody>
      </p:sp>
      <p:pic>
        <p:nvPicPr>
          <p:cNvPr id="5" name="图片 4">
            <a:extLst>
              <a:ext uri="{FF2B5EF4-FFF2-40B4-BE49-F238E27FC236}">
                <a16:creationId xmlns:a16="http://schemas.microsoft.com/office/drawing/2014/main" id="{E022FEFD-ECE1-861D-3965-B27C240320F4}"/>
              </a:ext>
            </a:extLst>
          </p:cNvPr>
          <p:cNvPicPr>
            <a:picLocks noChangeAspect="1"/>
          </p:cNvPicPr>
          <p:nvPr/>
        </p:nvPicPr>
        <p:blipFill>
          <a:blip r:embed="rId2"/>
          <a:stretch>
            <a:fillRect/>
          </a:stretch>
        </p:blipFill>
        <p:spPr>
          <a:xfrm>
            <a:off x="4596541" y="3092132"/>
            <a:ext cx="2998918" cy="3255235"/>
          </a:xfrm>
          <a:prstGeom prst="rect">
            <a:avLst/>
          </a:prstGeom>
        </p:spPr>
      </p:pic>
    </p:spTree>
    <p:extLst>
      <p:ext uri="{BB962C8B-B14F-4D97-AF65-F5344CB8AC3E}">
        <p14:creationId xmlns:p14="http://schemas.microsoft.com/office/powerpoint/2010/main" val="3808237349"/>
      </p:ext>
    </p:extLst>
  </p:cSld>
  <p:clrMapOvr>
    <a:masterClrMapping/>
  </p:clrMapOvr>
  <p:transition spd="slow" advTm="0">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8B3633-C142-1365-1836-79208809684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统计矩</a:t>
            </a:r>
          </a:p>
        </p:txBody>
      </p:sp>
      <p:sp>
        <p:nvSpPr>
          <p:cNvPr id="3" name="文本占位符 2">
            <a:extLst>
              <a:ext uri="{FF2B5EF4-FFF2-40B4-BE49-F238E27FC236}">
                <a16:creationId xmlns:a16="http://schemas.microsoft.com/office/drawing/2014/main" id="{D88827D0-2F1B-9079-6CDF-3CA2178F5CD7}"/>
              </a:ext>
            </a:extLst>
          </p:cNvPr>
          <p:cNvSpPr>
            <a:spLocks noGrp="1"/>
          </p:cNvSpPr>
          <p:nvPr>
            <p:ph sz="quarter" idx="12"/>
          </p:nvPr>
        </p:nvSpPr>
        <p:spPr/>
        <p:txBody>
          <a:bodyPr/>
          <a:lstStyle/>
          <a:p>
            <a:pPr marL="0" marR="890" lvl="0" indent="0" rtl="0">
              <a:buNone/>
            </a:pPr>
            <a:r>
              <a:rPr lang="zh-CN" altLang="en-US" b="0" i="0" u="none" strike="noStrike" baseline="0" dirty="0">
                <a:solidFill>
                  <a:srgbClr val="000000"/>
                </a:solidFill>
                <a:cs typeface="+mn-ea"/>
                <a:sym typeface="+mn-lt"/>
              </a:rPr>
              <a:t>就像标记图那样，变量的统计矩是适用于二维边界的一维表示的有用描述子。为了解如何实现这一点，我们考虑图</a:t>
            </a:r>
            <a:r>
              <a:rPr lang="en-US" altLang="zh-CN" b="0" i="0" u="none" strike="noStrike" baseline="0" dirty="0">
                <a:solidFill>
                  <a:srgbClr val="000000"/>
                </a:solidFill>
                <a:cs typeface="+mn-ea"/>
                <a:sym typeface="+mn-lt"/>
              </a:rPr>
              <a:t>11.20,</a:t>
            </a:r>
            <a:r>
              <a:rPr lang="zh-CN" altLang="en-US" b="0" i="0" u="none" strike="noStrike" baseline="0" dirty="0">
                <a:solidFill>
                  <a:srgbClr val="000000"/>
                </a:solidFill>
                <a:cs typeface="+mn-ea"/>
                <a:sym typeface="+mn-lt"/>
              </a:rPr>
              <a:t>它是图</a:t>
            </a:r>
            <a:r>
              <a:rPr lang="en-US" altLang="zh-CN" b="0" i="0" u="none" strike="noStrike" baseline="0" dirty="0">
                <a:solidFill>
                  <a:srgbClr val="000000"/>
                </a:solidFill>
                <a:cs typeface="+mn-ea"/>
                <a:sym typeface="+mn-lt"/>
              </a:rPr>
              <a:t>11.10(b)</a:t>
            </a:r>
            <a:r>
              <a:rPr lang="zh-CN" altLang="en-US" b="0" i="0" u="none" strike="noStrike" baseline="0" dirty="0">
                <a:solidFill>
                  <a:srgbClr val="000000"/>
                </a:solidFill>
                <a:cs typeface="+mn-ea"/>
                <a:sym typeface="+mn-lt"/>
              </a:rPr>
              <a:t>取样后的标记图，可将它视为变量</a:t>
            </a:r>
            <a:r>
              <a:rPr lang="en-US" altLang="zh-CN" b="0" i="0" u="none" strike="noStrike" baseline="0" dirty="0">
                <a:solidFill>
                  <a:srgbClr val="000000"/>
                </a:solidFill>
                <a:cs typeface="+mn-ea"/>
                <a:sym typeface="+mn-lt"/>
              </a:rPr>
              <a:t>r</a:t>
            </a:r>
            <a:r>
              <a:rPr lang="zh-CN" altLang="en-US" b="0" i="0" u="none" strike="noStrike" baseline="0" dirty="0">
                <a:solidFill>
                  <a:srgbClr val="000000"/>
                </a:solidFill>
                <a:cs typeface="+mn-ea"/>
                <a:sym typeface="+mn-lt"/>
              </a:rPr>
              <a:t> 的一个普通离散函数</a:t>
            </a:r>
            <a:r>
              <a:rPr lang="en-US" altLang="zh-CN" b="0" i="0" u="none" strike="noStrike" baseline="0" dirty="0">
                <a:solidFill>
                  <a:srgbClr val="000000"/>
                </a:solidFill>
                <a:cs typeface="+mn-ea"/>
                <a:sym typeface="+mn-lt"/>
              </a:rPr>
              <a:t>g(r)</a:t>
            </a:r>
            <a:r>
              <a:rPr lang="zh-CN" altLang="en-US" b="0" i="0" u="none" strike="noStrike" baseline="0" dirty="0">
                <a:solidFill>
                  <a:srgbClr val="000000"/>
                </a:solidFill>
                <a:cs typeface="+mn-ea"/>
                <a:sym typeface="+mn-lt"/>
              </a:rPr>
              <a:t>。</a:t>
            </a:r>
          </a:p>
        </p:txBody>
      </p:sp>
      <p:pic>
        <p:nvPicPr>
          <p:cNvPr id="5" name="图片 4">
            <a:extLst>
              <a:ext uri="{FF2B5EF4-FFF2-40B4-BE49-F238E27FC236}">
                <a16:creationId xmlns:a16="http://schemas.microsoft.com/office/drawing/2014/main" id="{7349A225-FE9A-F2BF-3372-7C7548F51BC6}"/>
              </a:ext>
            </a:extLst>
          </p:cNvPr>
          <p:cNvPicPr>
            <a:picLocks noChangeAspect="1"/>
          </p:cNvPicPr>
          <p:nvPr/>
        </p:nvPicPr>
        <p:blipFill>
          <a:blip r:embed="rId2"/>
          <a:stretch>
            <a:fillRect/>
          </a:stretch>
        </p:blipFill>
        <p:spPr>
          <a:xfrm>
            <a:off x="3505199" y="4217424"/>
            <a:ext cx="5181600" cy="1943100"/>
          </a:xfrm>
          <a:prstGeom prst="rect">
            <a:avLst/>
          </a:prstGeom>
        </p:spPr>
      </p:pic>
    </p:spTree>
    <p:extLst>
      <p:ext uri="{BB962C8B-B14F-4D97-AF65-F5344CB8AC3E}">
        <p14:creationId xmlns:p14="http://schemas.microsoft.com/office/powerpoint/2010/main" val="2810583461"/>
      </p:ext>
    </p:extLst>
  </p:cSld>
  <p:clrMapOvr>
    <a:masterClrMapping/>
  </p:clrMapOvr>
  <p:transition spd="slow" advTm="0">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04</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区域特征描述子</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449393809"/>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7AFC0B-1E7F-B98D-071B-4E5B8A759F1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一些基本的描述子</a:t>
            </a:r>
          </a:p>
        </p:txBody>
      </p:sp>
      <p:sp>
        <p:nvSpPr>
          <p:cNvPr id="3" name="文本占位符 2">
            <a:extLst>
              <a:ext uri="{FF2B5EF4-FFF2-40B4-BE49-F238E27FC236}">
                <a16:creationId xmlns:a16="http://schemas.microsoft.com/office/drawing/2014/main" id="{93683A7D-C12E-416F-1F04-EF67E462ED75}"/>
              </a:ext>
            </a:extLst>
          </p:cNvPr>
          <p:cNvSpPr>
            <a:spLocks noGrp="1"/>
          </p:cNvSpPr>
          <p:nvPr>
            <p:ph sz="quarter" idx="12"/>
          </p:nvPr>
        </p:nvSpPr>
        <p:spPr/>
        <p:txBody>
          <a:bodyPr/>
          <a:lstStyle/>
          <a:p>
            <a:pPr marL="0" marR="890" lvl="0" indent="0" rtl="0">
              <a:buNone/>
            </a:pPr>
            <a:r>
              <a:rPr lang="zh-CN" altLang="en-US" b="0" i="0" u="none" strike="noStrike" baseline="0" dirty="0">
                <a:solidFill>
                  <a:srgbClr val="000000"/>
                </a:solidFill>
                <a:cs typeface="+mn-ea"/>
                <a:sym typeface="+mn-lt"/>
              </a:rPr>
              <a:t>前面为边界定义了区域的长轴和短轴及外接矩形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也称界限盒</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。区域的面积被定义为该区域中的像素数量。区域的周长是其边界的长度。使用面积和周长作为描述子时，它们通常只在被归一化后才有意义</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例</a:t>
            </a:r>
            <a:r>
              <a:rPr lang="en-US" altLang="zh-CN" b="0" i="0" u="none" strike="noStrike" baseline="0" dirty="0">
                <a:solidFill>
                  <a:srgbClr val="000000"/>
                </a:solidFill>
                <a:cs typeface="+mn-ea"/>
                <a:sym typeface="+mn-lt"/>
              </a:rPr>
              <a:t>11.9</a:t>
            </a:r>
            <a:r>
              <a:rPr lang="zh-CN" altLang="en-US" b="0" i="0" u="none" strike="noStrike" baseline="0" dirty="0">
                <a:solidFill>
                  <a:srgbClr val="000000"/>
                </a:solidFill>
                <a:cs typeface="+mn-ea"/>
                <a:sym typeface="+mn-lt"/>
              </a:rPr>
              <a:t> 中显示了这一应用</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。我们通常频繁地使用这两个描述子来度量区域的紧致度，紧致度定义为周长的平方与面积之比：</a:t>
            </a:r>
          </a:p>
        </p:txBody>
      </p:sp>
      <p:pic>
        <p:nvPicPr>
          <p:cNvPr id="5" name="图片 4">
            <a:extLst>
              <a:ext uri="{FF2B5EF4-FFF2-40B4-BE49-F238E27FC236}">
                <a16:creationId xmlns:a16="http://schemas.microsoft.com/office/drawing/2014/main" id="{F6340482-18A5-E8D2-5400-E289EF420B43}"/>
              </a:ext>
            </a:extLst>
          </p:cNvPr>
          <p:cNvPicPr>
            <a:picLocks noChangeAspect="1"/>
          </p:cNvPicPr>
          <p:nvPr/>
        </p:nvPicPr>
        <p:blipFill>
          <a:blip r:embed="rId2"/>
          <a:stretch>
            <a:fillRect/>
          </a:stretch>
        </p:blipFill>
        <p:spPr>
          <a:xfrm>
            <a:off x="5070008" y="4492599"/>
            <a:ext cx="2051983" cy="809626"/>
          </a:xfrm>
          <a:prstGeom prst="rect">
            <a:avLst/>
          </a:prstGeom>
        </p:spPr>
      </p:pic>
    </p:spTree>
    <p:extLst>
      <p:ext uri="{BB962C8B-B14F-4D97-AF65-F5344CB8AC3E}">
        <p14:creationId xmlns:p14="http://schemas.microsoft.com/office/powerpoint/2010/main" val="2730880815"/>
      </p:ext>
    </p:extLst>
  </p:cSld>
  <p:clrMapOvr>
    <a:masterClrMapping/>
  </p:clrMapOvr>
  <p:transition spd="slow" advTm="0">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E0818FD-32CB-9386-A433-D5AFC52D6F6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拓扑描述子</a:t>
            </a:r>
          </a:p>
        </p:txBody>
      </p:sp>
      <p:sp>
        <p:nvSpPr>
          <p:cNvPr id="3" name="文本占位符 2">
            <a:extLst>
              <a:ext uri="{FF2B5EF4-FFF2-40B4-BE49-F238E27FC236}">
                <a16:creationId xmlns:a16="http://schemas.microsoft.com/office/drawing/2014/main" id="{44C46125-8F45-4B21-D389-40D37FFDA92A}"/>
              </a:ext>
            </a:extLst>
          </p:cNvPr>
          <p:cNvSpPr>
            <a:spLocks noGrp="1"/>
          </p:cNvSpPr>
          <p:nvPr>
            <p:ph sz="quarter" idx="11"/>
          </p:nvPr>
        </p:nvSpPr>
        <p:spPr/>
        <p:txBody>
          <a:bodyPr/>
          <a:lstStyle/>
          <a:p>
            <a:pPr marL="0" marR="890" lvl="0" indent="0" rtl="0">
              <a:buNone/>
            </a:pPr>
            <a:r>
              <a:rPr lang="zh-CN" altLang="en-US" b="0" i="0" u="none" strike="noStrike" baseline="0" dirty="0">
                <a:solidFill>
                  <a:srgbClr val="000000"/>
                </a:solidFill>
                <a:cs typeface="+mn-ea"/>
                <a:sym typeface="+mn-lt"/>
              </a:rPr>
              <a:t>拓扑学研究的是图形不受任何变形影响的性质，前提是图形未被撕裂或拼合</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有时将这些变形称 为橡胶膜变形</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。例如，图</a:t>
            </a:r>
            <a:r>
              <a:rPr lang="en-US" altLang="zh-CN" b="0" i="0" u="none" strike="noStrike" baseline="0" dirty="0">
                <a:solidFill>
                  <a:srgbClr val="000000"/>
                </a:solidFill>
                <a:cs typeface="+mn-ea"/>
                <a:sym typeface="+mn-lt"/>
              </a:rPr>
              <a:t>11.25(a)</a:t>
            </a:r>
            <a:r>
              <a:rPr lang="zh-CN" altLang="en-US" b="0" i="0" u="none" strike="noStrike" baseline="0" dirty="0">
                <a:solidFill>
                  <a:srgbClr val="000000"/>
                </a:solidFill>
                <a:cs typeface="+mn-ea"/>
                <a:sym typeface="+mn-lt"/>
              </a:rPr>
              <a:t>显示了一个内部有两个孔洞的区域。显然，将拓扑描述子定义为这个区域的孔洞数量不会受拉伸或旋转变换的影响。</a:t>
            </a:r>
          </a:p>
        </p:txBody>
      </p:sp>
      <p:pic>
        <p:nvPicPr>
          <p:cNvPr id="5" name="图片 4">
            <a:extLst>
              <a:ext uri="{FF2B5EF4-FFF2-40B4-BE49-F238E27FC236}">
                <a16:creationId xmlns:a16="http://schemas.microsoft.com/office/drawing/2014/main" id="{568ECF33-741D-135C-8E1A-53DEAE7952EA}"/>
              </a:ext>
            </a:extLst>
          </p:cNvPr>
          <p:cNvPicPr>
            <a:picLocks noChangeAspect="1"/>
          </p:cNvPicPr>
          <p:nvPr/>
        </p:nvPicPr>
        <p:blipFill>
          <a:blip r:embed="rId2"/>
          <a:stretch>
            <a:fillRect/>
          </a:stretch>
        </p:blipFill>
        <p:spPr>
          <a:xfrm>
            <a:off x="2714596" y="3993843"/>
            <a:ext cx="6762806" cy="2616764"/>
          </a:xfrm>
          <a:prstGeom prst="rect">
            <a:avLst/>
          </a:prstGeom>
        </p:spPr>
      </p:pic>
      <p:sp>
        <p:nvSpPr>
          <p:cNvPr id="6" name="矩形 5">
            <a:extLst>
              <a:ext uri="{FF2B5EF4-FFF2-40B4-BE49-F238E27FC236}">
                <a16:creationId xmlns:a16="http://schemas.microsoft.com/office/drawing/2014/main" id="{449EDC86-99BE-323A-C0FF-CCC353BE419F}"/>
              </a:ext>
            </a:extLst>
          </p:cNvPr>
          <p:cNvSpPr/>
          <p:nvPr/>
        </p:nvSpPr>
        <p:spPr>
          <a:xfrm>
            <a:off x="801092" y="2446417"/>
            <a:ext cx="10589815" cy="145560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912491908"/>
      </p:ext>
    </p:extLst>
  </p:cSld>
  <p:clrMapOvr>
    <a:masterClrMapping/>
  </p:clrMapOvr>
  <p:transition spd="slow" advTm="0">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585159-E5AE-9B02-8B14-3FAFD3541D9E}"/>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纹理</a:t>
            </a:r>
          </a:p>
        </p:txBody>
      </p:sp>
      <p:sp>
        <p:nvSpPr>
          <p:cNvPr id="3" name="文本占位符 2">
            <a:extLst>
              <a:ext uri="{FF2B5EF4-FFF2-40B4-BE49-F238E27FC236}">
                <a16:creationId xmlns:a16="http://schemas.microsoft.com/office/drawing/2014/main" id="{9849A769-FAFE-1632-31B4-26BD41016813}"/>
              </a:ext>
            </a:extLst>
          </p:cNvPr>
          <p:cNvSpPr>
            <a:spLocks noGrp="1"/>
          </p:cNvSpPr>
          <p:nvPr>
            <p:ph sz="quarter" idx="11"/>
          </p:nvPr>
        </p:nvSpPr>
        <p:spPr/>
        <p:txBody>
          <a:bodyPr/>
          <a:lstStyle/>
          <a:p>
            <a:pPr marL="0" marR="890" lvl="0" indent="0" rtl="0">
              <a:buNone/>
            </a:pPr>
            <a:r>
              <a:rPr lang="zh-CN" altLang="en-US" b="0" i="0" u="none" strike="noStrike" baseline="0" dirty="0">
                <a:solidFill>
                  <a:srgbClr val="000000"/>
                </a:solidFill>
                <a:cs typeface="+mn-ea"/>
                <a:sym typeface="+mn-lt"/>
              </a:rPr>
              <a:t>描述区域的一种重要方法是量化其纹理内容。虽然不存在纹理的正式定义，但这个描述子直观上 提供了诸如平滑度、粗糙度和规则性等性质的测度</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11.29</a:t>
            </a:r>
            <a:r>
              <a:rPr lang="zh-CN" altLang="en-US" b="0" i="0" u="none" strike="noStrike" baseline="0" dirty="0">
                <a:solidFill>
                  <a:srgbClr val="000000"/>
                </a:solidFill>
                <a:cs typeface="+mn-ea"/>
                <a:sym typeface="+mn-lt"/>
              </a:rPr>
              <a:t>中给出了一些例子</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。本节讨论区域纹理描述的统计方法和谱方法。统计方法产生光滑、粗糙、颗粒等纹理特征。</a:t>
            </a:r>
          </a:p>
        </p:txBody>
      </p:sp>
      <p:pic>
        <p:nvPicPr>
          <p:cNvPr id="5" name="图片 4">
            <a:extLst>
              <a:ext uri="{FF2B5EF4-FFF2-40B4-BE49-F238E27FC236}">
                <a16:creationId xmlns:a16="http://schemas.microsoft.com/office/drawing/2014/main" id="{57116E6D-7166-6A04-4FA3-D34344EA63EB}"/>
              </a:ext>
            </a:extLst>
          </p:cNvPr>
          <p:cNvPicPr>
            <a:picLocks noChangeAspect="1"/>
          </p:cNvPicPr>
          <p:nvPr/>
        </p:nvPicPr>
        <p:blipFill>
          <a:blip r:embed="rId2"/>
          <a:stretch>
            <a:fillRect/>
          </a:stretch>
        </p:blipFill>
        <p:spPr>
          <a:xfrm>
            <a:off x="3897030" y="4014125"/>
            <a:ext cx="4397939" cy="2576199"/>
          </a:xfrm>
          <a:prstGeom prst="rect">
            <a:avLst/>
          </a:prstGeom>
        </p:spPr>
      </p:pic>
      <p:sp>
        <p:nvSpPr>
          <p:cNvPr id="6" name="矩形 5">
            <a:extLst>
              <a:ext uri="{FF2B5EF4-FFF2-40B4-BE49-F238E27FC236}">
                <a16:creationId xmlns:a16="http://schemas.microsoft.com/office/drawing/2014/main" id="{1AE2323E-3D6A-136E-34FB-28A0FEFED648}"/>
              </a:ext>
            </a:extLst>
          </p:cNvPr>
          <p:cNvSpPr/>
          <p:nvPr/>
        </p:nvSpPr>
        <p:spPr>
          <a:xfrm>
            <a:off x="801092" y="2446417"/>
            <a:ext cx="10589815" cy="1496318"/>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312365109"/>
      </p:ext>
    </p:extLst>
  </p:cSld>
  <p:clrMapOvr>
    <a:masterClrMapping/>
  </p:clrMapOvr>
  <p:transition spd="slow" advTm="0">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6032553" y="2221637"/>
            <a:ext cx="5115889" cy="3091835"/>
            <a:chOff x="6251486" y="2292214"/>
            <a:chExt cx="5115889"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05</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251486" y="3937499"/>
              <a:ext cx="5115889"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作为特征描述子的主分量</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1924096978"/>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F0934D-0F3D-7115-4CA4-A1461F7929B4}"/>
              </a:ext>
            </a:extLst>
          </p:cNvPr>
          <p:cNvSpPr>
            <a:spLocks noGrp="1"/>
          </p:cNvSpPr>
          <p:nvPr>
            <p:ph type="title"/>
          </p:nvPr>
        </p:nvSpPr>
        <p:spPr/>
        <p:txBody>
          <a:bodyPr/>
          <a:lstStyle/>
          <a:p>
            <a:pPr marR="0" rtl="0"/>
            <a:r>
              <a:rPr lang="zh-CN" altLang="en-US" b="1" i="0" u="none" strike="noStrike" baseline="0" dirty="0">
                <a:solidFill>
                  <a:srgbClr val="0070C0"/>
                </a:solidFill>
                <a:latin typeface="+mn-lt"/>
                <a:ea typeface="+mn-ea"/>
                <a:cs typeface="+mn-ea"/>
                <a:sym typeface="+mn-lt"/>
              </a:rPr>
              <a:t>主分量</a:t>
            </a:r>
          </a:p>
        </p:txBody>
      </p:sp>
      <p:sp>
        <p:nvSpPr>
          <p:cNvPr id="3" name="文本占位符 2">
            <a:extLst>
              <a:ext uri="{FF2B5EF4-FFF2-40B4-BE49-F238E27FC236}">
                <a16:creationId xmlns:a16="http://schemas.microsoft.com/office/drawing/2014/main" id="{0A34558A-6F26-7AAB-278F-CDA12CF9B1D2}"/>
              </a:ext>
            </a:extLst>
          </p:cNvPr>
          <p:cNvSpPr>
            <a:spLocks noGrp="1"/>
          </p:cNvSpPr>
          <p:nvPr>
            <p:ph sz="quarter" idx="12"/>
          </p:nvPr>
        </p:nvSpPr>
        <p:spPr/>
        <p:txBody>
          <a:bodyPr>
            <a:normAutofit/>
          </a:bodyPr>
          <a:lstStyle/>
          <a:p>
            <a:pPr marL="0" marR="890" lvl="0" indent="0" rtl="0">
              <a:buNone/>
            </a:pPr>
            <a:r>
              <a:rPr lang="zh-CN" altLang="en-US" b="0" i="0" u="none" strike="noStrike" baseline="0" dirty="0">
                <a:solidFill>
                  <a:srgbClr val="000000"/>
                </a:solidFill>
                <a:cs typeface="+mn-ea"/>
                <a:sym typeface="+mn-lt"/>
              </a:rPr>
              <a:t>本节的内容适用于边界和区域。与迄今为止的讨论不同的是，本节讨论的特征基于两幅或两幅以上的图像。假设我们有一幅彩色图像，这幅图像有三幅分量图像。如</a:t>
            </a:r>
            <a:r>
              <a:rPr lang="en-US" altLang="zh-CN" b="0" i="0" u="none" strike="noStrike" baseline="0" dirty="0">
                <a:solidFill>
                  <a:srgbClr val="000000"/>
                </a:solidFill>
                <a:cs typeface="+mn-ea"/>
                <a:sym typeface="+mn-lt"/>
              </a:rPr>
              <a:t>11.1</a:t>
            </a:r>
            <a:r>
              <a:rPr lang="zh-CN" altLang="en-US" b="0" i="0" u="none" strike="noStrike" baseline="0" dirty="0">
                <a:solidFill>
                  <a:srgbClr val="000000"/>
                </a:solidFill>
                <a:cs typeface="+mn-ea"/>
                <a:sym typeface="+mn-lt"/>
              </a:rPr>
              <a:t>节所述，将每组</a:t>
            </a:r>
            <a:r>
              <a:rPr lang="en-US" altLang="zh-CN" b="0" i="0" u="none" strike="noStrike" baseline="0" dirty="0">
                <a:solidFill>
                  <a:srgbClr val="000000"/>
                </a:solidFill>
                <a:cs typeface="+mn-ea"/>
                <a:sym typeface="+mn-lt"/>
              </a:rPr>
              <a:t>3</a:t>
            </a:r>
            <a:r>
              <a:rPr lang="zh-CN" altLang="en-US" b="0" i="0" u="none" strike="noStrike" baseline="0" dirty="0">
                <a:solidFill>
                  <a:srgbClr val="000000"/>
                </a:solidFill>
                <a:cs typeface="+mn-ea"/>
                <a:sym typeface="+mn-lt"/>
              </a:rPr>
              <a:t>个对应像素表示为一个向量，可将三幅图像视为一个整体。如果共有</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幅配准后的图像，那么所有图像中相同空间位置的对应像素可以排列为一个</a:t>
            </a:r>
            <a:r>
              <a:rPr lang="en-US" altLang="zh-CN" b="0" i="0" u="none" strike="noStrike" baseline="0" dirty="0">
                <a:solidFill>
                  <a:srgbClr val="000000"/>
                </a:solidFill>
                <a:cs typeface="+mn-ea"/>
                <a:sym typeface="+mn-lt"/>
              </a:rPr>
              <a:t>n</a:t>
            </a:r>
            <a:r>
              <a:rPr lang="zh-CN" altLang="en-US" b="0" i="0" u="none" strike="noStrike" baseline="0" dirty="0">
                <a:solidFill>
                  <a:srgbClr val="000000"/>
                </a:solidFill>
                <a:cs typeface="+mn-ea"/>
                <a:sym typeface="+mn-lt"/>
              </a:rPr>
              <a:t> 维向量：</a:t>
            </a:r>
          </a:p>
        </p:txBody>
      </p:sp>
      <p:pic>
        <p:nvPicPr>
          <p:cNvPr id="5" name="图片 4">
            <a:extLst>
              <a:ext uri="{FF2B5EF4-FFF2-40B4-BE49-F238E27FC236}">
                <a16:creationId xmlns:a16="http://schemas.microsoft.com/office/drawing/2014/main" id="{29692E07-7727-B334-749C-8D248538D375}"/>
              </a:ext>
            </a:extLst>
          </p:cNvPr>
          <p:cNvPicPr>
            <a:picLocks noChangeAspect="1"/>
          </p:cNvPicPr>
          <p:nvPr/>
        </p:nvPicPr>
        <p:blipFill>
          <a:blip r:embed="rId2"/>
          <a:stretch>
            <a:fillRect/>
          </a:stretch>
        </p:blipFill>
        <p:spPr>
          <a:xfrm>
            <a:off x="4845564" y="4468601"/>
            <a:ext cx="2500871" cy="1667247"/>
          </a:xfrm>
          <a:prstGeom prst="rect">
            <a:avLst/>
          </a:prstGeom>
        </p:spPr>
      </p:pic>
    </p:spTree>
    <p:extLst>
      <p:ext uri="{BB962C8B-B14F-4D97-AF65-F5344CB8AC3E}">
        <p14:creationId xmlns:p14="http://schemas.microsoft.com/office/powerpoint/2010/main" val="4258919491"/>
      </p:ext>
    </p:extLst>
  </p:cSld>
  <p:clrMapOvr>
    <a:masterClrMapping/>
  </p:clrMapOvr>
  <p:transition spd="slow" advTm="0">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2414726"/>
            <a:chOff x="6133596" y="2292214"/>
            <a:chExt cx="5326558" cy="2414726"/>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06</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整体图像特征</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2128463004"/>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BFB7B31-AE7D-5A62-A3B5-6FB442502251}"/>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哈里斯</a:t>
            </a:r>
            <a:r>
              <a:rPr lang="en-US" altLang="zh-CN" b="1" i="0" u="none" strike="noStrike" baseline="0">
                <a:solidFill>
                  <a:srgbClr val="0070C0"/>
                </a:solidFill>
                <a:latin typeface="+mn-lt"/>
                <a:ea typeface="+mn-ea"/>
                <a:cs typeface="+mn-ea"/>
                <a:sym typeface="+mn-lt"/>
              </a:rPr>
              <a:t>-</a:t>
            </a:r>
            <a:r>
              <a:rPr lang="zh-CN" altLang="en-US" b="1" i="0" u="none" strike="noStrike" baseline="0">
                <a:solidFill>
                  <a:srgbClr val="0070C0"/>
                </a:solidFill>
                <a:latin typeface="+mn-lt"/>
                <a:ea typeface="+mn-ea"/>
                <a:cs typeface="+mn-ea"/>
                <a:sym typeface="+mn-lt"/>
              </a:rPr>
              <a:t> 斯蒂芬斯角检测器</a:t>
            </a:r>
          </a:p>
        </p:txBody>
      </p:sp>
      <p:sp>
        <p:nvSpPr>
          <p:cNvPr id="3" name="文本占位符 2">
            <a:extLst>
              <a:ext uri="{FF2B5EF4-FFF2-40B4-BE49-F238E27FC236}">
                <a16:creationId xmlns:a16="http://schemas.microsoft.com/office/drawing/2014/main" id="{FAC0CF77-63D1-BF7C-682D-3DC15447F446}"/>
              </a:ext>
            </a:extLst>
          </p:cNvPr>
          <p:cNvSpPr>
            <a:spLocks noGrp="1"/>
          </p:cNvSpPr>
          <p:nvPr>
            <p:ph sz="quarter" idx="12"/>
          </p:nvPr>
        </p:nvSpPr>
        <p:spPr/>
        <p:txBody>
          <a:bodyPr>
            <a:normAutofit/>
          </a:bodyPr>
          <a:lstStyle/>
          <a:p>
            <a:pPr marL="0" marR="890" lvl="0" indent="0" rtl="0">
              <a:buNone/>
            </a:pPr>
            <a:r>
              <a:rPr lang="zh-CN" altLang="en-US" b="0" i="0" u="none" strike="noStrike" baseline="0" dirty="0">
                <a:solidFill>
                  <a:srgbClr val="000000"/>
                </a:solidFill>
                <a:cs typeface="+mn-ea"/>
                <a:sym typeface="+mn-lt"/>
              </a:rPr>
              <a:t>本节讨论由 </a:t>
            </a:r>
            <a:r>
              <a:rPr lang="en-US" altLang="zh-CN" b="0" i="0" u="none" strike="noStrike" baseline="0" dirty="0">
                <a:solidFill>
                  <a:srgbClr val="000000"/>
                </a:solidFill>
                <a:cs typeface="+mn-ea"/>
                <a:sym typeface="+mn-lt"/>
              </a:rPr>
              <a:t>Harris</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and</a:t>
            </a:r>
            <a:r>
              <a:rPr lang="zh-CN" altLang="en-US" b="0" i="0" u="none" strike="noStrike" baseline="0" dirty="0">
                <a:solidFill>
                  <a:srgbClr val="000000"/>
                </a:solidFill>
                <a:cs typeface="+mn-ea"/>
                <a:sym typeface="+mn-lt"/>
              </a:rPr>
              <a:t> </a:t>
            </a:r>
            <a:r>
              <a:rPr lang="en-US" altLang="zh-CN" b="0" i="0" u="none" strike="noStrike" baseline="0" dirty="0">
                <a:solidFill>
                  <a:srgbClr val="000000"/>
                </a:solidFill>
                <a:cs typeface="+mn-ea"/>
                <a:sym typeface="+mn-lt"/>
              </a:rPr>
              <a:t>Stephens[1988]</a:t>
            </a:r>
            <a:r>
              <a:rPr lang="zh-CN" altLang="en-US" b="0" i="0" u="none" strike="noStrike" baseline="0" dirty="0">
                <a:solidFill>
                  <a:srgbClr val="000000"/>
                </a:solidFill>
                <a:cs typeface="+mn-ea"/>
                <a:sym typeface="+mn-lt"/>
              </a:rPr>
              <a:t>提出的一种角检测算法。哈里斯</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斯蒂芬斯</a:t>
            </a:r>
            <a:r>
              <a:rPr lang="en-US" altLang="zh-CN" b="0" i="0" u="none" strike="noStrike" baseline="0" dirty="0">
                <a:solidFill>
                  <a:srgbClr val="000000"/>
                </a:solidFill>
                <a:cs typeface="+mn-ea"/>
                <a:sym typeface="+mn-lt"/>
              </a:rPr>
              <a:t>(HS)</a:t>
            </a:r>
            <a:r>
              <a:rPr lang="zh-CN" altLang="en-US" b="0" i="0" u="none" strike="noStrike" baseline="0" dirty="0">
                <a:solidFill>
                  <a:srgbClr val="000000"/>
                </a:solidFill>
                <a:cs typeface="+mn-ea"/>
                <a:sym typeface="+mn-lt"/>
              </a:rPr>
              <a:t>   角检测器的原理如图</a:t>
            </a:r>
            <a:r>
              <a:rPr lang="en-US" altLang="zh-CN" b="0" i="0" u="none" strike="noStrike" baseline="0" dirty="0">
                <a:solidFill>
                  <a:srgbClr val="000000"/>
                </a:solidFill>
                <a:cs typeface="+mn-ea"/>
                <a:sym typeface="+mn-lt"/>
              </a:rPr>
              <a:t>11.45</a:t>
            </a:r>
            <a:r>
              <a:rPr lang="zh-CN" altLang="en-US" b="0" i="0" u="none" strike="noStrike" baseline="0" dirty="0">
                <a:solidFill>
                  <a:srgbClr val="000000"/>
                </a:solidFill>
                <a:cs typeface="+mn-ea"/>
                <a:sym typeface="+mn-lt"/>
              </a:rPr>
              <a:t>所示。</a:t>
            </a:r>
          </a:p>
        </p:txBody>
      </p:sp>
      <p:pic>
        <p:nvPicPr>
          <p:cNvPr id="5" name="图片 4">
            <a:extLst>
              <a:ext uri="{FF2B5EF4-FFF2-40B4-BE49-F238E27FC236}">
                <a16:creationId xmlns:a16="http://schemas.microsoft.com/office/drawing/2014/main" id="{D48756D9-C5EE-543E-837F-AEE7FA15928F}"/>
              </a:ext>
            </a:extLst>
          </p:cNvPr>
          <p:cNvPicPr>
            <a:picLocks noChangeAspect="1"/>
          </p:cNvPicPr>
          <p:nvPr/>
        </p:nvPicPr>
        <p:blipFill>
          <a:blip r:embed="rId2"/>
          <a:stretch>
            <a:fillRect/>
          </a:stretch>
        </p:blipFill>
        <p:spPr>
          <a:xfrm>
            <a:off x="2789596" y="3558160"/>
            <a:ext cx="6098765" cy="2829827"/>
          </a:xfrm>
          <a:prstGeom prst="rect">
            <a:avLst/>
          </a:prstGeom>
        </p:spPr>
      </p:pic>
    </p:spTree>
    <p:extLst>
      <p:ext uri="{BB962C8B-B14F-4D97-AF65-F5344CB8AC3E}">
        <p14:creationId xmlns:p14="http://schemas.microsoft.com/office/powerpoint/2010/main" val="291690578"/>
      </p:ext>
    </p:extLst>
  </p:cSld>
  <p:clrMapOvr>
    <a:masterClrMapping/>
  </p:clrMapOvr>
  <p:transition spd="slow" advTm="0">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6382EC4-0214-8651-5421-39BF530740C5}"/>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最大稳定极值区域 </a:t>
            </a:r>
            <a:r>
              <a:rPr lang="en-US" altLang="zh-CN" b="1" i="0" u="none" strike="noStrike" baseline="0">
                <a:solidFill>
                  <a:srgbClr val="0070C0"/>
                </a:solidFill>
                <a:latin typeface="+mn-lt"/>
                <a:ea typeface="+mn-ea"/>
                <a:cs typeface="+mn-ea"/>
                <a:sym typeface="+mn-lt"/>
              </a:rPr>
              <a:t>(MSER)</a:t>
            </a:r>
            <a:endParaRPr lang="zh-CN" altLang="en-US" b="1" i="0" u="none" strike="noStrike" baseline="0">
              <a:solidFill>
                <a:srgbClr val="0070C0"/>
              </a:solidFill>
              <a:latin typeface="+mn-lt"/>
              <a:ea typeface="+mn-ea"/>
              <a:cs typeface="+mn-ea"/>
              <a:sym typeface="+mn-lt"/>
            </a:endParaRPr>
          </a:p>
        </p:txBody>
      </p:sp>
      <p:sp>
        <p:nvSpPr>
          <p:cNvPr id="3" name="文本占位符 2">
            <a:extLst>
              <a:ext uri="{FF2B5EF4-FFF2-40B4-BE49-F238E27FC236}">
                <a16:creationId xmlns:a16="http://schemas.microsoft.com/office/drawing/2014/main" id="{A5B7CA69-2F6B-92D8-860B-D81747491583}"/>
              </a:ext>
            </a:extLst>
          </p:cNvPr>
          <p:cNvSpPr>
            <a:spLocks noGrp="1"/>
          </p:cNvSpPr>
          <p:nvPr>
            <p:ph sz="quarter" idx="11"/>
          </p:nvPr>
        </p:nvSpPr>
        <p:spPr/>
        <p:txBody>
          <a:bodyPr>
            <a:normAutofit/>
          </a:bodyPr>
          <a:lstStyle/>
          <a:p>
            <a:pPr marR="890" lvl="0" rtl="0"/>
            <a:r>
              <a:rPr lang="zh-CN" altLang="en-US" b="0" i="0" u="none" strike="noStrike" baseline="0" dirty="0">
                <a:solidFill>
                  <a:srgbClr val="000000"/>
                </a:solidFill>
                <a:cs typeface="+mn-ea"/>
                <a:sym typeface="+mn-lt"/>
              </a:rPr>
              <a:t>灰度图像可视为地形图，其</a:t>
            </a:r>
            <a:r>
              <a:rPr lang="en-US" altLang="zh-CN" b="0" i="0" u="none" strike="noStrike" baseline="0" dirty="0" err="1">
                <a:solidFill>
                  <a:srgbClr val="000000"/>
                </a:solidFill>
                <a:cs typeface="+mn-ea"/>
                <a:sym typeface="+mn-lt"/>
              </a:rPr>
              <a:t>xy</a:t>
            </a:r>
            <a:r>
              <a:rPr lang="zh-CN" altLang="en-US" b="0" i="0" u="none" strike="noStrike" baseline="0" dirty="0">
                <a:solidFill>
                  <a:srgbClr val="000000"/>
                </a:solidFill>
                <a:cs typeface="+mn-ea"/>
                <a:sym typeface="+mn-lt"/>
              </a:rPr>
              <a:t>轴表示空间坐标， </a:t>
            </a:r>
            <a:r>
              <a:rPr lang="en-US" altLang="zh-CN" b="0" i="0" u="none" strike="noStrike" baseline="0" dirty="0">
                <a:solidFill>
                  <a:srgbClr val="000000"/>
                </a:solidFill>
                <a:cs typeface="+mn-ea"/>
                <a:sym typeface="+mn-lt"/>
              </a:rPr>
              <a:t>z</a:t>
            </a:r>
            <a:r>
              <a:rPr lang="zh-CN" altLang="en-US" b="0" i="0" u="none" strike="noStrike" baseline="0" dirty="0">
                <a:solidFill>
                  <a:srgbClr val="000000"/>
                </a:solidFill>
                <a:cs typeface="+mn-ea"/>
                <a:sym typeface="+mn-lt"/>
              </a:rPr>
              <a:t> 轴表示灰度。想象一次只阈值处理一幅</a:t>
            </a:r>
            <a:r>
              <a:rPr lang="en-US" altLang="zh-CN" b="0" i="0" u="none" strike="noStrike" baseline="0" dirty="0">
                <a:solidFill>
                  <a:srgbClr val="000000"/>
                </a:solidFill>
                <a:cs typeface="+mn-ea"/>
                <a:sym typeface="+mn-lt"/>
              </a:rPr>
              <a:t>8</a:t>
            </a:r>
            <a:r>
              <a:rPr lang="zh-CN" altLang="en-US" b="0" i="0" u="none" strike="noStrike" baseline="0" dirty="0">
                <a:solidFill>
                  <a:srgbClr val="000000"/>
                </a:solidFill>
                <a:cs typeface="+mn-ea"/>
                <a:sym typeface="+mn-lt"/>
              </a:rPr>
              <a:t>比特灰度图像的一个灰度级的情况。每次阈值处理的结果都是一幅二值图像，这幅二值图像中大于等于阈值的像素显示为白色，小于阈值的像素显示为黑色。阈值</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 为</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时，结果是一幅白色  的图像</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所有像素的值都大于等于</a:t>
            </a:r>
            <a:r>
              <a:rPr lang="en-US" altLang="zh-CN" b="0" i="0" u="none" strike="noStrike" baseline="0" dirty="0">
                <a:solidFill>
                  <a:srgbClr val="000000"/>
                </a:solidFill>
                <a:cs typeface="+mn-ea"/>
                <a:sym typeface="+mn-lt"/>
              </a:rPr>
              <a:t>0)</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R="890" lvl="0" rtl="0"/>
            <a:r>
              <a:rPr lang="zh-CN" altLang="en-US" b="0" i="0" u="none" strike="noStrike" baseline="0" dirty="0">
                <a:solidFill>
                  <a:srgbClr val="000000"/>
                </a:solidFill>
                <a:cs typeface="+mn-ea"/>
                <a:sym typeface="+mn-lt"/>
              </a:rPr>
              <a:t>以一个灰度级的增量增大</a:t>
            </a:r>
            <a:r>
              <a:rPr lang="en-US" altLang="zh-CN" b="0" i="0" u="none" strike="noStrike" baseline="0" dirty="0">
                <a:solidFill>
                  <a:srgbClr val="000000"/>
                </a:solidFill>
                <a:cs typeface="+mn-ea"/>
                <a:sym typeface="+mn-lt"/>
              </a:rPr>
              <a:t>T</a:t>
            </a:r>
            <a:r>
              <a:rPr lang="zh-CN" altLang="en-US" b="0" i="0" u="none" strike="noStrike" baseline="0" dirty="0">
                <a:solidFill>
                  <a:srgbClr val="000000"/>
                </a:solidFill>
                <a:cs typeface="+mn-ea"/>
                <a:sym typeface="+mn-lt"/>
              </a:rPr>
              <a:t>时，得到的二值图像中开始出现黑 色分量，它们对应于图像地形图视图中的局部极小值。这些黑色区域可以开始生长和聚合，但它们在不同的图像中永远不会变小。最终，</a:t>
            </a:r>
            <a:r>
              <a:rPr lang="en-US" altLang="zh-CN" b="0" i="0" u="none" strike="noStrike" baseline="0" dirty="0">
                <a:solidFill>
                  <a:srgbClr val="000000"/>
                </a:solidFill>
                <a:cs typeface="+mn-ea"/>
                <a:sym typeface="+mn-lt"/>
              </a:rPr>
              <a:t>T=255</a:t>
            </a:r>
            <a:r>
              <a:rPr lang="zh-CN" altLang="en-US" b="0" i="0" u="none" strike="noStrike" baseline="0" dirty="0">
                <a:solidFill>
                  <a:srgbClr val="000000"/>
                </a:solidFill>
                <a:cs typeface="+mn-ea"/>
                <a:sym typeface="+mn-lt"/>
              </a:rPr>
              <a:t> 时，得到的图像是黑色的</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在这个灰度级以上没有像素值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a:t>
            </a:r>
          </a:p>
        </p:txBody>
      </p:sp>
      <p:sp>
        <p:nvSpPr>
          <p:cNvPr id="4" name="矩形 3">
            <a:extLst>
              <a:ext uri="{FF2B5EF4-FFF2-40B4-BE49-F238E27FC236}">
                <a16:creationId xmlns:a16="http://schemas.microsoft.com/office/drawing/2014/main" id="{12EE5A57-EDAC-20E3-2725-FB3995AC2C70}"/>
              </a:ext>
            </a:extLst>
          </p:cNvPr>
          <p:cNvSpPr/>
          <p:nvPr/>
        </p:nvSpPr>
        <p:spPr>
          <a:xfrm>
            <a:off x="801092" y="2446417"/>
            <a:ext cx="10589815" cy="3540426"/>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4103792987"/>
      </p:ext>
    </p:extLst>
  </p:cSld>
  <p:clrMapOvr>
    <a:masterClrMapping/>
  </p:clrMapOvr>
  <p:transition spd="slow" advTm="0">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5914663" y="2221637"/>
            <a:ext cx="5326558" cy="3091835"/>
            <a:chOff x="6133596" y="2292214"/>
            <a:chExt cx="5326558" cy="3091835"/>
          </a:xfrm>
        </p:grpSpPr>
        <p:sp>
          <p:nvSpPr>
            <p:cNvPr id="20" name="任意多边形: 形状 20"/>
            <p:cNvSpPr/>
            <p:nvPr userDrawn="1"/>
          </p:nvSpPr>
          <p:spPr>
            <a:xfrm>
              <a:off x="8109345" y="2292214"/>
              <a:ext cx="1400172" cy="1339375"/>
            </a:xfrm>
            <a:prstGeom prst="ellipse">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07</a:t>
              </a:r>
              <a:endParaRPr kumimoji="0" lang="zh-CN" altLang="en-US" sz="66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32" name="文本框 31"/>
            <p:cNvSpPr txBox="1"/>
            <p:nvPr/>
          </p:nvSpPr>
          <p:spPr>
            <a:xfrm>
              <a:off x="6133596" y="3937499"/>
              <a:ext cx="5326558"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尺度不变特征变换 </a:t>
              </a:r>
              <a:r>
                <a:rPr lang="en-US" altLang="zh-CN"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mn-lt"/>
                </a:rPr>
                <a:t>(SIFT)</a:t>
              </a:r>
              <a:endParaRPr lang="zh-CN" altLang="en-US" sz="4400" b="1" dirty="0">
                <a:solidFill>
                  <a:srgbClr val="0065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grpSp>
    </p:spTree>
    <p:extLst>
      <p:ext uri="{BB962C8B-B14F-4D97-AF65-F5344CB8AC3E}">
        <p14:creationId xmlns:p14="http://schemas.microsoft.com/office/powerpoint/2010/main" val="380802883"/>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344C9A-C624-6AF5-ECA7-5981D8BD060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尺度空间</a:t>
            </a:r>
          </a:p>
        </p:txBody>
      </p:sp>
      <p:sp>
        <p:nvSpPr>
          <p:cNvPr id="3" name="文本占位符 2">
            <a:extLst>
              <a:ext uri="{FF2B5EF4-FFF2-40B4-BE49-F238E27FC236}">
                <a16:creationId xmlns:a16="http://schemas.microsoft.com/office/drawing/2014/main" id="{C13618E3-1534-C49D-1E10-B023BE910841}"/>
              </a:ext>
            </a:extLst>
          </p:cNvPr>
          <p:cNvSpPr>
            <a:spLocks noGrp="1"/>
          </p:cNvSpPr>
          <p:nvPr>
            <p:ph sz="quarter" idx="12"/>
          </p:nvPr>
        </p:nvSpPr>
        <p:spPr/>
        <p:txBody>
          <a:bodyPr>
            <a:normAutofit lnSpcReduction="10000"/>
          </a:bodyPr>
          <a:lstStyle/>
          <a:p>
            <a:pPr marR="890" lvl="0" rtl="0"/>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算法的第一阶段是找到对尺度变化不变的图像位置。这是在所有可能的尺度上使用一个称为尺度空间的函数搜索稳定的特征实现的，尺度空间是一种多尺度表示，它以一致的方式处理不同尺度的图像结构。</a:t>
            </a:r>
            <a:endParaRPr lang="en-US" altLang="zh-CN" b="0" i="0" u="none" strike="noStrike" baseline="0" dirty="0">
              <a:solidFill>
                <a:srgbClr val="000000"/>
              </a:solidFill>
              <a:cs typeface="+mn-ea"/>
              <a:sym typeface="+mn-lt"/>
            </a:endParaRPr>
          </a:p>
          <a:p>
            <a:pPr marR="890" lvl="0" rtl="0"/>
            <a:r>
              <a:rPr lang="zh-CN" altLang="en-US" b="0" i="0" u="none" strike="noStrike" baseline="0" dirty="0">
                <a:solidFill>
                  <a:srgbClr val="000000"/>
                </a:solidFill>
                <a:cs typeface="+mn-ea"/>
                <a:sym typeface="+mn-lt"/>
              </a:rPr>
              <a:t>基本思想是以某种形式来处理这样一个事实，即无约束场景中的目标会以不同的方式出 现，具体方式取决于获取图像的尺度。由于事先并不知道这些尺度，因此一种合理的方法是同时处理所有相关的尺度。尺度空间将图像表示为平滑后的图像的一个参数簇，目的是模拟图像的尺度减小时出现的细节损失。控制平滑的参数称为尺度参数。</a:t>
            </a:r>
          </a:p>
        </p:txBody>
      </p:sp>
    </p:spTree>
    <p:extLst>
      <p:ext uri="{BB962C8B-B14F-4D97-AF65-F5344CB8AC3E}">
        <p14:creationId xmlns:p14="http://schemas.microsoft.com/office/powerpoint/2010/main" val="472290815"/>
      </p:ext>
    </p:extLst>
  </p:cSld>
  <p:clrMapOvr>
    <a:masterClrMapping/>
  </p:clrMapOvr>
  <p:transition spd="slow" advTm="0">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043100-DD85-9437-0579-4ADE55F2BB3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检测局部极值</a:t>
            </a:r>
          </a:p>
        </p:txBody>
      </p:sp>
      <p:sp>
        <p:nvSpPr>
          <p:cNvPr id="3" name="文本占位符 2">
            <a:extLst>
              <a:ext uri="{FF2B5EF4-FFF2-40B4-BE49-F238E27FC236}">
                <a16:creationId xmlns:a16="http://schemas.microsoft.com/office/drawing/2014/main" id="{CE72B991-1875-4F88-29A4-96EBEF8C718A}"/>
              </a:ext>
            </a:extLst>
          </p:cNvPr>
          <p:cNvSpPr>
            <a:spLocks noGrp="1"/>
          </p:cNvSpPr>
          <p:nvPr>
            <p:ph sz="quarter" idx="11"/>
          </p:nvPr>
        </p:nvSpPr>
        <p:spPr/>
        <p:txBody>
          <a:bodyPr>
            <a:noAutofit/>
          </a:bodyPr>
          <a:lstStyle/>
          <a:p>
            <a:pPr marL="0" marR="890" lvl="0" indent="0" rtl="0">
              <a:buNone/>
            </a:pPr>
            <a:r>
              <a:rPr lang="en-US" altLang="zh-CN" b="1" i="0" u="none" strike="noStrike" baseline="0" dirty="0">
                <a:solidFill>
                  <a:srgbClr val="000000"/>
                </a:solidFill>
                <a:cs typeface="+mn-ea"/>
                <a:sym typeface="+mn-lt"/>
              </a:rPr>
              <a:t>1.</a:t>
            </a:r>
            <a:r>
              <a:rPr lang="zh-CN" altLang="en-US" b="1" i="0" u="none" strike="noStrike" baseline="0" dirty="0">
                <a:solidFill>
                  <a:srgbClr val="000000"/>
                </a:solidFill>
                <a:cs typeface="+mn-ea"/>
                <a:sym typeface="+mn-lt"/>
              </a:rPr>
              <a:t>查找初始关键点</a:t>
            </a:r>
          </a:p>
          <a:p>
            <a:pPr marL="0" marR="890" lvl="0" indent="0" rtl="0">
              <a:buNone/>
            </a:pPr>
            <a:r>
              <a:rPr lang="zh-CN" altLang="en-US" b="0" i="0" u="none" strike="noStrike" baseline="0" dirty="0">
                <a:solidFill>
                  <a:srgbClr val="000000"/>
                </a:solidFill>
                <a:cs typeface="+mn-ea"/>
                <a:sym typeface="+mn-lt"/>
              </a:rPr>
              <a:t>尺度空间中关键点的位置最初由 </a:t>
            </a: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找到</a:t>
            </a:r>
            <a:r>
              <a:rPr lang="zh-CN" altLang="en-US" dirty="0">
                <a:solidFill>
                  <a:srgbClr val="000000"/>
                </a:solidFill>
                <a:cs typeface="+mn-ea"/>
                <a:sym typeface="+mn-lt"/>
              </a:rPr>
              <a:t>，</a:t>
            </a:r>
            <a:r>
              <a:rPr lang="zh-CN" altLang="en-US" b="0" i="0" u="none" strike="noStrike" baseline="0" dirty="0">
                <a:solidFill>
                  <a:srgbClr val="000000"/>
                </a:solidFill>
                <a:cs typeface="+mn-ea"/>
                <a:sym typeface="+mn-lt"/>
              </a:rPr>
              <a:t>方法是首先检测一个倍频程中两幅相邻尺度空间图 像的高斯差的极值，然后与对应于这个倍频程的输入图像进行卷积。</a:t>
            </a:r>
          </a:p>
          <a:p>
            <a:pPr marL="0" marR="890" lvl="0" indent="0" rtl="0">
              <a:buNone/>
            </a:pPr>
            <a:r>
              <a:rPr lang="en-US" altLang="zh-CN" b="1" i="0" u="none" strike="noStrike" baseline="0" dirty="0">
                <a:solidFill>
                  <a:srgbClr val="000000"/>
                </a:solidFill>
                <a:cs typeface="+mn-ea"/>
                <a:sym typeface="+mn-lt"/>
              </a:rPr>
              <a:t>2.</a:t>
            </a:r>
            <a:r>
              <a:rPr lang="zh-CN" altLang="en-US" b="1" i="0" u="none" strike="noStrike" baseline="0" dirty="0">
                <a:solidFill>
                  <a:srgbClr val="000000"/>
                </a:solidFill>
                <a:cs typeface="+mn-ea"/>
                <a:sym typeface="+mn-lt"/>
              </a:rPr>
              <a:t> 改进关键点位置的精度</a:t>
            </a:r>
          </a:p>
          <a:p>
            <a:pPr marL="0" marR="890" lvl="0" indent="0" rtl="0">
              <a:buNone/>
            </a:pPr>
            <a:r>
              <a:rPr lang="zh-CN" altLang="en-US" b="0" i="0" u="none" strike="noStrike" baseline="0" dirty="0">
                <a:solidFill>
                  <a:srgbClr val="000000"/>
                </a:solidFill>
                <a:cs typeface="+mn-ea"/>
                <a:sym typeface="+mn-lt"/>
              </a:rPr>
              <a:t>一个连续函数被取样时，它真正的最大值或最小值实际上可能位于样本点之间。得到接近真实极 值</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亚像素精度</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的一种方法是，首先在数字函数中的每个极值点处拟合一个内插函数，然后在内插后的函数中查找改进精度后的极值位置。</a:t>
            </a:r>
          </a:p>
        </p:txBody>
      </p:sp>
      <p:sp>
        <p:nvSpPr>
          <p:cNvPr id="4" name="矩形 3">
            <a:extLst>
              <a:ext uri="{FF2B5EF4-FFF2-40B4-BE49-F238E27FC236}">
                <a16:creationId xmlns:a16="http://schemas.microsoft.com/office/drawing/2014/main" id="{8E2FDEEE-DE25-A851-F14B-8B0A8EFD104C}"/>
              </a:ext>
            </a:extLst>
          </p:cNvPr>
          <p:cNvSpPr/>
          <p:nvPr/>
        </p:nvSpPr>
        <p:spPr>
          <a:xfrm>
            <a:off x="801092" y="2446417"/>
            <a:ext cx="10589815" cy="367908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2363552824"/>
      </p:ext>
    </p:extLst>
  </p:cSld>
  <p:clrMapOvr>
    <a:masterClrMapping/>
  </p:clrMapOvr>
  <p:transition spd="slow" advTm="0">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043100-DD85-9437-0579-4ADE55F2BB32}"/>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检测局部极值</a:t>
            </a:r>
          </a:p>
        </p:txBody>
      </p:sp>
      <p:sp>
        <p:nvSpPr>
          <p:cNvPr id="3" name="文本占位符 2">
            <a:extLst>
              <a:ext uri="{FF2B5EF4-FFF2-40B4-BE49-F238E27FC236}">
                <a16:creationId xmlns:a16="http://schemas.microsoft.com/office/drawing/2014/main" id="{CE72B991-1875-4F88-29A4-96EBEF8C718A}"/>
              </a:ext>
            </a:extLst>
          </p:cNvPr>
          <p:cNvSpPr>
            <a:spLocks noGrp="1"/>
          </p:cNvSpPr>
          <p:nvPr>
            <p:ph sz="quarter" idx="12"/>
          </p:nvPr>
        </p:nvSpPr>
        <p:spPr/>
        <p:txBody>
          <a:bodyPr>
            <a:normAutofit/>
          </a:bodyPr>
          <a:lstStyle/>
          <a:p>
            <a:pPr marL="0" marR="890" lvl="0" indent="0" rtl="0">
              <a:buNone/>
            </a:pPr>
            <a:r>
              <a:rPr lang="en-US" altLang="zh-CN" b="1" i="0" u="none" strike="noStrike" baseline="0" dirty="0">
                <a:solidFill>
                  <a:srgbClr val="000000"/>
                </a:solidFill>
                <a:cs typeface="+mn-ea"/>
                <a:sym typeface="+mn-lt"/>
              </a:rPr>
              <a:t>3.</a:t>
            </a:r>
            <a:r>
              <a:rPr lang="zh-CN" altLang="en-US" b="1" i="0" u="none" strike="noStrike" baseline="0" dirty="0">
                <a:solidFill>
                  <a:srgbClr val="000000"/>
                </a:solidFill>
                <a:cs typeface="+mn-ea"/>
                <a:sym typeface="+mn-lt"/>
              </a:rPr>
              <a:t> 消除边缘响应</a:t>
            </a:r>
          </a:p>
          <a:p>
            <a:pPr marL="0" marR="890" lvl="0" indent="0" rtl="0">
              <a:buNone/>
            </a:pPr>
            <a:r>
              <a:rPr lang="zh-CN" altLang="en-US" b="0" i="0" u="none" strike="noStrike" baseline="0" dirty="0">
                <a:solidFill>
                  <a:srgbClr val="000000"/>
                </a:solidFill>
                <a:cs typeface="+mn-ea"/>
                <a:sym typeface="+mn-lt"/>
              </a:rPr>
              <a:t>回顾</a:t>
            </a:r>
            <a:r>
              <a:rPr lang="en-US" altLang="zh-CN" b="0" i="0" u="none" strike="noStrike" baseline="0" dirty="0">
                <a:solidFill>
                  <a:srgbClr val="000000"/>
                </a:solidFill>
                <a:cs typeface="+mn-ea"/>
                <a:sym typeface="+mn-lt"/>
              </a:rPr>
              <a:t>10.2</a:t>
            </a:r>
            <a:r>
              <a:rPr lang="zh-CN" altLang="en-US" b="0" i="0" u="none" strike="noStrike" baseline="0" dirty="0">
                <a:solidFill>
                  <a:srgbClr val="000000"/>
                </a:solidFill>
                <a:cs typeface="+mn-ea"/>
                <a:sym typeface="+mn-lt"/>
              </a:rPr>
              <a:t>节可知，使用高斯差会得到图像中的边缘。但 </a:t>
            </a: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中我们感兴趣的关键点是“角状”特征，这些特征更加局部化。因此，消除了边缘导致的灰度过渡。 为了量化边和角之间的差，我们研究局部曲折度。边在一个方向上由高曲折度表征，在正交方向上由低曲折度表征。图像中某点的曲折度可由该点处的一个</a:t>
            </a:r>
            <a:r>
              <a:rPr lang="en-US" altLang="zh-CN" b="0" i="0" u="none" strike="noStrike" baseline="0" dirty="0">
                <a:solidFill>
                  <a:srgbClr val="000000"/>
                </a:solidFill>
                <a:cs typeface="+mn-ea"/>
                <a:sym typeface="+mn-lt"/>
              </a:rPr>
              <a:t>2×2</a:t>
            </a:r>
            <a:r>
              <a:rPr lang="zh-CN" altLang="en-US" b="0" i="0" u="none" strike="noStrike" baseline="0" dirty="0">
                <a:solidFill>
                  <a:srgbClr val="000000"/>
                </a:solidFill>
                <a:cs typeface="+mn-ea"/>
                <a:sym typeface="+mn-lt"/>
              </a:rPr>
              <a:t>海森矩阵算出。因此，要在标量空间中的任何一层计算</a:t>
            </a:r>
            <a:r>
              <a:rPr lang="en-US" altLang="zh-CN" b="0" i="0" u="none" strike="noStrike" baseline="0" dirty="0" err="1">
                <a:solidFill>
                  <a:srgbClr val="000000"/>
                </a:solidFill>
                <a:cs typeface="+mn-ea"/>
                <a:sym typeface="+mn-lt"/>
              </a:rPr>
              <a:t>DoG</a:t>
            </a:r>
            <a:r>
              <a:rPr lang="zh-CN" altLang="en-US" b="0" i="0" u="none" strike="noStrike" baseline="0" dirty="0">
                <a:solidFill>
                  <a:srgbClr val="000000"/>
                </a:solidFill>
                <a:cs typeface="+mn-ea"/>
                <a:sym typeface="+mn-lt"/>
              </a:rPr>
              <a:t>的局部曲折度，可在该层中计算</a:t>
            </a:r>
            <a:r>
              <a:rPr lang="en-US" altLang="zh-CN" b="0" i="0" u="none" strike="noStrike" baseline="0" dirty="0">
                <a:solidFill>
                  <a:srgbClr val="000000"/>
                </a:solidFill>
                <a:cs typeface="+mn-ea"/>
                <a:sym typeface="+mn-lt"/>
              </a:rPr>
              <a:t>D</a:t>
            </a:r>
            <a:r>
              <a:rPr lang="zh-CN" altLang="en-US" b="0" i="0" u="none" strike="noStrike" baseline="0" dirty="0">
                <a:solidFill>
                  <a:srgbClr val="000000"/>
                </a:solidFill>
                <a:cs typeface="+mn-ea"/>
                <a:sym typeface="+mn-lt"/>
              </a:rPr>
              <a:t> 的海森矩阵：</a:t>
            </a:r>
          </a:p>
        </p:txBody>
      </p:sp>
      <p:pic>
        <p:nvPicPr>
          <p:cNvPr id="5" name="图片 4">
            <a:extLst>
              <a:ext uri="{FF2B5EF4-FFF2-40B4-BE49-F238E27FC236}">
                <a16:creationId xmlns:a16="http://schemas.microsoft.com/office/drawing/2014/main" id="{77F43FF9-0575-2930-B9A2-8928818D0432}"/>
              </a:ext>
            </a:extLst>
          </p:cNvPr>
          <p:cNvPicPr>
            <a:picLocks noChangeAspect="1"/>
          </p:cNvPicPr>
          <p:nvPr/>
        </p:nvPicPr>
        <p:blipFill>
          <a:blip r:embed="rId2"/>
          <a:stretch>
            <a:fillRect/>
          </a:stretch>
        </p:blipFill>
        <p:spPr>
          <a:xfrm>
            <a:off x="4352924" y="5522793"/>
            <a:ext cx="3486150" cy="723900"/>
          </a:xfrm>
          <a:prstGeom prst="rect">
            <a:avLst/>
          </a:prstGeom>
        </p:spPr>
      </p:pic>
    </p:spTree>
    <p:extLst>
      <p:ext uri="{BB962C8B-B14F-4D97-AF65-F5344CB8AC3E}">
        <p14:creationId xmlns:p14="http://schemas.microsoft.com/office/powerpoint/2010/main" val="2656835282"/>
      </p:ext>
    </p:extLst>
  </p:cSld>
  <p:clrMapOvr>
    <a:masterClrMapping/>
  </p:clrMapOvr>
  <p:transition spd="slow" advTm="0">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47F22DD-A7F0-3912-CB49-D6DEA3937ADA}"/>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关键点方向</a:t>
            </a:r>
          </a:p>
        </p:txBody>
      </p:sp>
      <p:sp>
        <p:nvSpPr>
          <p:cNvPr id="3" name="文本占位符 2">
            <a:extLst>
              <a:ext uri="{FF2B5EF4-FFF2-40B4-BE49-F238E27FC236}">
                <a16:creationId xmlns:a16="http://schemas.microsoft.com/office/drawing/2014/main" id="{4A77060F-9FB9-A5FA-70C0-3C0A852EAA73}"/>
              </a:ext>
            </a:extLst>
          </p:cNvPr>
          <p:cNvSpPr>
            <a:spLocks noGrp="1"/>
          </p:cNvSpPr>
          <p:nvPr>
            <p:ph sz="quarter" idx="12"/>
          </p:nvPr>
        </p:nvSpPr>
        <p:spPr/>
        <p:txBody>
          <a:bodyPr/>
          <a:lstStyle/>
          <a:p>
            <a:pPr marR="890" lvl="0" rtl="0"/>
            <a:r>
              <a:rPr lang="zh-CN" altLang="en-US" b="0" i="0" u="none" strike="noStrike" baseline="0" dirty="0">
                <a:solidFill>
                  <a:srgbClr val="000000"/>
                </a:solidFill>
                <a:cs typeface="+mn-ea"/>
                <a:sym typeface="+mn-lt"/>
              </a:rPr>
              <a:t>在这个过程中，我们计算了</a:t>
            </a: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认为稳定的关键点。因为我们知道每个关键点在尺度空间中的位置，因此实现了尺度独立性。下一步是根据局部图像性质为每个关键点分配一个一致的方向，以便能够表示相对于其方向的关键点，实现图像旋转的不变性。</a:t>
            </a:r>
            <a:endParaRPr lang="en-US" altLang="zh-CN" b="0" i="0" u="none" strike="noStrike" baseline="0" dirty="0">
              <a:solidFill>
                <a:srgbClr val="000000"/>
              </a:solidFill>
              <a:cs typeface="+mn-ea"/>
              <a:sym typeface="+mn-lt"/>
            </a:endParaRPr>
          </a:p>
          <a:p>
            <a:pPr marR="890" lvl="0" rtl="0"/>
            <a:r>
              <a:rPr lang="zh-CN" altLang="en-US" b="0" i="0" u="none" strike="noStrike" baseline="0" dirty="0">
                <a:solidFill>
                  <a:srgbClr val="000000"/>
                </a:solidFill>
                <a:cs typeface="+mn-ea"/>
                <a:sym typeface="+mn-lt"/>
              </a:rPr>
              <a:t>对此，</a:t>
            </a: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使用了一种简单的方法。使用关键点的尺度来选择最接近该尺度的高斯平滑图像 </a:t>
            </a:r>
            <a:r>
              <a:rPr lang="en-US" altLang="zh-CN" b="0" i="0" u="none" strike="noStrike" baseline="0" dirty="0">
                <a:solidFill>
                  <a:srgbClr val="000000"/>
                </a:solidFill>
                <a:cs typeface="+mn-ea"/>
                <a:sym typeface="+mn-lt"/>
              </a:rPr>
              <a:t>L</a:t>
            </a:r>
            <a:r>
              <a:rPr lang="zh-CN" altLang="en-US" b="0" i="0" u="none" strike="noStrike" baseline="0" dirty="0">
                <a:solidFill>
                  <a:srgbClr val="000000"/>
                </a:solidFill>
                <a:cs typeface="+mn-ea"/>
                <a:sym typeface="+mn-lt"/>
              </a:rPr>
              <a:t>。这样，所有方向的计算就都以尺度不变的方式执行。然后，对这一尺度的每个图像样本</a:t>
            </a:r>
            <a:r>
              <a:rPr lang="en-US" altLang="zh-CN" b="0" i="0" u="none" strike="noStrike" baseline="0" dirty="0">
                <a:solidFill>
                  <a:srgbClr val="000000"/>
                </a:solidFill>
                <a:cs typeface="+mn-ea"/>
                <a:sym typeface="+mn-lt"/>
              </a:rPr>
              <a:t>L(</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使用像素差计算梯度幅度</a:t>
            </a:r>
            <a:r>
              <a:rPr lang="en-US" altLang="zh-CN" b="0" i="0" u="none" strike="noStrike" baseline="0" dirty="0">
                <a:solidFill>
                  <a:srgbClr val="000000"/>
                </a:solidFill>
                <a:cs typeface="+mn-ea"/>
                <a:sym typeface="+mn-lt"/>
              </a:rPr>
              <a:t>M(</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r>
              <a:rPr lang="zh-CN" altLang="en-US" b="0" i="0" u="none" strike="noStrike" baseline="0" dirty="0">
                <a:solidFill>
                  <a:srgbClr val="000000"/>
                </a:solidFill>
                <a:cs typeface="+mn-ea"/>
                <a:sym typeface="+mn-lt"/>
              </a:rPr>
              <a:t> 和方向角</a:t>
            </a:r>
            <a:r>
              <a:rPr lang="el-GR" altLang="zh-CN" b="0" i="0" u="none" strike="noStrike" baseline="0" dirty="0">
                <a:solidFill>
                  <a:srgbClr val="000000"/>
                </a:solidFill>
                <a:cs typeface="+mn-ea"/>
                <a:sym typeface="+mn-lt"/>
              </a:rPr>
              <a:t>θ(</a:t>
            </a:r>
            <a:r>
              <a:rPr lang="en-US" altLang="zh-CN" b="0" i="0" u="none" strike="noStrike" baseline="0" dirty="0" err="1">
                <a:solidFill>
                  <a:srgbClr val="000000"/>
                </a:solidFill>
                <a:cs typeface="+mn-ea"/>
                <a:sym typeface="+mn-lt"/>
              </a:rPr>
              <a:t>x,y</a:t>
            </a:r>
            <a:r>
              <a:rPr lang="en-US" altLang="zh-CN" b="0" i="0" u="none" strike="noStrike" baseline="0" dirty="0">
                <a:solidFill>
                  <a:srgbClr val="000000"/>
                </a:solidFill>
                <a:cs typeface="+mn-ea"/>
                <a:sym typeface="+mn-lt"/>
              </a:rPr>
              <a:t>):</a:t>
            </a:r>
            <a:endParaRPr lang="zh-CN" altLang="en-US" b="0" i="0" u="none" strike="noStrike" baseline="0" dirty="0">
              <a:solidFill>
                <a:srgbClr val="000000"/>
              </a:solidFill>
              <a:cs typeface="+mn-ea"/>
              <a:sym typeface="+mn-lt"/>
            </a:endParaRPr>
          </a:p>
        </p:txBody>
      </p:sp>
      <p:pic>
        <p:nvPicPr>
          <p:cNvPr id="5" name="图片 4">
            <a:extLst>
              <a:ext uri="{FF2B5EF4-FFF2-40B4-BE49-F238E27FC236}">
                <a16:creationId xmlns:a16="http://schemas.microsoft.com/office/drawing/2014/main" id="{5F23076B-9BFD-754B-0C88-D166B4BB906A}"/>
              </a:ext>
            </a:extLst>
          </p:cNvPr>
          <p:cNvPicPr>
            <a:picLocks noChangeAspect="1"/>
          </p:cNvPicPr>
          <p:nvPr/>
        </p:nvPicPr>
        <p:blipFill>
          <a:blip r:embed="rId2"/>
          <a:stretch>
            <a:fillRect/>
          </a:stretch>
        </p:blipFill>
        <p:spPr>
          <a:xfrm>
            <a:off x="3746934" y="5455827"/>
            <a:ext cx="4698130" cy="888835"/>
          </a:xfrm>
          <a:prstGeom prst="rect">
            <a:avLst/>
          </a:prstGeom>
        </p:spPr>
      </p:pic>
    </p:spTree>
    <p:extLst>
      <p:ext uri="{BB962C8B-B14F-4D97-AF65-F5344CB8AC3E}">
        <p14:creationId xmlns:p14="http://schemas.microsoft.com/office/powerpoint/2010/main" val="2717400613"/>
      </p:ext>
    </p:extLst>
  </p:cSld>
  <p:clrMapOvr>
    <a:masterClrMapping/>
  </p:clrMapOvr>
  <p:transition spd="slow" advTm="0">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1635E13-EE93-7ECF-B798-B23C86A8124F}"/>
              </a:ext>
            </a:extLst>
          </p:cNvPr>
          <p:cNvSpPr>
            <a:spLocks noGrp="1"/>
          </p:cNvSpPr>
          <p:nvPr>
            <p:ph type="title"/>
          </p:nvPr>
        </p:nvSpPr>
        <p:spPr/>
        <p:txBody>
          <a:bodyPr/>
          <a:lstStyle/>
          <a:p>
            <a:pPr marR="0" rtl="0"/>
            <a:r>
              <a:rPr lang="zh-CN" altLang="en-US" b="1" i="0" u="none" strike="noStrike" baseline="0">
                <a:solidFill>
                  <a:srgbClr val="0070C0"/>
                </a:solidFill>
                <a:latin typeface="+mn-lt"/>
                <a:ea typeface="+mn-ea"/>
                <a:cs typeface="+mn-ea"/>
                <a:sym typeface="+mn-lt"/>
              </a:rPr>
              <a:t>关键点描述子</a:t>
            </a:r>
          </a:p>
        </p:txBody>
      </p:sp>
      <p:sp>
        <p:nvSpPr>
          <p:cNvPr id="3" name="文本占位符 2">
            <a:extLst>
              <a:ext uri="{FF2B5EF4-FFF2-40B4-BE49-F238E27FC236}">
                <a16:creationId xmlns:a16="http://schemas.microsoft.com/office/drawing/2014/main" id="{45F11EB8-671C-03F3-944D-4C1A039A78CB}"/>
              </a:ext>
            </a:extLst>
          </p:cNvPr>
          <p:cNvSpPr>
            <a:spLocks noGrp="1"/>
          </p:cNvSpPr>
          <p:nvPr>
            <p:ph sz="quarter" idx="11"/>
          </p:nvPr>
        </p:nvSpPr>
        <p:spPr>
          <a:xfrm>
            <a:off x="801093" y="2432500"/>
            <a:ext cx="6956559" cy="3540427"/>
          </a:xfrm>
        </p:spPr>
        <p:txBody>
          <a:bodyPr>
            <a:normAutofit/>
          </a:bodyPr>
          <a:lstStyle/>
          <a:p>
            <a:pPr marL="0" marR="890" lvl="0" indent="0" rtl="0">
              <a:buNone/>
            </a:pP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 用来计算描述子的方法基于实验结果，实验结果表明局部图像梯度的作用类似于人类视觉从不同角度匹配和识别三维物体 </a:t>
            </a:r>
            <a:r>
              <a:rPr lang="en-US" altLang="zh-CN" b="0" i="0" u="none" strike="noStrike" baseline="0" dirty="0">
                <a:solidFill>
                  <a:srgbClr val="000000"/>
                </a:solidFill>
                <a:cs typeface="+mn-ea"/>
                <a:sym typeface="+mn-lt"/>
              </a:rPr>
              <a:t>(Lowe[2004])</a:t>
            </a:r>
            <a:r>
              <a:rPr lang="zh-CN" altLang="en-US" b="0" i="0" u="none" strike="noStrike" baseline="0" dirty="0">
                <a:solidFill>
                  <a:srgbClr val="000000"/>
                </a:solidFill>
                <a:cs typeface="+mn-ea"/>
                <a:sym typeface="+mn-lt"/>
              </a:rPr>
              <a:t>。</a:t>
            </a:r>
            <a:endParaRPr lang="en-US" altLang="zh-CN" b="0" i="0" u="none" strike="noStrike" baseline="0" dirty="0">
              <a:solidFill>
                <a:srgbClr val="000000"/>
              </a:solidFill>
              <a:cs typeface="+mn-ea"/>
              <a:sym typeface="+mn-lt"/>
            </a:endParaRPr>
          </a:p>
          <a:p>
            <a:pPr marL="0" marR="890" lvl="0" indent="0" rtl="0">
              <a:buNone/>
            </a:pPr>
            <a:r>
              <a:rPr lang="zh-CN" altLang="en-US" b="0" i="0" u="none" strike="noStrike" baseline="0" dirty="0">
                <a:solidFill>
                  <a:srgbClr val="000000"/>
                </a:solidFill>
                <a:cs typeface="+mn-ea"/>
                <a:sym typeface="+mn-lt"/>
              </a:rPr>
              <a:t>图</a:t>
            </a:r>
            <a:r>
              <a:rPr lang="en-US" altLang="zh-CN" b="0" i="0" u="none" strike="noStrike" baseline="0" dirty="0">
                <a:solidFill>
                  <a:srgbClr val="000000"/>
                </a:solidFill>
                <a:cs typeface="+mn-ea"/>
                <a:sym typeface="+mn-lt"/>
              </a:rPr>
              <a:t>11.62</a:t>
            </a:r>
            <a:r>
              <a:rPr lang="zh-CN" altLang="en-US" b="0" i="0" u="none" strike="noStrike" baseline="0" dirty="0">
                <a:solidFill>
                  <a:srgbClr val="000000"/>
                </a:solidFill>
                <a:cs typeface="+mn-ea"/>
                <a:sym typeface="+mn-lt"/>
              </a:rPr>
              <a:t>小结了</a:t>
            </a:r>
            <a:r>
              <a:rPr lang="en-US" altLang="zh-CN" b="0" i="0" u="none" strike="noStrike" baseline="0" dirty="0">
                <a:solidFill>
                  <a:srgbClr val="000000"/>
                </a:solidFill>
                <a:cs typeface="+mn-ea"/>
                <a:sym typeface="+mn-lt"/>
              </a:rPr>
              <a:t>SIFT</a:t>
            </a:r>
            <a:r>
              <a:rPr lang="zh-CN" altLang="en-US" b="0" i="0" u="none" strike="noStrike" baseline="0" dirty="0">
                <a:solidFill>
                  <a:srgbClr val="000000"/>
                </a:solidFill>
                <a:cs typeface="+mn-ea"/>
                <a:sym typeface="+mn-lt"/>
              </a:rPr>
              <a:t> 用来生成与每个关键点相关联的描述子的过程。</a:t>
            </a:r>
          </a:p>
        </p:txBody>
      </p:sp>
      <p:pic>
        <p:nvPicPr>
          <p:cNvPr id="5" name="图片 4">
            <a:extLst>
              <a:ext uri="{FF2B5EF4-FFF2-40B4-BE49-F238E27FC236}">
                <a16:creationId xmlns:a16="http://schemas.microsoft.com/office/drawing/2014/main" id="{2CCA8355-5F26-02BF-20D0-FA9D83663AE0}"/>
              </a:ext>
            </a:extLst>
          </p:cNvPr>
          <p:cNvPicPr>
            <a:picLocks noChangeAspect="1"/>
          </p:cNvPicPr>
          <p:nvPr/>
        </p:nvPicPr>
        <p:blipFill>
          <a:blip r:embed="rId2"/>
          <a:stretch>
            <a:fillRect/>
          </a:stretch>
        </p:blipFill>
        <p:spPr>
          <a:xfrm>
            <a:off x="7850247" y="2432500"/>
            <a:ext cx="3540660" cy="3679081"/>
          </a:xfrm>
          <a:prstGeom prst="rect">
            <a:avLst/>
          </a:prstGeom>
        </p:spPr>
      </p:pic>
      <p:sp>
        <p:nvSpPr>
          <p:cNvPr id="8" name="矩形 7">
            <a:extLst>
              <a:ext uri="{FF2B5EF4-FFF2-40B4-BE49-F238E27FC236}">
                <a16:creationId xmlns:a16="http://schemas.microsoft.com/office/drawing/2014/main" id="{8DB5B1C8-6F50-C5F8-27BD-5B1B134A5894}"/>
              </a:ext>
            </a:extLst>
          </p:cNvPr>
          <p:cNvSpPr/>
          <p:nvPr/>
        </p:nvSpPr>
        <p:spPr>
          <a:xfrm>
            <a:off x="801092" y="2446417"/>
            <a:ext cx="10589815" cy="3679080"/>
          </a:xfrm>
          <a:prstGeom prst="rect">
            <a:avLst/>
          </a:prstGeom>
          <a:noFill/>
          <a:ln>
            <a:solidFill>
              <a:srgbClr val="0463C4">
                <a:alpha val="50000"/>
              </a:srgbClr>
            </a:solidFill>
          </a:ln>
          <a:effectLst>
            <a:outerShdw blurRad="508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Tree>
    <p:extLst>
      <p:ext uri="{BB962C8B-B14F-4D97-AF65-F5344CB8AC3E}">
        <p14:creationId xmlns:p14="http://schemas.microsoft.com/office/powerpoint/2010/main" val="102646425"/>
      </p:ext>
    </p:extLst>
  </p:cSld>
  <p:clrMapOvr>
    <a:masterClrMapping/>
  </p:clrMapOvr>
  <p:transition spd="slow" advTm="0">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2" name="组合 301"/>
          <p:cNvGrpSpPr/>
          <p:nvPr/>
        </p:nvGrpSpPr>
        <p:grpSpPr>
          <a:xfrm>
            <a:off x="951918" y="2003875"/>
            <a:ext cx="4621778" cy="1257438"/>
            <a:chOff x="951918" y="1752810"/>
            <a:chExt cx="4621778" cy="1257438"/>
          </a:xfrm>
        </p:grpSpPr>
        <p:sp>
          <p:nvSpPr>
            <p:cNvPr id="295" name="椭圆 294"/>
            <p:cNvSpPr/>
            <p:nvPr/>
          </p:nvSpPr>
          <p:spPr>
            <a:xfrm>
              <a:off x="3440154" y="1752810"/>
              <a:ext cx="1219200" cy="1219200"/>
            </a:xfrm>
            <a:prstGeom prst="ellipse">
              <a:avLst/>
            </a:prstGeom>
            <a:gradFill>
              <a:gsLst>
                <a:gs pos="0">
                  <a:srgbClr val="0165C5">
                    <a:alpha val="7000"/>
                  </a:srgbClr>
                </a:gs>
                <a:gs pos="100000">
                  <a:srgbClr val="F2F9FF">
                    <a:alpha val="24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285" name="文本框 284"/>
            <p:cNvSpPr txBox="1"/>
            <p:nvPr/>
          </p:nvSpPr>
          <p:spPr>
            <a:xfrm>
              <a:off x="951918" y="2240807"/>
              <a:ext cx="4621778" cy="76944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400" b="1" i="0" u="none" strike="noStrike" kern="1200" cap="none" spc="0" normalizeH="0" baseline="0" noProof="0" dirty="0">
                  <a:ln>
                    <a:noFill/>
                  </a:ln>
                  <a:solidFill>
                    <a:prstClr val="black">
                      <a:lumMod val="85000"/>
                      <a:lumOff val="15000"/>
                    </a:prstClr>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感谢观看，再见！</a:t>
              </a:r>
            </a:p>
          </p:txBody>
        </p:sp>
      </p:grpSp>
      <p:grpSp>
        <p:nvGrpSpPr>
          <p:cNvPr id="2" name="组合 1">
            <a:extLst>
              <a:ext uri="{FF2B5EF4-FFF2-40B4-BE49-F238E27FC236}">
                <a16:creationId xmlns:a16="http://schemas.microsoft.com/office/drawing/2014/main" id="{4BE357EE-D036-5636-DC77-B48D4D7055E5}"/>
              </a:ext>
            </a:extLst>
          </p:cNvPr>
          <p:cNvGrpSpPr/>
          <p:nvPr/>
        </p:nvGrpSpPr>
        <p:grpSpPr>
          <a:xfrm>
            <a:off x="951918" y="4412946"/>
            <a:ext cx="4142910" cy="479114"/>
            <a:chOff x="5646962" y="4937787"/>
            <a:chExt cx="1453481" cy="482463"/>
          </a:xfrm>
          <a:effectLst/>
        </p:grpSpPr>
        <p:sp>
          <p:nvSpPr>
            <p:cNvPr id="3" name="任意多边形: 形状 12">
              <a:extLst>
                <a:ext uri="{FF2B5EF4-FFF2-40B4-BE49-F238E27FC236}">
                  <a16:creationId xmlns:a16="http://schemas.microsoft.com/office/drawing/2014/main" id="{B8825F78-788B-5888-4DE8-08CDF7B2BB1A}"/>
                </a:ext>
              </a:extLst>
            </p:cNvPr>
            <p:cNvSpPr/>
            <p:nvPr/>
          </p:nvSpPr>
          <p:spPr>
            <a:xfrm flipH="1" flipV="1">
              <a:off x="5646962" y="4937787"/>
              <a:ext cx="1453481" cy="482463"/>
            </a:xfrm>
            <a:prstGeom prst="roundRect">
              <a:avLst>
                <a:gd name="adj" fmla="val 50000"/>
              </a:avLst>
            </a:prstGeom>
            <a:solidFill>
              <a:srgbClr val="02B0E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4" name="文本框 3">
              <a:extLst>
                <a:ext uri="{FF2B5EF4-FFF2-40B4-BE49-F238E27FC236}">
                  <a16:creationId xmlns:a16="http://schemas.microsoft.com/office/drawing/2014/main" id="{95D6DFA9-4BAC-CC65-293E-89A0FE6CFA72}"/>
                </a:ext>
              </a:extLst>
            </p:cNvPr>
            <p:cNvSpPr txBox="1"/>
            <p:nvPr/>
          </p:nvSpPr>
          <p:spPr>
            <a:xfrm>
              <a:off x="5715384" y="4993062"/>
              <a:ext cx="1316636" cy="37191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1" i="0" u="none" strike="noStrike" kern="1200" cap="none" spc="600" normalizeH="0" baseline="0" noProof="0" dirty="0">
                  <a:ln>
                    <a:noFill/>
                  </a:ln>
                  <a:solidFill>
                    <a:prstClr val="white"/>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数字图像处理（第四版）</a:t>
              </a:r>
            </a:p>
          </p:txBody>
        </p:sp>
      </p:grpSp>
      <p:sp>
        <p:nvSpPr>
          <p:cNvPr id="5" name="Freeform 24">
            <a:extLst>
              <a:ext uri="{FF2B5EF4-FFF2-40B4-BE49-F238E27FC236}">
                <a16:creationId xmlns:a16="http://schemas.microsoft.com/office/drawing/2014/main" id="{CA6C89E0-1294-29F9-32FC-0C6AE93501E4}"/>
              </a:ext>
            </a:extLst>
          </p:cNvPr>
          <p:cNvSpPr>
            <a:spLocks/>
          </p:cNvSpPr>
          <p:nvPr/>
        </p:nvSpPr>
        <p:spPr bwMode="auto">
          <a:xfrm>
            <a:off x="951918" y="3660494"/>
            <a:ext cx="171824" cy="429542"/>
          </a:xfrm>
          <a:prstGeom prst="roundRect">
            <a:avLst/>
          </a:prstGeom>
          <a:solidFill>
            <a:srgbClr val="0463C4"/>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endParaRPr>
          </a:p>
        </p:txBody>
      </p:sp>
      <p:sp>
        <p:nvSpPr>
          <p:cNvPr id="6" name="Inhaltsplatzhalter 4">
            <a:extLst>
              <a:ext uri="{FF2B5EF4-FFF2-40B4-BE49-F238E27FC236}">
                <a16:creationId xmlns:a16="http://schemas.microsoft.com/office/drawing/2014/main" id="{FAA5296B-124B-0722-3B9F-18899F4AC0A1}"/>
              </a:ext>
            </a:extLst>
          </p:cNvPr>
          <p:cNvSpPr txBox="1">
            <a:spLocks/>
          </p:cNvSpPr>
          <p:nvPr/>
        </p:nvSpPr>
        <p:spPr>
          <a:xfrm>
            <a:off x="1254141" y="3736766"/>
            <a:ext cx="3787962" cy="276999"/>
          </a:xfrm>
          <a:prstGeom prst="rect">
            <a:avLst/>
          </a:prstGeom>
        </p:spPr>
        <p:txBody>
          <a:bodyPr wrap="square" lIns="0" tIns="0" rIns="0" bIns="0">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lvl="0" indent="0" algn="dist">
              <a:lnSpc>
                <a:spcPct val="100000"/>
              </a:lnSpc>
              <a:spcAft>
                <a:spcPts val="1200"/>
              </a:spcAft>
              <a:buNone/>
            </a:pPr>
            <a:r>
              <a:rPr lang="zh-CN" altLang="en-US" sz="1800" b="1" dirty="0">
                <a:solidFill>
                  <a:srgbClr val="0463C4"/>
                </a:solidFill>
                <a:latin typeface="阿里巴巴普惠体" panose="00020600040101010101" pitchFamily="18" charset="-122"/>
                <a:ea typeface="阿里巴巴普惠体" panose="00020600040101010101" pitchFamily="18" charset="-122"/>
                <a:cs typeface="阿里巴巴普惠体" panose="00020600040101010101" pitchFamily="18" charset="-122"/>
                <a:sym typeface="阿里巴巴普惠体" panose="00020600040101010101" pitchFamily="18" charset="-122"/>
              </a:rPr>
              <a:t>国外电子与通信教材系列</a:t>
            </a:r>
          </a:p>
        </p:txBody>
      </p:sp>
    </p:spTree>
    <p:extLst>
      <p:ext uri="{BB962C8B-B14F-4D97-AF65-F5344CB8AC3E}">
        <p14:creationId xmlns:p14="http://schemas.microsoft.com/office/powerpoint/2010/main" val="390989700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302"/>
                                        </p:tgtEl>
                                        <p:attrNameLst>
                                          <p:attrName>style.visibility</p:attrName>
                                        </p:attrNameLst>
                                      </p:cBhvr>
                                      <p:to>
                                        <p:strVal val="visible"/>
                                      </p:to>
                                    </p:set>
                                    <p:anim calcmode="lin" valueType="num">
                                      <p:cBhvr additive="base">
                                        <p:cTn id="7" dur="500" fill="hold"/>
                                        <p:tgtEl>
                                          <p:spTgt spid="302"/>
                                        </p:tgtEl>
                                        <p:attrNameLst>
                                          <p:attrName>ppt_x</p:attrName>
                                        </p:attrNameLst>
                                      </p:cBhvr>
                                      <p:tavLst>
                                        <p:tav tm="0">
                                          <p:val>
                                            <p:strVal val="#ppt_x"/>
                                          </p:val>
                                        </p:tav>
                                        <p:tav tm="100000">
                                          <p:val>
                                            <p:strVal val="#ppt_x"/>
                                          </p:val>
                                        </p:tav>
                                      </p:tavLst>
                                    </p:anim>
                                    <p:anim calcmode="lin" valueType="num">
                                      <p:cBhvr additive="base">
                                        <p:cTn id="8" dur="500" fill="hold"/>
                                        <p:tgtEl>
                                          <p:spTgt spid="302"/>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2" presetClass="entr" presetSubtype="2" accel="20000" decel="80000"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par>
                                <p:cTn id="14" presetID="22" presetClass="entr" presetSubtype="8" fill="hold" grpId="0" nodeType="withEffect">
                                  <p:stCondLst>
                                    <p:cond delay="20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1200"/>
                            </p:stCondLst>
                            <p:childTnLst>
                              <p:par>
                                <p:cTn id="18" presetID="2" presetClass="entr" presetSubtype="4"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additive="base">
                                        <p:cTn id="20" dur="500" fill="hold"/>
                                        <p:tgtEl>
                                          <p:spTgt spid="2"/>
                                        </p:tgtEl>
                                        <p:attrNameLst>
                                          <p:attrName>ppt_x</p:attrName>
                                        </p:attrNameLst>
                                      </p:cBhvr>
                                      <p:tavLst>
                                        <p:tav tm="0">
                                          <p:val>
                                            <p:strVal val="#ppt_x"/>
                                          </p:val>
                                        </p:tav>
                                        <p:tav tm="100000">
                                          <p:val>
                                            <p:strVal val="#ppt_x"/>
                                          </p:val>
                                        </p:tav>
                                      </p:tavLst>
                                    </p:anim>
                                    <p:anim calcmode="lin" valueType="num">
                                      <p:cBhvr additive="base">
                                        <p:cTn id="21"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hdq4g0b2">
      <a:majorFont>
        <a:latin typeface="阿里巴巴普惠体"/>
        <a:ea typeface="阿里巴巴普惠体"/>
        <a:cs typeface=""/>
      </a:majorFont>
      <a:minorFont>
        <a:latin typeface="阿里巴巴普惠体"/>
        <a:ea typeface="阿里巴巴普惠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【ch02】数字图像基础</Template>
  <TotalTime>230</TotalTime>
  <Words>2151</Words>
  <Application>Microsoft Office PowerPoint</Application>
  <PresentationFormat>宽屏</PresentationFormat>
  <Paragraphs>83</Paragraphs>
  <Slides>30</Slides>
  <Notes>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30</vt:i4>
      </vt:variant>
    </vt:vector>
  </HeadingPairs>
  <TitlesOfParts>
    <vt:vector size="34" baseType="lpstr">
      <vt:lpstr>阿里巴巴普惠体</vt:lpstr>
      <vt:lpstr>Arial</vt:lpstr>
      <vt:lpstr>Wingdings</vt:lpstr>
      <vt:lpstr>Office 主题</vt:lpstr>
      <vt:lpstr>PowerPoint 演示文稿</vt:lpstr>
      <vt:lpstr>PowerPoint 演示文稿</vt:lpstr>
      <vt:lpstr>背景概述</vt:lpstr>
      <vt:lpstr>PowerPoint 演示文稿</vt:lpstr>
      <vt:lpstr>边界跟踪</vt:lpstr>
      <vt:lpstr>链码</vt:lpstr>
      <vt:lpstr>用最小周长多边形近似边界</vt:lpstr>
      <vt:lpstr>用最小周长多边形近似边界</vt:lpstr>
      <vt:lpstr>标记图</vt:lpstr>
      <vt:lpstr>骨架、中轴和距离变换</vt:lpstr>
      <vt:lpstr>PowerPoint 演示文稿</vt:lpstr>
      <vt:lpstr>形状数</vt:lpstr>
      <vt:lpstr>傅里叶描述子</vt:lpstr>
      <vt:lpstr>统计矩</vt:lpstr>
      <vt:lpstr>PowerPoint 演示文稿</vt:lpstr>
      <vt:lpstr>一些基本的描述子</vt:lpstr>
      <vt:lpstr>拓扑描述子</vt:lpstr>
      <vt:lpstr>纹理</vt:lpstr>
      <vt:lpstr>PowerPoint 演示文稿</vt:lpstr>
      <vt:lpstr>主分量</vt:lpstr>
      <vt:lpstr>PowerPoint 演示文稿</vt:lpstr>
      <vt:lpstr>哈里斯- 斯蒂芬斯角检测器</vt:lpstr>
      <vt:lpstr>最大稳定极值区域 (MSER)</vt:lpstr>
      <vt:lpstr>PowerPoint 演示文稿</vt:lpstr>
      <vt:lpstr>尺度空间</vt:lpstr>
      <vt:lpstr>检测局部极值</vt:lpstr>
      <vt:lpstr>检测局部极值</vt:lpstr>
      <vt:lpstr>关键点方向</vt:lpstr>
      <vt:lpstr>关键点描述子</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第11章 特征提取</dc:title>
  <dc:creator>娜 王</dc:creator>
  <cp:lastModifiedBy>Administrator</cp:lastModifiedBy>
  <cp:revision>5</cp:revision>
  <dcterms:created xsi:type="dcterms:W3CDTF">2023-10-17T02:38:31Z</dcterms:created>
  <dcterms:modified xsi:type="dcterms:W3CDTF">2023-10-20T01:19:07Z</dcterms:modified>
</cp:coreProperties>
</file>