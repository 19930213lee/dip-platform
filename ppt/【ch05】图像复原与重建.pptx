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94" r:id="rId2"/>
    <p:sldId id="295" r:id="rId3"/>
    <p:sldId id="257" r:id="rId4"/>
    <p:sldId id="296" r:id="rId5"/>
    <p:sldId id="259" r:id="rId6"/>
    <p:sldId id="260" r:id="rId7"/>
    <p:sldId id="263" r:id="rId8"/>
    <p:sldId id="265" r:id="rId9"/>
    <p:sldId id="267" r:id="rId10"/>
    <p:sldId id="269" r:id="rId11"/>
    <p:sldId id="297" r:id="rId12"/>
    <p:sldId id="271" r:id="rId13"/>
    <p:sldId id="307" r:id="rId14"/>
    <p:sldId id="272" r:id="rId15"/>
    <p:sldId id="308" r:id="rId16"/>
    <p:sldId id="273" r:id="rId17"/>
    <p:sldId id="298" r:id="rId18"/>
    <p:sldId id="275" r:id="rId19"/>
    <p:sldId id="276" r:id="rId20"/>
    <p:sldId id="299" r:id="rId21"/>
    <p:sldId id="277" r:id="rId22"/>
    <p:sldId id="300" r:id="rId23"/>
    <p:sldId id="279" r:id="rId24"/>
    <p:sldId id="280" r:id="rId25"/>
    <p:sldId id="281" r:id="rId26"/>
    <p:sldId id="301" r:id="rId27"/>
    <p:sldId id="282" r:id="rId28"/>
    <p:sldId id="302" r:id="rId29"/>
    <p:sldId id="283" r:id="rId30"/>
    <p:sldId id="303" r:id="rId31"/>
    <p:sldId id="284" r:id="rId32"/>
    <p:sldId id="304" r:id="rId33"/>
    <p:sldId id="293" r:id="rId34"/>
    <p:sldId id="305" r:id="rId35"/>
    <p:sldId id="288" r:id="rId36"/>
    <p:sldId id="289" r:id="rId37"/>
    <p:sldId id="290" r:id="rId38"/>
    <p:sldId id="291" r:id="rId39"/>
    <p:sldId id="292" r:id="rId40"/>
    <p:sldId id="306"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autoAdjust="0"/>
    <p:restoredTop sz="94660"/>
  </p:normalViewPr>
  <p:slideViewPr>
    <p:cSldViewPr snapToGrid="0">
      <p:cViewPr varScale="1">
        <p:scale>
          <a:sx n="98" d="100"/>
          <a:sy n="98" d="100"/>
        </p:scale>
        <p:origin x="72"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2393314568"/>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2733042495"/>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图像退化</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复原处理的一个模型</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934331396"/>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图像退化</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复原处理的一个模型</a:t>
            </a:r>
            <a:endParaRPr lang="zh-CN" altLang="en-US" sz="2800" dirty="0">
              <a:solidFill>
                <a:srgbClr val="0091D9"/>
              </a:solidFill>
            </a:endParaRPr>
          </a:p>
        </p:txBody>
      </p:sp>
    </p:spTree>
    <p:extLst>
      <p:ext uri="{BB962C8B-B14F-4D97-AF65-F5344CB8AC3E}">
        <p14:creationId xmlns:p14="http://schemas.microsoft.com/office/powerpoint/2010/main" val="238757464"/>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噪声模型</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559375818"/>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噪声模型</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454885868"/>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只存在噪声的复原</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空间滤波</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033200703"/>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只存在噪声的复原</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空间滤波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3976178"/>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使用频率域滤波降低周期噪声</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62504627"/>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使用频率域滤波降低周期噪声</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578701758"/>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线性位置不变退化</a:t>
            </a:r>
          </a:p>
        </p:txBody>
      </p:sp>
      <p:sp>
        <p:nvSpPr>
          <p:cNvPr id="5" name="内容占位符 13">
            <a:extLst>
              <a:ext uri="{FF2B5EF4-FFF2-40B4-BE49-F238E27FC236}">
                <a16:creationId xmlns:a16="http://schemas.microsoft.com/office/drawing/2014/main" id="{A8F998AA-3A57-EAA5-853E-C0651E7CB29D}"/>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919773486"/>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线性位置不变退化</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586315168"/>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估计退化函数</a:t>
            </a:r>
          </a:p>
        </p:txBody>
      </p:sp>
      <p:sp>
        <p:nvSpPr>
          <p:cNvPr id="5" name="内容占位符 13">
            <a:extLst>
              <a:ext uri="{FF2B5EF4-FFF2-40B4-BE49-F238E27FC236}">
                <a16:creationId xmlns:a16="http://schemas.microsoft.com/office/drawing/2014/main" id="{26310FB1-6EBF-45CB-E58D-270CB7BBFA9B}"/>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982090878"/>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估计退化函数</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635561932"/>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逆滤波</a:t>
            </a:r>
          </a:p>
        </p:txBody>
      </p:sp>
      <p:sp>
        <p:nvSpPr>
          <p:cNvPr id="5" name="内容占位符 13">
            <a:extLst>
              <a:ext uri="{FF2B5EF4-FFF2-40B4-BE49-F238E27FC236}">
                <a16:creationId xmlns:a16="http://schemas.microsoft.com/office/drawing/2014/main" id="{7DA9E09A-812E-982B-195C-6B3E7553B1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511307376"/>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逆滤波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656449213"/>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最小均方误差</a:t>
            </a:r>
            <a:r>
              <a:rPr lang="en-US" altLang="zh-CN" sz="2800" dirty="0">
                <a:solidFill>
                  <a:srgbClr val="0091D9"/>
                </a:solidFill>
              </a:rPr>
              <a:t>(</a:t>
            </a:r>
            <a:r>
              <a:rPr lang="zh-CN" altLang="en-US" sz="2800" dirty="0">
                <a:solidFill>
                  <a:srgbClr val="0091D9"/>
                </a:solidFill>
              </a:rPr>
              <a:t>维纳</a:t>
            </a:r>
            <a:r>
              <a:rPr lang="en-US" altLang="zh-CN" sz="2800" dirty="0">
                <a:solidFill>
                  <a:srgbClr val="0091D9"/>
                </a:solidFill>
              </a:rPr>
              <a:t>)</a:t>
            </a:r>
            <a:r>
              <a:rPr lang="zh-CN" altLang="en-US" sz="2800" dirty="0">
                <a:solidFill>
                  <a:srgbClr val="0091D9"/>
                </a:solidFill>
              </a:rPr>
              <a:t>滤波</a:t>
            </a:r>
          </a:p>
        </p:txBody>
      </p:sp>
      <p:sp>
        <p:nvSpPr>
          <p:cNvPr id="5" name="内容占位符 13">
            <a:extLst>
              <a:ext uri="{FF2B5EF4-FFF2-40B4-BE49-F238E27FC236}">
                <a16:creationId xmlns:a16="http://schemas.microsoft.com/office/drawing/2014/main" id="{8F656C66-409E-90A0-FDB8-C0C7E1C54200}"/>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283316658"/>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最小均方误差</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维纳</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滤波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485225102"/>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约束最小二乘方滤波</a:t>
            </a:r>
          </a:p>
        </p:txBody>
      </p:sp>
      <p:sp>
        <p:nvSpPr>
          <p:cNvPr id="5" name="内容占位符 13">
            <a:extLst>
              <a:ext uri="{FF2B5EF4-FFF2-40B4-BE49-F238E27FC236}">
                <a16:creationId xmlns:a16="http://schemas.microsoft.com/office/drawing/2014/main" id="{AE3FC695-C088-A6D7-B06E-9A01D9C2014B}"/>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009443200"/>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约束最小二乘方滤波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252141257"/>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几何均值滤波</a:t>
            </a:r>
          </a:p>
        </p:txBody>
      </p:sp>
      <p:sp>
        <p:nvSpPr>
          <p:cNvPr id="5" name="内容占位符 13">
            <a:extLst>
              <a:ext uri="{FF2B5EF4-FFF2-40B4-BE49-F238E27FC236}">
                <a16:creationId xmlns:a16="http://schemas.microsoft.com/office/drawing/2014/main" id="{5492C941-B13B-760A-F21E-E9C751EC5A3B}"/>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958489693"/>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几何均值滤波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065650746"/>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由投影重建图像</a:t>
            </a:r>
          </a:p>
        </p:txBody>
      </p:sp>
      <p:sp>
        <p:nvSpPr>
          <p:cNvPr id="5" name="内容占位符 13">
            <a:extLst>
              <a:ext uri="{FF2B5EF4-FFF2-40B4-BE49-F238E27FC236}">
                <a16:creationId xmlns:a16="http://schemas.microsoft.com/office/drawing/2014/main" id="{ECCC4660-3C9B-BF1F-09B0-ACB28DDD846D}"/>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51071605"/>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由投影重建图像</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519874570"/>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1080949619"/>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46793831"/>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C044B8B2-3056-470F-980D-B1A1E1C8FFC2}" type="datetimeFigureOut">
              <a:rPr lang="zh-CN" altLang="en-US" smtClean="0"/>
              <a:t>2023/10/20</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A86514C5-1F03-492F-9601-8BC2175C4703}" type="slidenum">
              <a:rPr lang="zh-CN" altLang="en-US" smtClean="0"/>
              <a:t>‹#›</a:t>
            </a:fld>
            <a:endParaRPr lang="zh-CN" altLang="en-US"/>
          </a:p>
        </p:txBody>
      </p:sp>
    </p:spTree>
    <p:extLst>
      <p:ext uri="{BB962C8B-B14F-4D97-AF65-F5344CB8AC3E}">
        <p14:creationId xmlns:p14="http://schemas.microsoft.com/office/powerpoint/2010/main" val="223645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155111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3.xml"/><Relationship Id="rId5"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4.xml"/><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1142271" y="449572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1027366" y="1310600"/>
            <a:ext cx="4953600" cy="2186039"/>
            <a:chOff x="951801" y="1752810"/>
            <a:chExt cx="4953600" cy="2186039"/>
          </a:xfrm>
        </p:grpSpPr>
        <p:sp>
          <p:nvSpPr>
            <p:cNvPr id="285" name="文本框 284"/>
            <p:cNvSpPr txBox="1"/>
            <p:nvPr/>
          </p:nvSpPr>
          <p:spPr>
            <a:xfrm>
              <a:off x="951801" y="3015519"/>
              <a:ext cx="4953600"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图像复原与重建</a:t>
              </a:r>
              <a:endParaRPr kumimoji="0" lang="zh-CN" altLang="en-US" sz="5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22849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第五章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1142271" y="374327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444494" y="381954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2997181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图像退化</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复原处理的一个模型</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87874786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B8E298-28E9-F605-F8DB-06658DF08565}"/>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D4606C97-E64B-65DC-5314-6C260B5D0C40}"/>
              </a:ext>
            </a:extLst>
          </p:cNvPr>
          <p:cNvSpPr>
            <a:spLocks noGrp="1"/>
          </p:cNvSpPr>
          <p:nvPr>
            <p:ph sz="quarter" idx="11"/>
          </p:nvPr>
        </p:nvSpPr>
        <p:spPr/>
        <p:txBody>
          <a:bodyPr/>
          <a:lstStyle/>
          <a:p>
            <a:pPr marL="0" marR="90" lvl="0" indent="0" rtl="0">
              <a:buNone/>
            </a:pPr>
            <a:r>
              <a:rPr lang="zh-CN" altLang="en-US" b="0" i="0" u="none" strike="noStrike" baseline="0" dirty="0">
                <a:solidFill>
                  <a:srgbClr val="000000"/>
                </a:solidFill>
                <a:cs typeface="+mn-ea"/>
                <a:sym typeface="+mn-lt"/>
              </a:rPr>
              <a:t>本章中把图像退化建模为一个算子</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 这个算子与一个加性噪声项共同对输入图像</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进行运算，生成一幅退化图像</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 (</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5.1)</a:t>
            </a:r>
            <a:r>
              <a:rPr lang="zh-CN" altLang="en-US" b="0" i="0" u="none" strike="noStrike" baseline="0" dirty="0">
                <a:solidFill>
                  <a:srgbClr val="000000"/>
                </a:solidFill>
                <a:cs typeface="+mn-ea"/>
                <a:sym typeface="+mn-lt"/>
              </a:rPr>
              <a:t>。已知</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关于</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 和加性噪声项</a:t>
            </a:r>
            <a:r>
              <a:rPr lang="el-GR" altLang="zh-CN" b="0" i="0" u="none" strike="noStrike" baseline="0" dirty="0">
                <a:solidFill>
                  <a:srgbClr val="000000"/>
                </a:solidFill>
                <a:cs typeface="+mn-ea"/>
                <a:sym typeface="+mn-lt"/>
              </a:rPr>
              <a:t>η(</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的一些知识后，图像复原的目的就是得到原图像的一个估计</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我们希望这一估计尽可能地接近原图像，并且一般来说，关于</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和</a:t>
            </a:r>
            <a:r>
              <a:rPr lang="el-GR" altLang="zh-CN" b="0" i="0" u="none" strike="noStrike" baseline="0" dirty="0">
                <a:solidFill>
                  <a:srgbClr val="000000"/>
                </a:solidFill>
                <a:cs typeface="+mn-ea"/>
                <a:sym typeface="+mn-lt"/>
              </a:rPr>
              <a:t>η</a:t>
            </a:r>
            <a:r>
              <a:rPr lang="zh-CN" altLang="en-US" b="0" i="0" u="none" strike="noStrike" baseline="0" dirty="0">
                <a:solidFill>
                  <a:srgbClr val="000000"/>
                </a:solidFill>
                <a:cs typeface="+mn-ea"/>
                <a:sym typeface="+mn-lt"/>
              </a:rPr>
              <a:t>的信息知道得越多，得到的</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就越接近</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B73C1587-6F02-CF01-0CBB-05FB3AB98FF8}"/>
              </a:ext>
            </a:extLst>
          </p:cNvPr>
          <p:cNvPicPr>
            <a:picLocks noChangeAspect="1"/>
          </p:cNvPicPr>
          <p:nvPr/>
        </p:nvPicPr>
        <p:blipFill>
          <a:blip r:embed="rId2"/>
          <a:stretch>
            <a:fillRect/>
          </a:stretch>
        </p:blipFill>
        <p:spPr>
          <a:xfrm>
            <a:off x="2860764" y="4473491"/>
            <a:ext cx="6470470" cy="2167941"/>
          </a:xfrm>
          <a:prstGeom prst="rect">
            <a:avLst/>
          </a:prstGeom>
        </p:spPr>
      </p:pic>
      <p:sp>
        <p:nvSpPr>
          <p:cNvPr id="6" name="矩形 5">
            <a:extLst>
              <a:ext uri="{FF2B5EF4-FFF2-40B4-BE49-F238E27FC236}">
                <a16:creationId xmlns:a16="http://schemas.microsoft.com/office/drawing/2014/main" id="{0AC83639-7BA4-9396-B886-B1154D6CF2EB}"/>
              </a:ext>
            </a:extLst>
          </p:cNvPr>
          <p:cNvSpPr/>
          <p:nvPr/>
        </p:nvSpPr>
        <p:spPr>
          <a:xfrm>
            <a:off x="801092" y="2446417"/>
            <a:ext cx="10589815" cy="189232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497739722"/>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噪声模型</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63380873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97A565-2EC8-26EF-5258-DBA5B6BCBFB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噪声的空间和频率特性</a:t>
            </a:r>
          </a:p>
        </p:txBody>
      </p:sp>
      <p:sp>
        <p:nvSpPr>
          <p:cNvPr id="3" name="文本占位符 2">
            <a:extLst>
              <a:ext uri="{FF2B5EF4-FFF2-40B4-BE49-F238E27FC236}">
                <a16:creationId xmlns:a16="http://schemas.microsoft.com/office/drawing/2014/main" id="{CF964D28-7896-E51B-389A-4B06213AA364}"/>
              </a:ext>
            </a:extLst>
          </p:cNvPr>
          <p:cNvSpPr>
            <a:spLocks noGrp="1"/>
          </p:cNvSpPr>
          <p:nvPr>
            <p:ph sz="quarter" idx="12"/>
          </p:nvPr>
        </p:nvSpPr>
        <p:spPr/>
        <p:txBody>
          <a:bodyPr>
            <a:normAutofit lnSpcReduction="10000"/>
          </a:bodyPr>
          <a:lstStyle/>
          <a:p>
            <a:pPr marR="90" lvl="0" rtl="0"/>
            <a:r>
              <a:rPr lang="zh-CN" altLang="en-US" b="0" i="0" u="none" strike="noStrike" baseline="0" dirty="0">
                <a:solidFill>
                  <a:srgbClr val="000000"/>
                </a:solidFill>
                <a:cs typeface="+mn-ea"/>
                <a:sym typeface="+mn-lt"/>
              </a:rPr>
              <a:t>与我们的讨论相关的是定义噪声空间特性的参数，以及噪声是否与图像相关。频率性质是指在第</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章详细讨论的傅里叶</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频率</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域中，噪声的频率含量。例如，当噪声的傅里叶谱是常量时，噪声通常称为白噪声。这个术语派生自白光的物理性质，即白光等比例地包含可见光谱中的所有频率。</a:t>
            </a:r>
          </a:p>
          <a:p>
            <a:pPr marR="90" lvl="0" rtl="0"/>
            <a:r>
              <a:rPr lang="zh-CN" altLang="en-US" b="0" i="0" u="none" strike="noStrike" baseline="0" dirty="0">
                <a:solidFill>
                  <a:srgbClr val="000000"/>
                </a:solidFill>
                <a:cs typeface="+mn-ea"/>
                <a:sym typeface="+mn-lt"/>
              </a:rPr>
              <a:t>除空间周期噪声外，本章假设噪声与空间坐标无关，并且与图像本身也不相关</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即像素值与噪声分量的值之间没有相关性</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。尽管这些假设在某些应用</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射线成像和核医学成像等量子限制成像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中不成立，但处理空间相关噪声的复杂度超出了我们的讨论范围。</a:t>
            </a:r>
          </a:p>
        </p:txBody>
      </p:sp>
    </p:spTree>
    <p:extLst>
      <p:ext uri="{BB962C8B-B14F-4D97-AF65-F5344CB8AC3E}">
        <p14:creationId xmlns:p14="http://schemas.microsoft.com/office/powerpoint/2010/main" val="1344215631"/>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4045B1-7AA5-202D-30E6-FA325BC6D8B9}"/>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一些重要的噪声概率密度函数</a:t>
            </a:r>
          </a:p>
        </p:txBody>
      </p:sp>
      <p:sp>
        <p:nvSpPr>
          <p:cNvPr id="3" name="文本占位符 2">
            <a:extLst>
              <a:ext uri="{FF2B5EF4-FFF2-40B4-BE49-F238E27FC236}">
                <a16:creationId xmlns:a16="http://schemas.microsoft.com/office/drawing/2014/main" id="{023A226B-8855-7589-7819-E3B17E59E2BE}"/>
              </a:ext>
            </a:extLst>
          </p:cNvPr>
          <p:cNvSpPr>
            <a:spLocks noGrp="1"/>
          </p:cNvSpPr>
          <p:nvPr>
            <p:ph sz="quarter" idx="11"/>
          </p:nvPr>
        </p:nvSpPr>
        <p:spPr/>
        <p:txBody>
          <a:bodyPr>
            <a:normAutofit/>
          </a:bodyPr>
          <a:lstStyle/>
          <a:p>
            <a:pPr marL="0" marR="90" lvl="0" indent="0" rtl="0">
              <a:buNone/>
            </a:pPr>
            <a:r>
              <a:rPr lang="en-US" altLang="zh-CN" b="1" i="0" u="none" strike="noStrike" baseline="0" dirty="0">
                <a:latin typeface="+mn-lt"/>
                <a:ea typeface="+mn-ea"/>
                <a:cs typeface="+mn-ea"/>
                <a:sym typeface="+mn-lt"/>
              </a:rPr>
              <a:t>1.</a:t>
            </a:r>
            <a:r>
              <a:rPr lang="zh-CN" altLang="en-US" b="1" i="0" u="none" strike="noStrike" baseline="0" dirty="0">
                <a:latin typeface="+mn-lt"/>
                <a:ea typeface="+mn-ea"/>
                <a:cs typeface="+mn-ea"/>
                <a:sym typeface="+mn-lt"/>
              </a:rPr>
              <a:t> 高斯噪声</a:t>
            </a:r>
            <a:endParaRPr lang="en-US" altLang="zh-CN" b="0" i="0" u="none" strike="noStrike" baseline="0" dirty="0">
              <a:cs typeface="+mn-ea"/>
              <a:sym typeface="+mn-lt"/>
            </a:endParaRPr>
          </a:p>
          <a:p>
            <a:pPr marL="0" marR="90" lvl="0" indent="0" rtl="0">
              <a:buNone/>
            </a:pPr>
            <a:r>
              <a:rPr lang="zh-CN" altLang="en-US" b="0" i="0" u="none" strike="noStrike" baseline="0" dirty="0">
                <a:solidFill>
                  <a:srgbClr val="000000"/>
                </a:solidFill>
                <a:cs typeface="+mn-ea"/>
                <a:sym typeface="+mn-lt"/>
              </a:rPr>
              <a:t>由于在空间域和频率域中数学上很容易处理，因此高斯噪声模型在实际中得到了广泛应用。事实 上，高斯模型的这种易处理性使得它甚至适用于条件轻微得到满足的情况。</a:t>
            </a:r>
            <a:endParaRPr lang="en-US" altLang="zh-CN" b="0" i="0" u="none" strike="noStrike" baseline="0" dirty="0">
              <a:solidFill>
                <a:srgbClr val="000000"/>
              </a:solidFill>
              <a:cs typeface="+mn-ea"/>
              <a:sym typeface="+mn-lt"/>
            </a:endParaRPr>
          </a:p>
          <a:p>
            <a:pPr marL="0" marR="90" lvl="0" indent="0" rtl="0">
              <a:buNone/>
            </a:pPr>
            <a:r>
              <a:rPr lang="en-US" altLang="zh-CN" b="1" i="0" u="none" strike="noStrike" baseline="0" dirty="0">
                <a:latin typeface="+mn-lt"/>
                <a:ea typeface="+mn-ea"/>
                <a:cs typeface="+mn-ea"/>
                <a:sym typeface="+mn-lt"/>
              </a:rPr>
              <a:t>2.</a:t>
            </a:r>
            <a:r>
              <a:rPr lang="zh-CN" altLang="en-US" b="1" i="0" u="none" strike="noStrike" baseline="0" dirty="0">
                <a:latin typeface="+mn-lt"/>
                <a:ea typeface="+mn-ea"/>
                <a:cs typeface="+mn-ea"/>
                <a:sym typeface="+mn-lt"/>
              </a:rPr>
              <a:t> 瑞利噪声</a:t>
            </a:r>
            <a:endParaRPr lang="en-US" altLang="zh-CN" b="0" i="0" u="none" strike="noStrike" baseline="0" dirty="0">
              <a:cs typeface="+mn-ea"/>
              <a:sym typeface="+mn-lt"/>
            </a:endParaRPr>
          </a:p>
          <a:p>
            <a:pPr marL="0" marR="90" lvl="0" indent="0" rtl="0">
              <a:buNone/>
            </a:pPr>
            <a:r>
              <a:rPr lang="zh-CN" altLang="en-US" b="0" i="0" u="none" strike="noStrike" baseline="0" dirty="0">
                <a:solidFill>
                  <a:srgbClr val="000000"/>
                </a:solidFill>
                <a:cs typeface="+mn-ea"/>
                <a:sym typeface="+mn-lt"/>
              </a:rPr>
              <a:t>瑞利噪声的</a:t>
            </a:r>
            <a:r>
              <a:rPr lang="en-US" altLang="zh-CN" b="0" i="0" u="none" strike="noStrike" baseline="0" dirty="0">
                <a:solidFill>
                  <a:srgbClr val="000000"/>
                </a:solidFill>
                <a:cs typeface="+mn-ea"/>
                <a:sym typeface="+mn-lt"/>
              </a:rPr>
              <a:t>PDF</a:t>
            </a:r>
            <a:r>
              <a:rPr lang="zh-CN" altLang="en-US" b="0" i="0" u="none" strike="noStrike" baseline="0" dirty="0">
                <a:solidFill>
                  <a:srgbClr val="000000"/>
                </a:solidFill>
                <a:cs typeface="+mn-ea"/>
                <a:sym typeface="+mn-lt"/>
              </a:rPr>
              <a:t>为</a:t>
            </a:r>
          </a:p>
          <a:p>
            <a:pPr marL="0" marR="90" lvl="0" indent="0" rtl="0">
              <a:buNone/>
            </a:pPr>
            <a:r>
              <a:rPr lang="zh-CN" altLang="en-US" b="0" i="0" u="none" strike="noStrike" baseline="0" dirty="0">
                <a:solidFill>
                  <a:srgbClr val="000000"/>
                </a:solidFill>
                <a:cs typeface="+mn-ea"/>
                <a:sym typeface="+mn-lt"/>
              </a:rPr>
              <a:t>当随机变量</a:t>
            </a:r>
            <a:r>
              <a:rPr lang="en-US" altLang="zh-CN" b="0" i="0" u="none" strike="noStrike" baseline="0" dirty="0">
                <a:solidFill>
                  <a:srgbClr val="000000"/>
                </a:solidFill>
                <a:cs typeface="+mn-ea"/>
                <a:sym typeface="+mn-lt"/>
              </a:rPr>
              <a:t>z </a:t>
            </a:r>
            <a:r>
              <a:rPr lang="zh-CN" altLang="en-US" b="0" i="0" u="none" strike="noStrike" baseline="0" dirty="0">
                <a:solidFill>
                  <a:srgbClr val="000000"/>
                </a:solidFill>
                <a:cs typeface="+mn-ea"/>
                <a:sym typeface="+mn-lt"/>
              </a:rPr>
              <a:t>由一个瑞利</a:t>
            </a:r>
            <a:r>
              <a:rPr lang="en-US" altLang="zh-CN" b="0" i="0" u="none" strike="noStrike" baseline="0" dirty="0">
                <a:solidFill>
                  <a:srgbClr val="000000"/>
                </a:solidFill>
                <a:cs typeface="+mn-ea"/>
                <a:sym typeface="+mn-lt"/>
              </a:rPr>
              <a:t>PDF</a:t>
            </a:r>
            <a:r>
              <a:rPr lang="zh-CN" altLang="en-US" b="0" i="0" u="none" strike="noStrike" baseline="0" dirty="0">
                <a:solidFill>
                  <a:srgbClr val="000000"/>
                </a:solidFill>
                <a:cs typeface="+mn-ea"/>
                <a:sym typeface="+mn-lt"/>
              </a:rPr>
              <a:t> 表征时，其均值和方差为</a:t>
            </a:r>
          </a:p>
          <a:p>
            <a:pPr marL="0" marR="90" indent="0">
              <a:buNone/>
            </a:pPr>
            <a:endParaRPr lang="zh-CN" altLang="en-US"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AF5530ED-EC6A-B204-FAA4-01B93F2E9F04}"/>
              </a:ext>
            </a:extLst>
          </p:cNvPr>
          <p:cNvPicPr>
            <a:picLocks noChangeAspect="1"/>
          </p:cNvPicPr>
          <p:nvPr/>
        </p:nvPicPr>
        <p:blipFill>
          <a:blip r:embed="rId2"/>
          <a:stretch>
            <a:fillRect/>
          </a:stretch>
        </p:blipFill>
        <p:spPr>
          <a:xfrm>
            <a:off x="2920114" y="4698793"/>
            <a:ext cx="2133248" cy="581795"/>
          </a:xfrm>
          <a:prstGeom prst="rect">
            <a:avLst/>
          </a:prstGeom>
        </p:spPr>
      </p:pic>
      <p:pic>
        <p:nvPicPr>
          <p:cNvPr id="7" name="图片 6">
            <a:extLst>
              <a:ext uri="{FF2B5EF4-FFF2-40B4-BE49-F238E27FC236}">
                <a16:creationId xmlns:a16="http://schemas.microsoft.com/office/drawing/2014/main" id="{E391B0EB-7953-FE01-87C0-046268B6F506}"/>
              </a:ext>
            </a:extLst>
          </p:cNvPr>
          <p:cNvPicPr>
            <a:picLocks noChangeAspect="1"/>
          </p:cNvPicPr>
          <p:nvPr/>
        </p:nvPicPr>
        <p:blipFill>
          <a:blip r:embed="rId3"/>
          <a:stretch>
            <a:fillRect/>
          </a:stretch>
        </p:blipFill>
        <p:spPr>
          <a:xfrm>
            <a:off x="6899008" y="5280588"/>
            <a:ext cx="3341370" cy="648944"/>
          </a:xfrm>
          <a:prstGeom prst="rect">
            <a:avLst/>
          </a:prstGeom>
        </p:spPr>
      </p:pic>
      <p:sp>
        <p:nvSpPr>
          <p:cNvPr id="8" name="矩形 7">
            <a:extLst>
              <a:ext uri="{FF2B5EF4-FFF2-40B4-BE49-F238E27FC236}">
                <a16:creationId xmlns:a16="http://schemas.microsoft.com/office/drawing/2014/main" id="{5232020F-700D-AD0F-95AB-53B848D128EE}"/>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590520750"/>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25BA7-1F36-7D4E-4DF9-96C9C6C17E5E}"/>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一些重要的噪声概率密度函数</a:t>
            </a:r>
          </a:p>
        </p:txBody>
      </p:sp>
      <p:sp>
        <p:nvSpPr>
          <p:cNvPr id="3" name="文本占位符 2">
            <a:extLst>
              <a:ext uri="{FF2B5EF4-FFF2-40B4-BE49-F238E27FC236}">
                <a16:creationId xmlns:a16="http://schemas.microsoft.com/office/drawing/2014/main" id="{03E0E21C-39AF-60CE-E37D-6BCAED0DF051}"/>
              </a:ext>
            </a:extLst>
          </p:cNvPr>
          <p:cNvSpPr>
            <a:spLocks noGrp="1"/>
          </p:cNvSpPr>
          <p:nvPr>
            <p:ph sz="quarter" idx="12"/>
          </p:nvPr>
        </p:nvSpPr>
        <p:spPr/>
        <p:txBody>
          <a:bodyPr/>
          <a:lstStyle/>
          <a:p>
            <a:pPr marL="0" marR="90" lvl="0" indent="0" rtl="0">
              <a:buNone/>
            </a:pPr>
            <a:r>
              <a:rPr lang="en-US" altLang="zh-CN" b="1" i="0" u="none" strike="noStrike" baseline="0" dirty="0">
                <a:latin typeface="+mn-lt"/>
                <a:ea typeface="+mn-ea"/>
                <a:cs typeface="+mn-ea"/>
                <a:sym typeface="+mn-lt"/>
              </a:rPr>
              <a:t>3.</a:t>
            </a:r>
            <a:r>
              <a:rPr lang="zh-CN" altLang="en-US" b="1" i="0" u="none" strike="noStrike" baseline="0" dirty="0">
                <a:latin typeface="+mn-lt"/>
                <a:ea typeface="+mn-ea"/>
                <a:cs typeface="+mn-ea"/>
                <a:sym typeface="+mn-lt"/>
              </a:rPr>
              <a:t> 爱尔兰</a:t>
            </a:r>
            <a:r>
              <a:rPr lang="en-US" altLang="zh-CN" b="1" i="0" u="none" strike="noStrike" baseline="0" dirty="0">
                <a:latin typeface="+mn-lt"/>
                <a:ea typeface="+mn-ea"/>
                <a:cs typeface="+mn-ea"/>
                <a:sym typeface="+mn-lt"/>
              </a:rPr>
              <a:t>(</a:t>
            </a:r>
            <a:r>
              <a:rPr lang="zh-CN" altLang="en-US" b="1" i="0" u="none" strike="noStrike" baseline="0" dirty="0">
                <a:latin typeface="+mn-lt"/>
                <a:ea typeface="+mn-ea"/>
                <a:cs typeface="+mn-ea"/>
                <a:sym typeface="+mn-lt"/>
              </a:rPr>
              <a:t>伽马</a:t>
            </a:r>
            <a:r>
              <a:rPr lang="en-US" altLang="zh-CN" b="1" i="0" u="none" strike="noStrike" baseline="0" dirty="0">
                <a:latin typeface="+mn-lt"/>
                <a:ea typeface="+mn-ea"/>
                <a:cs typeface="+mn-ea"/>
                <a:sym typeface="+mn-lt"/>
              </a:rPr>
              <a:t>)</a:t>
            </a:r>
            <a:r>
              <a:rPr lang="zh-CN" altLang="en-US" b="1" i="0" u="none" strike="noStrike" baseline="0" dirty="0">
                <a:latin typeface="+mn-lt"/>
                <a:ea typeface="+mn-ea"/>
                <a:cs typeface="+mn-ea"/>
                <a:sym typeface="+mn-lt"/>
              </a:rPr>
              <a:t>噪声</a:t>
            </a:r>
            <a:endParaRPr lang="en-US" altLang="zh-CN" b="0" i="0" u="none" strike="noStrike" baseline="0" dirty="0">
              <a:cs typeface="+mn-ea"/>
              <a:sym typeface="+mn-lt"/>
            </a:endParaRPr>
          </a:p>
          <a:p>
            <a:pPr marL="0" marR="90" lvl="0" indent="0" rtl="0">
              <a:buNone/>
            </a:pPr>
            <a:r>
              <a:rPr lang="zh-CN" altLang="en-US" b="0" i="0" u="none" strike="noStrike" baseline="0" dirty="0">
                <a:solidFill>
                  <a:srgbClr val="000000"/>
                </a:solidFill>
                <a:cs typeface="+mn-ea"/>
                <a:sym typeface="+mn-lt"/>
              </a:rPr>
              <a:t>爱尔兰噪声的 </a:t>
            </a:r>
            <a:r>
              <a:rPr lang="en-US" altLang="zh-CN" b="0" i="0" u="none" strike="noStrike" baseline="0" dirty="0">
                <a:solidFill>
                  <a:srgbClr val="000000"/>
                </a:solidFill>
                <a:cs typeface="+mn-ea"/>
                <a:sym typeface="+mn-lt"/>
              </a:rPr>
              <a:t>PDF</a:t>
            </a:r>
            <a:r>
              <a:rPr lang="zh-CN" altLang="en-US" b="0" i="0" u="none" strike="noStrike" baseline="0" dirty="0">
                <a:solidFill>
                  <a:srgbClr val="000000"/>
                </a:solidFill>
                <a:cs typeface="+mn-ea"/>
                <a:sym typeface="+mn-lt"/>
              </a:rPr>
              <a:t>是</a:t>
            </a:r>
            <a:endParaRPr lang="en-US" altLang="zh-CN" b="0" i="0" u="none" strike="noStrike" baseline="0" dirty="0">
              <a:solidFill>
                <a:srgbClr val="000000"/>
              </a:solidFill>
              <a:cs typeface="+mn-ea"/>
              <a:sym typeface="+mn-lt"/>
            </a:endParaRPr>
          </a:p>
          <a:p>
            <a:pPr marL="0" marR="90" lvl="0" indent="0" rtl="0">
              <a:buNone/>
            </a:pPr>
            <a:endParaRPr lang="en-US" altLang="zh-CN" b="0" i="0" u="none" strike="noStrike" baseline="0" dirty="0">
              <a:solidFill>
                <a:srgbClr val="000000"/>
              </a:solidFill>
              <a:cs typeface="+mn-ea"/>
              <a:sym typeface="+mn-lt"/>
            </a:endParaRPr>
          </a:p>
          <a:p>
            <a:pPr marL="0" marR="90" lvl="0" indent="0" rtl="0">
              <a:buNone/>
            </a:pPr>
            <a:r>
              <a:rPr lang="en-US" altLang="zh-CN" b="1" i="0" u="none" strike="noStrike" baseline="0" dirty="0">
                <a:latin typeface="+mn-lt"/>
                <a:ea typeface="+mn-ea"/>
                <a:cs typeface="+mn-ea"/>
                <a:sym typeface="+mn-lt"/>
              </a:rPr>
              <a:t>4.</a:t>
            </a:r>
            <a:r>
              <a:rPr lang="zh-CN" altLang="en-US" b="1" i="0" u="none" strike="noStrike" baseline="0" dirty="0">
                <a:latin typeface="+mn-lt"/>
                <a:ea typeface="+mn-ea"/>
                <a:cs typeface="+mn-ea"/>
                <a:sym typeface="+mn-lt"/>
              </a:rPr>
              <a:t> 指数噪声</a:t>
            </a:r>
            <a:endParaRPr lang="en-US" altLang="zh-CN" b="1" i="0" u="none" strike="noStrike" baseline="0" dirty="0">
              <a:latin typeface="+mn-lt"/>
              <a:ea typeface="+mn-ea"/>
              <a:cs typeface="+mn-ea"/>
              <a:sym typeface="+mn-lt"/>
            </a:endParaRPr>
          </a:p>
          <a:p>
            <a:pPr marL="0" marR="90" indent="0">
              <a:buNone/>
            </a:pPr>
            <a:r>
              <a:rPr lang="zh-CN" altLang="en-US" b="0" i="0" u="none" strike="noStrike" baseline="0" dirty="0">
                <a:solidFill>
                  <a:srgbClr val="000000"/>
                </a:solidFill>
                <a:cs typeface="+mn-ea"/>
                <a:sym typeface="+mn-lt"/>
              </a:rPr>
              <a:t>指数噪声的</a:t>
            </a:r>
            <a:r>
              <a:rPr lang="en-US" altLang="zh-CN" b="0" i="0" u="none" strike="noStrike" baseline="0" dirty="0">
                <a:solidFill>
                  <a:srgbClr val="000000"/>
                </a:solidFill>
                <a:cs typeface="+mn-ea"/>
                <a:sym typeface="+mn-lt"/>
              </a:rPr>
              <a:t>PDF</a:t>
            </a:r>
            <a:r>
              <a:rPr lang="zh-CN" altLang="en-US" b="0" i="0" u="none" strike="noStrike" baseline="0" dirty="0">
                <a:solidFill>
                  <a:srgbClr val="000000"/>
                </a:solidFill>
                <a:cs typeface="+mn-ea"/>
                <a:sym typeface="+mn-lt"/>
              </a:rPr>
              <a:t> 为</a:t>
            </a:r>
          </a:p>
        </p:txBody>
      </p:sp>
      <p:pic>
        <p:nvPicPr>
          <p:cNvPr id="5" name="图片 4">
            <a:extLst>
              <a:ext uri="{FF2B5EF4-FFF2-40B4-BE49-F238E27FC236}">
                <a16:creationId xmlns:a16="http://schemas.microsoft.com/office/drawing/2014/main" id="{7CAD588A-AC18-CB87-AB22-8C07FED1F7E8}"/>
              </a:ext>
            </a:extLst>
          </p:cNvPr>
          <p:cNvPicPr>
            <a:picLocks noChangeAspect="1"/>
          </p:cNvPicPr>
          <p:nvPr/>
        </p:nvPicPr>
        <p:blipFill>
          <a:blip r:embed="rId2"/>
          <a:stretch>
            <a:fillRect/>
          </a:stretch>
        </p:blipFill>
        <p:spPr>
          <a:xfrm>
            <a:off x="4833937" y="3448262"/>
            <a:ext cx="2524125" cy="838200"/>
          </a:xfrm>
          <a:prstGeom prst="rect">
            <a:avLst/>
          </a:prstGeom>
        </p:spPr>
      </p:pic>
      <p:pic>
        <p:nvPicPr>
          <p:cNvPr id="7" name="图片 6">
            <a:extLst>
              <a:ext uri="{FF2B5EF4-FFF2-40B4-BE49-F238E27FC236}">
                <a16:creationId xmlns:a16="http://schemas.microsoft.com/office/drawing/2014/main" id="{1E2B0F4E-4859-A1C8-A267-8115B728E566}"/>
              </a:ext>
            </a:extLst>
          </p:cNvPr>
          <p:cNvPicPr>
            <a:picLocks noChangeAspect="1"/>
          </p:cNvPicPr>
          <p:nvPr/>
        </p:nvPicPr>
        <p:blipFill>
          <a:blip r:embed="rId3"/>
          <a:stretch>
            <a:fillRect/>
          </a:stretch>
        </p:blipFill>
        <p:spPr>
          <a:xfrm>
            <a:off x="4674699" y="5302224"/>
            <a:ext cx="2905757" cy="838199"/>
          </a:xfrm>
          <a:prstGeom prst="rect">
            <a:avLst/>
          </a:prstGeom>
        </p:spPr>
      </p:pic>
    </p:spTree>
    <p:extLst>
      <p:ext uri="{BB962C8B-B14F-4D97-AF65-F5344CB8AC3E}">
        <p14:creationId xmlns:p14="http://schemas.microsoft.com/office/powerpoint/2010/main" val="1509441703"/>
      </p:ext>
    </p:extLst>
  </p:cSld>
  <p:clrMapOvr>
    <a:masterClrMapping/>
  </p:clrMapOvr>
  <p:transition spd="slow" advTm="0">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4498D2-E847-2970-787B-D5A3B5915ADF}"/>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一些重要的噪声概率密度函数</a:t>
            </a:r>
          </a:p>
        </p:txBody>
      </p:sp>
      <mc:AlternateContent xmlns:mc="http://schemas.openxmlformats.org/markup-compatibility/2006" xmlns:a14="http://schemas.microsoft.com/office/drawing/2010/main">
        <mc:Choice Requires="a14">
          <p:sp>
            <p:nvSpPr>
              <p:cNvPr id="3" name="文本占位符 2">
                <a:extLst>
                  <a:ext uri="{FF2B5EF4-FFF2-40B4-BE49-F238E27FC236}">
                    <a16:creationId xmlns:a16="http://schemas.microsoft.com/office/drawing/2014/main" id="{BD2ADC7A-7D74-17C9-09E3-118C6D4D95C6}"/>
                  </a:ext>
                </a:extLst>
              </p:cNvPr>
              <p:cNvSpPr>
                <a:spLocks noGrp="1"/>
              </p:cNvSpPr>
              <p:nvPr>
                <p:ph sz="quarter" idx="12"/>
              </p:nvPr>
            </p:nvSpPr>
            <p:spPr>
              <a:xfrm>
                <a:off x="1024731" y="2516808"/>
                <a:ext cx="10371581" cy="3230517"/>
              </a:xfrm>
            </p:spPr>
            <p:txBody>
              <a:bodyPr>
                <a:normAutofit/>
              </a:bodyPr>
              <a:lstStyle/>
              <a:p>
                <a:pPr marL="0" marR="90" lvl="0" indent="0" rtl="0">
                  <a:buNone/>
                </a:pPr>
                <a:r>
                  <a:rPr lang="en-US" altLang="zh-CN" b="1" i="0" u="none" strike="noStrike" baseline="0" dirty="0">
                    <a:latin typeface="+mn-lt"/>
                    <a:ea typeface="+mn-ea"/>
                    <a:cs typeface="+mn-ea"/>
                    <a:sym typeface="+mn-lt"/>
                  </a:rPr>
                  <a:t>5.</a:t>
                </a:r>
                <a:r>
                  <a:rPr lang="zh-CN" altLang="en-US" b="1" i="0" u="none" strike="noStrike" baseline="0" dirty="0">
                    <a:latin typeface="+mn-lt"/>
                    <a:ea typeface="+mn-ea"/>
                    <a:cs typeface="+mn-ea"/>
                    <a:sym typeface="+mn-lt"/>
                  </a:rPr>
                  <a:t> 均匀噪声</a:t>
                </a:r>
                <a:endParaRPr lang="en-US" altLang="zh-CN" b="0" i="0" u="none" strike="noStrike" baseline="0" dirty="0">
                  <a:cs typeface="+mn-ea"/>
                  <a:sym typeface="+mn-lt"/>
                </a:endParaRPr>
              </a:p>
              <a:p>
                <a:pPr marL="0" marR="90" lvl="0" indent="0" rtl="0">
                  <a:buNone/>
                </a:pPr>
                <a:r>
                  <a:rPr lang="zh-CN" altLang="en-US" b="0" i="0" u="none" strike="noStrike" baseline="0" dirty="0">
                    <a:solidFill>
                      <a:srgbClr val="000000"/>
                    </a:solidFill>
                    <a:cs typeface="+mn-ea"/>
                    <a:sym typeface="+mn-lt"/>
                  </a:rPr>
                  <a:t>均匀噪声的</a:t>
                </a:r>
                <a:r>
                  <a:rPr lang="en-US" altLang="zh-CN" b="0" i="0" u="none" strike="noStrike" baseline="0" dirty="0">
                    <a:solidFill>
                      <a:srgbClr val="000000"/>
                    </a:solidFill>
                    <a:cs typeface="+mn-ea"/>
                    <a:sym typeface="+mn-lt"/>
                  </a:rPr>
                  <a:t>PDF</a:t>
                </a:r>
                <a:r>
                  <a:rPr lang="zh-CN" altLang="en-US" b="0" i="0" u="none" strike="noStrike" baseline="0" dirty="0">
                    <a:solidFill>
                      <a:srgbClr val="000000"/>
                    </a:solidFill>
                    <a:cs typeface="+mn-ea"/>
                    <a:sym typeface="+mn-lt"/>
                  </a:rPr>
                  <a:t> 为</a:t>
                </a:r>
                <a:endParaRPr lang="en-US" altLang="zh-CN" dirty="0">
                  <a:solidFill>
                    <a:srgbClr val="000000"/>
                  </a:solidFill>
                  <a:cs typeface="+mn-ea"/>
                  <a:sym typeface="+mn-lt"/>
                </a:endParaRPr>
              </a:p>
              <a:p>
                <a:pPr marL="0" marR="90" lvl="0" indent="0" rtl="0">
                  <a:buNone/>
                </a:pPr>
                <a:r>
                  <a:rPr lang="en-US" altLang="zh-CN" b="1" i="0" u="none" strike="noStrike" baseline="0" dirty="0">
                    <a:latin typeface="+mn-lt"/>
                    <a:ea typeface="+mn-ea"/>
                    <a:cs typeface="+mn-ea"/>
                    <a:sym typeface="+mn-lt"/>
                  </a:rPr>
                  <a:t>6.</a:t>
                </a:r>
                <a:r>
                  <a:rPr lang="zh-CN" altLang="en-US" b="1" i="0" u="none" strike="noStrike" baseline="0" dirty="0">
                    <a:latin typeface="+mn-lt"/>
                    <a:ea typeface="+mn-ea"/>
                    <a:cs typeface="+mn-ea"/>
                    <a:sym typeface="+mn-lt"/>
                  </a:rPr>
                  <a:t> 椒盐噪声</a:t>
                </a:r>
                <a:endParaRPr lang="en-US" altLang="zh-CN" b="1" i="0" u="none" strike="noStrike" baseline="0" dirty="0">
                  <a:latin typeface="+mn-lt"/>
                  <a:ea typeface="+mn-ea"/>
                  <a:cs typeface="+mn-ea"/>
                  <a:sym typeface="+mn-lt"/>
                </a:endParaRPr>
              </a:p>
              <a:p>
                <a:pPr marL="0" marR="90" indent="0">
                  <a:buNone/>
                </a:pPr>
                <a:r>
                  <a:rPr lang="zh-CN" altLang="en-US" b="0" i="0" u="none" strike="noStrike" baseline="0" dirty="0">
                    <a:solidFill>
                      <a:srgbClr val="000000"/>
                    </a:solidFill>
                    <a:cs typeface="+mn-ea"/>
                    <a:sym typeface="+mn-lt"/>
                  </a:rPr>
                  <a:t>如果</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是在一幅数字图像中表示灰度值的比特数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那么该图像的灰度值的值域可能是</a:t>
                </a:r>
                <a:r>
                  <a:rPr lang="en-US" altLang="zh-CN" b="0" i="0" u="none" strike="noStrike" baseline="0" dirty="0">
                    <a:solidFill>
                      <a:srgbClr val="000000"/>
                    </a:solidFill>
                    <a:cs typeface="+mn-ea"/>
                    <a:sym typeface="+mn-lt"/>
                  </a:rPr>
                  <a:t>[0,</a:t>
                </a:r>
                <a14:m>
                  <m:oMath xmlns:m="http://schemas.openxmlformats.org/officeDocument/2006/math">
                    <m:sSup>
                      <m:sSupPr>
                        <m:ctrlPr>
                          <a:rPr lang="en-US" altLang="zh-CN" b="0" i="1" u="none" strike="noStrike" baseline="0" dirty="0" smtClean="0">
                            <a:solidFill>
                              <a:srgbClr val="000000"/>
                            </a:solidFill>
                            <a:latin typeface="Cambria Math" panose="02040503050406030204" pitchFamily="18" charset="0"/>
                            <a:cs typeface="+mn-ea"/>
                            <a:sym typeface="+mn-lt"/>
                          </a:rPr>
                        </m:ctrlPr>
                      </m:sSupPr>
                      <m:e>
                        <m:r>
                          <a:rPr lang="en-US" altLang="zh-CN" b="0" i="1" u="none" strike="noStrike" baseline="0" dirty="0" smtClean="0">
                            <a:solidFill>
                              <a:srgbClr val="000000"/>
                            </a:solidFill>
                            <a:latin typeface="Cambria Math" panose="02040503050406030204" pitchFamily="18" charset="0"/>
                            <a:cs typeface="+mn-ea"/>
                            <a:sym typeface="+mn-lt"/>
                          </a:rPr>
                          <m:t>2</m:t>
                        </m:r>
                      </m:e>
                      <m:sup>
                        <m:r>
                          <a:rPr lang="en-US" altLang="zh-CN" b="0" i="1" u="none" strike="noStrike" baseline="0" dirty="0" smtClean="0">
                            <a:solidFill>
                              <a:srgbClr val="000000"/>
                            </a:solidFill>
                            <a:latin typeface="Cambria Math" panose="02040503050406030204" pitchFamily="18" charset="0"/>
                            <a:cs typeface="+mn-ea"/>
                            <a:sym typeface="+mn-lt"/>
                          </a:rPr>
                          <m:t>𝑘</m:t>
                        </m:r>
                      </m:sup>
                    </m:sSup>
                  </m:oMath>
                </a14:m>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对于</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比特图像来说是</a:t>
                </a:r>
                <a:r>
                  <a:rPr lang="en-US" altLang="zh-CN" b="0" i="0" u="none" strike="noStrike" baseline="0" dirty="0">
                    <a:solidFill>
                      <a:srgbClr val="000000"/>
                    </a:solidFill>
                    <a:cs typeface="+mn-ea"/>
                    <a:sym typeface="+mn-lt"/>
                  </a:rPr>
                  <a:t>[0,255])</a:t>
                </a:r>
                <a:r>
                  <a:rPr lang="zh-CN" altLang="en-US" b="0" i="0" u="none" strike="noStrike" baseline="0" dirty="0">
                    <a:solidFill>
                      <a:srgbClr val="000000"/>
                    </a:solidFill>
                    <a:cs typeface="+mn-ea"/>
                    <a:sym typeface="+mn-lt"/>
                  </a:rPr>
                  <a:t>。椒盐噪声的</a:t>
                </a:r>
                <a:r>
                  <a:rPr lang="en-US" altLang="zh-CN" b="0" i="0" u="none" strike="noStrike" baseline="0" dirty="0">
                    <a:solidFill>
                      <a:srgbClr val="000000"/>
                    </a:solidFill>
                    <a:cs typeface="+mn-ea"/>
                    <a:sym typeface="+mn-lt"/>
                  </a:rPr>
                  <a:t>PDF</a:t>
                </a:r>
                <a:r>
                  <a:rPr lang="zh-CN" altLang="en-US" b="0" i="0" u="none" strike="noStrike" baseline="0" dirty="0">
                    <a:solidFill>
                      <a:srgbClr val="000000"/>
                    </a:solidFill>
                    <a:cs typeface="+mn-ea"/>
                    <a:sym typeface="+mn-lt"/>
                  </a:rPr>
                  <a:t>为</a:t>
                </a:r>
                <a:endParaRPr lang="en-US" altLang="zh-CN" b="1" i="0" u="none" strike="noStrike" baseline="0" dirty="0">
                  <a:solidFill>
                    <a:srgbClr val="0070C0"/>
                  </a:solidFill>
                  <a:latin typeface="+mn-lt"/>
                  <a:ea typeface="+mn-ea"/>
                  <a:cs typeface="+mn-ea"/>
                  <a:sym typeface="+mn-lt"/>
                </a:endParaRPr>
              </a:p>
              <a:p>
                <a:pPr marL="0" marR="90" lvl="0" indent="0" rtl="0">
                  <a:buNone/>
                </a:pPr>
                <a:endParaRPr lang="zh-CN" altLang="en-US" b="0" i="0" u="none" strike="noStrike" baseline="0" dirty="0">
                  <a:solidFill>
                    <a:srgbClr val="000000"/>
                  </a:solidFill>
                  <a:cs typeface="+mn-ea"/>
                  <a:sym typeface="+mn-lt"/>
                </a:endParaRPr>
              </a:p>
            </p:txBody>
          </p:sp>
        </mc:Choice>
        <mc:Fallback xmlns="">
          <p:sp>
            <p:nvSpPr>
              <p:cNvPr id="3" name="文本占位符 2">
                <a:extLst>
                  <a:ext uri="{FF2B5EF4-FFF2-40B4-BE49-F238E27FC236}">
                    <a16:creationId xmlns:a16="http://schemas.microsoft.com/office/drawing/2014/main" id="{BD2ADC7A-7D74-17C9-09E3-118C6D4D95C6}"/>
                  </a:ext>
                </a:extLst>
              </p:cNvPr>
              <p:cNvSpPr>
                <a:spLocks noGrp="1" noRot="1" noChangeAspect="1" noMove="1" noResize="1" noEditPoints="1" noAdjustHandles="1" noChangeArrowheads="1" noChangeShapeType="1" noTextEdit="1"/>
              </p:cNvSpPr>
              <p:nvPr>
                <p:ph sz="quarter" idx="12"/>
              </p:nvPr>
            </p:nvSpPr>
            <p:spPr>
              <a:xfrm>
                <a:off x="1024731" y="2516808"/>
                <a:ext cx="10371581" cy="3230517"/>
              </a:xfrm>
              <a:blipFill>
                <a:blip r:embed="rId2"/>
                <a:stretch>
                  <a:fillRect l="-588" r="-64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B6FB555-E2B5-38DC-39A8-082BB448A218}"/>
              </a:ext>
            </a:extLst>
          </p:cNvPr>
          <p:cNvPicPr>
            <a:picLocks noChangeAspect="1"/>
          </p:cNvPicPr>
          <p:nvPr/>
        </p:nvPicPr>
        <p:blipFill>
          <a:blip r:embed="rId3"/>
          <a:stretch>
            <a:fillRect/>
          </a:stretch>
        </p:blipFill>
        <p:spPr>
          <a:xfrm>
            <a:off x="5024436" y="3450025"/>
            <a:ext cx="2143125" cy="695325"/>
          </a:xfrm>
          <a:prstGeom prst="rect">
            <a:avLst/>
          </a:prstGeom>
        </p:spPr>
      </p:pic>
      <p:pic>
        <p:nvPicPr>
          <p:cNvPr id="7" name="图片 6">
            <a:extLst>
              <a:ext uri="{FF2B5EF4-FFF2-40B4-BE49-F238E27FC236}">
                <a16:creationId xmlns:a16="http://schemas.microsoft.com/office/drawing/2014/main" id="{FFB2F4BD-D950-6CC8-3894-B246F5B6772A}"/>
              </a:ext>
            </a:extLst>
          </p:cNvPr>
          <p:cNvPicPr>
            <a:picLocks noChangeAspect="1"/>
          </p:cNvPicPr>
          <p:nvPr/>
        </p:nvPicPr>
        <p:blipFill>
          <a:blip r:embed="rId4"/>
          <a:stretch>
            <a:fillRect/>
          </a:stretch>
        </p:blipFill>
        <p:spPr>
          <a:xfrm>
            <a:off x="4805360" y="5376737"/>
            <a:ext cx="2581275" cy="781050"/>
          </a:xfrm>
          <a:prstGeom prst="rect">
            <a:avLst/>
          </a:prstGeom>
        </p:spPr>
      </p:pic>
    </p:spTree>
    <p:extLst>
      <p:ext uri="{BB962C8B-B14F-4D97-AF65-F5344CB8AC3E}">
        <p14:creationId xmlns:p14="http://schemas.microsoft.com/office/powerpoint/2010/main" val="430613379"/>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6EFF56-C7B1-4993-9E2B-143CCBAA0E43}"/>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周期噪声</a:t>
            </a:r>
          </a:p>
        </p:txBody>
      </p:sp>
      <p:sp>
        <p:nvSpPr>
          <p:cNvPr id="3" name="文本占位符 2">
            <a:extLst>
              <a:ext uri="{FF2B5EF4-FFF2-40B4-BE49-F238E27FC236}">
                <a16:creationId xmlns:a16="http://schemas.microsoft.com/office/drawing/2014/main" id="{8C0A3EB8-CC21-7364-DA1F-BBD736EAAB50}"/>
              </a:ext>
            </a:extLst>
          </p:cNvPr>
          <p:cNvSpPr>
            <a:spLocks noGrp="1"/>
          </p:cNvSpPr>
          <p:nvPr>
            <p:ph sz="quarter" idx="11"/>
          </p:nvPr>
        </p:nvSpPr>
        <p:spPr/>
        <p:txBody>
          <a:bodyPr/>
          <a:lstStyle/>
          <a:p>
            <a:pPr marL="0" marR="90" lvl="0" indent="0" rtl="0">
              <a:buNone/>
            </a:pPr>
            <a:r>
              <a:rPr lang="zh-CN" altLang="en-US" b="0" i="0" u="none" strike="noStrike" baseline="0" dirty="0">
                <a:solidFill>
                  <a:srgbClr val="000000"/>
                </a:solidFill>
                <a:cs typeface="+mn-ea"/>
                <a:sym typeface="+mn-lt"/>
              </a:rPr>
              <a:t>图像中的周期噪声通常是在获取图像期间由电气或机电干扰产生的。本章只考虑与空间相关的噪 声。例如，考虑图</a:t>
            </a:r>
            <a:r>
              <a:rPr lang="en-US" altLang="zh-CN" b="0" i="0" u="none" strike="noStrike" baseline="0" dirty="0">
                <a:solidFill>
                  <a:srgbClr val="000000"/>
                </a:solidFill>
                <a:cs typeface="+mn-ea"/>
                <a:sym typeface="+mn-lt"/>
              </a:rPr>
              <a:t>5.5(a)</a:t>
            </a:r>
            <a:r>
              <a:rPr lang="zh-CN" altLang="en-US" b="0" i="0" u="none" strike="noStrike" baseline="0" dirty="0">
                <a:solidFill>
                  <a:srgbClr val="000000"/>
                </a:solidFill>
                <a:cs typeface="+mn-ea"/>
                <a:sym typeface="+mn-lt"/>
              </a:rPr>
              <a:t>中的图像。这幅图 像已被</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空间</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正弦噪声污染。纯正弦波的傅里叶变换是位于正弦波共轭频率处的一对共轭冲激”</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见表</a:t>
            </a:r>
            <a:r>
              <a:rPr lang="en-US" altLang="zh-CN" b="0" i="0" u="none" strike="noStrike" baseline="0" dirty="0">
                <a:solidFill>
                  <a:srgbClr val="000000"/>
                </a:solidFill>
                <a:cs typeface="+mn-ea"/>
                <a:sym typeface="+mn-lt"/>
              </a:rPr>
              <a:t>4.4)</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5DA396C9-F53F-FD86-E330-2E53E7715554}"/>
              </a:ext>
            </a:extLst>
          </p:cNvPr>
          <p:cNvPicPr>
            <a:picLocks noChangeAspect="1"/>
          </p:cNvPicPr>
          <p:nvPr/>
        </p:nvPicPr>
        <p:blipFill>
          <a:blip r:embed="rId2"/>
          <a:stretch>
            <a:fillRect/>
          </a:stretch>
        </p:blipFill>
        <p:spPr>
          <a:xfrm>
            <a:off x="2733675" y="3942949"/>
            <a:ext cx="6724650" cy="2552700"/>
          </a:xfrm>
          <a:prstGeom prst="rect">
            <a:avLst/>
          </a:prstGeom>
        </p:spPr>
      </p:pic>
      <p:sp>
        <p:nvSpPr>
          <p:cNvPr id="6" name="矩形 5">
            <a:extLst>
              <a:ext uri="{FF2B5EF4-FFF2-40B4-BE49-F238E27FC236}">
                <a16:creationId xmlns:a16="http://schemas.microsoft.com/office/drawing/2014/main" id="{E4B965E9-8108-14C0-ECB8-7E1758FD226E}"/>
              </a:ext>
            </a:extLst>
          </p:cNvPr>
          <p:cNvSpPr/>
          <p:nvPr/>
        </p:nvSpPr>
        <p:spPr>
          <a:xfrm>
            <a:off x="801092" y="2446417"/>
            <a:ext cx="10589815" cy="1422939"/>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932151167"/>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F371F-EBF9-9694-2DBE-F5C3CF11F043}"/>
              </a:ext>
            </a:extLst>
          </p:cNvPr>
          <p:cNvSpPr>
            <a:spLocks noGrp="1"/>
          </p:cNvSpPr>
          <p:nvPr>
            <p:ph type="title"/>
          </p:nvPr>
        </p:nvSpPr>
        <p:spPr/>
        <p:txBody>
          <a:bodyPr/>
          <a:lstStyle/>
          <a:p>
            <a:r>
              <a:rPr lang="zh-CN" altLang="en-US" dirty="0">
                <a:solidFill>
                  <a:srgbClr val="0070C0"/>
                </a:solidFill>
                <a:latin typeface="+mn-lt"/>
                <a:ea typeface="+mn-ea"/>
                <a:cs typeface="+mn-ea"/>
                <a:sym typeface="+mn-lt"/>
              </a:rPr>
              <a:t>估计噪声参数</a:t>
            </a:r>
          </a:p>
        </p:txBody>
      </p:sp>
      <p:sp>
        <p:nvSpPr>
          <p:cNvPr id="3" name="文本占位符 2">
            <a:extLst>
              <a:ext uri="{FF2B5EF4-FFF2-40B4-BE49-F238E27FC236}">
                <a16:creationId xmlns:a16="http://schemas.microsoft.com/office/drawing/2014/main" id="{694736CE-DAB3-039E-E871-948796DB258E}"/>
              </a:ext>
            </a:extLst>
          </p:cNvPr>
          <p:cNvSpPr>
            <a:spLocks noGrp="1"/>
          </p:cNvSpPr>
          <p:nvPr>
            <p:ph sz="quarter" idx="12"/>
          </p:nvPr>
        </p:nvSpPr>
        <p:spPr/>
        <p:txBody>
          <a:bodyPr>
            <a:noAutofit/>
          </a:bodyPr>
          <a:lstStyle/>
          <a:p>
            <a:pPr marR="90" lvl="0" rtl="0"/>
            <a:r>
              <a:rPr lang="zh-CN" altLang="en-US" b="0" i="0" u="none" strike="noStrike" baseline="0" dirty="0">
                <a:solidFill>
                  <a:srgbClr val="000000"/>
                </a:solidFill>
                <a:cs typeface="+mn-ea"/>
                <a:sym typeface="+mn-lt"/>
              </a:rPr>
              <a:t>周期噪声的参数通常是通过检测图像的傅里叶谱来估计的。周期噪声通常会产生能通过视觉分析检测到的频率尖峰。另一种方法是直接根据图像推出噪声分量的周期性，但仅在简单情况下才能采用这一方法。</a:t>
            </a:r>
            <a:endParaRPr lang="en-US" altLang="zh-CN" b="0" i="0" u="none" strike="noStrike" baseline="0" dirty="0">
              <a:solidFill>
                <a:srgbClr val="000000"/>
              </a:solidFill>
              <a:cs typeface="+mn-ea"/>
              <a:sym typeface="+mn-lt"/>
            </a:endParaRPr>
          </a:p>
          <a:p>
            <a:pPr marR="90" lvl="0" rtl="0"/>
            <a:r>
              <a:rPr lang="zh-CN" altLang="en-US" b="0" i="0" u="none" strike="noStrike" baseline="0" dirty="0">
                <a:solidFill>
                  <a:srgbClr val="000000"/>
                </a:solidFill>
                <a:cs typeface="+mn-ea"/>
                <a:sym typeface="+mn-lt"/>
              </a:rPr>
              <a:t>噪声</a:t>
            </a:r>
            <a:r>
              <a:rPr lang="en-US" altLang="zh-CN" b="0" i="0" u="none" strike="noStrike" baseline="0" dirty="0">
                <a:solidFill>
                  <a:srgbClr val="000000"/>
                </a:solidFill>
                <a:cs typeface="+mn-ea"/>
                <a:sym typeface="+mn-lt"/>
              </a:rPr>
              <a:t>PDF</a:t>
            </a:r>
            <a:r>
              <a:rPr lang="zh-CN" altLang="en-US" b="0" i="0" u="none" strike="noStrike" baseline="0" dirty="0">
                <a:solidFill>
                  <a:srgbClr val="000000"/>
                </a:solidFill>
                <a:cs typeface="+mn-ea"/>
                <a:sym typeface="+mn-lt"/>
              </a:rPr>
              <a:t>的参数通常可从传感器的技术说明中部分地得知，但对于特殊的配置，则需要估计它们。成像系统可用时，研究系统噪声特性的一种简单方法是获取一组“平坦”的图像。例如，对于光学传感器来说，这样做就像对均匀照射的实心灰度板成像一样简单。得到的图像通常能很好指示系统噪声。</a:t>
            </a:r>
          </a:p>
        </p:txBody>
      </p:sp>
    </p:spTree>
    <p:extLst>
      <p:ext uri="{BB962C8B-B14F-4D97-AF65-F5344CB8AC3E}">
        <p14:creationId xmlns:p14="http://schemas.microsoft.com/office/powerpoint/2010/main" val="194551256"/>
      </p:ext>
    </p:extLst>
  </p:cSld>
  <p:clrMapOvr>
    <a:masterClrMapping/>
  </p:clrMapOvr>
  <p:transition spd="slow" advTm="0">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3091835"/>
            <a:chOff x="5943478" y="2292214"/>
            <a:chExt cx="5731905"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43478" y="3937499"/>
              <a:ext cx="5731905"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只存在噪声的复原</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空间滤波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38469214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F6E13B-94C6-D373-781D-6DC4830808F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均值滤波器</a:t>
            </a:r>
          </a:p>
        </p:txBody>
      </p:sp>
      <p:sp>
        <p:nvSpPr>
          <p:cNvPr id="3" name="文本占位符 2">
            <a:extLst>
              <a:ext uri="{FF2B5EF4-FFF2-40B4-BE49-F238E27FC236}">
                <a16:creationId xmlns:a16="http://schemas.microsoft.com/office/drawing/2014/main" id="{1A8DCD53-8AD5-4DC9-62C5-E276D3FC33DF}"/>
              </a:ext>
            </a:extLst>
          </p:cNvPr>
          <p:cNvSpPr>
            <a:spLocks noGrp="1"/>
          </p:cNvSpPr>
          <p:nvPr>
            <p:ph sz="quarter" idx="11"/>
          </p:nvPr>
        </p:nvSpPr>
        <p:spPr/>
        <p:txBody>
          <a:bodyPr>
            <a:noAutofit/>
          </a:bodyPr>
          <a:lstStyle/>
          <a:p>
            <a:pPr marL="0" marR="9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算术平均滤波器</a:t>
            </a:r>
            <a:endParaRPr lang="en-US" altLang="zh-CN" b="1" i="0" u="none" strike="noStrike" baseline="0" dirty="0">
              <a:solidFill>
                <a:srgbClr val="000000"/>
              </a:solidFill>
              <a:cs typeface="+mn-ea"/>
              <a:sym typeface="+mn-lt"/>
            </a:endParaRPr>
          </a:p>
          <a:p>
            <a:pPr marL="0" marR="90" lvl="0" indent="0" rtl="0">
              <a:buNone/>
            </a:pPr>
            <a:r>
              <a:rPr lang="zh-CN" altLang="en-US" b="0" i="0" u="none" strike="noStrike" baseline="0" dirty="0">
                <a:solidFill>
                  <a:srgbClr val="000000"/>
                </a:solidFill>
                <a:cs typeface="+mn-ea"/>
                <a:sym typeface="+mn-lt"/>
              </a:rPr>
              <a:t>算术平均滤波器是最简单的均值滤波器</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算术平均滤波器与第</a:t>
            </a:r>
            <a:r>
              <a:rPr lang="en-US" altLang="zh-CN" b="0" i="0" u="none" strike="noStrike" baseline="0" dirty="0">
                <a:solidFill>
                  <a:srgbClr val="000000"/>
                </a:solidFill>
                <a:cs typeface="+mn-ea"/>
                <a:sym typeface="+mn-lt"/>
              </a:rPr>
              <a:t>3 </a:t>
            </a:r>
            <a:r>
              <a:rPr lang="zh-CN" altLang="en-US" b="0" i="0" u="none" strike="noStrike" baseline="0" dirty="0">
                <a:solidFill>
                  <a:srgbClr val="000000"/>
                </a:solidFill>
                <a:cs typeface="+mn-ea"/>
                <a:sym typeface="+mn-lt"/>
              </a:rPr>
              <a:t>章中讨论的“盒式”滤波器相同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r>
              <a:rPr lang="zh-CN" altLang="en-US" dirty="0">
                <a:solidFill>
                  <a:srgbClr val="000000"/>
                </a:solidFill>
                <a:cs typeface="+mn-ea"/>
                <a:sym typeface="+mn-lt"/>
              </a:rPr>
              <a:t>算术平均值为</a:t>
            </a:r>
            <a:endParaRPr lang="en-US" altLang="zh-CN" b="0" i="0" u="none" strike="noStrike" baseline="0" dirty="0">
              <a:solidFill>
                <a:srgbClr val="000000"/>
              </a:solidFill>
              <a:cs typeface="+mn-ea"/>
              <a:sym typeface="+mn-lt"/>
            </a:endParaRPr>
          </a:p>
          <a:p>
            <a:pPr marL="0" marR="90" lvl="0" indent="0" rtl="0">
              <a:buNone/>
            </a:pPr>
            <a:endParaRPr lang="en-US" altLang="zh-CN" b="1" i="0" u="none" strike="noStrike" baseline="0" dirty="0">
              <a:solidFill>
                <a:srgbClr val="000000"/>
              </a:solidFill>
              <a:cs typeface="+mn-ea"/>
              <a:sym typeface="+mn-lt"/>
            </a:endParaRPr>
          </a:p>
          <a:p>
            <a:pPr marL="0" marR="9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几何均值滤波器</a:t>
            </a:r>
          </a:p>
          <a:p>
            <a:pPr marL="0" marR="90" lvl="0" indent="0" rtl="0">
              <a:buNone/>
            </a:pPr>
            <a:r>
              <a:rPr lang="zh-CN" altLang="en-US" b="0" i="0" u="none" strike="noStrike" baseline="0" dirty="0">
                <a:solidFill>
                  <a:srgbClr val="000000"/>
                </a:solidFill>
                <a:cs typeface="+mn-ea"/>
                <a:sym typeface="+mn-lt"/>
              </a:rPr>
              <a:t>使用几何均值滤波器复原的图像由下式给出：</a:t>
            </a:r>
          </a:p>
          <a:p>
            <a:pPr marL="0" marR="90" lvl="0" indent="0" rtl="0">
              <a:buNone/>
            </a:pPr>
            <a:endParaRPr lang="zh-CN" altLang="en-US"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DB4C376A-A086-BAD8-AF50-B9F53DBA1BB8}"/>
              </a:ext>
            </a:extLst>
          </p:cNvPr>
          <p:cNvPicPr>
            <a:picLocks noChangeAspect="1"/>
          </p:cNvPicPr>
          <p:nvPr/>
        </p:nvPicPr>
        <p:blipFill rotWithShape="1">
          <a:blip r:embed="rId2"/>
          <a:srcRect b="12312"/>
          <a:stretch/>
        </p:blipFill>
        <p:spPr>
          <a:xfrm>
            <a:off x="5856485" y="5302225"/>
            <a:ext cx="3020099" cy="609599"/>
          </a:xfrm>
          <a:prstGeom prst="rect">
            <a:avLst/>
          </a:prstGeom>
        </p:spPr>
      </p:pic>
      <p:pic>
        <p:nvPicPr>
          <p:cNvPr id="7" name="图片 6">
            <a:extLst>
              <a:ext uri="{FF2B5EF4-FFF2-40B4-BE49-F238E27FC236}">
                <a16:creationId xmlns:a16="http://schemas.microsoft.com/office/drawing/2014/main" id="{911C7BB6-9BE2-00A2-EEC4-3C237B29B673}"/>
              </a:ext>
            </a:extLst>
          </p:cNvPr>
          <p:cNvPicPr>
            <a:picLocks noChangeAspect="1"/>
          </p:cNvPicPr>
          <p:nvPr/>
        </p:nvPicPr>
        <p:blipFill>
          <a:blip r:embed="rId3"/>
          <a:stretch>
            <a:fillRect/>
          </a:stretch>
        </p:blipFill>
        <p:spPr>
          <a:xfrm>
            <a:off x="4893084" y="3897912"/>
            <a:ext cx="2405832" cy="751089"/>
          </a:xfrm>
          <a:prstGeom prst="rect">
            <a:avLst/>
          </a:prstGeom>
        </p:spPr>
      </p:pic>
      <p:sp>
        <p:nvSpPr>
          <p:cNvPr id="8" name="矩形 7">
            <a:extLst>
              <a:ext uri="{FF2B5EF4-FFF2-40B4-BE49-F238E27FC236}">
                <a16:creationId xmlns:a16="http://schemas.microsoft.com/office/drawing/2014/main" id="{CFE138C1-A0DA-CEF2-2AFC-EF49F5D0DA76}"/>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139775544"/>
      </p:ext>
    </p:extLst>
  </p:cSld>
  <p:clrMapOvr>
    <a:masterClrMapping/>
  </p:clrMapOvr>
  <p:transition spd="slow" advTm="0">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F6E13B-94C6-D373-781D-6DC4830808F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均值滤波器</a:t>
            </a:r>
          </a:p>
        </p:txBody>
      </p:sp>
      <p:sp>
        <p:nvSpPr>
          <p:cNvPr id="3" name="文本占位符 2">
            <a:extLst>
              <a:ext uri="{FF2B5EF4-FFF2-40B4-BE49-F238E27FC236}">
                <a16:creationId xmlns:a16="http://schemas.microsoft.com/office/drawing/2014/main" id="{1A8DCD53-8AD5-4DC9-62C5-E276D3FC33DF}"/>
              </a:ext>
            </a:extLst>
          </p:cNvPr>
          <p:cNvSpPr>
            <a:spLocks noGrp="1"/>
          </p:cNvSpPr>
          <p:nvPr>
            <p:ph sz="quarter" idx="11"/>
          </p:nvPr>
        </p:nvSpPr>
        <p:spPr/>
        <p:txBody>
          <a:bodyPr>
            <a:noAutofit/>
          </a:bodyPr>
          <a:lstStyle/>
          <a:p>
            <a:pPr marL="0" marR="9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谐波平均滤波器</a:t>
            </a:r>
          </a:p>
          <a:p>
            <a:pPr marL="0" marR="90" lvl="0" indent="0" rtl="0">
              <a:buNone/>
            </a:pPr>
            <a:r>
              <a:rPr lang="zh-CN" altLang="en-US" b="0" i="0" u="none" strike="noStrike" baseline="0" dirty="0">
                <a:solidFill>
                  <a:srgbClr val="000000"/>
                </a:solidFill>
                <a:cs typeface="+mn-ea"/>
                <a:sym typeface="+mn-lt"/>
              </a:rPr>
              <a:t>谐波平均滤波器运算由下式给出：</a:t>
            </a:r>
            <a:endParaRPr lang="en-US" altLang="zh-CN" b="0" i="0" u="none" strike="noStrike" baseline="0" dirty="0">
              <a:solidFill>
                <a:srgbClr val="000000"/>
              </a:solidFill>
              <a:cs typeface="+mn-ea"/>
              <a:sym typeface="+mn-lt"/>
            </a:endParaRPr>
          </a:p>
          <a:p>
            <a:pPr marL="0" marR="90" lvl="0" indent="0" rtl="0">
              <a:buNone/>
            </a:pPr>
            <a:endParaRPr lang="zh-CN" altLang="en-US" b="0" i="0" u="none" strike="noStrike" baseline="0" dirty="0">
              <a:solidFill>
                <a:srgbClr val="000000"/>
              </a:solidFill>
              <a:cs typeface="+mn-ea"/>
              <a:sym typeface="+mn-lt"/>
            </a:endParaRPr>
          </a:p>
          <a:p>
            <a:pPr marL="0" marR="90" indent="0">
              <a:buNone/>
            </a:pPr>
            <a:r>
              <a:rPr lang="en-US" altLang="zh-CN" b="1" dirty="0">
                <a:solidFill>
                  <a:srgbClr val="000000"/>
                </a:solidFill>
                <a:cs typeface="+mn-ea"/>
                <a:sym typeface="+mn-lt"/>
              </a:rPr>
              <a:t>4.</a:t>
            </a:r>
            <a:r>
              <a:rPr lang="zh-CN" altLang="en-US" b="1" dirty="0">
                <a:solidFill>
                  <a:srgbClr val="000000"/>
                </a:solidFill>
                <a:cs typeface="+mn-ea"/>
                <a:sym typeface="+mn-lt"/>
              </a:rPr>
              <a:t> 反谐波平均滤波器</a:t>
            </a:r>
          </a:p>
          <a:p>
            <a:pPr marL="0" marR="90" lvl="0" indent="0" rtl="0">
              <a:buNone/>
            </a:pPr>
            <a:r>
              <a:rPr lang="zh-CN" altLang="en-US" b="0" i="0" u="none" strike="noStrike" baseline="0" dirty="0">
                <a:solidFill>
                  <a:srgbClr val="000000"/>
                </a:solidFill>
                <a:cs typeface="+mn-ea"/>
                <a:sym typeface="+mn-lt"/>
              </a:rPr>
              <a:t>平均滤波器根据如下表达式得到复原后的图像：</a:t>
            </a:r>
          </a:p>
        </p:txBody>
      </p:sp>
      <p:pic>
        <p:nvPicPr>
          <p:cNvPr id="6" name="图片 5">
            <a:extLst>
              <a:ext uri="{FF2B5EF4-FFF2-40B4-BE49-F238E27FC236}">
                <a16:creationId xmlns:a16="http://schemas.microsoft.com/office/drawing/2014/main" id="{716E911C-561C-7D7C-02A1-3B37FF1205AB}"/>
              </a:ext>
            </a:extLst>
          </p:cNvPr>
          <p:cNvPicPr>
            <a:picLocks noChangeAspect="1"/>
          </p:cNvPicPr>
          <p:nvPr/>
        </p:nvPicPr>
        <p:blipFill>
          <a:blip r:embed="rId2"/>
          <a:stretch>
            <a:fillRect/>
          </a:stretch>
        </p:blipFill>
        <p:spPr>
          <a:xfrm>
            <a:off x="5124450" y="3562901"/>
            <a:ext cx="1943100" cy="752475"/>
          </a:xfrm>
          <a:prstGeom prst="rect">
            <a:avLst/>
          </a:prstGeom>
        </p:spPr>
      </p:pic>
      <p:pic>
        <p:nvPicPr>
          <p:cNvPr id="8" name="图片 7">
            <a:extLst>
              <a:ext uri="{FF2B5EF4-FFF2-40B4-BE49-F238E27FC236}">
                <a16:creationId xmlns:a16="http://schemas.microsoft.com/office/drawing/2014/main" id="{E8175461-AA18-F816-5BD3-53B9C7B803CD}"/>
              </a:ext>
            </a:extLst>
          </p:cNvPr>
          <p:cNvPicPr>
            <a:picLocks noChangeAspect="1"/>
          </p:cNvPicPr>
          <p:nvPr/>
        </p:nvPicPr>
        <p:blipFill rotWithShape="1">
          <a:blip r:embed="rId3"/>
          <a:srcRect b="3148"/>
          <a:stretch/>
        </p:blipFill>
        <p:spPr>
          <a:xfrm>
            <a:off x="5019675" y="5445777"/>
            <a:ext cx="2152650" cy="857943"/>
          </a:xfrm>
          <a:prstGeom prst="rect">
            <a:avLst/>
          </a:prstGeom>
        </p:spPr>
      </p:pic>
      <p:sp>
        <p:nvSpPr>
          <p:cNvPr id="9" name="矩形 8">
            <a:extLst>
              <a:ext uri="{FF2B5EF4-FFF2-40B4-BE49-F238E27FC236}">
                <a16:creationId xmlns:a16="http://schemas.microsoft.com/office/drawing/2014/main" id="{615BB5D0-8FC2-E282-05BE-5656E97185BB}"/>
              </a:ext>
            </a:extLst>
          </p:cNvPr>
          <p:cNvSpPr/>
          <p:nvPr/>
        </p:nvSpPr>
        <p:spPr>
          <a:xfrm>
            <a:off x="801092" y="2446417"/>
            <a:ext cx="10589815" cy="394157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907287063"/>
      </p:ext>
    </p:extLst>
  </p:cSld>
  <p:clrMapOvr>
    <a:masterClrMapping/>
  </p:clrMapOvr>
  <p:transition spd="slow" advTm="0">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2B5DE9-1C59-D8EC-698F-683EBEB6B4A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统计排序滤波器</a:t>
            </a:r>
          </a:p>
        </p:txBody>
      </p:sp>
      <p:sp>
        <p:nvSpPr>
          <p:cNvPr id="3" name="文本占位符 2">
            <a:extLst>
              <a:ext uri="{FF2B5EF4-FFF2-40B4-BE49-F238E27FC236}">
                <a16:creationId xmlns:a16="http://schemas.microsoft.com/office/drawing/2014/main" id="{A7171F95-5738-A091-F773-D2E1ECDB5D63}"/>
              </a:ext>
            </a:extLst>
          </p:cNvPr>
          <p:cNvSpPr>
            <a:spLocks noGrp="1"/>
          </p:cNvSpPr>
          <p:nvPr>
            <p:ph sz="quarter" idx="11"/>
          </p:nvPr>
        </p:nvSpPr>
        <p:spPr/>
        <p:txBody>
          <a:bodyPr>
            <a:normAutofit lnSpcReduction="10000"/>
          </a:bodyPr>
          <a:lstStyle/>
          <a:p>
            <a:pPr marL="0" marR="9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中值滤波器</a:t>
            </a:r>
          </a:p>
          <a:p>
            <a:pPr marL="0" marR="90" lvl="0" indent="0" rtl="0">
              <a:buNone/>
            </a:pPr>
            <a:r>
              <a:rPr lang="zh-CN" altLang="en-US" b="0" i="0" u="none" strike="noStrike" baseline="0" dirty="0">
                <a:solidFill>
                  <a:srgbClr val="000000"/>
                </a:solidFill>
                <a:cs typeface="+mn-ea"/>
                <a:sym typeface="+mn-lt"/>
              </a:rPr>
              <a:t>图像处理中最著名的统计排序滤波器是中值滤波器。如其名称所示，它用一个预定义的像素邻域 中的灰度中值来替代像素的值，即</a:t>
            </a:r>
          </a:p>
          <a:p>
            <a:pPr marL="0" marR="9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最大值滤波器和最小值滤波器</a:t>
            </a:r>
          </a:p>
          <a:p>
            <a:pPr marL="0" marR="90" lvl="0" indent="0" rtl="0">
              <a:buNone/>
            </a:pPr>
            <a:r>
              <a:rPr lang="zh-CN" altLang="en-US" b="0" i="0" u="none" strike="noStrike" baseline="0" dirty="0">
                <a:solidFill>
                  <a:srgbClr val="000000"/>
                </a:solidFill>
                <a:cs typeface="+mn-ea"/>
                <a:sym typeface="+mn-lt"/>
              </a:rPr>
              <a:t>在一组按序排列的数值中，位于中间位置</a:t>
            </a:r>
            <a:r>
              <a:rPr lang="en-US" altLang="zh-CN" b="0" i="0" u="none" strike="noStrike" baseline="0" dirty="0">
                <a:solidFill>
                  <a:srgbClr val="000000"/>
                </a:solidFill>
                <a:cs typeface="+mn-ea"/>
                <a:sym typeface="+mn-lt"/>
              </a:rPr>
              <a:t>(50</a:t>
            </a:r>
            <a:r>
              <a:rPr lang="zh-CN" altLang="en-US" b="0" i="0" u="none" strike="noStrike" baseline="0" dirty="0">
                <a:solidFill>
                  <a:srgbClr val="000000"/>
                </a:solidFill>
                <a:cs typeface="+mn-ea"/>
                <a:sym typeface="+mn-lt"/>
              </a:rPr>
              <a:t> 百分位</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的数值称为中值</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中位数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回顾统计学基本知识可知，排序本身会导致许多其他的可能性。例如，使用</a:t>
            </a:r>
            <a:r>
              <a:rPr lang="en-US" altLang="zh-CN" b="0" i="0" u="none" strike="noStrike" baseline="0" dirty="0">
                <a:solidFill>
                  <a:srgbClr val="000000"/>
                </a:solidFill>
                <a:cs typeface="+mn-ea"/>
                <a:sym typeface="+mn-lt"/>
              </a:rPr>
              <a:t>100</a:t>
            </a:r>
            <a:r>
              <a:rPr lang="zh-CN" altLang="en-US" b="0" i="0" u="none" strike="noStrike" baseline="0" dirty="0">
                <a:solidFill>
                  <a:srgbClr val="000000"/>
                </a:solidFill>
                <a:cs typeface="+mn-ea"/>
                <a:sym typeface="+mn-lt"/>
              </a:rPr>
              <a:t>百分位的数值可得到所谓的最大 值滤波器，即</a:t>
            </a:r>
          </a:p>
        </p:txBody>
      </p:sp>
      <p:pic>
        <p:nvPicPr>
          <p:cNvPr id="5" name="图片 4">
            <a:extLst>
              <a:ext uri="{FF2B5EF4-FFF2-40B4-BE49-F238E27FC236}">
                <a16:creationId xmlns:a16="http://schemas.microsoft.com/office/drawing/2014/main" id="{35358DD1-B6BC-83A2-EBBF-6DC5825DD0F2}"/>
              </a:ext>
            </a:extLst>
          </p:cNvPr>
          <p:cNvPicPr>
            <a:picLocks noChangeAspect="1"/>
          </p:cNvPicPr>
          <p:nvPr/>
        </p:nvPicPr>
        <p:blipFill>
          <a:blip r:embed="rId2"/>
          <a:stretch>
            <a:fillRect/>
          </a:stretch>
        </p:blipFill>
        <p:spPr>
          <a:xfrm>
            <a:off x="4876800" y="3529263"/>
            <a:ext cx="2438400" cy="381000"/>
          </a:xfrm>
          <a:prstGeom prst="rect">
            <a:avLst/>
          </a:prstGeom>
        </p:spPr>
      </p:pic>
      <p:pic>
        <p:nvPicPr>
          <p:cNvPr id="7" name="图片 6">
            <a:extLst>
              <a:ext uri="{FF2B5EF4-FFF2-40B4-BE49-F238E27FC236}">
                <a16:creationId xmlns:a16="http://schemas.microsoft.com/office/drawing/2014/main" id="{B7FAA971-4104-36A3-B037-FB50FB36579D}"/>
              </a:ext>
            </a:extLst>
          </p:cNvPr>
          <p:cNvPicPr>
            <a:picLocks noChangeAspect="1"/>
          </p:cNvPicPr>
          <p:nvPr/>
        </p:nvPicPr>
        <p:blipFill>
          <a:blip r:embed="rId3"/>
          <a:stretch>
            <a:fillRect/>
          </a:stretch>
        </p:blipFill>
        <p:spPr>
          <a:xfrm>
            <a:off x="5133974" y="5835816"/>
            <a:ext cx="1924050" cy="466725"/>
          </a:xfrm>
          <a:prstGeom prst="rect">
            <a:avLst/>
          </a:prstGeom>
        </p:spPr>
      </p:pic>
      <p:sp>
        <p:nvSpPr>
          <p:cNvPr id="8" name="矩形 7">
            <a:extLst>
              <a:ext uri="{FF2B5EF4-FFF2-40B4-BE49-F238E27FC236}">
                <a16:creationId xmlns:a16="http://schemas.microsoft.com/office/drawing/2014/main" id="{B8A8FA71-558C-3040-7D6F-E6628617CE7F}"/>
              </a:ext>
            </a:extLst>
          </p:cNvPr>
          <p:cNvSpPr/>
          <p:nvPr/>
        </p:nvSpPr>
        <p:spPr>
          <a:xfrm>
            <a:off x="801092" y="2446417"/>
            <a:ext cx="10589815" cy="394157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159431508"/>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2B5DE9-1C59-D8EC-698F-683EBEB6B4A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统计排序滤波器</a:t>
            </a:r>
          </a:p>
        </p:txBody>
      </p:sp>
      <p:sp>
        <p:nvSpPr>
          <p:cNvPr id="3" name="文本占位符 2">
            <a:extLst>
              <a:ext uri="{FF2B5EF4-FFF2-40B4-BE49-F238E27FC236}">
                <a16:creationId xmlns:a16="http://schemas.microsoft.com/office/drawing/2014/main" id="{A7171F95-5738-A091-F773-D2E1ECDB5D63}"/>
              </a:ext>
            </a:extLst>
          </p:cNvPr>
          <p:cNvSpPr>
            <a:spLocks noGrp="1"/>
          </p:cNvSpPr>
          <p:nvPr>
            <p:ph sz="quarter" idx="12"/>
          </p:nvPr>
        </p:nvSpPr>
        <p:spPr/>
        <p:txBody>
          <a:bodyPr>
            <a:noAutofit/>
          </a:bodyPr>
          <a:lstStyle/>
          <a:p>
            <a:pPr marL="0" marR="9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中点滤波器</a:t>
            </a:r>
          </a:p>
          <a:p>
            <a:pPr marL="0" marR="90" lvl="0" indent="0" rtl="0">
              <a:buNone/>
            </a:pPr>
            <a:r>
              <a:rPr lang="zh-CN" altLang="en-US" b="0" i="0" u="none" strike="noStrike" baseline="0" dirty="0">
                <a:solidFill>
                  <a:srgbClr val="000000"/>
                </a:solidFill>
                <a:cs typeface="+mn-ea"/>
                <a:sym typeface="+mn-lt"/>
              </a:rPr>
              <a:t>中点滤波器计算滤波器包围区域中最大值和最小值之间的中点的值：</a:t>
            </a:r>
            <a:endParaRPr lang="en-US" altLang="zh-CN" b="0" i="0" u="none" strike="noStrike" baseline="0" dirty="0">
              <a:solidFill>
                <a:srgbClr val="000000"/>
              </a:solidFill>
              <a:cs typeface="+mn-ea"/>
              <a:sym typeface="+mn-lt"/>
            </a:endParaRPr>
          </a:p>
          <a:p>
            <a:pPr marL="0" marR="90" lvl="0" indent="0" rtl="0">
              <a:buNone/>
            </a:pPr>
            <a:endParaRPr lang="en-US" altLang="zh-CN" b="1" i="0" u="none" strike="noStrike" baseline="0" dirty="0">
              <a:solidFill>
                <a:srgbClr val="000000"/>
              </a:solidFill>
              <a:cs typeface="+mn-ea"/>
              <a:sym typeface="+mn-lt"/>
            </a:endParaRPr>
          </a:p>
          <a:p>
            <a:pPr marL="0" marR="90" lvl="0" indent="0" rtl="0">
              <a:buNone/>
            </a:pPr>
            <a:r>
              <a:rPr lang="en-US" altLang="zh-CN" b="1" i="0" u="none" strike="noStrike" baseline="0" dirty="0">
                <a:solidFill>
                  <a:srgbClr val="000000"/>
                </a:solidFill>
                <a:cs typeface="+mn-ea"/>
                <a:sym typeface="+mn-lt"/>
              </a:rPr>
              <a:t>4.</a:t>
            </a:r>
            <a:r>
              <a:rPr lang="zh-CN" altLang="en-US" b="1" i="0" u="none" strike="noStrike" baseline="0" dirty="0">
                <a:solidFill>
                  <a:srgbClr val="000000"/>
                </a:solidFill>
                <a:cs typeface="+mn-ea"/>
                <a:sym typeface="+mn-lt"/>
              </a:rPr>
              <a:t> 修正阿尔法均值滤波器</a:t>
            </a:r>
          </a:p>
          <a:p>
            <a:pPr marL="0" marR="90" lvl="0" indent="0" rtl="0">
              <a:buNone/>
            </a:pPr>
            <a:r>
              <a:rPr lang="zh-CN" altLang="en-US" b="0" i="0" u="none" strike="noStrike" baseline="0" dirty="0">
                <a:solidFill>
                  <a:srgbClr val="000000"/>
                </a:solidFill>
                <a:cs typeface="+mn-ea"/>
                <a:sym typeface="+mn-lt"/>
              </a:rPr>
              <a:t>假设我们要在邻域</a:t>
            </a:r>
            <a:r>
              <a:rPr lang="en-US" altLang="zh-CN" b="0" i="0" u="none" strike="noStrike" baseline="0" dirty="0" err="1">
                <a:solidFill>
                  <a:srgbClr val="000000"/>
                </a:solidFill>
                <a:cs typeface="+mn-ea"/>
                <a:sym typeface="+mn-lt"/>
              </a:rPr>
              <a:t>S</a:t>
            </a:r>
            <a:r>
              <a:rPr lang="en-US" altLang="zh-CN" sz="1100" b="0" i="0" u="none" strike="noStrike" baseline="0" dirty="0" err="1">
                <a:solidFill>
                  <a:srgbClr val="000000"/>
                </a:solidFill>
                <a:cs typeface="+mn-ea"/>
                <a:sym typeface="+mn-lt"/>
              </a:rPr>
              <a:t>xy</a:t>
            </a:r>
            <a:r>
              <a:rPr lang="zh-CN" altLang="en-US" b="0" i="0" u="none" strike="noStrike" baseline="0" dirty="0">
                <a:solidFill>
                  <a:srgbClr val="000000"/>
                </a:solidFill>
                <a:cs typeface="+mn-ea"/>
                <a:sym typeface="+mn-lt"/>
              </a:rPr>
              <a:t> 内删除</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r,c</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a:t>
            </a:r>
            <a:r>
              <a:rPr lang="en-US" altLang="zh-CN" b="0" i="0" u="none" strike="noStrike" baseline="0" dirty="0">
                <a:solidFill>
                  <a:srgbClr val="000000"/>
                </a:solidFill>
                <a:cs typeface="+mn-ea"/>
                <a:sym typeface="+mn-lt"/>
              </a:rPr>
              <a:t>d/2</a:t>
            </a:r>
            <a:r>
              <a:rPr lang="zh-CN" altLang="en-US" b="0" i="0" u="none" strike="noStrike" baseline="0" dirty="0">
                <a:solidFill>
                  <a:srgbClr val="000000"/>
                </a:solidFill>
                <a:cs typeface="+mn-ea"/>
                <a:sym typeface="+mn-lt"/>
              </a:rPr>
              <a:t>个最低灰度值和</a:t>
            </a:r>
            <a:r>
              <a:rPr lang="en-US" altLang="zh-CN" b="0" i="0" u="none" strike="noStrike" baseline="0" dirty="0">
                <a:solidFill>
                  <a:srgbClr val="000000"/>
                </a:solidFill>
                <a:cs typeface="+mn-ea"/>
                <a:sym typeface="+mn-lt"/>
              </a:rPr>
              <a:t>d/2</a:t>
            </a:r>
            <a:r>
              <a:rPr lang="zh-CN" altLang="en-US" b="0" i="0" u="none" strike="noStrike" baseline="0" dirty="0">
                <a:solidFill>
                  <a:srgbClr val="000000"/>
                </a:solidFill>
                <a:cs typeface="+mn-ea"/>
                <a:sym typeface="+mn-lt"/>
              </a:rPr>
              <a:t>个最高灰度值。令</a:t>
            </a:r>
            <a:r>
              <a:rPr lang="en-US" altLang="zh-CN" b="0" i="0" u="none" strike="noStrike" baseline="0" dirty="0" err="1">
                <a:solidFill>
                  <a:srgbClr val="000000"/>
                </a:solidFill>
                <a:cs typeface="+mn-ea"/>
                <a:sym typeface="+mn-lt"/>
              </a:rPr>
              <a:t>g</a:t>
            </a:r>
            <a:r>
              <a:rPr lang="en-US" altLang="zh-CN" sz="1100" b="0" i="0" u="none" strike="noStrike" baseline="0" dirty="0" err="1">
                <a:solidFill>
                  <a:srgbClr val="000000"/>
                </a:solidFill>
                <a:cs typeface="+mn-ea"/>
                <a:sym typeface="+mn-lt"/>
              </a:rPr>
              <a:t>R</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r,c</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表示</a:t>
            </a:r>
            <a:r>
              <a:rPr lang="en-US" altLang="zh-CN" b="0" i="0" u="none" strike="noStrike" baseline="0" dirty="0">
                <a:solidFill>
                  <a:srgbClr val="000000"/>
                </a:solidFill>
                <a:cs typeface="+mn-ea"/>
                <a:sym typeface="+mn-lt"/>
              </a:rPr>
              <a:t>S</a:t>
            </a:r>
            <a:r>
              <a:rPr lang="en-US" altLang="zh-CN" sz="1100" b="0" i="0" u="none" strike="noStrike" baseline="0" dirty="0">
                <a:solidFill>
                  <a:srgbClr val="000000"/>
                </a:solidFill>
                <a:cs typeface="+mn-ea"/>
                <a:sym typeface="+mn-lt"/>
              </a:rPr>
              <a:t>XY</a:t>
            </a:r>
            <a:r>
              <a:rPr lang="zh-CN" altLang="en-US" b="0" i="0" u="none" strike="noStrike" baseline="0" dirty="0">
                <a:solidFill>
                  <a:srgbClr val="000000"/>
                </a:solidFill>
                <a:cs typeface="+mn-ea"/>
                <a:sym typeface="+mn-lt"/>
              </a:rPr>
              <a:t> 中剩下的</a:t>
            </a:r>
            <a:r>
              <a:rPr lang="en-US" altLang="zh-CN" b="0" i="0" u="none" strike="noStrike" baseline="0" dirty="0" err="1">
                <a:solidFill>
                  <a:srgbClr val="000000"/>
                </a:solidFill>
                <a:cs typeface="+mn-ea"/>
                <a:sym typeface="+mn-lt"/>
              </a:rPr>
              <a:t>mn</a:t>
            </a:r>
            <a:r>
              <a:rPr lang="en-US" altLang="zh-CN" b="0" i="0" u="none" strike="noStrike" baseline="0" dirty="0">
                <a:solidFill>
                  <a:srgbClr val="000000"/>
                </a:solidFill>
                <a:cs typeface="+mn-ea"/>
                <a:sym typeface="+mn-lt"/>
              </a:rPr>
              <a:t>-d</a:t>
            </a:r>
            <a:r>
              <a:rPr lang="zh-CN" altLang="en-US" b="0" i="0" u="none" strike="noStrike" baseline="0" dirty="0">
                <a:solidFill>
                  <a:srgbClr val="000000"/>
                </a:solidFill>
                <a:cs typeface="+mn-ea"/>
                <a:sym typeface="+mn-lt"/>
              </a:rPr>
              <a:t>个像素。通过平均这些剩余像素所形成的滤波器，称为修正阿尔法均值滤波器，其形式为</a:t>
            </a:r>
          </a:p>
        </p:txBody>
      </p:sp>
      <p:pic>
        <p:nvPicPr>
          <p:cNvPr id="5" name="图片 4">
            <a:extLst>
              <a:ext uri="{FF2B5EF4-FFF2-40B4-BE49-F238E27FC236}">
                <a16:creationId xmlns:a16="http://schemas.microsoft.com/office/drawing/2014/main" id="{8FCFB461-73E2-EF2F-806B-822DE8646CCB}"/>
              </a:ext>
            </a:extLst>
          </p:cNvPr>
          <p:cNvPicPr>
            <a:picLocks noChangeAspect="1"/>
          </p:cNvPicPr>
          <p:nvPr/>
        </p:nvPicPr>
        <p:blipFill rotWithShape="1">
          <a:blip r:embed="rId2"/>
          <a:srcRect b="10430"/>
          <a:stretch/>
        </p:blipFill>
        <p:spPr>
          <a:xfrm>
            <a:off x="4587891" y="3823637"/>
            <a:ext cx="3324225" cy="469232"/>
          </a:xfrm>
          <a:prstGeom prst="rect">
            <a:avLst/>
          </a:prstGeom>
        </p:spPr>
      </p:pic>
      <p:pic>
        <p:nvPicPr>
          <p:cNvPr id="9" name="图片 8">
            <a:extLst>
              <a:ext uri="{FF2B5EF4-FFF2-40B4-BE49-F238E27FC236}">
                <a16:creationId xmlns:a16="http://schemas.microsoft.com/office/drawing/2014/main" id="{D9E829DA-2F4D-7476-AB0A-BD376482AAD8}"/>
              </a:ext>
            </a:extLst>
          </p:cNvPr>
          <p:cNvPicPr>
            <a:picLocks noChangeAspect="1"/>
          </p:cNvPicPr>
          <p:nvPr/>
        </p:nvPicPr>
        <p:blipFill>
          <a:blip r:embed="rId3"/>
          <a:stretch>
            <a:fillRect/>
          </a:stretch>
        </p:blipFill>
        <p:spPr>
          <a:xfrm>
            <a:off x="4948236" y="5802894"/>
            <a:ext cx="2295525" cy="485775"/>
          </a:xfrm>
          <a:prstGeom prst="rect">
            <a:avLst/>
          </a:prstGeom>
        </p:spPr>
      </p:pic>
    </p:spTree>
    <p:extLst>
      <p:ext uri="{BB962C8B-B14F-4D97-AF65-F5344CB8AC3E}">
        <p14:creationId xmlns:p14="http://schemas.microsoft.com/office/powerpoint/2010/main" val="268112400"/>
      </p:ext>
    </p:extLst>
  </p:cSld>
  <p:clrMapOvr>
    <a:masterClrMapping/>
  </p:clrMapOvr>
  <p:transition spd="slow" advTm="0">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45A02C-8750-2C30-A309-90EB37C6E04D}"/>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自适应滤波器</a:t>
            </a:r>
          </a:p>
        </p:txBody>
      </p:sp>
      <p:sp>
        <p:nvSpPr>
          <p:cNvPr id="3" name="文本占位符 2">
            <a:extLst>
              <a:ext uri="{FF2B5EF4-FFF2-40B4-BE49-F238E27FC236}">
                <a16:creationId xmlns:a16="http://schemas.microsoft.com/office/drawing/2014/main" id="{836908D0-31B2-B238-B61D-0F9423F5348E}"/>
              </a:ext>
            </a:extLst>
          </p:cNvPr>
          <p:cNvSpPr>
            <a:spLocks noGrp="1"/>
          </p:cNvSpPr>
          <p:nvPr>
            <p:ph sz="quarter" idx="11"/>
          </p:nvPr>
        </p:nvSpPr>
        <p:spPr/>
        <p:txBody>
          <a:bodyPr>
            <a:noAutofit/>
          </a:bodyPr>
          <a:lstStyle/>
          <a:p>
            <a:pPr marL="0" marR="9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自适应局部降噪滤波器</a:t>
            </a:r>
          </a:p>
          <a:p>
            <a:pPr marL="0" marR="90" lvl="0" indent="0" rtl="0">
              <a:buNone/>
            </a:pPr>
            <a:r>
              <a:rPr lang="zh-CN" altLang="en-US" b="0" i="0" u="none" strike="noStrike" baseline="0" dirty="0">
                <a:solidFill>
                  <a:srgbClr val="000000"/>
                </a:solidFill>
                <a:cs typeface="+mn-ea"/>
                <a:sym typeface="+mn-lt"/>
              </a:rPr>
              <a:t>一个随机变量的最简单的统计测度是其均值和方差，这些参数是自适应滤波器的基础，因为它们 与图像的外观高度相关。均值是计算平均值的区域上的平均灰度，方差是该区域上的图像对比度。</a:t>
            </a:r>
          </a:p>
          <a:p>
            <a:pPr marL="0" marR="9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自适应中值滤波器</a:t>
            </a:r>
          </a:p>
          <a:p>
            <a:pPr marL="0" marR="90" lvl="0" indent="0" rtl="0">
              <a:buNone/>
            </a:pPr>
            <a:r>
              <a:rPr lang="zh-CN" altLang="en-US" b="0" i="0" u="none" strike="noStrike" baseline="0" dirty="0">
                <a:solidFill>
                  <a:srgbClr val="000000"/>
                </a:solidFill>
                <a:cs typeface="+mn-ea"/>
                <a:sym typeface="+mn-lt"/>
              </a:rPr>
              <a:t>若椒盐噪声的空间密度较低</a:t>
            </a:r>
            <a:r>
              <a:rPr lang="en-US" altLang="zh-CN" b="0" i="0" u="none" strike="noStrike" baseline="0" dirty="0">
                <a:solidFill>
                  <a:srgbClr val="000000"/>
                </a:solidFill>
                <a:cs typeface="+mn-ea"/>
                <a:sym typeface="+mn-lt"/>
              </a:rPr>
              <a:t>(P</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P</a:t>
            </a:r>
            <a:r>
              <a:rPr lang="en-US" altLang="zh-CN" sz="1100"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通常小于</a:t>
            </a:r>
            <a:r>
              <a:rPr lang="en-US" altLang="zh-CN" b="0" i="0" u="none" strike="noStrike" baseline="0" dirty="0">
                <a:solidFill>
                  <a:srgbClr val="000000"/>
                </a:solidFill>
                <a:cs typeface="+mn-ea"/>
                <a:sym typeface="+mn-lt"/>
              </a:rPr>
              <a:t>0.2),</a:t>
            </a:r>
            <a:r>
              <a:rPr lang="zh-CN" altLang="en-US" b="0" i="0" u="none" strike="noStrike" baseline="0" dirty="0">
                <a:solidFill>
                  <a:srgbClr val="000000"/>
                </a:solidFill>
                <a:cs typeface="+mn-ea"/>
                <a:sym typeface="+mn-lt"/>
              </a:rPr>
              <a:t>则式</a:t>
            </a:r>
            <a:r>
              <a:rPr lang="en-US" altLang="zh-CN" b="0" i="0" u="none" strike="noStrike" baseline="0" dirty="0">
                <a:solidFill>
                  <a:srgbClr val="000000"/>
                </a:solidFill>
                <a:cs typeface="+mn-ea"/>
                <a:sym typeface="+mn-lt"/>
              </a:rPr>
              <a:t>(5.27)</a:t>
            </a:r>
            <a:r>
              <a:rPr lang="zh-CN" altLang="en-US" b="0" i="0" u="none" strike="noStrike" baseline="0" dirty="0">
                <a:solidFill>
                  <a:srgbClr val="000000"/>
                </a:solidFill>
                <a:cs typeface="+mn-ea"/>
                <a:sym typeface="+mn-lt"/>
              </a:rPr>
              <a:t>中的中值滤波器的滤波性能较好。下面的讨论将证明，自适应中值滤波能够处理具有更大概率的噪声。自适应中值滤波器的另一个优点是，它会在试图保留图像细节的同时平滑非冲激噪声，而传统中值滤波器是做不到这一点的。</a:t>
            </a:r>
          </a:p>
        </p:txBody>
      </p:sp>
      <p:sp>
        <p:nvSpPr>
          <p:cNvPr id="4" name="矩形 3">
            <a:extLst>
              <a:ext uri="{FF2B5EF4-FFF2-40B4-BE49-F238E27FC236}">
                <a16:creationId xmlns:a16="http://schemas.microsoft.com/office/drawing/2014/main" id="{4CFC4F04-BAA6-FF93-BA38-1B5391960993}"/>
              </a:ext>
            </a:extLst>
          </p:cNvPr>
          <p:cNvSpPr/>
          <p:nvPr/>
        </p:nvSpPr>
        <p:spPr>
          <a:xfrm>
            <a:off x="801092" y="2446416"/>
            <a:ext cx="10720348" cy="369450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276597387"/>
      </p:ext>
    </p:extLst>
  </p:cSld>
  <p:clrMapOvr>
    <a:masterClrMapping/>
  </p:clrMapOvr>
  <p:transition spd="slow" advTm="0">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使用频率域滤波降低周期噪声</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04533844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87018D-5E2A-09D7-8386-79612ED59E3E}"/>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陷波滤波深入介绍</a:t>
            </a:r>
          </a:p>
        </p:txBody>
      </p:sp>
      <p:sp>
        <p:nvSpPr>
          <p:cNvPr id="3" name="文本占位符 2">
            <a:extLst>
              <a:ext uri="{FF2B5EF4-FFF2-40B4-BE49-F238E27FC236}">
                <a16:creationId xmlns:a16="http://schemas.microsoft.com/office/drawing/2014/main" id="{F0AE7BBC-AA3F-9145-6403-A38C6D37D07B}"/>
              </a:ext>
            </a:extLst>
          </p:cNvPr>
          <p:cNvSpPr>
            <a:spLocks noGrp="1"/>
          </p:cNvSpPr>
          <p:nvPr>
            <p:ph sz="quarter" idx="11"/>
          </p:nvPr>
        </p:nvSpPr>
        <p:spPr/>
        <p:txBody>
          <a:bodyPr/>
          <a:lstStyle/>
          <a:p>
            <a:pPr marL="0" marR="90" lvl="0" indent="0" rtl="0">
              <a:buNone/>
            </a:pPr>
            <a:r>
              <a:rPr lang="zh-CN" altLang="en-US" b="0" i="0" u="none" strike="noStrike" baseline="0" dirty="0">
                <a:solidFill>
                  <a:srgbClr val="000000"/>
                </a:solidFill>
                <a:cs typeface="+mn-ea"/>
                <a:sym typeface="+mn-lt"/>
              </a:rPr>
              <a:t>如</a:t>
            </a:r>
            <a:r>
              <a:rPr lang="en-US" altLang="zh-CN" b="0" i="0" u="none" strike="noStrike" baseline="0" dirty="0">
                <a:solidFill>
                  <a:srgbClr val="000000"/>
                </a:solidFill>
                <a:cs typeface="+mn-ea"/>
                <a:sym typeface="+mn-lt"/>
              </a:rPr>
              <a:t>4.10</a:t>
            </a:r>
            <a:r>
              <a:rPr lang="zh-CN" altLang="en-US" b="0" i="0" u="none" strike="noStrike" baseline="0" dirty="0">
                <a:solidFill>
                  <a:srgbClr val="000000"/>
                </a:solidFill>
                <a:cs typeface="+mn-ea"/>
                <a:sym typeface="+mn-lt"/>
              </a:rPr>
              <a:t>节中说明的那样，陷波带阻滤波器传递函数是中心平移到陷波中心的各个高通滤波器传递函数的乘积。陷波滤波器传递函数的一般形式是</a:t>
            </a:r>
          </a:p>
          <a:p>
            <a:pPr marL="0" marR="90" lvl="0" indent="0" rtl="0">
              <a:buNone/>
            </a:pPr>
            <a:endParaRPr lang="en-US" altLang="zh-CN" b="0" i="0" u="none" strike="noStrike" baseline="0" dirty="0">
              <a:solidFill>
                <a:srgbClr val="000000"/>
              </a:solidFill>
              <a:cs typeface="+mn-ea"/>
              <a:sym typeface="+mn-lt"/>
            </a:endParaRPr>
          </a:p>
          <a:p>
            <a:pPr marL="0" marR="9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H(</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H</a:t>
            </a:r>
            <a:r>
              <a:rPr lang="zh-CN" altLang="en-US" b="0" i="0" u="sng" strike="noStrike" baseline="0" dirty="0">
                <a:solidFill>
                  <a:srgbClr val="000000"/>
                </a:solidFill>
                <a:cs typeface="+mn-ea"/>
                <a:sym typeface="+mn-lt"/>
              </a:rPr>
              <a:t>  </a:t>
            </a:r>
            <a:r>
              <a:rPr lang="en-US" altLang="zh-CN" b="0" i="0" u="none" strike="noStrike" baseline="0" dirty="0">
                <a:solidFill>
                  <a:srgbClr val="000000"/>
                </a:solidFill>
                <a:cs typeface="+mn-ea"/>
                <a:sym typeface="+mn-lt"/>
              </a:rPr>
              <a:t>x(</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分别是中心为</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u</a:t>
            </a:r>
            <a:r>
              <a:rPr lang="en-US" altLang="zh-CN" sz="1100" b="0" i="0" u="none" strike="noStrike" baseline="0" dirty="0" err="1">
                <a:solidFill>
                  <a:srgbClr val="000000"/>
                </a:solidFill>
                <a:cs typeface="+mn-ea"/>
                <a:sym typeface="+mn-lt"/>
              </a:rPr>
              <a:t>k</a:t>
            </a:r>
            <a:r>
              <a:rPr lang="en-US" altLang="zh-CN" b="0" i="0" u="none" strike="noStrike" baseline="0" dirty="0" err="1">
                <a:solidFill>
                  <a:srgbClr val="000000"/>
                </a:solidFill>
                <a:cs typeface="+mn-ea"/>
                <a:sym typeface="+mn-lt"/>
              </a:rPr>
              <a:t>,V</a:t>
            </a:r>
            <a:r>
              <a:rPr lang="en-US" altLang="zh-CN" sz="1100" b="0" i="0" u="none" strike="noStrike" baseline="0" dirty="0" err="1">
                <a:solidFill>
                  <a:srgbClr val="000000"/>
                </a:solidFill>
                <a:cs typeface="+mn-ea"/>
                <a:sym typeface="+mn-lt"/>
              </a:rPr>
              <a:t>k</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u</a:t>
            </a:r>
            <a:r>
              <a:rPr lang="en-US" altLang="zh-CN" sz="1100" b="0" i="0" u="none" strike="noStrike" baseline="0" dirty="0" err="1">
                <a:solidFill>
                  <a:srgbClr val="000000"/>
                </a:solidFill>
                <a:cs typeface="+mn-ea"/>
                <a:sym typeface="+mn-lt"/>
              </a:rPr>
              <a:t>k</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v</a:t>
            </a:r>
            <a:r>
              <a:rPr lang="en-US" altLang="zh-CN" sz="1100" b="0" i="0" u="none" strike="noStrike" baseline="0" dirty="0" err="1">
                <a:solidFill>
                  <a:srgbClr val="000000"/>
                </a:solidFill>
                <a:cs typeface="+mn-ea"/>
                <a:sym typeface="+mn-lt"/>
              </a:rPr>
              <a:t>k</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的高通滤波器传递函数。这些中心是相 对频率矩形中心</a:t>
            </a:r>
            <a:r>
              <a:rPr lang="en-US" altLang="zh-CN" b="0" i="0" u="none" strike="noStrike" baseline="0" dirty="0">
                <a:solidFill>
                  <a:srgbClr val="000000"/>
                </a:solidFill>
                <a:cs typeface="+mn-ea"/>
                <a:sym typeface="+mn-lt"/>
              </a:rPr>
              <a:t>[floor(M/2),floor(N/2)]</a:t>
            </a:r>
            <a:r>
              <a:rPr lang="zh-CN" altLang="en-US" b="0" i="0" u="none" strike="noStrike" baseline="0" dirty="0">
                <a:solidFill>
                  <a:srgbClr val="000000"/>
                </a:solidFill>
                <a:cs typeface="+mn-ea"/>
                <a:sym typeface="+mn-lt"/>
              </a:rPr>
              <a:t>来规定的，其中</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照例为输入图像的行数和列数。于是，传递函数的距离计算如下：</a:t>
            </a:r>
          </a:p>
        </p:txBody>
      </p:sp>
      <p:pic>
        <p:nvPicPr>
          <p:cNvPr id="5" name="图片 4">
            <a:extLst>
              <a:ext uri="{FF2B5EF4-FFF2-40B4-BE49-F238E27FC236}">
                <a16:creationId xmlns:a16="http://schemas.microsoft.com/office/drawing/2014/main" id="{5262E01C-70C6-9C35-38BC-9EF1428DA5DD}"/>
              </a:ext>
            </a:extLst>
          </p:cNvPr>
          <p:cNvPicPr>
            <a:picLocks noChangeAspect="1"/>
          </p:cNvPicPr>
          <p:nvPr/>
        </p:nvPicPr>
        <p:blipFill>
          <a:blip r:embed="rId2"/>
          <a:stretch>
            <a:fillRect/>
          </a:stretch>
        </p:blipFill>
        <p:spPr>
          <a:xfrm>
            <a:off x="4489645" y="3429000"/>
            <a:ext cx="3212709" cy="640080"/>
          </a:xfrm>
          <a:prstGeom prst="rect">
            <a:avLst/>
          </a:prstGeom>
        </p:spPr>
      </p:pic>
      <p:pic>
        <p:nvPicPr>
          <p:cNvPr id="7" name="图片 6">
            <a:extLst>
              <a:ext uri="{FF2B5EF4-FFF2-40B4-BE49-F238E27FC236}">
                <a16:creationId xmlns:a16="http://schemas.microsoft.com/office/drawing/2014/main" id="{A90BAF61-6421-8EB7-C7AE-D0303B34B207}"/>
              </a:ext>
            </a:extLst>
          </p:cNvPr>
          <p:cNvPicPr>
            <a:picLocks noChangeAspect="1"/>
          </p:cNvPicPr>
          <p:nvPr/>
        </p:nvPicPr>
        <p:blipFill>
          <a:blip r:embed="rId3"/>
          <a:stretch>
            <a:fillRect/>
          </a:stretch>
        </p:blipFill>
        <p:spPr>
          <a:xfrm>
            <a:off x="4391024" y="5487152"/>
            <a:ext cx="3409950" cy="485775"/>
          </a:xfrm>
          <a:prstGeom prst="rect">
            <a:avLst/>
          </a:prstGeom>
        </p:spPr>
      </p:pic>
      <p:pic>
        <p:nvPicPr>
          <p:cNvPr id="9" name="图片 8">
            <a:extLst>
              <a:ext uri="{FF2B5EF4-FFF2-40B4-BE49-F238E27FC236}">
                <a16:creationId xmlns:a16="http://schemas.microsoft.com/office/drawing/2014/main" id="{3FB5FB59-AA11-F934-40DC-DD42177C4460}"/>
              </a:ext>
            </a:extLst>
          </p:cNvPr>
          <p:cNvPicPr>
            <a:picLocks noChangeAspect="1"/>
          </p:cNvPicPr>
          <p:nvPr/>
        </p:nvPicPr>
        <p:blipFill>
          <a:blip r:embed="rId4"/>
          <a:stretch>
            <a:fillRect/>
          </a:stretch>
        </p:blipFill>
        <p:spPr>
          <a:xfrm>
            <a:off x="4245890" y="5929579"/>
            <a:ext cx="3667125" cy="409575"/>
          </a:xfrm>
          <a:prstGeom prst="rect">
            <a:avLst/>
          </a:prstGeom>
        </p:spPr>
      </p:pic>
      <p:sp>
        <p:nvSpPr>
          <p:cNvPr id="10" name="矩形 9">
            <a:extLst>
              <a:ext uri="{FF2B5EF4-FFF2-40B4-BE49-F238E27FC236}">
                <a16:creationId xmlns:a16="http://schemas.microsoft.com/office/drawing/2014/main" id="{6B8D8C51-18AF-1DDC-BA7A-AAD79CA035E4}"/>
              </a:ext>
            </a:extLst>
          </p:cNvPr>
          <p:cNvSpPr/>
          <p:nvPr/>
        </p:nvSpPr>
        <p:spPr>
          <a:xfrm>
            <a:off x="801092" y="2446417"/>
            <a:ext cx="10589815" cy="402176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62566353"/>
      </p:ext>
    </p:extLst>
  </p:cSld>
  <p:clrMapOvr>
    <a:masterClrMapping/>
  </p:clrMapOvr>
  <p:transition spd="slow" advTm="0">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174DF-9788-AD8A-ECEE-0220ABCAD79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最优陷波滤波</a:t>
            </a:r>
          </a:p>
        </p:txBody>
      </p:sp>
      <p:sp>
        <p:nvSpPr>
          <p:cNvPr id="3" name="文本占位符 2">
            <a:extLst>
              <a:ext uri="{FF2B5EF4-FFF2-40B4-BE49-F238E27FC236}">
                <a16:creationId xmlns:a16="http://schemas.microsoft.com/office/drawing/2014/main" id="{C938579A-E2D9-E3A8-D37F-D94C795682E7}"/>
              </a:ext>
            </a:extLst>
          </p:cNvPr>
          <p:cNvSpPr>
            <a:spLocks noGrp="1"/>
          </p:cNvSpPr>
          <p:nvPr>
            <p:ph sz="quarter" idx="12"/>
          </p:nvPr>
        </p:nvSpPr>
        <p:spPr/>
        <p:txBody>
          <a:bodyPr/>
          <a:lstStyle/>
          <a:p>
            <a:pPr marR="90" lvl="0" rtl="0"/>
            <a:r>
              <a:rPr lang="zh-CN" altLang="en-US" b="0" i="0" u="none" strike="noStrike" baseline="0" dirty="0">
                <a:solidFill>
                  <a:srgbClr val="000000"/>
                </a:solidFill>
                <a:cs typeface="+mn-ea"/>
                <a:sym typeface="+mn-lt"/>
              </a:rPr>
              <a:t>存在多个干扰分量时，滤波器传递函数的启发式规格并不总能被我们接受，因为它们在滤波过程中可能会过多地滤除图像信息</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当图像没有副本或获取的费用很高时，过多地滤除图像信息就非常不可取</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endParaRPr lang="en-US" altLang="zh-CN" b="0" i="0" u="none" strike="noStrike" baseline="0" dirty="0">
              <a:solidFill>
                <a:srgbClr val="000000"/>
              </a:solidFill>
              <a:cs typeface="+mn-ea"/>
              <a:sym typeface="+mn-lt"/>
            </a:endParaRPr>
          </a:p>
          <a:p>
            <a:pPr marR="90" lvl="0" rtl="0"/>
            <a:r>
              <a:rPr lang="zh-CN" altLang="en-US" b="0" i="0" u="none" strike="noStrike" baseline="0" dirty="0">
                <a:solidFill>
                  <a:srgbClr val="000000"/>
                </a:solidFill>
                <a:cs typeface="+mn-ea"/>
                <a:sym typeface="+mn-lt"/>
              </a:rPr>
              <a:t>此外，干扰分量通常不是单频率突发能量，而是携带干扰模式信息的宽裙摆。有时，在正常的变换背景中检测到这些宽裙摆并不容易。实践中通常使用另一种滤波方法来降低这些退化的影响，这种方法在最小化复原估计</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的局部方差方面是最优的。</a:t>
            </a:r>
          </a:p>
        </p:txBody>
      </p:sp>
    </p:spTree>
    <p:extLst>
      <p:ext uri="{BB962C8B-B14F-4D97-AF65-F5344CB8AC3E}">
        <p14:creationId xmlns:p14="http://schemas.microsoft.com/office/powerpoint/2010/main" val="2827156255"/>
      </p:ext>
    </p:extLst>
  </p:cSld>
  <p:clrMapOvr>
    <a:masterClrMapping/>
  </p:clrMapOvr>
  <p:transition spd="slow" advTm="0">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线性位置不变退化</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13407251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133BB5-F179-0E39-E0FA-141AB158EFAD}"/>
              </a:ext>
            </a:extLst>
          </p:cNvPr>
          <p:cNvSpPr>
            <a:spLocks noGrp="1"/>
          </p:cNvSpPr>
          <p:nvPr>
            <p:ph type="title"/>
          </p:nvPr>
        </p:nvSpPr>
        <p:spPr/>
        <p:txBody>
          <a:bodyPr/>
          <a:lstStyle/>
          <a:p>
            <a:pPr marR="0" rtl="0"/>
            <a:r>
              <a:rPr lang="zh-CN" altLang="en-US" dirty="0">
                <a:solidFill>
                  <a:srgbClr val="0070C0"/>
                </a:solidFill>
                <a:latin typeface="+mn-lt"/>
                <a:ea typeface="+mn-ea"/>
                <a:cs typeface="+mn-ea"/>
                <a:sym typeface="+mn-lt"/>
              </a:rPr>
              <a:t>概述</a:t>
            </a:r>
            <a:endParaRPr lang="zh-CN" altLang="en-US" b="1" i="0" u="none" strike="noStrike" baseline="0" dirty="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550CB2CB-1443-E254-15D9-3187D1B57040}"/>
              </a:ext>
            </a:extLst>
          </p:cNvPr>
          <p:cNvSpPr>
            <a:spLocks noGrp="1"/>
          </p:cNvSpPr>
          <p:nvPr>
            <p:ph sz="quarter" idx="12"/>
          </p:nvPr>
        </p:nvSpPr>
        <p:spPr/>
        <p:txBody>
          <a:bodyPr>
            <a:normAutofit/>
          </a:bodyPr>
          <a:lstStyle/>
          <a:p>
            <a:r>
              <a:rPr lang="zh-CN" altLang="zh-CN" dirty="0">
                <a:effectLst/>
                <a:cs typeface="+mn-ea"/>
                <a:sym typeface="+mn-lt"/>
              </a:rPr>
              <a:t>许多类型的退化可近似为线性位置不变过程。这种方法</a:t>
            </a:r>
            <a:r>
              <a:rPr lang="zh-CN" altLang="zh-CN" spc="-40" dirty="0">
                <a:effectLst/>
                <a:cs typeface="+mn-ea"/>
                <a:sym typeface="+mn-lt"/>
              </a:rPr>
              <a:t>的优点是，可以使用线性系统理论的许多</a:t>
            </a:r>
            <a:r>
              <a:rPr lang="zh-CN" altLang="zh-CN" spc="-20" dirty="0">
                <a:effectLst/>
                <a:cs typeface="+mn-ea"/>
                <a:sym typeface="+mn-lt"/>
              </a:rPr>
              <a:t>工具来解决图像复原问题。与位置有关的非线性技术虽然更通用</a:t>
            </a:r>
            <a:r>
              <a:rPr lang="en-US" altLang="zh-CN" spc="-20" dirty="0">
                <a:effectLst/>
                <a:cs typeface="+mn-ea"/>
                <a:sym typeface="+mn-lt"/>
              </a:rPr>
              <a:t>(</a:t>
            </a:r>
            <a:r>
              <a:rPr lang="zh-CN" altLang="zh-CN" spc="-20" dirty="0">
                <a:effectLst/>
                <a:cs typeface="+mn-ea"/>
                <a:sym typeface="+mn-lt"/>
              </a:rPr>
              <a:t>并</a:t>
            </a:r>
            <a:r>
              <a:rPr lang="zh-CN" altLang="zh-CN" spc="-25" dirty="0">
                <a:effectLst/>
                <a:cs typeface="+mn-ea"/>
                <a:sym typeface="+mn-lt"/>
              </a:rPr>
              <a:t>且通常更精确</a:t>
            </a:r>
            <a:r>
              <a:rPr lang="en-US" altLang="zh-CN" spc="-25" dirty="0">
                <a:effectLst/>
                <a:cs typeface="+mn-ea"/>
                <a:sym typeface="+mn-lt"/>
              </a:rPr>
              <a:t>),</a:t>
            </a:r>
            <a:r>
              <a:rPr lang="zh-CN" altLang="zh-CN" spc="-25" dirty="0">
                <a:effectLst/>
                <a:cs typeface="+mn-ea"/>
                <a:sym typeface="+mn-lt"/>
              </a:rPr>
              <a:t>但通常没有已知</a:t>
            </a:r>
            <a:r>
              <a:rPr lang="zh-CN" altLang="zh-CN" dirty="0">
                <a:effectLst/>
                <a:cs typeface="+mn-ea"/>
                <a:sym typeface="+mn-lt"/>
              </a:rPr>
              <a:t>解</a:t>
            </a:r>
            <a:r>
              <a:rPr lang="zh-CN" altLang="en-US" dirty="0">
                <a:cs typeface="+mn-ea"/>
                <a:sym typeface="+mn-lt"/>
              </a:rPr>
              <a:t>，</a:t>
            </a:r>
            <a:r>
              <a:rPr lang="zh-CN" altLang="zh-CN" dirty="0">
                <a:effectLst/>
                <a:cs typeface="+mn-ea"/>
                <a:sym typeface="+mn-lt"/>
              </a:rPr>
              <a:t>或计算上难以求解。</a:t>
            </a:r>
            <a:endParaRPr lang="en-US" altLang="zh-CN" dirty="0">
              <a:effectLst/>
              <a:cs typeface="+mn-ea"/>
              <a:sym typeface="+mn-lt"/>
            </a:endParaRPr>
          </a:p>
          <a:p>
            <a:r>
              <a:rPr lang="zh-CN" altLang="zh-CN" dirty="0">
                <a:effectLst/>
                <a:cs typeface="+mn-ea"/>
                <a:sym typeface="+mn-lt"/>
              </a:rPr>
              <a:t>本章主要介绍线性空间不变复原技术。由于退化被建模为卷积，并且图像复</a:t>
            </a:r>
            <a:r>
              <a:rPr lang="zh-CN" altLang="zh-CN" spc="-30" dirty="0">
                <a:effectLst/>
                <a:cs typeface="+mn-ea"/>
                <a:sym typeface="+mn-lt"/>
              </a:rPr>
              <a:t>原试图找到应用相反过程的滤波器，所以术语图像去</a:t>
            </a:r>
            <a:r>
              <a:rPr lang="zh-CN" altLang="zh-CN" dirty="0">
                <a:effectLst/>
                <a:cs typeface="+mn-ea"/>
                <a:sym typeface="+mn-lt"/>
              </a:rPr>
              <a:t>卷积通常用于表示线性图像复原。类似地，复原</a:t>
            </a:r>
            <a:r>
              <a:rPr lang="zh-CN" altLang="zh-CN" spc="-45" dirty="0">
                <a:effectLst/>
                <a:cs typeface="+mn-ea"/>
                <a:sym typeface="+mn-lt"/>
              </a:rPr>
              <a:t>过程中所用的滤波器称为去卷积滤波器。</a:t>
            </a:r>
            <a:endParaRPr lang="zh-CN" altLang="en-US" dirty="0">
              <a:cs typeface="+mn-ea"/>
              <a:sym typeface="+mn-lt"/>
            </a:endParaRPr>
          </a:p>
        </p:txBody>
      </p:sp>
    </p:spTree>
    <p:extLst>
      <p:ext uri="{BB962C8B-B14F-4D97-AF65-F5344CB8AC3E}">
        <p14:creationId xmlns:p14="http://schemas.microsoft.com/office/powerpoint/2010/main" val="942567670"/>
      </p:ext>
    </p:extLst>
  </p:cSld>
  <p:clrMapOvr>
    <a:masterClrMapping/>
  </p:clrMapOvr>
  <p:transition spd="slow" advTm="0">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06</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估计退化函数</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76795833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E0202-05D4-03EA-A893-FFEA176B36A9}"/>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采用观察法估计退化函数</a:t>
            </a:r>
          </a:p>
        </p:txBody>
      </p:sp>
      <p:sp>
        <p:nvSpPr>
          <p:cNvPr id="3" name="文本占位符 2">
            <a:extLst>
              <a:ext uri="{FF2B5EF4-FFF2-40B4-BE49-F238E27FC236}">
                <a16:creationId xmlns:a16="http://schemas.microsoft.com/office/drawing/2014/main" id="{E75C3B7A-1E0B-0738-D262-7F7A018B402D}"/>
              </a:ext>
            </a:extLst>
          </p:cNvPr>
          <p:cNvSpPr>
            <a:spLocks noGrp="1"/>
          </p:cNvSpPr>
          <p:nvPr>
            <p:ph sz="quarter" idx="12"/>
          </p:nvPr>
        </p:nvSpPr>
        <p:spPr/>
        <p:txBody>
          <a:bodyPr>
            <a:normAutofit/>
          </a:bodyPr>
          <a:lstStyle/>
          <a:p>
            <a:pPr marR="90" lvl="0" rtl="0"/>
            <a:r>
              <a:rPr lang="zh-CN" altLang="en-US" b="0" i="0" u="none" strike="noStrike" baseline="0" dirty="0">
                <a:solidFill>
                  <a:srgbClr val="000000"/>
                </a:solidFill>
                <a:cs typeface="+mn-ea"/>
                <a:sym typeface="+mn-lt"/>
              </a:rPr>
              <a:t>假设我们有一幅退化图像，但没有关于退化函数</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的任何知识。根据图像被线性位置不变过程退化的假设，估计</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的一种方法是从图像本身采集信息。</a:t>
            </a:r>
            <a:endParaRPr lang="en-US" altLang="zh-CN" b="0" i="0" u="none" strike="noStrike" baseline="0" dirty="0">
              <a:solidFill>
                <a:srgbClr val="000000"/>
              </a:solidFill>
              <a:cs typeface="+mn-ea"/>
              <a:sym typeface="+mn-lt"/>
            </a:endParaRPr>
          </a:p>
          <a:p>
            <a:pPr marR="90" lvl="0" rtl="0"/>
            <a:r>
              <a:rPr lang="zh-CN" altLang="en-US" b="0" i="0" u="none" strike="noStrike" baseline="0" dirty="0">
                <a:solidFill>
                  <a:srgbClr val="000000"/>
                </a:solidFill>
                <a:cs typeface="+mn-ea"/>
                <a:sym typeface="+mn-lt"/>
              </a:rPr>
              <a:t>例如，若图像被模糊，则可以观察图像中包含样本结构的一个小矩形区域，如某个物体和背景的一部分。为了降低噪声的影响，我们可以寻找一个信号内容很强的区域</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如一个高对比度区域</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。下一步是处理子图像，得到尽可能不模糊的结果。</a:t>
            </a:r>
          </a:p>
        </p:txBody>
      </p:sp>
    </p:spTree>
    <p:extLst>
      <p:ext uri="{BB962C8B-B14F-4D97-AF65-F5344CB8AC3E}">
        <p14:creationId xmlns:p14="http://schemas.microsoft.com/office/powerpoint/2010/main" val="3319809984"/>
      </p:ext>
    </p:extLst>
  </p:cSld>
  <p:clrMapOvr>
    <a:masterClrMapping/>
  </p:clrMapOvr>
  <p:transition spd="slow" advTm="0">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B6D0B-A09C-BD73-FB2F-1364C60AE947}"/>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采用试验法估计退化函数</a:t>
            </a:r>
          </a:p>
        </p:txBody>
      </p:sp>
      <p:sp>
        <p:nvSpPr>
          <p:cNvPr id="3" name="文本占位符 2">
            <a:extLst>
              <a:ext uri="{FF2B5EF4-FFF2-40B4-BE49-F238E27FC236}">
                <a16:creationId xmlns:a16="http://schemas.microsoft.com/office/drawing/2014/main" id="{32B4A123-32C2-122F-E649-E8EDFDE905FC}"/>
              </a:ext>
            </a:extLst>
          </p:cNvPr>
          <p:cNvSpPr>
            <a:spLocks noGrp="1"/>
          </p:cNvSpPr>
          <p:nvPr>
            <p:ph sz="quarter" idx="11"/>
          </p:nvPr>
        </p:nvSpPr>
        <p:spPr/>
        <p:txBody>
          <a:bodyPr/>
          <a:lstStyle/>
          <a:p>
            <a:pPr marR="90" lvl="0" rtl="0"/>
            <a:r>
              <a:rPr lang="zh-CN" altLang="en-US" b="0" i="0" u="none" strike="noStrike" baseline="0" dirty="0">
                <a:solidFill>
                  <a:srgbClr val="000000"/>
                </a:solidFill>
                <a:cs typeface="+mn-ea"/>
                <a:sym typeface="+mn-lt"/>
              </a:rPr>
              <a:t>可用的设备与获取退化图像的设备相似时，原理上是可能获得退化的精确估计的。在各种系统设置下，我们可以获取类似于退化图像的图像，直到获取的图像尽可能接近所要复原的图像为止。然后， 使用相同的系统设置对一个冲激</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小光点</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成像，得到退化的冲激响应。如</a:t>
            </a:r>
            <a:r>
              <a:rPr lang="en-US" altLang="zh-CN" b="0" i="0" u="none" strike="noStrike" baseline="0" dirty="0">
                <a:solidFill>
                  <a:srgbClr val="000000"/>
                </a:solidFill>
                <a:cs typeface="+mn-ea"/>
                <a:sym typeface="+mn-lt"/>
              </a:rPr>
              <a:t>5.5</a:t>
            </a:r>
            <a:r>
              <a:rPr lang="zh-CN" altLang="en-US" b="0" i="0" u="none" strike="noStrike" baseline="0" dirty="0">
                <a:solidFill>
                  <a:srgbClr val="000000"/>
                </a:solidFill>
                <a:cs typeface="+mn-ea"/>
                <a:sym typeface="+mn-lt"/>
              </a:rPr>
              <a:t> 节所示，线性空间不变系统完全由其冲激响应表征。</a:t>
            </a:r>
          </a:p>
          <a:p>
            <a:pPr marR="90" lvl="0" rtl="0"/>
            <a:r>
              <a:rPr lang="zh-CN" altLang="en-US" b="0" i="0" u="none" strike="noStrike" baseline="0" dirty="0">
                <a:solidFill>
                  <a:srgbClr val="000000"/>
                </a:solidFill>
                <a:cs typeface="+mn-ea"/>
                <a:sym typeface="+mn-lt"/>
              </a:rPr>
              <a:t>一个冲激由一个亮点来模拟，这个点应亮到能降低噪声对可忽略值的影响。回顾可知，一个冲激的傅里叶变换是一个常量，根据式</a:t>
            </a:r>
            <a:r>
              <a:rPr lang="en-US" altLang="zh-CN" b="0" i="0" u="none" strike="noStrike" baseline="0" dirty="0">
                <a:solidFill>
                  <a:srgbClr val="000000"/>
                </a:solidFill>
                <a:cs typeface="+mn-ea"/>
                <a:sym typeface="+mn-lt"/>
              </a:rPr>
              <a:t>(5.65)</a:t>
            </a:r>
            <a:r>
              <a:rPr lang="zh-CN" altLang="en-US" b="0" i="0" u="none" strike="noStrike" baseline="0" dirty="0">
                <a:solidFill>
                  <a:srgbClr val="000000"/>
                </a:solidFill>
                <a:cs typeface="+mn-ea"/>
                <a:sym typeface="+mn-lt"/>
              </a:rPr>
              <a:t>有</a:t>
            </a:r>
          </a:p>
        </p:txBody>
      </p:sp>
      <p:pic>
        <p:nvPicPr>
          <p:cNvPr id="5" name="图片 4">
            <a:extLst>
              <a:ext uri="{FF2B5EF4-FFF2-40B4-BE49-F238E27FC236}">
                <a16:creationId xmlns:a16="http://schemas.microsoft.com/office/drawing/2014/main" id="{926FAEDB-94AF-34D6-2049-283307EC9BC5}"/>
              </a:ext>
            </a:extLst>
          </p:cNvPr>
          <p:cNvPicPr>
            <a:picLocks noChangeAspect="1"/>
          </p:cNvPicPr>
          <p:nvPr/>
        </p:nvPicPr>
        <p:blipFill rotWithShape="1">
          <a:blip r:embed="rId2"/>
          <a:srcRect b="12265"/>
          <a:stretch/>
        </p:blipFill>
        <p:spPr>
          <a:xfrm>
            <a:off x="5185761" y="5456229"/>
            <a:ext cx="1820477" cy="588436"/>
          </a:xfrm>
          <a:prstGeom prst="rect">
            <a:avLst/>
          </a:prstGeom>
        </p:spPr>
      </p:pic>
      <p:sp>
        <p:nvSpPr>
          <p:cNvPr id="6" name="矩形 5">
            <a:extLst>
              <a:ext uri="{FF2B5EF4-FFF2-40B4-BE49-F238E27FC236}">
                <a16:creationId xmlns:a16="http://schemas.microsoft.com/office/drawing/2014/main" id="{E70AD6F8-3727-C1A1-BDE2-802DAA2B62E8}"/>
              </a:ext>
            </a:extLst>
          </p:cNvPr>
          <p:cNvSpPr/>
          <p:nvPr/>
        </p:nvSpPr>
        <p:spPr>
          <a:xfrm>
            <a:off x="801092" y="2446417"/>
            <a:ext cx="10589815" cy="368487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188734205"/>
      </p:ext>
    </p:extLst>
  </p:cSld>
  <p:clrMapOvr>
    <a:masterClrMapping/>
  </p:clrMapOvr>
  <p:transition spd="slow" advTm="0">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00CBEF-7B08-EB74-DCB3-4C8AEA25185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采用建模法估计退化函数</a:t>
            </a:r>
          </a:p>
        </p:txBody>
      </p:sp>
      <p:sp>
        <p:nvSpPr>
          <p:cNvPr id="3" name="文本占位符 2">
            <a:extLst>
              <a:ext uri="{FF2B5EF4-FFF2-40B4-BE49-F238E27FC236}">
                <a16:creationId xmlns:a16="http://schemas.microsoft.com/office/drawing/2014/main" id="{90A1480C-CDA2-9A47-E688-607E51B6B1EA}"/>
              </a:ext>
            </a:extLst>
          </p:cNvPr>
          <p:cNvSpPr>
            <a:spLocks noGrp="1"/>
          </p:cNvSpPr>
          <p:nvPr>
            <p:ph sz="quarter" idx="12"/>
          </p:nvPr>
        </p:nvSpPr>
        <p:spPr/>
        <p:txBody>
          <a:bodyPr/>
          <a:lstStyle/>
          <a:p>
            <a:pPr marL="0" marR="90" lvl="0" indent="0" rtl="0">
              <a:buNone/>
            </a:pPr>
            <a:r>
              <a:rPr lang="zh-CN" altLang="en-US" b="0" i="0" u="none" strike="noStrike" baseline="0" dirty="0">
                <a:solidFill>
                  <a:srgbClr val="000000"/>
                </a:solidFill>
                <a:cs typeface="+mn-ea"/>
                <a:sym typeface="+mn-lt"/>
              </a:rPr>
              <a:t>由于在图像复原中的性能较好，退化建模已被人们使用了多年。在某些情况下，模型甚至可以考虑导致退化的环境条件。例如， </a:t>
            </a:r>
            <a:r>
              <a:rPr lang="en-US" altLang="zh-CN" b="0" i="0" u="none" strike="noStrike" baseline="0" dirty="0">
                <a:solidFill>
                  <a:srgbClr val="000000"/>
                </a:solidFill>
                <a:cs typeface="+mn-ea"/>
                <a:sym typeface="+mn-lt"/>
              </a:rPr>
              <a:t>Hufnagel</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and</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Stanley[1964]</a:t>
            </a:r>
            <a:r>
              <a:rPr lang="zh-CN" altLang="en-US" b="0" i="0" u="none" strike="noStrike" baseline="0" dirty="0">
                <a:solidFill>
                  <a:srgbClr val="000000"/>
                </a:solidFill>
                <a:cs typeface="+mn-ea"/>
                <a:sym typeface="+mn-lt"/>
              </a:rPr>
              <a:t>根据大气湍流的物理特性提出了一个退化模型，这个模型的形式对我们来说很熟悉：</a:t>
            </a:r>
          </a:p>
        </p:txBody>
      </p:sp>
      <p:pic>
        <p:nvPicPr>
          <p:cNvPr id="5" name="图片 4">
            <a:extLst>
              <a:ext uri="{FF2B5EF4-FFF2-40B4-BE49-F238E27FC236}">
                <a16:creationId xmlns:a16="http://schemas.microsoft.com/office/drawing/2014/main" id="{AC2CB656-7DC2-211A-8E43-16220D8E3200}"/>
              </a:ext>
            </a:extLst>
          </p:cNvPr>
          <p:cNvPicPr>
            <a:picLocks noChangeAspect="1"/>
          </p:cNvPicPr>
          <p:nvPr/>
        </p:nvPicPr>
        <p:blipFill>
          <a:blip r:embed="rId2"/>
          <a:stretch>
            <a:fillRect/>
          </a:stretch>
        </p:blipFill>
        <p:spPr>
          <a:xfrm>
            <a:off x="4757008" y="4132066"/>
            <a:ext cx="2677984" cy="596581"/>
          </a:xfrm>
          <a:prstGeom prst="rect">
            <a:avLst/>
          </a:prstGeom>
        </p:spPr>
      </p:pic>
    </p:spTree>
    <p:extLst>
      <p:ext uri="{BB962C8B-B14F-4D97-AF65-F5344CB8AC3E}">
        <p14:creationId xmlns:p14="http://schemas.microsoft.com/office/powerpoint/2010/main" val="3849312071"/>
      </p:ext>
    </p:extLst>
  </p:cSld>
  <p:clrMapOvr>
    <a:masterClrMapping/>
  </p:clrMapOvr>
  <p:transition spd="slow" advTm="0">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07</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逆滤波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27311053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0C92E-0DBD-29DB-D649-AA633D1FD1CA}"/>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50BB4320-ED6B-C3A3-09A2-8169F3D023E8}"/>
              </a:ext>
            </a:extLst>
          </p:cNvPr>
          <p:cNvSpPr>
            <a:spLocks noGrp="1"/>
          </p:cNvSpPr>
          <p:nvPr>
            <p:ph sz="quarter" idx="12"/>
          </p:nvPr>
        </p:nvSpPr>
        <p:spPr/>
        <p:txBody>
          <a:bodyPr>
            <a:normAutofit fontScale="92500"/>
          </a:bodyPr>
          <a:lstStyle/>
          <a:p>
            <a:pPr marL="0" marR="90" lvl="0" indent="0" rtl="0">
              <a:buNone/>
            </a:pPr>
            <a:r>
              <a:rPr lang="zh-CN" altLang="en-US" b="0" i="0" u="none" strike="noStrike" baseline="0" dirty="0">
                <a:solidFill>
                  <a:srgbClr val="000000"/>
                </a:solidFill>
                <a:cs typeface="+mn-ea"/>
                <a:sym typeface="+mn-lt"/>
              </a:rPr>
              <a:t>本节的内容是我们研究退化图像复原的第一步，其中的图像是被退化函数</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退化的，而</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是已知的，或已由前一节讨论的三种方法之一获得。最简单的复原方法是直接逆滤波，即用退化函数的傅里叶变换</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除以退化传递函数</a:t>
            </a:r>
            <a:r>
              <a:rPr lang="en-US" altLang="zh-CN" b="0" i="0" u="none" strike="noStrike" baseline="0" dirty="0">
                <a:solidFill>
                  <a:srgbClr val="000000"/>
                </a:solidFill>
                <a:cs typeface="+mn-ea"/>
                <a:sym typeface="+mn-lt"/>
              </a:rPr>
              <a:t>H(</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来计算原图像的变换的一个估计</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p>
          <a:p>
            <a:pPr marL="0" marR="90" lvl="0" indent="0" rtl="0">
              <a:buNone/>
            </a:pPr>
            <a:endParaRPr lang="en-US" altLang="zh-CN" b="0" i="0" u="none" strike="noStrike" baseline="0" dirty="0">
              <a:solidFill>
                <a:srgbClr val="000000"/>
              </a:solidFill>
              <a:cs typeface="+mn-ea"/>
              <a:sym typeface="+mn-lt"/>
            </a:endParaRPr>
          </a:p>
          <a:p>
            <a:pPr marL="0" marR="90" lvl="0" indent="0" rtl="0">
              <a:buNone/>
            </a:pPr>
            <a:r>
              <a:rPr lang="zh-CN" altLang="en-US" b="0" i="0" u="none" strike="noStrike" baseline="0" dirty="0">
                <a:solidFill>
                  <a:srgbClr val="000000"/>
                </a:solidFill>
                <a:cs typeface="+mn-ea"/>
                <a:sym typeface="+mn-lt"/>
              </a:rPr>
              <a:t>相除是对应像素相除，详见</a:t>
            </a:r>
            <a:r>
              <a:rPr lang="en-US" altLang="zh-CN" b="0" i="0" u="none" strike="noStrike" baseline="0" dirty="0">
                <a:solidFill>
                  <a:srgbClr val="000000"/>
                </a:solidFill>
                <a:cs typeface="+mn-ea"/>
                <a:sym typeface="+mn-lt"/>
              </a:rPr>
              <a:t>2.6</a:t>
            </a:r>
            <a:r>
              <a:rPr lang="zh-CN" altLang="en-US" b="0" i="0" u="none" strike="noStrike" baseline="0" dirty="0">
                <a:solidFill>
                  <a:srgbClr val="000000"/>
                </a:solidFill>
                <a:cs typeface="+mn-ea"/>
                <a:sym typeface="+mn-lt"/>
              </a:rPr>
              <a:t>节中的定义和式</a:t>
            </a:r>
            <a:r>
              <a:rPr lang="en-US" altLang="zh-CN" b="0" i="0" u="none" strike="noStrike" baseline="0" dirty="0">
                <a:solidFill>
                  <a:srgbClr val="000000"/>
                </a:solidFill>
                <a:cs typeface="+mn-ea"/>
                <a:sym typeface="+mn-lt"/>
              </a:rPr>
              <a:t>(5.65)</a:t>
            </a:r>
            <a:r>
              <a:rPr lang="zh-CN" altLang="en-US" b="0" i="0" u="none" strike="noStrike" baseline="0" dirty="0">
                <a:solidFill>
                  <a:srgbClr val="000000"/>
                </a:solidFill>
                <a:cs typeface="+mn-ea"/>
                <a:sym typeface="+mn-lt"/>
              </a:rPr>
              <a:t>。用式</a:t>
            </a:r>
            <a:r>
              <a:rPr lang="en-US" altLang="zh-CN" b="0" i="0" u="none" strike="noStrike" baseline="0" dirty="0">
                <a:solidFill>
                  <a:srgbClr val="000000"/>
                </a:solidFill>
                <a:cs typeface="+mn-ea"/>
                <a:sym typeface="+mn-lt"/>
              </a:rPr>
              <a:t>(5.2)</a:t>
            </a:r>
            <a:r>
              <a:rPr lang="zh-CN" altLang="en-US" b="0" i="0" u="none" strike="noStrike" baseline="0" dirty="0">
                <a:solidFill>
                  <a:srgbClr val="000000"/>
                </a:solidFill>
                <a:cs typeface="+mn-ea"/>
                <a:sym typeface="+mn-lt"/>
              </a:rPr>
              <a:t>的右侧替代式</a:t>
            </a:r>
            <a:r>
              <a:rPr lang="en-US" altLang="zh-CN" b="0" i="0" u="none" strike="noStrike" baseline="0" dirty="0">
                <a:solidFill>
                  <a:srgbClr val="000000"/>
                </a:solidFill>
                <a:cs typeface="+mn-ea"/>
                <a:sym typeface="+mn-lt"/>
              </a:rPr>
              <a:t>(5.78)</a:t>
            </a:r>
            <a:r>
              <a:rPr lang="zh-CN" altLang="en-US" b="0" i="0" u="none" strike="noStrike" baseline="0" dirty="0">
                <a:solidFill>
                  <a:srgbClr val="000000"/>
                </a:solidFill>
                <a:cs typeface="+mn-ea"/>
                <a:sym typeface="+mn-lt"/>
              </a:rPr>
              <a:t>中的 </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得</a:t>
            </a:r>
          </a:p>
        </p:txBody>
      </p:sp>
      <p:pic>
        <p:nvPicPr>
          <p:cNvPr id="5" name="图片 4">
            <a:extLst>
              <a:ext uri="{FF2B5EF4-FFF2-40B4-BE49-F238E27FC236}">
                <a16:creationId xmlns:a16="http://schemas.microsoft.com/office/drawing/2014/main" id="{DA051200-A82C-AA65-D722-7AB3512C4249}"/>
              </a:ext>
            </a:extLst>
          </p:cNvPr>
          <p:cNvPicPr>
            <a:picLocks noChangeAspect="1"/>
          </p:cNvPicPr>
          <p:nvPr/>
        </p:nvPicPr>
        <p:blipFill>
          <a:blip r:embed="rId2"/>
          <a:stretch>
            <a:fillRect/>
          </a:stretch>
        </p:blipFill>
        <p:spPr>
          <a:xfrm>
            <a:off x="5406439" y="4006516"/>
            <a:ext cx="1571625" cy="523875"/>
          </a:xfrm>
          <a:prstGeom prst="rect">
            <a:avLst/>
          </a:prstGeom>
        </p:spPr>
      </p:pic>
      <p:pic>
        <p:nvPicPr>
          <p:cNvPr id="7" name="图片 6">
            <a:extLst>
              <a:ext uri="{FF2B5EF4-FFF2-40B4-BE49-F238E27FC236}">
                <a16:creationId xmlns:a16="http://schemas.microsoft.com/office/drawing/2014/main" id="{2C145F59-71DD-C2CE-9FAA-1208877AD2FC}"/>
              </a:ext>
            </a:extLst>
          </p:cNvPr>
          <p:cNvPicPr>
            <a:picLocks noChangeAspect="1"/>
          </p:cNvPicPr>
          <p:nvPr/>
        </p:nvPicPr>
        <p:blipFill>
          <a:blip r:embed="rId3"/>
          <a:stretch>
            <a:fillRect/>
          </a:stretch>
        </p:blipFill>
        <p:spPr>
          <a:xfrm>
            <a:off x="5095874" y="5504437"/>
            <a:ext cx="2000250" cy="485775"/>
          </a:xfrm>
          <a:prstGeom prst="rect">
            <a:avLst/>
          </a:prstGeom>
        </p:spPr>
      </p:pic>
    </p:spTree>
    <p:extLst>
      <p:ext uri="{BB962C8B-B14F-4D97-AF65-F5344CB8AC3E}">
        <p14:creationId xmlns:p14="http://schemas.microsoft.com/office/powerpoint/2010/main" val="2740289880"/>
      </p:ext>
    </p:extLst>
  </p:cSld>
  <p:clrMapOvr>
    <a:masterClrMapping/>
  </p:clrMapOvr>
  <p:transition spd="slow" advTm="0">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08</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最小均方误差</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维纳</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滤波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411982087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EDFE54-7EA8-0B98-742A-28782DD14A90}"/>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01EEDBD7-D2AB-8456-9090-AEAD1FAD734F}"/>
              </a:ext>
            </a:extLst>
          </p:cNvPr>
          <p:cNvSpPr>
            <a:spLocks noGrp="1"/>
          </p:cNvSpPr>
          <p:nvPr>
            <p:ph sz="quarter" idx="12"/>
          </p:nvPr>
        </p:nvSpPr>
        <p:spPr/>
        <p:txBody>
          <a:bodyPr/>
          <a:lstStyle/>
          <a:p>
            <a:pPr marL="0" marR="90" lvl="0" indent="0" rtl="0">
              <a:buNone/>
            </a:pPr>
            <a:r>
              <a:rPr lang="zh-CN" altLang="en-US" b="0" i="0" u="none" strike="noStrike" baseline="0" dirty="0">
                <a:solidFill>
                  <a:srgbClr val="000000"/>
                </a:solidFill>
                <a:cs typeface="+mn-ea"/>
                <a:sym typeface="+mn-lt"/>
              </a:rPr>
              <a:t>前一节讨论的逆滤波方法并未明确处理噪声的步骤。本节讨论一种退化函数和噪声的统计特性的复原方法。这种方法的基础是，将图像和噪声视为随机变量，目标是求未污染图像</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 的一个估计分，是使它们之间的均方误差最小。均方误差定义为</a:t>
            </a:r>
          </a:p>
        </p:txBody>
      </p:sp>
      <p:pic>
        <p:nvPicPr>
          <p:cNvPr id="5" name="图片 4">
            <a:extLst>
              <a:ext uri="{FF2B5EF4-FFF2-40B4-BE49-F238E27FC236}">
                <a16:creationId xmlns:a16="http://schemas.microsoft.com/office/drawing/2014/main" id="{2DD1C6DA-5203-F5C2-8B6B-819C8B0CA41B}"/>
              </a:ext>
            </a:extLst>
          </p:cNvPr>
          <p:cNvPicPr>
            <a:picLocks noChangeAspect="1"/>
          </p:cNvPicPr>
          <p:nvPr/>
        </p:nvPicPr>
        <p:blipFill>
          <a:blip r:embed="rId2"/>
          <a:stretch>
            <a:fillRect/>
          </a:stretch>
        </p:blipFill>
        <p:spPr>
          <a:xfrm>
            <a:off x="4766384" y="4128386"/>
            <a:ext cx="2659231" cy="482083"/>
          </a:xfrm>
          <a:prstGeom prst="rect">
            <a:avLst/>
          </a:prstGeom>
        </p:spPr>
      </p:pic>
    </p:spTree>
    <p:extLst>
      <p:ext uri="{BB962C8B-B14F-4D97-AF65-F5344CB8AC3E}">
        <p14:creationId xmlns:p14="http://schemas.microsoft.com/office/powerpoint/2010/main" val="4191772166"/>
      </p:ext>
    </p:extLst>
  </p:cSld>
  <p:clrMapOvr>
    <a:masterClrMapping/>
  </p:clrMapOvr>
  <p:transition spd="slow" advTm="0">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09</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约束最小二乘方滤波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62062365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21D80F-ECA6-4E18-954E-E158FF2615DF}"/>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78655297-DD3F-FCAF-FC4A-CCE24006E36D}"/>
              </a:ext>
            </a:extLst>
          </p:cNvPr>
          <p:cNvSpPr>
            <a:spLocks noGrp="1"/>
          </p:cNvSpPr>
          <p:nvPr>
            <p:ph sz="quarter" idx="12"/>
          </p:nvPr>
        </p:nvSpPr>
        <p:spPr/>
        <p:txBody>
          <a:bodyPr>
            <a:normAutofit/>
          </a:bodyPr>
          <a:lstStyle/>
          <a:p>
            <a:pPr marR="90" lvl="0" rtl="0"/>
            <a:r>
              <a:rPr lang="zh-CN" altLang="en-US" b="0" i="0" u="none" strike="noStrike" baseline="0" dirty="0">
                <a:solidFill>
                  <a:srgbClr val="000000"/>
                </a:solidFill>
                <a:cs typeface="+mn-ea"/>
                <a:sym typeface="+mn-lt"/>
              </a:rPr>
              <a:t>本章讨论的所有方法都要求知道关于退化函数</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的一些信息。然而，维纳滤波还有一个要求，即要求未退化图像和噪声的功率谱是已知的。前几节说过，在某些情况下，使用式</a:t>
            </a:r>
            <a:r>
              <a:rPr lang="en-US" altLang="zh-CN" b="0" i="0" u="none" strike="noStrike" baseline="0" dirty="0">
                <a:solidFill>
                  <a:srgbClr val="000000"/>
                </a:solidFill>
                <a:cs typeface="+mn-ea"/>
                <a:sym typeface="+mn-lt"/>
              </a:rPr>
              <a:t>(5.85)</a:t>
            </a:r>
            <a:r>
              <a:rPr lang="zh-CN" altLang="en-US" b="0" i="0" u="none" strike="noStrike" baseline="0" dirty="0">
                <a:solidFill>
                  <a:srgbClr val="000000"/>
                </a:solidFill>
                <a:cs typeface="+mn-ea"/>
                <a:sym typeface="+mn-lt"/>
              </a:rPr>
              <a:t>中的近似能够得到可以接受的结果，但常数值的功率谱比值并不总是一个合适的解。</a:t>
            </a:r>
          </a:p>
          <a:p>
            <a:pPr marR="90" lvl="0" rtl="0"/>
            <a:r>
              <a:rPr lang="zh-CN" altLang="en-US" b="0" i="0" u="none" strike="noStrike" baseline="0" dirty="0">
                <a:solidFill>
                  <a:srgbClr val="000000"/>
                </a:solidFill>
                <a:cs typeface="+mn-ea"/>
                <a:sym typeface="+mn-lt"/>
              </a:rPr>
              <a:t>本节讨论的方法仅要求关于噪声方差和均值的知识。如</a:t>
            </a:r>
            <a:r>
              <a:rPr lang="en-US" altLang="zh-CN" b="0" i="0" u="none" strike="noStrike" baseline="0" dirty="0">
                <a:solidFill>
                  <a:srgbClr val="000000"/>
                </a:solidFill>
                <a:cs typeface="+mn-ea"/>
                <a:sym typeface="+mn-lt"/>
              </a:rPr>
              <a:t>5.2</a:t>
            </a:r>
            <a:r>
              <a:rPr lang="zh-CN" altLang="en-US" b="0" i="0" u="none" strike="noStrike" baseline="0" dirty="0">
                <a:solidFill>
                  <a:srgbClr val="000000"/>
                </a:solidFill>
                <a:cs typeface="+mn-ea"/>
                <a:sym typeface="+mn-lt"/>
              </a:rPr>
              <a:t>节所述，这些参数通常可由一幅给定的退化图像算出，因此这是一个重要的优点。另一个不同是，维纳滤波是以最小化一个统计准则为基础的，因此是平均意义上最优的。</a:t>
            </a:r>
          </a:p>
          <a:p>
            <a:pPr marR="90" lvl="0" rtl="0"/>
            <a:endParaRPr lang="zh-CN" altLang="en-US" b="0" i="0" u="none" strike="noStrike" baseline="0" dirty="0">
              <a:solidFill>
                <a:srgbClr val="000000"/>
              </a:solidFill>
              <a:cs typeface="+mn-ea"/>
              <a:sym typeface="+mn-lt"/>
            </a:endParaRPr>
          </a:p>
          <a:p>
            <a:pPr marR="90" lvl="0" rtl="0"/>
            <a:endParaRPr lang="zh-CN" altLang="en-US" b="0" i="0" u="none" strike="noStrike" baseline="0" dirty="0">
              <a:solidFill>
                <a:srgbClr val="000000"/>
              </a:solidFill>
              <a:cs typeface="+mn-ea"/>
              <a:sym typeface="+mn-lt"/>
            </a:endParaRPr>
          </a:p>
        </p:txBody>
      </p:sp>
    </p:spTree>
    <p:extLst>
      <p:ext uri="{BB962C8B-B14F-4D97-AF65-F5344CB8AC3E}">
        <p14:creationId xmlns:p14="http://schemas.microsoft.com/office/powerpoint/2010/main" val="1104124836"/>
      </p:ext>
    </p:extLst>
  </p:cSld>
  <p:clrMapOvr>
    <a:masterClrMapping/>
  </p:clrMapOvr>
  <p:transition spd="slow" advTm="0">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10</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几何均值滤波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46208174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2AEF1-4D65-D701-2CEB-5A655BC1F430}"/>
              </a:ext>
            </a:extLst>
          </p:cNvPr>
          <p:cNvSpPr>
            <a:spLocks noGrp="1"/>
          </p:cNvSpPr>
          <p:nvPr>
            <p:ph type="title"/>
          </p:nvPr>
        </p:nvSpPr>
        <p:spPr/>
        <p:txBody>
          <a:bodyPr/>
          <a:lstStyle/>
          <a:p>
            <a:r>
              <a:rPr lang="zh-CN" altLang="en-US" b="1" i="0" u="none" strike="noStrike" baseline="0" dirty="0">
                <a:solidFill>
                  <a:srgbClr val="0070C0"/>
                </a:solidFill>
                <a:latin typeface="+mn-lt"/>
                <a:ea typeface="+mn-ea"/>
                <a:cs typeface="+mn-ea"/>
                <a:sym typeface="+mn-lt"/>
              </a:rPr>
              <a:t>概述</a:t>
            </a:r>
            <a:endParaRPr lang="zh-CN" altLang="en-US" dirty="0">
              <a:latin typeface="+mn-lt"/>
              <a:ea typeface="+mn-ea"/>
              <a:cs typeface="+mn-ea"/>
              <a:sym typeface="+mn-lt"/>
            </a:endParaRPr>
          </a:p>
        </p:txBody>
      </p:sp>
      <p:sp>
        <p:nvSpPr>
          <p:cNvPr id="3" name="文本占位符 2">
            <a:extLst>
              <a:ext uri="{FF2B5EF4-FFF2-40B4-BE49-F238E27FC236}">
                <a16:creationId xmlns:a16="http://schemas.microsoft.com/office/drawing/2014/main" id="{D3EBA1FC-6F3C-010D-A41F-3C01C4B3287C}"/>
              </a:ext>
            </a:extLst>
          </p:cNvPr>
          <p:cNvSpPr>
            <a:spLocks noGrp="1"/>
          </p:cNvSpPr>
          <p:nvPr>
            <p:ph sz="quarter" idx="11"/>
          </p:nvPr>
        </p:nvSpPr>
        <p:spPr/>
        <p:txBody>
          <a:bodyPr>
            <a:normAutofit lnSpcReduction="10000"/>
          </a:bodyPr>
          <a:lstStyle/>
          <a:p>
            <a:pPr marL="0" indent="0">
              <a:buNone/>
            </a:pPr>
            <a:endParaRPr lang="en-US" altLang="zh-CN" dirty="0">
              <a:cs typeface="+mn-ea"/>
              <a:sym typeface="+mn-lt"/>
            </a:endParaRPr>
          </a:p>
          <a:p>
            <a:pPr marL="0" indent="0">
              <a:buNone/>
            </a:pPr>
            <a:endParaRPr lang="en-US" altLang="zh-CN" dirty="0">
              <a:cs typeface="+mn-ea"/>
              <a:sym typeface="+mn-lt"/>
            </a:endParaRPr>
          </a:p>
          <a:p>
            <a:pPr marL="0" indent="0">
              <a:buNone/>
            </a:pPr>
            <a:endParaRPr lang="en-US" altLang="zh-CN" dirty="0">
              <a:cs typeface="+mn-ea"/>
              <a:sym typeface="+mn-lt"/>
            </a:endParaRPr>
          </a:p>
          <a:p>
            <a:pPr marL="0" indent="0">
              <a:buNone/>
            </a:pPr>
            <a:r>
              <a:rPr lang="zh-CN" altLang="en-US" dirty="0">
                <a:cs typeface="+mn-ea"/>
                <a:sym typeface="+mn-lt"/>
              </a:rPr>
              <a:t>式中，</a:t>
            </a:r>
            <a:r>
              <a:rPr lang="en-US" altLang="zh-CN" dirty="0">
                <a:cs typeface="+mn-ea"/>
                <a:sym typeface="+mn-lt"/>
              </a:rPr>
              <a:t>a </a:t>
            </a:r>
            <a:r>
              <a:rPr lang="zh-CN" altLang="en-US" dirty="0">
                <a:cs typeface="+mn-ea"/>
                <a:sym typeface="+mn-lt"/>
              </a:rPr>
              <a:t>和</a:t>
            </a:r>
            <a:r>
              <a:rPr lang="en-US" altLang="zh-CN" dirty="0">
                <a:cs typeface="+mn-ea"/>
                <a:sym typeface="+mn-lt"/>
              </a:rPr>
              <a:t>B </a:t>
            </a:r>
            <a:r>
              <a:rPr lang="zh-CN" altLang="en-US" dirty="0">
                <a:cs typeface="+mn-ea"/>
                <a:sym typeface="+mn-lt"/>
              </a:rPr>
              <a:t>是非负的实常数。几何均值滤波器传递函数由括号内幂次分别为</a:t>
            </a:r>
            <a:r>
              <a:rPr lang="en-US" altLang="zh-CN" dirty="0">
                <a:cs typeface="+mn-ea"/>
                <a:sym typeface="+mn-lt"/>
              </a:rPr>
              <a:t>a </a:t>
            </a:r>
            <a:r>
              <a:rPr lang="zh-CN" altLang="en-US" dirty="0">
                <a:cs typeface="+mn-ea"/>
                <a:sym typeface="+mn-lt"/>
              </a:rPr>
              <a:t>和</a:t>
            </a:r>
            <a:r>
              <a:rPr lang="en-US" altLang="zh-CN" dirty="0">
                <a:cs typeface="+mn-ea"/>
                <a:sym typeface="+mn-lt"/>
              </a:rPr>
              <a:t>1</a:t>
            </a:r>
            <a:r>
              <a:rPr lang="zh-CN" altLang="en-US" dirty="0">
                <a:cs typeface="+mn-ea"/>
                <a:sym typeface="+mn-lt"/>
              </a:rPr>
              <a:t>的两个表达式组成。当</a:t>
            </a:r>
            <a:r>
              <a:rPr lang="en-US" altLang="zh-CN" dirty="0">
                <a:cs typeface="+mn-ea"/>
                <a:sym typeface="+mn-lt"/>
              </a:rPr>
              <a:t>a =1</a:t>
            </a:r>
            <a:r>
              <a:rPr lang="zh-CN" altLang="en-US" dirty="0">
                <a:cs typeface="+mn-ea"/>
                <a:sym typeface="+mn-lt"/>
              </a:rPr>
              <a:t>时几何均值滤波器简化为逆滤波器当</a:t>
            </a:r>
            <a:r>
              <a:rPr lang="en-US" altLang="zh-CN" dirty="0">
                <a:cs typeface="+mn-ea"/>
                <a:sym typeface="+mn-lt"/>
              </a:rPr>
              <a:t>a =0</a:t>
            </a:r>
            <a:r>
              <a:rPr lang="zh-CN" altLang="en-US" dirty="0">
                <a:cs typeface="+mn-ea"/>
                <a:sym typeface="+mn-lt"/>
              </a:rPr>
              <a:t>时几何均值滤波器变为参数维纳滤波器参数维纳滤波器在 </a:t>
            </a:r>
            <a:r>
              <a:rPr lang="en-US" altLang="zh-CN" dirty="0">
                <a:cs typeface="+mn-ea"/>
                <a:sym typeface="+mn-lt"/>
              </a:rPr>
              <a:t>B=1</a:t>
            </a:r>
            <a:r>
              <a:rPr lang="zh-CN" altLang="en-US" dirty="0">
                <a:cs typeface="+mn-ea"/>
                <a:sym typeface="+mn-lt"/>
              </a:rPr>
              <a:t>时简化为标准维纳滤波器当</a:t>
            </a:r>
            <a:r>
              <a:rPr lang="en-US" altLang="zh-CN" dirty="0">
                <a:cs typeface="+mn-ea"/>
                <a:sym typeface="+mn-lt"/>
              </a:rPr>
              <a:t>=1/2 </a:t>
            </a:r>
            <a:r>
              <a:rPr lang="zh-CN" altLang="en-US" dirty="0">
                <a:cs typeface="+mn-ea"/>
                <a:sym typeface="+mn-lt"/>
              </a:rPr>
              <a:t>时，何均值波器变成幂次相同的两个量的乘积，这就是几何均值的定义，几何均值滤波器由此得名。</a:t>
            </a:r>
          </a:p>
        </p:txBody>
      </p:sp>
      <p:pic>
        <p:nvPicPr>
          <p:cNvPr id="5" name="图片 4">
            <a:extLst>
              <a:ext uri="{FF2B5EF4-FFF2-40B4-BE49-F238E27FC236}">
                <a16:creationId xmlns:a16="http://schemas.microsoft.com/office/drawing/2014/main" id="{0B666871-55CA-FDCF-E12F-D91AC20F28C3}"/>
              </a:ext>
            </a:extLst>
          </p:cNvPr>
          <p:cNvPicPr>
            <a:picLocks noChangeAspect="1"/>
          </p:cNvPicPr>
          <p:nvPr/>
        </p:nvPicPr>
        <p:blipFill>
          <a:blip r:embed="rId2"/>
          <a:stretch>
            <a:fillRect/>
          </a:stretch>
        </p:blipFill>
        <p:spPr>
          <a:xfrm>
            <a:off x="3469918" y="2942624"/>
            <a:ext cx="5252163" cy="1109612"/>
          </a:xfrm>
          <a:prstGeom prst="rect">
            <a:avLst/>
          </a:prstGeom>
        </p:spPr>
      </p:pic>
      <p:sp>
        <p:nvSpPr>
          <p:cNvPr id="6" name="矩形 5">
            <a:extLst>
              <a:ext uri="{FF2B5EF4-FFF2-40B4-BE49-F238E27FC236}">
                <a16:creationId xmlns:a16="http://schemas.microsoft.com/office/drawing/2014/main" id="{49932237-B99C-9EBD-DC7F-03E0191404F0}"/>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703281715"/>
      </p:ext>
    </p:extLst>
  </p:cSld>
  <p:clrMapOvr>
    <a:masterClrMapping/>
  </p:clrMapOvr>
  <p:transition spd="slow" advTm="0">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6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11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由投影重建图像</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97978746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42122-650A-BF08-D57F-A99205985D38}"/>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投影和雷登变换</a:t>
            </a:r>
          </a:p>
        </p:txBody>
      </p:sp>
      <p:sp>
        <p:nvSpPr>
          <p:cNvPr id="3" name="文本占位符 2">
            <a:extLst>
              <a:ext uri="{FF2B5EF4-FFF2-40B4-BE49-F238E27FC236}">
                <a16:creationId xmlns:a16="http://schemas.microsoft.com/office/drawing/2014/main" id="{63005367-3F80-B443-16F1-1553E509808D}"/>
              </a:ext>
            </a:extLst>
          </p:cNvPr>
          <p:cNvSpPr>
            <a:spLocks noGrp="1"/>
          </p:cNvSpPr>
          <p:nvPr>
            <p:ph sz="quarter" idx="11"/>
          </p:nvPr>
        </p:nvSpPr>
        <p:spPr/>
        <p:txBody>
          <a:bodyPr/>
          <a:lstStyle/>
          <a:p>
            <a:pPr marL="0" marR="90" lvl="0" indent="0" rtl="0">
              <a:buNone/>
            </a:pPr>
            <a:r>
              <a:rPr lang="zh-CN" altLang="en-US" b="0" i="0" u="none" strike="noStrike" baseline="0" dirty="0">
                <a:solidFill>
                  <a:srgbClr val="000000"/>
                </a:solidFill>
                <a:cs typeface="+mn-ea"/>
                <a:sym typeface="+mn-lt"/>
              </a:rPr>
              <a:t>平行射线束的投影可以由这样的一组直线来建模，如图</a:t>
            </a:r>
            <a:r>
              <a:rPr lang="en-US" altLang="zh-CN" b="0" i="0" u="none" strike="noStrike" baseline="0" dirty="0">
                <a:solidFill>
                  <a:srgbClr val="000000"/>
                </a:solidFill>
                <a:cs typeface="+mn-ea"/>
                <a:sym typeface="+mn-lt"/>
              </a:rPr>
              <a:t>5.37</a:t>
            </a:r>
            <a:r>
              <a:rPr lang="zh-CN" altLang="en-US" b="0" i="0" u="none" strike="noStrike" baseline="0" dirty="0">
                <a:solidFill>
                  <a:srgbClr val="000000"/>
                </a:solidFill>
                <a:cs typeface="+mn-ea"/>
                <a:sym typeface="+mn-lt"/>
              </a:rPr>
              <a:t> 所示。投影剖面中坐标为          的任意一点，由沿直线                         的射线和给出。处理连续变量时，射线和是一个线积分，即</a:t>
            </a:r>
          </a:p>
        </p:txBody>
      </p:sp>
      <p:pic>
        <p:nvPicPr>
          <p:cNvPr id="5" name="图片 4">
            <a:extLst>
              <a:ext uri="{FF2B5EF4-FFF2-40B4-BE49-F238E27FC236}">
                <a16:creationId xmlns:a16="http://schemas.microsoft.com/office/drawing/2014/main" id="{A14C2373-A130-22AD-1E50-F8BA2A0CCF29}"/>
              </a:ext>
            </a:extLst>
          </p:cNvPr>
          <p:cNvPicPr>
            <a:picLocks noChangeAspect="1"/>
          </p:cNvPicPr>
          <p:nvPr/>
        </p:nvPicPr>
        <p:blipFill>
          <a:blip r:embed="rId2"/>
          <a:stretch>
            <a:fillRect/>
          </a:stretch>
        </p:blipFill>
        <p:spPr>
          <a:xfrm>
            <a:off x="1296553" y="3429000"/>
            <a:ext cx="4029075" cy="400050"/>
          </a:xfrm>
          <a:prstGeom prst="rect">
            <a:avLst/>
          </a:prstGeom>
        </p:spPr>
      </p:pic>
      <p:pic>
        <p:nvPicPr>
          <p:cNvPr id="7" name="图片 6">
            <a:extLst>
              <a:ext uri="{FF2B5EF4-FFF2-40B4-BE49-F238E27FC236}">
                <a16:creationId xmlns:a16="http://schemas.microsoft.com/office/drawing/2014/main" id="{44224CF3-9DFD-FB08-089A-063D3B563F79}"/>
              </a:ext>
            </a:extLst>
          </p:cNvPr>
          <p:cNvPicPr>
            <a:picLocks noChangeAspect="1"/>
          </p:cNvPicPr>
          <p:nvPr/>
        </p:nvPicPr>
        <p:blipFill rotWithShape="1">
          <a:blip r:embed="rId3"/>
          <a:srcRect l="4730" t="25470" r="1941" b="24004"/>
          <a:stretch/>
        </p:blipFill>
        <p:spPr>
          <a:xfrm>
            <a:off x="2974207" y="3084393"/>
            <a:ext cx="1395663" cy="173255"/>
          </a:xfrm>
          <a:prstGeom prst="rect">
            <a:avLst/>
          </a:prstGeom>
        </p:spPr>
      </p:pic>
      <p:pic>
        <p:nvPicPr>
          <p:cNvPr id="9" name="图片 8">
            <a:extLst>
              <a:ext uri="{FF2B5EF4-FFF2-40B4-BE49-F238E27FC236}">
                <a16:creationId xmlns:a16="http://schemas.microsoft.com/office/drawing/2014/main" id="{541674E5-78D5-0CAF-9C22-D1593DDDB8B9}"/>
              </a:ext>
            </a:extLst>
          </p:cNvPr>
          <p:cNvPicPr>
            <a:picLocks noChangeAspect="1"/>
          </p:cNvPicPr>
          <p:nvPr/>
        </p:nvPicPr>
        <p:blipFill>
          <a:blip r:embed="rId4"/>
          <a:stretch>
            <a:fillRect/>
          </a:stretch>
        </p:blipFill>
        <p:spPr>
          <a:xfrm>
            <a:off x="4240904" y="4000402"/>
            <a:ext cx="3710190" cy="2808171"/>
          </a:xfrm>
          <a:prstGeom prst="rect">
            <a:avLst/>
          </a:prstGeom>
        </p:spPr>
      </p:pic>
      <p:pic>
        <p:nvPicPr>
          <p:cNvPr id="11" name="图片 10">
            <a:extLst>
              <a:ext uri="{FF2B5EF4-FFF2-40B4-BE49-F238E27FC236}">
                <a16:creationId xmlns:a16="http://schemas.microsoft.com/office/drawing/2014/main" id="{78F681B1-7CB3-57BA-15FF-9797E07E4F00}"/>
              </a:ext>
            </a:extLst>
          </p:cNvPr>
          <p:cNvPicPr>
            <a:picLocks noChangeAspect="1"/>
          </p:cNvPicPr>
          <p:nvPr/>
        </p:nvPicPr>
        <p:blipFill>
          <a:blip r:embed="rId5"/>
          <a:stretch>
            <a:fillRect/>
          </a:stretch>
        </p:blipFill>
        <p:spPr>
          <a:xfrm>
            <a:off x="10266446" y="2583782"/>
            <a:ext cx="514350" cy="342900"/>
          </a:xfrm>
          <a:prstGeom prst="rect">
            <a:avLst/>
          </a:prstGeom>
        </p:spPr>
      </p:pic>
      <p:sp>
        <p:nvSpPr>
          <p:cNvPr id="12" name="矩形 11">
            <a:extLst>
              <a:ext uri="{FF2B5EF4-FFF2-40B4-BE49-F238E27FC236}">
                <a16:creationId xmlns:a16="http://schemas.microsoft.com/office/drawing/2014/main" id="{EA8DDC19-23B2-135C-BDB3-7BFFE3D56FC2}"/>
              </a:ext>
            </a:extLst>
          </p:cNvPr>
          <p:cNvSpPr/>
          <p:nvPr/>
        </p:nvSpPr>
        <p:spPr>
          <a:xfrm>
            <a:off x="801092" y="2446417"/>
            <a:ext cx="10589815" cy="1451722"/>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085364357"/>
      </p:ext>
    </p:extLst>
  </p:cSld>
  <p:clrMapOvr>
    <a:masterClrMapping/>
  </p:clrMapOvr>
  <p:transition spd="slow" advTm="0">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48E9D5-B2A7-2A47-D893-C0CCEBAA05D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反投影</a:t>
            </a:r>
          </a:p>
        </p:txBody>
      </p:sp>
      <p:sp>
        <p:nvSpPr>
          <p:cNvPr id="3" name="文本占位符 2">
            <a:extLst>
              <a:ext uri="{FF2B5EF4-FFF2-40B4-BE49-F238E27FC236}">
                <a16:creationId xmlns:a16="http://schemas.microsoft.com/office/drawing/2014/main" id="{C645EDA1-4480-F676-04D4-E3D406634035}"/>
              </a:ext>
            </a:extLst>
          </p:cNvPr>
          <p:cNvSpPr>
            <a:spLocks noGrp="1"/>
          </p:cNvSpPr>
          <p:nvPr>
            <p:ph sz="quarter" idx="11"/>
          </p:nvPr>
        </p:nvSpPr>
        <p:spPr/>
        <p:txBody>
          <a:bodyPr/>
          <a:lstStyle/>
          <a:p>
            <a:pPr marR="90" lvl="0" rtl="0"/>
            <a:r>
              <a:rPr lang="zh-CN" altLang="en-US" b="0" i="0" u="none" strike="noStrike" baseline="0" dirty="0">
                <a:solidFill>
                  <a:srgbClr val="000000"/>
                </a:solidFill>
                <a:cs typeface="+mn-ea"/>
                <a:sym typeface="+mn-lt"/>
              </a:rPr>
              <a:t>下面从固定转角</a:t>
            </a:r>
            <a:r>
              <a:rPr lang="en-US" altLang="zh-CN" dirty="0">
                <a:solidFill>
                  <a:srgbClr val="000000"/>
                </a:solidFill>
                <a:cs typeface="+mn-ea"/>
                <a:sym typeface="+mn-lt"/>
              </a:rPr>
              <a:t>  </a:t>
            </a:r>
            <a:r>
              <a:rPr lang="zh-CN" altLang="en-US" b="0" i="0" u="none" strike="noStrike" baseline="0" dirty="0">
                <a:solidFill>
                  <a:srgbClr val="000000"/>
                </a:solidFill>
                <a:cs typeface="+mn-ea"/>
                <a:sym typeface="+mn-lt"/>
              </a:rPr>
              <a:t> 的完整投影          的一个点          开始</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5.37)</a:t>
            </a:r>
            <a:r>
              <a:rPr lang="zh-CN" altLang="en-US" b="0" i="0" u="none" strike="noStrike" baseline="0" dirty="0">
                <a:solidFill>
                  <a:srgbClr val="000000"/>
                </a:solidFill>
                <a:cs typeface="+mn-ea"/>
                <a:sym typeface="+mn-lt"/>
              </a:rPr>
              <a:t>，推导来自雷登变换的反投影图像的正式表达式。反投影这个点形成部分图像的过程是，将直线          复制到图像上， 直线上每点的值</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灰度</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          。 对投影信号中的所有</a:t>
            </a:r>
            <a:r>
              <a:rPr lang="en-US" altLang="zh-CN" b="0" i="0" u="none" strike="noStrike" baseline="0" dirty="0">
                <a:solidFill>
                  <a:srgbClr val="000000"/>
                </a:solidFill>
                <a:cs typeface="+mn-ea"/>
                <a:sym typeface="+mn-lt"/>
              </a:rPr>
              <a:t>p,</a:t>
            </a:r>
            <a:r>
              <a:rPr lang="zh-CN" altLang="en-US" b="0" i="0" u="none" strike="noStrike" baseline="0" dirty="0">
                <a:solidFill>
                  <a:srgbClr val="000000"/>
                </a:solidFill>
                <a:cs typeface="+mn-ea"/>
                <a:sym typeface="+mn-lt"/>
              </a:rPr>
              <a:t>值重复这一过程</a:t>
            </a:r>
            <a:r>
              <a:rPr lang="el-GR" altLang="zh-CN" b="0" i="0" u="none" strike="noStrike" baseline="0" dirty="0">
                <a:solidFill>
                  <a:srgbClr val="000000"/>
                </a:solidFill>
                <a:cs typeface="+mn-ea"/>
                <a:sym typeface="+mn-lt"/>
              </a:rPr>
              <a:t>(θ</a:t>
            </a:r>
            <a:r>
              <a:rPr lang="zh-CN" altLang="en-US" b="0" i="0" u="none" strike="noStrike" baseline="0" dirty="0">
                <a:solidFill>
                  <a:srgbClr val="000000"/>
                </a:solidFill>
                <a:cs typeface="+mn-ea"/>
                <a:sym typeface="+mn-lt"/>
              </a:rPr>
              <a:t>值固定为</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可 得如下表达式：</a:t>
            </a:r>
          </a:p>
          <a:p>
            <a:pPr marR="90" lvl="0" rtl="0"/>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5.32(b)</a:t>
            </a:r>
            <a:r>
              <a:rPr lang="zh-CN" altLang="en-US" b="0" i="0" u="none" strike="noStrike" baseline="0" dirty="0">
                <a:solidFill>
                  <a:srgbClr val="000000"/>
                </a:solidFill>
                <a:cs typeface="+mn-ea"/>
                <a:sym typeface="+mn-lt"/>
              </a:rPr>
              <a:t>显示了反投影固定角度</a:t>
            </a:r>
            <a:r>
              <a:rPr lang="en-US" altLang="zh-CN" b="0" i="0" u="none" strike="noStrike" baseline="0" dirty="0">
                <a:solidFill>
                  <a:srgbClr val="000000"/>
                </a:solidFill>
                <a:cs typeface="+mn-ea"/>
                <a:sym typeface="+mn-lt"/>
              </a:rPr>
              <a:t>O</a:t>
            </a:r>
            <a:r>
              <a:rPr lang="zh-CN" altLang="en-US" b="0" i="0" u="none" strike="noStrike" baseline="0" dirty="0">
                <a:solidFill>
                  <a:srgbClr val="000000"/>
                </a:solidFill>
                <a:cs typeface="+mn-ea"/>
                <a:sym typeface="+mn-lt"/>
              </a:rPr>
              <a:t> 的投影得到的图像。这个公式对于任意</a:t>
            </a:r>
            <a:r>
              <a:rPr lang="en-US" altLang="zh-CN" b="0" i="0" u="none" strike="noStrike" baseline="0" dirty="0">
                <a:solidFill>
                  <a:srgbClr val="000000"/>
                </a:solidFill>
                <a:cs typeface="+mn-ea"/>
                <a:sym typeface="+mn-lt"/>
              </a:rPr>
              <a:t>O</a:t>
            </a:r>
            <a:r>
              <a:rPr lang="zh-CN" altLang="en-US" b="0" i="0" u="none" strike="noStrike" baseline="0" dirty="0">
                <a:solidFill>
                  <a:srgbClr val="000000"/>
                </a:solidFill>
                <a:cs typeface="+mn-ea"/>
                <a:sym typeface="+mn-lt"/>
              </a:rPr>
              <a:t> 值都成立，因此通常可把在角度</a:t>
            </a:r>
            <a:r>
              <a:rPr lang="el-GR" altLang="zh-CN" b="0" i="0" u="none" strike="noStrike" baseline="0" dirty="0">
                <a:solidFill>
                  <a:srgbClr val="000000"/>
                </a:solidFill>
                <a:cs typeface="+mn-ea"/>
                <a:sym typeface="+mn-lt"/>
              </a:rPr>
              <a:t>θ</a:t>
            </a:r>
            <a:r>
              <a:rPr lang="zh-CN" altLang="en-US" b="0" i="0" u="none" strike="noStrike" baseline="0" dirty="0">
                <a:solidFill>
                  <a:srgbClr val="000000"/>
                </a:solidFill>
                <a:cs typeface="+mn-ea"/>
                <a:sym typeface="+mn-lt"/>
              </a:rPr>
              <a:t>处得到的单个反投影形成的图像写为</a:t>
            </a:r>
          </a:p>
        </p:txBody>
      </p:sp>
      <p:pic>
        <p:nvPicPr>
          <p:cNvPr id="5" name="图片 4">
            <a:extLst>
              <a:ext uri="{FF2B5EF4-FFF2-40B4-BE49-F238E27FC236}">
                <a16:creationId xmlns:a16="http://schemas.microsoft.com/office/drawing/2014/main" id="{CCA0A40C-6256-D8C8-1020-E700E099E07F}"/>
              </a:ext>
            </a:extLst>
          </p:cNvPr>
          <p:cNvPicPr>
            <a:picLocks noChangeAspect="1"/>
          </p:cNvPicPr>
          <p:nvPr/>
        </p:nvPicPr>
        <p:blipFill>
          <a:blip r:embed="rId2"/>
          <a:stretch>
            <a:fillRect/>
          </a:stretch>
        </p:blipFill>
        <p:spPr>
          <a:xfrm>
            <a:off x="3167513" y="3983355"/>
            <a:ext cx="3200400" cy="409575"/>
          </a:xfrm>
          <a:prstGeom prst="rect">
            <a:avLst/>
          </a:prstGeom>
        </p:spPr>
      </p:pic>
      <p:pic>
        <p:nvPicPr>
          <p:cNvPr id="7" name="图片 6">
            <a:extLst>
              <a:ext uri="{FF2B5EF4-FFF2-40B4-BE49-F238E27FC236}">
                <a16:creationId xmlns:a16="http://schemas.microsoft.com/office/drawing/2014/main" id="{6D5FAEF5-B929-5EE5-AD4F-E1C9BA3A6DCA}"/>
              </a:ext>
            </a:extLst>
          </p:cNvPr>
          <p:cNvPicPr>
            <a:picLocks noChangeAspect="1"/>
          </p:cNvPicPr>
          <p:nvPr/>
        </p:nvPicPr>
        <p:blipFill>
          <a:blip r:embed="rId3"/>
          <a:stretch>
            <a:fillRect/>
          </a:stretch>
        </p:blipFill>
        <p:spPr>
          <a:xfrm>
            <a:off x="7113119" y="4951273"/>
            <a:ext cx="2820152" cy="350952"/>
          </a:xfrm>
          <a:prstGeom prst="rect">
            <a:avLst/>
          </a:prstGeom>
        </p:spPr>
      </p:pic>
      <p:pic>
        <p:nvPicPr>
          <p:cNvPr id="9" name="图片 8">
            <a:extLst>
              <a:ext uri="{FF2B5EF4-FFF2-40B4-BE49-F238E27FC236}">
                <a16:creationId xmlns:a16="http://schemas.microsoft.com/office/drawing/2014/main" id="{7F50DCDF-57FC-D2E5-1B1D-3BD71EB5FC41}"/>
              </a:ext>
            </a:extLst>
          </p:cNvPr>
          <p:cNvPicPr>
            <a:picLocks noChangeAspect="1"/>
          </p:cNvPicPr>
          <p:nvPr/>
        </p:nvPicPr>
        <p:blipFill>
          <a:blip r:embed="rId4"/>
          <a:stretch>
            <a:fillRect/>
          </a:stretch>
        </p:blipFill>
        <p:spPr>
          <a:xfrm>
            <a:off x="4376286" y="2586919"/>
            <a:ext cx="609600" cy="352425"/>
          </a:xfrm>
          <a:prstGeom prst="rect">
            <a:avLst/>
          </a:prstGeom>
        </p:spPr>
      </p:pic>
      <p:pic>
        <p:nvPicPr>
          <p:cNvPr id="11" name="图片 10">
            <a:extLst>
              <a:ext uri="{FF2B5EF4-FFF2-40B4-BE49-F238E27FC236}">
                <a16:creationId xmlns:a16="http://schemas.microsoft.com/office/drawing/2014/main" id="{5D05C9B2-C08B-60E9-278C-D15F81220F86}"/>
              </a:ext>
            </a:extLst>
          </p:cNvPr>
          <p:cNvPicPr>
            <a:picLocks noChangeAspect="1"/>
          </p:cNvPicPr>
          <p:nvPr/>
        </p:nvPicPr>
        <p:blipFill>
          <a:blip r:embed="rId5"/>
          <a:stretch>
            <a:fillRect/>
          </a:stretch>
        </p:blipFill>
        <p:spPr>
          <a:xfrm>
            <a:off x="2834239" y="2598951"/>
            <a:ext cx="228600" cy="285750"/>
          </a:xfrm>
          <a:prstGeom prst="rect">
            <a:avLst/>
          </a:prstGeom>
        </p:spPr>
      </p:pic>
      <p:pic>
        <p:nvPicPr>
          <p:cNvPr id="13" name="图片 12">
            <a:extLst>
              <a:ext uri="{FF2B5EF4-FFF2-40B4-BE49-F238E27FC236}">
                <a16:creationId xmlns:a16="http://schemas.microsoft.com/office/drawing/2014/main" id="{753C9517-46D3-B68E-C60B-38D65B3D04B8}"/>
              </a:ext>
            </a:extLst>
          </p:cNvPr>
          <p:cNvPicPr>
            <a:picLocks noChangeAspect="1"/>
          </p:cNvPicPr>
          <p:nvPr/>
        </p:nvPicPr>
        <p:blipFill>
          <a:blip r:embed="rId6"/>
          <a:stretch>
            <a:fillRect/>
          </a:stretch>
        </p:blipFill>
        <p:spPr>
          <a:xfrm>
            <a:off x="5968315" y="2615493"/>
            <a:ext cx="657225" cy="295275"/>
          </a:xfrm>
          <a:prstGeom prst="rect">
            <a:avLst/>
          </a:prstGeom>
        </p:spPr>
      </p:pic>
      <p:pic>
        <p:nvPicPr>
          <p:cNvPr id="15" name="图片 14">
            <a:extLst>
              <a:ext uri="{FF2B5EF4-FFF2-40B4-BE49-F238E27FC236}">
                <a16:creationId xmlns:a16="http://schemas.microsoft.com/office/drawing/2014/main" id="{824DB5B6-446D-FF15-5512-835BB2142326}"/>
              </a:ext>
            </a:extLst>
          </p:cNvPr>
          <p:cNvPicPr>
            <a:picLocks noChangeAspect="1"/>
          </p:cNvPicPr>
          <p:nvPr/>
        </p:nvPicPr>
        <p:blipFill>
          <a:blip r:embed="rId7"/>
          <a:stretch>
            <a:fillRect/>
          </a:stretch>
        </p:blipFill>
        <p:spPr>
          <a:xfrm>
            <a:off x="8635315" y="3056354"/>
            <a:ext cx="581025" cy="314325"/>
          </a:xfrm>
          <a:prstGeom prst="rect">
            <a:avLst/>
          </a:prstGeom>
        </p:spPr>
      </p:pic>
      <p:pic>
        <p:nvPicPr>
          <p:cNvPr id="17" name="图片 16">
            <a:extLst>
              <a:ext uri="{FF2B5EF4-FFF2-40B4-BE49-F238E27FC236}">
                <a16:creationId xmlns:a16="http://schemas.microsoft.com/office/drawing/2014/main" id="{D86619B9-A3F3-017E-65AE-286BAA95CF3E}"/>
              </a:ext>
            </a:extLst>
          </p:cNvPr>
          <p:cNvPicPr>
            <a:picLocks noChangeAspect="1"/>
          </p:cNvPicPr>
          <p:nvPr/>
        </p:nvPicPr>
        <p:blipFill>
          <a:blip r:embed="rId8"/>
          <a:stretch>
            <a:fillRect/>
          </a:stretch>
        </p:blipFill>
        <p:spPr>
          <a:xfrm>
            <a:off x="3534326" y="3509125"/>
            <a:ext cx="657225" cy="266700"/>
          </a:xfrm>
          <a:prstGeom prst="rect">
            <a:avLst/>
          </a:prstGeom>
        </p:spPr>
      </p:pic>
      <p:pic>
        <p:nvPicPr>
          <p:cNvPr id="18" name="图片 17">
            <a:extLst>
              <a:ext uri="{FF2B5EF4-FFF2-40B4-BE49-F238E27FC236}">
                <a16:creationId xmlns:a16="http://schemas.microsoft.com/office/drawing/2014/main" id="{889DD442-F8E2-3FBF-BEDD-643871613FD4}"/>
              </a:ext>
            </a:extLst>
          </p:cNvPr>
          <p:cNvPicPr>
            <a:picLocks noChangeAspect="1"/>
          </p:cNvPicPr>
          <p:nvPr/>
        </p:nvPicPr>
        <p:blipFill>
          <a:blip r:embed="rId5"/>
          <a:stretch>
            <a:fillRect/>
          </a:stretch>
        </p:blipFill>
        <p:spPr>
          <a:xfrm>
            <a:off x="9962146" y="3490075"/>
            <a:ext cx="228600" cy="285750"/>
          </a:xfrm>
          <a:prstGeom prst="rect">
            <a:avLst/>
          </a:prstGeom>
        </p:spPr>
      </p:pic>
      <p:pic>
        <p:nvPicPr>
          <p:cNvPr id="19" name="图片 18">
            <a:extLst>
              <a:ext uri="{FF2B5EF4-FFF2-40B4-BE49-F238E27FC236}">
                <a16:creationId xmlns:a16="http://schemas.microsoft.com/office/drawing/2014/main" id="{BA7474D2-33D6-CCCD-3FEB-1D62C0385A66}"/>
              </a:ext>
            </a:extLst>
          </p:cNvPr>
          <p:cNvPicPr>
            <a:picLocks noChangeAspect="1"/>
          </p:cNvPicPr>
          <p:nvPr/>
        </p:nvPicPr>
        <p:blipFill>
          <a:blip r:embed="rId5"/>
          <a:stretch>
            <a:fillRect/>
          </a:stretch>
        </p:blipFill>
        <p:spPr>
          <a:xfrm>
            <a:off x="4681086" y="4493838"/>
            <a:ext cx="228600" cy="285750"/>
          </a:xfrm>
          <a:prstGeom prst="rect">
            <a:avLst/>
          </a:prstGeom>
        </p:spPr>
      </p:pic>
      <p:pic>
        <p:nvPicPr>
          <p:cNvPr id="20" name="图片 19">
            <a:extLst>
              <a:ext uri="{FF2B5EF4-FFF2-40B4-BE49-F238E27FC236}">
                <a16:creationId xmlns:a16="http://schemas.microsoft.com/office/drawing/2014/main" id="{2AD5DB6F-8434-6F7A-CDB1-53AD896670B8}"/>
              </a:ext>
            </a:extLst>
          </p:cNvPr>
          <p:cNvPicPr>
            <a:picLocks noChangeAspect="1"/>
          </p:cNvPicPr>
          <p:nvPr/>
        </p:nvPicPr>
        <p:blipFill>
          <a:blip r:embed="rId5"/>
          <a:stretch>
            <a:fillRect/>
          </a:stretch>
        </p:blipFill>
        <p:spPr>
          <a:xfrm>
            <a:off x="9216340" y="4493838"/>
            <a:ext cx="228600" cy="285750"/>
          </a:xfrm>
          <a:prstGeom prst="rect">
            <a:avLst/>
          </a:prstGeom>
        </p:spPr>
      </p:pic>
      <p:sp>
        <p:nvSpPr>
          <p:cNvPr id="21" name="矩形 20">
            <a:extLst>
              <a:ext uri="{FF2B5EF4-FFF2-40B4-BE49-F238E27FC236}">
                <a16:creationId xmlns:a16="http://schemas.microsoft.com/office/drawing/2014/main" id="{C08CC390-D913-04CB-50F1-C12C4EE1E73D}"/>
              </a:ext>
            </a:extLst>
          </p:cNvPr>
          <p:cNvSpPr/>
          <p:nvPr/>
        </p:nvSpPr>
        <p:spPr>
          <a:xfrm>
            <a:off x="801092" y="2446417"/>
            <a:ext cx="10589815" cy="303035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234673403"/>
      </p:ext>
    </p:extLst>
  </p:cSld>
  <p:clrMapOvr>
    <a:masterClrMapping/>
  </p:clrMapOvr>
  <p:transition spd="slow" advTm="0">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D058E-B334-8A52-6B1B-FBE08805EA88}"/>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傅里叶切片定理</a:t>
            </a:r>
          </a:p>
        </p:txBody>
      </p:sp>
      <p:sp>
        <p:nvSpPr>
          <p:cNvPr id="3" name="文本占位符 2">
            <a:extLst>
              <a:ext uri="{FF2B5EF4-FFF2-40B4-BE49-F238E27FC236}">
                <a16:creationId xmlns:a16="http://schemas.microsoft.com/office/drawing/2014/main" id="{75092AF8-CC10-FE1E-0BC1-A846E5B03880}"/>
              </a:ext>
            </a:extLst>
          </p:cNvPr>
          <p:cNvSpPr>
            <a:spLocks noGrp="1"/>
          </p:cNvSpPr>
          <p:nvPr>
            <p:ph sz="quarter" idx="11"/>
          </p:nvPr>
        </p:nvSpPr>
        <p:spPr/>
        <p:txBody>
          <a:bodyPr>
            <a:normAutofit/>
          </a:bodyPr>
          <a:lstStyle/>
          <a:p>
            <a:pPr marL="0" marR="90" lvl="0" indent="0" rtl="0">
              <a:buNone/>
            </a:pPr>
            <a:r>
              <a:rPr lang="zh-CN" altLang="en-US" b="0" i="0" u="none" strike="noStrike" baseline="0" dirty="0">
                <a:solidFill>
                  <a:srgbClr val="000000"/>
                </a:solidFill>
                <a:cs typeface="+mn-ea"/>
                <a:sym typeface="+mn-lt"/>
              </a:rPr>
              <a:t>本节推导一个基本公式，以建立投影的一维傅里叶变换与得到投影区域的二维傅里叶变换之间的 关系。这个关系是能够处理我们迄今为止遇到的模糊问题的重建方法的基础。</a:t>
            </a:r>
          </a:p>
          <a:p>
            <a:pPr marL="0" marR="90" lvl="0" indent="0" rtl="0">
              <a:buNone/>
            </a:pPr>
            <a:r>
              <a:rPr lang="zh-CN" altLang="en-US" b="0" i="0" u="none" strike="noStrike" baseline="0" dirty="0">
                <a:solidFill>
                  <a:srgbClr val="000000"/>
                </a:solidFill>
                <a:cs typeface="+mn-ea"/>
                <a:sym typeface="+mn-lt"/>
              </a:rPr>
              <a:t>关于</a:t>
            </a:r>
            <a:r>
              <a:rPr lang="en-US" altLang="zh-CN" b="0" i="0" u="none" strike="noStrike" baseline="0" dirty="0">
                <a:solidFill>
                  <a:srgbClr val="000000"/>
                </a:solidFill>
                <a:cs typeface="+mn-ea"/>
                <a:sym typeface="+mn-lt"/>
              </a:rPr>
              <a:t>p</a:t>
            </a:r>
            <a:r>
              <a:rPr lang="zh-CN" altLang="en-US" b="0" i="0" u="none" strike="noStrike" baseline="0" dirty="0">
                <a:solidFill>
                  <a:srgbClr val="000000"/>
                </a:solidFill>
                <a:cs typeface="+mn-ea"/>
                <a:sym typeface="+mn-lt"/>
              </a:rPr>
              <a:t> 的投影的一维傅里叶变换为</a:t>
            </a:r>
          </a:p>
          <a:p>
            <a:pPr marL="0" marR="9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是频率变量，并且很容易理解该表达式是根据固定的</a:t>
            </a:r>
            <a:r>
              <a:rPr lang="el-GR" altLang="zh-CN" b="0" i="0" u="none" strike="noStrike" baseline="0" dirty="0">
                <a:solidFill>
                  <a:srgbClr val="000000"/>
                </a:solidFill>
                <a:cs typeface="+mn-ea"/>
                <a:sym typeface="+mn-lt"/>
              </a:rPr>
              <a:t>θ</a:t>
            </a:r>
            <a:r>
              <a:rPr lang="zh-CN" altLang="en-US" b="0" i="0" u="none" strike="noStrike" baseline="0" dirty="0">
                <a:solidFill>
                  <a:srgbClr val="000000"/>
                </a:solidFill>
                <a:cs typeface="+mn-ea"/>
                <a:sym typeface="+mn-lt"/>
              </a:rPr>
              <a:t>值得到的。用式</a:t>
            </a:r>
            <a:r>
              <a:rPr lang="en-US" altLang="zh-CN" b="0" i="0" u="none" strike="noStrike" baseline="0" dirty="0">
                <a:solidFill>
                  <a:srgbClr val="000000"/>
                </a:solidFill>
                <a:cs typeface="+mn-ea"/>
                <a:sym typeface="+mn-lt"/>
              </a:rPr>
              <a:t>(5.102)</a:t>
            </a:r>
            <a:r>
              <a:rPr lang="zh-CN" altLang="en-US" b="0" i="0" u="none" strike="noStrike" baseline="0" dirty="0">
                <a:solidFill>
                  <a:srgbClr val="000000"/>
                </a:solidFill>
                <a:cs typeface="+mn-ea"/>
                <a:sym typeface="+mn-lt"/>
              </a:rPr>
              <a:t>代替</a:t>
            </a:r>
            <a:r>
              <a:rPr lang="en-US" altLang="zh-CN" b="0" i="0" u="none" strike="noStrike" baseline="0" dirty="0">
                <a:solidFill>
                  <a:srgbClr val="000000"/>
                </a:solidFill>
                <a:cs typeface="+mn-ea"/>
                <a:sym typeface="+mn-lt"/>
              </a:rPr>
              <a:t>g(p,</a:t>
            </a:r>
            <a:r>
              <a:rPr lang="el-GR" altLang="zh-CN" b="0" i="0" u="none" strike="noStrike" baseline="0" dirty="0">
                <a:solidFill>
                  <a:srgbClr val="000000"/>
                </a:solidFill>
                <a:cs typeface="+mn-ea"/>
                <a:sym typeface="+mn-lt"/>
              </a:rPr>
              <a:t> θ</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得到</a:t>
            </a:r>
          </a:p>
        </p:txBody>
      </p:sp>
      <p:pic>
        <p:nvPicPr>
          <p:cNvPr id="5" name="图片 4">
            <a:extLst>
              <a:ext uri="{FF2B5EF4-FFF2-40B4-BE49-F238E27FC236}">
                <a16:creationId xmlns:a16="http://schemas.microsoft.com/office/drawing/2014/main" id="{E6EF4EC3-AEC7-3750-9993-3D2A23C71747}"/>
              </a:ext>
            </a:extLst>
          </p:cNvPr>
          <p:cNvPicPr>
            <a:picLocks noChangeAspect="1"/>
          </p:cNvPicPr>
          <p:nvPr/>
        </p:nvPicPr>
        <p:blipFill>
          <a:blip r:embed="rId2"/>
          <a:stretch>
            <a:fillRect/>
          </a:stretch>
        </p:blipFill>
        <p:spPr>
          <a:xfrm>
            <a:off x="4693018" y="3540166"/>
            <a:ext cx="2266950" cy="466725"/>
          </a:xfrm>
          <a:prstGeom prst="rect">
            <a:avLst/>
          </a:prstGeom>
        </p:spPr>
      </p:pic>
      <p:pic>
        <p:nvPicPr>
          <p:cNvPr id="7" name="图片 6">
            <a:extLst>
              <a:ext uri="{FF2B5EF4-FFF2-40B4-BE49-F238E27FC236}">
                <a16:creationId xmlns:a16="http://schemas.microsoft.com/office/drawing/2014/main" id="{F0BBEE29-9498-21F4-850E-8C858A549AAF}"/>
              </a:ext>
            </a:extLst>
          </p:cNvPr>
          <p:cNvPicPr>
            <a:picLocks noChangeAspect="1"/>
          </p:cNvPicPr>
          <p:nvPr/>
        </p:nvPicPr>
        <p:blipFill>
          <a:blip r:embed="rId3"/>
          <a:stretch>
            <a:fillRect/>
          </a:stretch>
        </p:blipFill>
        <p:spPr>
          <a:xfrm>
            <a:off x="3619500" y="4979804"/>
            <a:ext cx="4953000" cy="1238250"/>
          </a:xfrm>
          <a:prstGeom prst="rect">
            <a:avLst/>
          </a:prstGeom>
        </p:spPr>
      </p:pic>
      <p:sp>
        <p:nvSpPr>
          <p:cNvPr id="8" name="矩形 7">
            <a:extLst>
              <a:ext uri="{FF2B5EF4-FFF2-40B4-BE49-F238E27FC236}">
                <a16:creationId xmlns:a16="http://schemas.microsoft.com/office/drawing/2014/main" id="{D4DCA6F2-B8F1-F051-9DA3-102D76C80182}"/>
              </a:ext>
            </a:extLst>
          </p:cNvPr>
          <p:cNvSpPr/>
          <p:nvPr/>
        </p:nvSpPr>
        <p:spPr>
          <a:xfrm>
            <a:off x="801092" y="2446417"/>
            <a:ext cx="10589815" cy="385813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374683337"/>
      </p:ext>
    </p:extLst>
  </p:cSld>
  <p:clrMapOvr>
    <a:masterClrMapping/>
  </p:clrMapOvr>
  <p:transition spd="slow" advTm="0">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CD08A-936F-41AA-435F-DB0C5C5E78E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使用平行射线束滤波反投影重建</a:t>
            </a:r>
          </a:p>
        </p:txBody>
      </p:sp>
      <p:sp>
        <p:nvSpPr>
          <p:cNvPr id="3" name="文本占位符 2">
            <a:extLst>
              <a:ext uri="{FF2B5EF4-FFF2-40B4-BE49-F238E27FC236}">
                <a16:creationId xmlns:a16="http://schemas.microsoft.com/office/drawing/2014/main" id="{8BB7EF3B-4B47-187C-6D40-003E9FFE83F0}"/>
              </a:ext>
            </a:extLst>
          </p:cNvPr>
          <p:cNvSpPr>
            <a:spLocks noGrp="1"/>
          </p:cNvSpPr>
          <p:nvPr>
            <p:ph sz="quarter" idx="12"/>
          </p:nvPr>
        </p:nvSpPr>
        <p:spPr/>
        <p:txBody>
          <a:bodyPr/>
          <a:lstStyle/>
          <a:p>
            <a:pPr marL="0" marR="90" lvl="0" indent="0" rtl="0">
              <a:buNone/>
            </a:pPr>
            <a:r>
              <a:rPr lang="zh-CN" altLang="en-US" b="0" i="0" u="none" strike="noStrike" baseline="0" dirty="0">
                <a:solidFill>
                  <a:srgbClr val="000000"/>
                </a:solidFill>
                <a:cs typeface="+mn-ea"/>
                <a:sym typeface="+mn-lt"/>
              </a:rPr>
              <a:t>如图</a:t>
            </a:r>
            <a:r>
              <a:rPr lang="en-US" altLang="zh-CN" b="0" i="0" u="none" strike="noStrike" baseline="0" dirty="0">
                <a:solidFill>
                  <a:srgbClr val="000000"/>
                </a:solidFill>
                <a:cs typeface="+mn-ea"/>
                <a:sym typeface="+mn-lt"/>
              </a:rPr>
              <a:t>5.33</a:t>
            </a: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5.34</a:t>
            </a:r>
            <a:r>
              <a:rPr lang="zh-CN" altLang="en-US" b="0" i="0" u="none" strike="noStrike" baseline="0" dirty="0">
                <a:solidFill>
                  <a:srgbClr val="000000"/>
                </a:solidFill>
                <a:cs typeface="+mn-ea"/>
                <a:sym typeface="+mn-lt"/>
              </a:rPr>
              <a:t>和图</a:t>
            </a:r>
            <a:r>
              <a:rPr lang="en-US" altLang="zh-CN" b="0" i="0" u="none" strike="noStrike" baseline="0" dirty="0">
                <a:solidFill>
                  <a:srgbClr val="000000"/>
                </a:solidFill>
                <a:cs typeface="+mn-ea"/>
                <a:sym typeface="+mn-lt"/>
              </a:rPr>
              <a:t>5.40</a:t>
            </a:r>
            <a:r>
              <a:rPr lang="zh-CN" altLang="en-US" b="0" i="0" u="none" strike="noStrike" baseline="0" dirty="0">
                <a:solidFill>
                  <a:srgbClr val="000000"/>
                </a:solidFill>
                <a:cs typeface="+mn-ea"/>
                <a:sym typeface="+mn-lt"/>
              </a:rPr>
              <a:t>所示，直接得到反投影会生成不可接受的模糊结果。所幸的是，解决该问题有一种简单的方法，即在计算反投影前对投影进行滤波。由式</a:t>
            </a:r>
            <a:r>
              <a:rPr lang="en-US" altLang="zh-CN" b="0" i="0" u="none" strike="noStrike" baseline="0" dirty="0">
                <a:solidFill>
                  <a:srgbClr val="000000"/>
                </a:solidFill>
                <a:cs typeface="+mn-ea"/>
                <a:sym typeface="+mn-lt"/>
              </a:rPr>
              <a:t>(4.60)</a:t>
            </a:r>
            <a:r>
              <a:rPr lang="zh-CN" altLang="en-US" b="0" i="0" u="none" strike="noStrike" baseline="0" dirty="0">
                <a:solidFill>
                  <a:srgbClr val="000000"/>
                </a:solidFill>
                <a:cs typeface="+mn-ea"/>
                <a:sym typeface="+mn-lt"/>
              </a:rPr>
              <a:t>可知，</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的二维傅里叶反变换是</a:t>
            </a:r>
          </a:p>
        </p:txBody>
      </p:sp>
      <p:pic>
        <p:nvPicPr>
          <p:cNvPr id="5" name="图片 4">
            <a:extLst>
              <a:ext uri="{FF2B5EF4-FFF2-40B4-BE49-F238E27FC236}">
                <a16:creationId xmlns:a16="http://schemas.microsoft.com/office/drawing/2014/main" id="{915E8CF3-99EA-51C9-8B6F-F6EE4D7C9B23}"/>
              </a:ext>
            </a:extLst>
          </p:cNvPr>
          <p:cNvPicPr>
            <a:picLocks noChangeAspect="1"/>
          </p:cNvPicPr>
          <p:nvPr/>
        </p:nvPicPr>
        <p:blipFill>
          <a:blip r:embed="rId2"/>
          <a:stretch>
            <a:fillRect/>
          </a:stretch>
        </p:blipFill>
        <p:spPr>
          <a:xfrm>
            <a:off x="4258277" y="3600449"/>
            <a:ext cx="2667000" cy="409575"/>
          </a:xfrm>
          <a:prstGeom prst="rect">
            <a:avLst/>
          </a:prstGeom>
        </p:spPr>
      </p:pic>
      <p:pic>
        <p:nvPicPr>
          <p:cNvPr id="7" name="图片 6">
            <a:extLst>
              <a:ext uri="{FF2B5EF4-FFF2-40B4-BE49-F238E27FC236}">
                <a16:creationId xmlns:a16="http://schemas.microsoft.com/office/drawing/2014/main" id="{B01520D7-D822-C2D6-AB65-9774F798875B}"/>
              </a:ext>
            </a:extLst>
          </p:cNvPr>
          <p:cNvPicPr>
            <a:picLocks noChangeAspect="1"/>
          </p:cNvPicPr>
          <p:nvPr/>
        </p:nvPicPr>
        <p:blipFill>
          <a:blip r:embed="rId3"/>
          <a:stretch>
            <a:fillRect/>
          </a:stretch>
        </p:blipFill>
        <p:spPr>
          <a:xfrm>
            <a:off x="7673413" y="4265028"/>
            <a:ext cx="3655408" cy="1789263"/>
          </a:xfrm>
          <a:prstGeom prst="rect">
            <a:avLst/>
          </a:prstGeom>
        </p:spPr>
      </p:pic>
      <p:pic>
        <p:nvPicPr>
          <p:cNvPr id="9" name="图片 8">
            <a:extLst>
              <a:ext uri="{FF2B5EF4-FFF2-40B4-BE49-F238E27FC236}">
                <a16:creationId xmlns:a16="http://schemas.microsoft.com/office/drawing/2014/main" id="{0D027105-13C1-5B19-B665-545E9A4D1A2D}"/>
              </a:ext>
            </a:extLst>
          </p:cNvPr>
          <p:cNvPicPr>
            <a:picLocks noChangeAspect="1"/>
          </p:cNvPicPr>
          <p:nvPr/>
        </p:nvPicPr>
        <p:blipFill>
          <a:blip r:embed="rId4"/>
          <a:stretch>
            <a:fillRect/>
          </a:stretch>
        </p:blipFill>
        <p:spPr>
          <a:xfrm>
            <a:off x="775685" y="4010024"/>
            <a:ext cx="3403965" cy="2044267"/>
          </a:xfrm>
          <a:prstGeom prst="rect">
            <a:avLst/>
          </a:prstGeom>
        </p:spPr>
      </p:pic>
      <p:pic>
        <p:nvPicPr>
          <p:cNvPr id="11" name="图片 10">
            <a:extLst>
              <a:ext uri="{FF2B5EF4-FFF2-40B4-BE49-F238E27FC236}">
                <a16:creationId xmlns:a16="http://schemas.microsoft.com/office/drawing/2014/main" id="{E5220663-C098-A3D2-C60E-064E870F1C3D}"/>
              </a:ext>
            </a:extLst>
          </p:cNvPr>
          <p:cNvPicPr>
            <a:picLocks noChangeAspect="1"/>
          </p:cNvPicPr>
          <p:nvPr/>
        </p:nvPicPr>
        <p:blipFill>
          <a:blip r:embed="rId5"/>
          <a:stretch>
            <a:fillRect/>
          </a:stretch>
        </p:blipFill>
        <p:spPr>
          <a:xfrm>
            <a:off x="4258277" y="4010025"/>
            <a:ext cx="3576688" cy="2086402"/>
          </a:xfrm>
          <a:prstGeom prst="rect">
            <a:avLst/>
          </a:prstGeom>
        </p:spPr>
      </p:pic>
    </p:spTree>
    <p:extLst>
      <p:ext uri="{BB962C8B-B14F-4D97-AF65-F5344CB8AC3E}">
        <p14:creationId xmlns:p14="http://schemas.microsoft.com/office/powerpoint/2010/main" val="3443515412"/>
      </p:ext>
    </p:extLst>
  </p:cSld>
  <p:clrMapOvr>
    <a:masterClrMapping/>
  </p:clrMapOvr>
  <p:transition spd="slow" advTm="0">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04FDAC-8B57-2732-3157-7AE70A7CB7E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使用扇形射线束滤波反投影重建图像</a:t>
            </a:r>
          </a:p>
        </p:txBody>
      </p:sp>
      <p:sp>
        <p:nvSpPr>
          <p:cNvPr id="3" name="文本占位符 2">
            <a:extLst>
              <a:ext uri="{FF2B5EF4-FFF2-40B4-BE49-F238E27FC236}">
                <a16:creationId xmlns:a16="http://schemas.microsoft.com/office/drawing/2014/main" id="{A1A67A3B-E4D0-A027-A740-950B81A1F191}"/>
              </a:ext>
            </a:extLst>
          </p:cNvPr>
          <p:cNvSpPr>
            <a:spLocks noGrp="1"/>
          </p:cNvSpPr>
          <p:nvPr>
            <p:ph sz="quarter" idx="12"/>
          </p:nvPr>
        </p:nvSpPr>
        <p:spPr>
          <a:xfrm>
            <a:off x="1024732" y="2516808"/>
            <a:ext cx="5260566" cy="3230517"/>
          </a:xfrm>
        </p:spPr>
        <p:txBody>
          <a:bodyPr>
            <a:normAutofit/>
          </a:bodyPr>
          <a:lstStyle/>
          <a:p>
            <a:pPr marL="0" marR="9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5.45</a:t>
            </a:r>
            <a:r>
              <a:rPr lang="zh-CN" altLang="en-US" b="0" i="0" u="none" strike="noStrike" baseline="0" dirty="0">
                <a:solidFill>
                  <a:srgbClr val="000000"/>
                </a:solidFill>
                <a:cs typeface="+mn-ea"/>
                <a:sym typeface="+mn-lt"/>
              </a:rPr>
              <a:t>显示了一个基本的扇形射线束成像几何结构，其中检测器排列在一个圆弧上，并且假设射线源的转角增量相等。令</a:t>
            </a:r>
            <a:r>
              <a:rPr lang="en-US" altLang="zh-CN" b="0" i="0" u="none" strike="noStrike" baseline="0" dirty="0">
                <a:solidFill>
                  <a:srgbClr val="000000"/>
                </a:solidFill>
                <a:cs typeface="+mn-ea"/>
                <a:sym typeface="+mn-lt"/>
              </a:rPr>
              <a:t>p(a,</a:t>
            </a:r>
            <a:r>
              <a:rPr lang="el-GR" altLang="zh-CN" b="0" i="0" u="none" strike="noStrike" baseline="0" dirty="0">
                <a:solidFill>
                  <a:srgbClr val="000000"/>
                </a:solidFill>
                <a:cs typeface="+mn-ea"/>
                <a:sym typeface="+mn-lt"/>
              </a:rPr>
              <a:t>β)</a:t>
            </a:r>
            <a:r>
              <a:rPr lang="zh-CN" altLang="en-US" b="0" i="0" u="none" strike="noStrike" baseline="0" dirty="0">
                <a:solidFill>
                  <a:srgbClr val="000000"/>
                </a:solidFill>
                <a:cs typeface="+mn-ea"/>
                <a:sym typeface="+mn-lt"/>
              </a:rPr>
              <a:t>表示一个扇形射线束投影，其中</a:t>
            </a:r>
            <a:r>
              <a:rPr lang="en-US" altLang="zh-CN" b="0" i="0" u="none" strike="noStrike" baseline="0" dirty="0">
                <a:solidFill>
                  <a:srgbClr val="000000"/>
                </a:solidFill>
                <a:cs typeface="+mn-ea"/>
                <a:sym typeface="+mn-lt"/>
              </a:rPr>
              <a:t>a</a:t>
            </a:r>
            <a:r>
              <a:rPr lang="zh-CN" altLang="en-US" b="0" i="0" u="none" strike="noStrike" baseline="0" dirty="0">
                <a:solidFill>
                  <a:srgbClr val="000000"/>
                </a:solidFill>
                <a:cs typeface="+mn-ea"/>
                <a:sym typeface="+mn-lt"/>
              </a:rPr>
              <a:t>是某个检测器相对于中心射线的角位置，</a:t>
            </a:r>
            <a:r>
              <a:rPr lang="el-GR" altLang="zh-CN" b="0" i="0" u="none" strike="noStrike" baseline="0" dirty="0">
                <a:solidFill>
                  <a:srgbClr val="000000"/>
                </a:solidFill>
                <a:cs typeface="+mn-ea"/>
                <a:sym typeface="+mn-lt"/>
              </a:rPr>
              <a:t>β</a:t>
            </a:r>
            <a:r>
              <a:rPr lang="zh-CN" altLang="en-US" b="0" i="0" u="none" strike="noStrike" baseline="0" dirty="0">
                <a:solidFill>
                  <a:srgbClr val="000000"/>
                </a:solidFill>
                <a:cs typeface="+mn-ea"/>
                <a:sym typeface="+mn-lt"/>
              </a:rPr>
              <a:t>是射线源相对于</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 轴的角位移，如图所示。</a:t>
            </a:r>
          </a:p>
        </p:txBody>
      </p:sp>
      <p:pic>
        <p:nvPicPr>
          <p:cNvPr id="5" name="图片 4">
            <a:extLst>
              <a:ext uri="{FF2B5EF4-FFF2-40B4-BE49-F238E27FC236}">
                <a16:creationId xmlns:a16="http://schemas.microsoft.com/office/drawing/2014/main" id="{81C5E3C7-2917-2CAF-5B29-B8157E020E18}"/>
              </a:ext>
            </a:extLst>
          </p:cNvPr>
          <p:cNvPicPr>
            <a:picLocks noChangeAspect="1"/>
          </p:cNvPicPr>
          <p:nvPr/>
        </p:nvPicPr>
        <p:blipFill>
          <a:blip r:embed="rId2"/>
          <a:stretch>
            <a:fillRect/>
          </a:stretch>
        </p:blipFill>
        <p:spPr>
          <a:xfrm>
            <a:off x="6117214" y="2919820"/>
            <a:ext cx="5260566" cy="2945369"/>
          </a:xfrm>
          <a:prstGeom prst="rect">
            <a:avLst/>
          </a:prstGeom>
        </p:spPr>
      </p:pic>
    </p:spTree>
    <p:extLst>
      <p:ext uri="{BB962C8B-B14F-4D97-AF65-F5344CB8AC3E}">
        <p14:creationId xmlns:p14="http://schemas.microsoft.com/office/powerpoint/2010/main" val="267006973"/>
      </p:ext>
    </p:extLst>
  </p:cSld>
  <p:clrMapOvr>
    <a:masterClrMapping/>
  </p:clrMapOvr>
  <p:transition spd="slow" advTm="0">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34054637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y4dwk4r">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68</TotalTime>
  <Words>2794</Words>
  <Application>Microsoft Office PowerPoint</Application>
  <PresentationFormat>宽屏</PresentationFormat>
  <Paragraphs>129</Paragraphs>
  <Slides>40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40</vt:i4>
      </vt:variant>
    </vt:vector>
  </HeadingPairs>
  <TitlesOfParts>
    <vt:vector size="45" baseType="lpstr">
      <vt:lpstr>阿里巴巴普惠体</vt:lpstr>
      <vt:lpstr>Arial</vt:lpstr>
      <vt:lpstr>Cambria Math</vt:lpstr>
      <vt:lpstr>Wingdings</vt:lpstr>
      <vt:lpstr>Office 主题</vt:lpstr>
      <vt:lpstr>PowerPoint 演示文稿</vt:lpstr>
      <vt:lpstr>PowerPoint 演示文稿</vt:lpstr>
      <vt:lpstr>概述</vt:lpstr>
      <vt:lpstr>PowerPoint 演示文稿</vt:lpstr>
      <vt:lpstr>噪声的空间和频率特性</vt:lpstr>
      <vt:lpstr>一些重要的噪声概率密度函数</vt:lpstr>
      <vt:lpstr>一些重要的噪声概率密度函数</vt:lpstr>
      <vt:lpstr>一些重要的噪声概率密度函数</vt:lpstr>
      <vt:lpstr>周期噪声</vt:lpstr>
      <vt:lpstr>估计噪声参数</vt:lpstr>
      <vt:lpstr>PowerPoint 演示文稿</vt:lpstr>
      <vt:lpstr>均值滤波器</vt:lpstr>
      <vt:lpstr>均值滤波器</vt:lpstr>
      <vt:lpstr>统计排序滤波器</vt:lpstr>
      <vt:lpstr>统计排序滤波器</vt:lpstr>
      <vt:lpstr>自适应滤波器</vt:lpstr>
      <vt:lpstr>PowerPoint 演示文稿</vt:lpstr>
      <vt:lpstr>陷波滤波深入介绍</vt:lpstr>
      <vt:lpstr>最优陷波滤波</vt:lpstr>
      <vt:lpstr>PowerPoint 演示文稿</vt:lpstr>
      <vt:lpstr>概述</vt:lpstr>
      <vt:lpstr>PowerPoint 演示文稿</vt:lpstr>
      <vt:lpstr>采用观察法估计退化函数</vt:lpstr>
      <vt:lpstr>采用试验法估计退化函数</vt:lpstr>
      <vt:lpstr>采用建模法估计退化函数</vt:lpstr>
      <vt:lpstr>PowerPoint 演示文稿</vt:lpstr>
      <vt:lpstr>概述</vt:lpstr>
      <vt:lpstr>PowerPoint 演示文稿</vt:lpstr>
      <vt:lpstr>概述</vt:lpstr>
      <vt:lpstr>PowerPoint 演示文稿</vt:lpstr>
      <vt:lpstr>概述</vt:lpstr>
      <vt:lpstr>PowerPoint 演示文稿</vt:lpstr>
      <vt:lpstr>概述</vt:lpstr>
      <vt:lpstr>PowerPoint 演示文稿</vt:lpstr>
      <vt:lpstr>投影和雷登变换</vt:lpstr>
      <vt:lpstr>反投影</vt:lpstr>
      <vt:lpstr>傅里叶切片定理</vt:lpstr>
      <vt:lpstr>使用平行射线束滤波反投影重建</vt:lpstr>
      <vt:lpstr>使用扇形射线束滤波反投影重建图像</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图像复原与重建</dc:title>
  <dc:creator>娜 王</dc:creator>
  <cp:lastModifiedBy>Administrator</cp:lastModifiedBy>
  <cp:revision>3</cp:revision>
  <dcterms:created xsi:type="dcterms:W3CDTF">2023-10-12T12:27:06Z</dcterms:created>
  <dcterms:modified xsi:type="dcterms:W3CDTF">2023-10-20T01:15:40Z</dcterms:modified>
</cp:coreProperties>
</file>