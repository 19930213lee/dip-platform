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81" r:id="rId2"/>
    <p:sldId id="282" r:id="rId3"/>
    <p:sldId id="257" r:id="rId4"/>
    <p:sldId id="283" r:id="rId5"/>
    <p:sldId id="259" r:id="rId6"/>
    <p:sldId id="260" r:id="rId7"/>
    <p:sldId id="261" r:id="rId8"/>
    <p:sldId id="284" r:id="rId9"/>
    <p:sldId id="262" r:id="rId10"/>
    <p:sldId id="285" r:id="rId11"/>
    <p:sldId id="263" r:id="rId12"/>
    <p:sldId id="286" r:id="rId13"/>
    <p:sldId id="265" r:id="rId14"/>
    <p:sldId id="266" r:id="rId15"/>
    <p:sldId id="267" r:id="rId16"/>
    <p:sldId id="268" r:id="rId17"/>
    <p:sldId id="269" r:id="rId18"/>
    <p:sldId id="270" r:id="rId19"/>
    <p:sldId id="291" r:id="rId20"/>
    <p:sldId id="271" r:id="rId21"/>
    <p:sldId id="287" r:id="rId22"/>
    <p:sldId id="273" r:id="rId23"/>
    <p:sldId id="274" r:id="rId24"/>
    <p:sldId id="275" r:id="rId25"/>
    <p:sldId id="292" r:id="rId26"/>
    <p:sldId id="288" r:id="rId27"/>
    <p:sldId id="276" r:id="rId28"/>
    <p:sldId id="289" r:id="rId29"/>
    <p:sldId id="278" r:id="rId30"/>
    <p:sldId id="279" r:id="rId31"/>
    <p:sldId id="293" r:id="rId32"/>
    <p:sldId id="294" r:id="rId33"/>
    <p:sldId id="280" r:id="rId34"/>
    <p:sldId id="290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 autoAdjust="0"/>
    <p:restoredTop sz="94660"/>
  </p:normalViewPr>
  <p:slideViewPr>
    <p:cSldViewPr snapToGrid="0">
      <p:cViewPr varScale="1">
        <p:scale>
          <a:sx n="66" d="100"/>
          <a:sy n="66" d="100"/>
        </p:scale>
        <p:origin x="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/>
          <p:cNvSpPr/>
          <p:nvPr/>
        </p:nvSpPr>
        <p:spPr>
          <a:xfrm>
            <a:off x="0" y="2807982"/>
            <a:ext cx="1583750" cy="3179395"/>
          </a:xfrm>
          <a:custGeom>
            <a:avLst/>
            <a:gdLst>
              <a:gd name="connsiteX0" fmla="*/ 0 w 1252875"/>
              <a:gd name="connsiteY0" fmla="*/ 0 h 2515160"/>
              <a:gd name="connsiteX1" fmla="*/ 123651 w 1252875"/>
              <a:gd name="connsiteY1" fmla="*/ 6244 h 2515160"/>
              <a:gd name="connsiteX2" fmla="*/ 1252875 w 1252875"/>
              <a:gd name="connsiteY2" fmla="*/ 1257580 h 2515160"/>
              <a:gd name="connsiteX3" fmla="*/ 123651 w 1252875"/>
              <a:gd name="connsiteY3" fmla="*/ 2508916 h 2515160"/>
              <a:gd name="connsiteX4" fmla="*/ 0 w 1252875"/>
              <a:gd name="connsiteY4" fmla="*/ 2515160 h 251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2875" h="2515160">
                <a:moveTo>
                  <a:pt x="0" y="0"/>
                </a:moveTo>
                <a:lnTo>
                  <a:pt x="123651" y="6244"/>
                </a:lnTo>
                <a:cubicBezTo>
                  <a:pt x="757919" y="70658"/>
                  <a:pt x="1252875" y="606318"/>
                  <a:pt x="1252875" y="1257580"/>
                </a:cubicBezTo>
                <a:cubicBezTo>
                  <a:pt x="1252875" y="1908843"/>
                  <a:pt x="757919" y="2444503"/>
                  <a:pt x="123651" y="2508916"/>
                </a:cubicBezTo>
                <a:lnTo>
                  <a:pt x="0" y="2515160"/>
                </a:lnTo>
                <a:close/>
              </a:path>
            </a:pathLst>
          </a:custGeom>
          <a:gradFill>
            <a:gsLst>
              <a:gs pos="0">
                <a:srgbClr val="0165C5">
                  <a:alpha val="7000"/>
                </a:srgbClr>
              </a:gs>
              <a:gs pos="100000">
                <a:srgbClr val="F2F9FF">
                  <a:alpha val="2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18" name="任意多边形: 形状 17"/>
          <p:cNvSpPr/>
          <p:nvPr/>
        </p:nvSpPr>
        <p:spPr>
          <a:xfrm>
            <a:off x="2733914" y="5295998"/>
            <a:ext cx="4134465" cy="1591455"/>
          </a:xfrm>
          <a:custGeom>
            <a:avLst/>
            <a:gdLst>
              <a:gd name="connsiteX0" fmla="*/ 1936014 w 3872028"/>
              <a:gd name="connsiteY0" fmla="*/ 0 h 1490437"/>
              <a:gd name="connsiteX1" fmla="*/ 3851067 w 3872028"/>
              <a:gd name="connsiteY1" fmla="*/ 1408917 h 1490437"/>
              <a:gd name="connsiteX2" fmla="*/ 3872028 w 3872028"/>
              <a:gd name="connsiteY2" fmla="*/ 1490437 h 1490437"/>
              <a:gd name="connsiteX3" fmla="*/ 0 w 3872028"/>
              <a:gd name="connsiteY3" fmla="*/ 1490437 h 1490437"/>
              <a:gd name="connsiteX4" fmla="*/ 20961 w 3872028"/>
              <a:gd name="connsiteY4" fmla="*/ 1408917 h 1490437"/>
              <a:gd name="connsiteX5" fmla="*/ 1936014 w 3872028"/>
              <a:gd name="connsiteY5" fmla="*/ 0 h 149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2028" h="1490437">
                <a:moveTo>
                  <a:pt x="1936014" y="0"/>
                </a:moveTo>
                <a:cubicBezTo>
                  <a:pt x="2835812" y="0"/>
                  <a:pt x="3597185" y="592662"/>
                  <a:pt x="3851067" y="1408917"/>
                </a:cubicBezTo>
                <a:lnTo>
                  <a:pt x="3872028" y="1490437"/>
                </a:lnTo>
                <a:lnTo>
                  <a:pt x="0" y="1490437"/>
                </a:lnTo>
                <a:lnTo>
                  <a:pt x="20961" y="1408917"/>
                </a:lnTo>
                <a:cubicBezTo>
                  <a:pt x="274843" y="592662"/>
                  <a:pt x="1036217" y="0"/>
                  <a:pt x="1936014" y="0"/>
                </a:cubicBezTo>
                <a:close/>
              </a:path>
            </a:pathLst>
          </a:custGeom>
          <a:gradFill>
            <a:gsLst>
              <a:gs pos="0">
                <a:srgbClr val="0165C5">
                  <a:alpha val="7000"/>
                </a:srgbClr>
              </a:gs>
              <a:gs pos="100000">
                <a:srgbClr val="F2F9FF">
                  <a:alpha val="2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5389245" y="-304800"/>
            <a:ext cx="7221855" cy="6395720"/>
            <a:chOff x="5389435" y="-304798"/>
            <a:chExt cx="7221666" cy="6395847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5389435" y="-304798"/>
              <a:ext cx="7221666" cy="6395847"/>
              <a:chOff x="4970335" y="-304798"/>
              <a:chExt cx="7221666" cy="6395847"/>
            </a:xfrm>
          </p:grpSpPr>
          <p:sp>
            <p:nvSpPr>
              <p:cNvPr id="9" name="任意多边形: 形状 8"/>
              <p:cNvSpPr/>
              <p:nvPr/>
            </p:nvSpPr>
            <p:spPr>
              <a:xfrm rot="16200000">
                <a:off x="5383244" y="-717707"/>
                <a:ext cx="6395847" cy="7221666"/>
              </a:xfrm>
              <a:custGeom>
                <a:avLst/>
                <a:gdLst>
                  <a:gd name="connsiteX0" fmla="*/ 6096001 w 6395847"/>
                  <a:gd name="connsiteY0" fmla="*/ 7221665 h 7221666"/>
                  <a:gd name="connsiteX1" fmla="*/ 6096001 w 6395847"/>
                  <a:gd name="connsiteY1" fmla="*/ 7221666 h 7221666"/>
                  <a:gd name="connsiteX2" fmla="*/ 3314700 w 6395847"/>
                  <a:gd name="connsiteY2" fmla="*/ 7221666 h 7221666"/>
                  <a:gd name="connsiteX3" fmla="*/ 2781301 w 6395847"/>
                  <a:gd name="connsiteY3" fmla="*/ 7221666 h 7221666"/>
                  <a:gd name="connsiteX4" fmla="*/ 0 w 6395847"/>
                  <a:gd name="connsiteY4" fmla="*/ 7221666 h 7221666"/>
                  <a:gd name="connsiteX5" fmla="*/ 0 w 6395847"/>
                  <a:gd name="connsiteY5" fmla="*/ 3447952 h 7221666"/>
                  <a:gd name="connsiteX6" fmla="*/ 1 w 6395847"/>
                  <a:gd name="connsiteY6" fmla="*/ 3447952 h 7221666"/>
                  <a:gd name="connsiteX7" fmla="*/ 1 w 6395847"/>
                  <a:gd name="connsiteY7" fmla="*/ 3019060 h 7221666"/>
                  <a:gd name="connsiteX8" fmla="*/ 279301 w 6395847"/>
                  <a:gd name="connsiteY8" fmla="*/ 2344769 h 7221666"/>
                  <a:gd name="connsiteX9" fmla="*/ 405446 w 6395847"/>
                  <a:gd name="connsiteY9" fmla="*/ 2240690 h 7221666"/>
                  <a:gd name="connsiteX10" fmla="*/ 404464 w 6395847"/>
                  <a:gd name="connsiteY10" fmla="*/ 2239038 h 7221666"/>
                  <a:gd name="connsiteX11" fmla="*/ 415115 w 6395847"/>
                  <a:gd name="connsiteY11" fmla="*/ 2232712 h 7221666"/>
                  <a:gd name="connsiteX12" fmla="*/ 420431 w 6395847"/>
                  <a:gd name="connsiteY12" fmla="*/ 2228326 h 7221666"/>
                  <a:gd name="connsiteX13" fmla="*/ 444464 w 6395847"/>
                  <a:gd name="connsiteY13" fmla="*/ 2215281 h 7221666"/>
                  <a:gd name="connsiteX14" fmla="*/ 3989796 w 6395847"/>
                  <a:gd name="connsiteY14" fmla="*/ 109665 h 7221666"/>
                  <a:gd name="connsiteX15" fmla="*/ 3993587 w 6395847"/>
                  <a:gd name="connsiteY15" fmla="*/ 116048 h 7221666"/>
                  <a:gd name="connsiteX16" fmla="*/ 4025229 w 6395847"/>
                  <a:gd name="connsiteY16" fmla="*/ 96652 h 7221666"/>
                  <a:gd name="connsiteX17" fmla="*/ 4920239 w 6395847"/>
                  <a:gd name="connsiteY17" fmla="*/ 127915 h 7221666"/>
                  <a:gd name="connsiteX18" fmla="*/ 5919213 w 6395847"/>
                  <a:gd name="connsiteY18" fmla="*/ 704673 h 7221666"/>
                  <a:gd name="connsiteX19" fmla="*/ 6030081 w 6395847"/>
                  <a:gd name="connsiteY19" fmla="*/ 779366 h 7221666"/>
                  <a:gd name="connsiteX20" fmla="*/ 6096000 w 6395847"/>
                  <a:gd name="connsiteY20" fmla="*/ 838524 h 7221666"/>
                  <a:gd name="connsiteX21" fmla="*/ 6096000 w 6395847"/>
                  <a:gd name="connsiteY21" fmla="*/ 7221665 h 7221666"/>
                  <a:gd name="connsiteX22" fmla="*/ 6221624 w 6395847"/>
                  <a:gd name="connsiteY22" fmla="*/ 982469 h 7221666"/>
                  <a:gd name="connsiteX23" fmla="*/ 6201936 w 6395847"/>
                  <a:gd name="connsiteY23" fmla="*/ 954781 h 7221666"/>
                  <a:gd name="connsiteX24" fmla="*/ 6210136 w 6395847"/>
                  <a:gd name="connsiteY24" fmla="*/ 964466 h 7221666"/>
                  <a:gd name="connsiteX25" fmla="*/ 6283768 w 6395847"/>
                  <a:gd name="connsiteY25" fmla="*/ 1082992 h 7221666"/>
                  <a:gd name="connsiteX26" fmla="*/ 6267120 w 6395847"/>
                  <a:gd name="connsiteY26" fmla="*/ 1053774 h 7221666"/>
                  <a:gd name="connsiteX27" fmla="*/ 6278411 w 6395847"/>
                  <a:gd name="connsiteY27" fmla="*/ 1071469 h 7221666"/>
                  <a:gd name="connsiteX28" fmla="*/ 6372765 w 6395847"/>
                  <a:gd name="connsiteY28" fmla="*/ 1326510 h 7221666"/>
                  <a:gd name="connsiteX29" fmla="*/ 6365409 w 6395847"/>
                  <a:gd name="connsiteY29" fmla="*/ 1293851 h 7221666"/>
                  <a:gd name="connsiteX30" fmla="*/ 6369173 w 6395847"/>
                  <a:gd name="connsiteY30" fmla="*/ 1305870 h 7221666"/>
                  <a:gd name="connsiteX31" fmla="*/ 6391257 w 6395847"/>
                  <a:gd name="connsiteY31" fmla="*/ 1442433 h 7221666"/>
                  <a:gd name="connsiteX32" fmla="*/ 6387139 w 6395847"/>
                  <a:gd name="connsiteY32" fmla="*/ 1409114 h 7221666"/>
                  <a:gd name="connsiteX33" fmla="*/ 6390749 w 6395847"/>
                  <a:gd name="connsiteY33" fmla="*/ 1429863 h 7221666"/>
                  <a:gd name="connsiteX34" fmla="*/ 6395847 w 6395847"/>
                  <a:gd name="connsiteY34" fmla="*/ 1556116 h 7221666"/>
                  <a:gd name="connsiteX35" fmla="*/ 6268252 w 6395847"/>
                  <a:gd name="connsiteY35" fmla="*/ 2007304 h 7221666"/>
                  <a:gd name="connsiteX36" fmla="*/ 6096001 w 6395847"/>
                  <a:gd name="connsiteY36" fmla="*/ 2305652 h 7221666"/>
                  <a:gd name="connsiteX37" fmla="*/ 6096001 w 6395847"/>
                  <a:gd name="connsiteY37" fmla="*/ 2305651 h 7221666"/>
                  <a:gd name="connsiteX38" fmla="*/ 6268252 w 6395847"/>
                  <a:gd name="connsiteY38" fmla="*/ 2007303 h 7221666"/>
                  <a:gd name="connsiteX39" fmla="*/ 6385798 w 6395847"/>
                  <a:gd name="connsiteY39" fmla="*/ 1671419 h 7221666"/>
                  <a:gd name="connsiteX40" fmla="*/ 6395847 w 6395847"/>
                  <a:gd name="connsiteY40" fmla="*/ 1556116 h 722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6395847" h="7221666">
                    <a:moveTo>
                      <a:pt x="6096001" y="7221665"/>
                    </a:moveTo>
                    <a:lnTo>
                      <a:pt x="6096001" y="7221666"/>
                    </a:lnTo>
                    <a:lnTo>
                      <a:pt x="3314700" y="7221666"/>
                    </a:lnTo>
                    <a:lnTo>
                      <a:pt x="2781301" y="7221666"/>
                    </a:lnTo>
                    <a:lnTo>
                      <a:pt x="0" y="7221666"/>
                    </a:lnTo>
                    <a:lnTo>
                      <a:pt x="0" y="3447952"/>
                    </a:lnTo>
                    <a:lnTo>
                      <a:pt x="1" y="3447952"/>
                    </a:lnTo>
                    <a:lnTo>
                      <a:pt x="1" y="3019060"/>
                    </a:lnTo>
                    <a:cubicBezTo>
                      <a:pt x="1" y="2755733"/>
                      <a:pt x="106735" y="2517335"/>
                      <a:pt x="279301" y="2344769"/>
                    </a:cubicBezTo>
                    <a:lnTo>
                      <a:pt x="405446" y="2240690"/>
                    </a:lnTo>
                    <a:lnTo>
                      <a:pt x="404464" y="2239038"/>
                    </a:lnTo>
                    <a:lnTo>
                      <a:pt x="415115" y="2232712"/>
                    </a:lnTo>
                    <a:lnTo>
                      <a:pt x="420431" y="2228326"/>
                    </a:lnTo>
                    <a:lnTo>
                      <a:pt x="444464" y="2215281"/>
                    </a:lnTo>
                    <a:lnTo>
                      <a:pt x="3989796" y="109665"/>
                    </a:lnTo>
                    <a:lnTo>
                      <a:pt x="3993587" y="116048"/>
                    </a:lnTo>
                    <a:lnTo>
                      <a:pt x="4025229" y="96652"/>
                    </a:lnTo>
                    <a:cubicBezTo>
                      <a:pt x="4300466" y="-37338"/>
                      <a:pt x="4635179" y="-36664"/>
                      <a:pt x="4920239" y="127915"/>
                    </a:cubicBezTo>
                    <a:lnTo>
                      <a:pt x="5919213" y="704673"/>
                    </a:lnTo>
                    <a:cubicBezTo>
                      <a:pt x="5958409" y="727303"/>
                      <a:pt x="5995390" y="752295"/>
                      <a:pt x="6030081" y="779366"/>
                    </a:cubicBezTo>
                    <a:lnTo>
                      <a:pt x="6096000" y="838524"/>
                    </a:lnTo>
                    <a:lnTo>
                      <a:pt x="6096000" y="7221665"/>
                    </a:lnTo>
                    <a:close/>
                    <a:moveTo>
                      <a:pt x="6221624" y="982469"/>
                    </a:moveTo>
                    <a:lnTo>
                      <a:pt x="6201936" y="954781"/>
                    </a:lnTo>
                    <a:lnTo>
                      <a:pt x="6210136" y="964466"/>
                    </a:lnTo>
                    <a:close/>
                    <a:moveTo>
                      <a:pt x="6283768" y="1082992"/>
                    </a:moveTo>
                    <a:lnTo>
                      <a:pt x="6267120" y="1053774"/>
                    </a:lnTo>
                    <a:lnTo>
                      <a:pt x="6278411" y="1071469"/>
                    </a:lnTo>
                    <a:close/>
                    <a:moveTo>
                      <a:pt x="6372765" y="1326510"/>
                    </a:moveTo>
                    <a:lnTo>
                      <a:pt x="6365409" y="1293851"/>
                    </a:lnTo>
                    <a:lnTo>
                      <a:pt x="6369173" y="1305870"/>
                    </a:lnTo>
                    <a:close/>
                    <a:moveTo>
                      <a:pt x="6391257" y="1442433"/>
                    </a:moveTo>
                    <a:lnTo>
                      <a:pt x="6387139" y="1409114"/>
                    </a:lnTo>
                    <a:lnTo>
                      <a:pt x="6390749" y="1429863"/>
                    </a:lnTo>
                    <a:close/>
                    <a:moveTo>
                      <a:pt x="6395847" y="1556116"/>
                    </a:moveTo>
                    <a:cubicBezTo>
                      <a:pt x="6391855" y="1709831"/>
                      <a:pt x="6350542" y="1864774"/>
                      <a:pt x="6268252" y="2007304"/>
                    </a:cubicBezTo>
                    <a:lnTo>
                      <a:pt x="6096001" y="2305652"/>
                    </a:lnTo>
                    <a:lnTo>
                      <a:pt x="6096001" y="2305651"/>
                    </a:lnTo>
                    <a:lnTo>
                      <a:pt x="6268252" y="2007303"/>
                    </a:lnTo>
                    <a:cubicBezTo>
                      <a:pt x="6329969" y="1900406"/>
                      <a:pt x="6368637" y="1786526"/>
                      <a:pt x="6385798" y="1671419"/>
                    </a:cubicBezTo>
                    <a:lnTo>
                      <a:pt x="6395847" y="1556116"/>
                    </a:lnTo>
                    <a:close/>
                  </a:path>
                </a:pathLst>
              </a:custGeom>
              <a:gradFill>
                <a:gsLst>
                  <a:gs pos="0">
                    <a:srgbClr val="0165C5"/>
                  </a:gs>
                  <a:gs pos="100000">
                    <a:srgbClr val="0165C5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阿里巴巴普惠体" panose="00020600040101010101" pitchFamily="18" charset="-122"/>
                  <a:ea typeface="微软雅黑" panose="020B0503020204020204" pitchFamily="34" charset="-122"/>
                  <a:sym typeface="Segoe UI" panose="020B0502040204020203" pitchFamily="34" charset="0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 rot="16200000">
                <a:off x="5253261" y="-515155"/>
                <a:ext cx="2180771" cy="2601486"/>
              </a:xfrm>
              <a:custGeom>
                <a:avLst/>
                <a:gdLst>
                  <a:gd name="connsiteX0" fmla="*/ 1880924 w 2180771"/>
                  <a:gd name="connsiteY0" fmla="*/ 763130 h 2601486"/>
                  <a:gd name="connsiteX1" fmla="*/ 1880924 w 2180771"/>
                  <a:gd name="connsiteY1" fmla="*/ 2530378 h 2601486"/>
                  <a:gd name="connsiteX2" fmla="*/ 1863032 w 2180771"/>
                  <a:gd name="connsiteY2" fmla="*/ 2536926 h 2601486"/>
                  <a:gd name="connsiteX3" fmla="*/ 1436007 w 2180771"/>
                  <a:gd name="connsiteY3" fmla="*/ 2601486 h 2601486"/>
                  <a:gd name="connsiteX4" fmla="*/ 0 w 2180771"/>
                  <a:gd name="connsiteY4" fmla="*/ 1165479 h 2601486"/>
                  <a:gd name="connsiteX5" fmla="*/ 522574 w 2180771"/>
                  <a:gd name="connsiteY5" fmla="*/ 57386 h 2601486"/>
                  <a:gd name="connsiteX6" fmla="*/ 599315 w 2180771"/>
                  <a:gd name="connsiteY6" fmla="*/ 0 h 2601486"/>
                  <a:gd name="connsiteX7" fmla="*/ 705163 w 2180771"/>
                  <a:gd name="connsiteY7" fmla="*/ 52521 h 2601486"/>
                  <a:gd name="connsiteX8" fmla="*/ 1704137 w 2180771"/>
                  <a:gd name="connsiteY8" fmla="*/ 629279 h 2601486"/>
                  <a:gd name="connsiteX9" fmla="*/ 1815005 w 2180771"/>
                  <a:gd name="connsiteY9" fmla="*/ 703972 h 2601486"/>
                  <a:gd name="connsiteX10" fmla="*/ 2006548 w 2180771"/>
                  <a:gd name="connsiteY10" fmla="*/ 907075 h 2601486"/>
                  <a:gd name="connsiteX11" fmla="*/ 1986860 w 2180771"/>
                  <a:gd name="connsiteY11" fmla="*/ 879387 h 2601486"/>
                  <a:gd name="connsiteX12" fmla="*/ 1995060 w 2180771"/>
                  <a:gd name="connsiteY12" fmla="*/ 889072 h 2601486"/>
                  <a:gd name="connsiteX13" fmla="*/ 2053189 w 2180771"/>
                  <a:gd name="connsiteY13" fmla="*/ 1931884 h 2601486"/>
                  <a:gd name="connsiteX14" fmla="*/ 2053176 w 2180771"/>
                  <a:gd name="connsiteY14" fmla="*/ 1931910 h 2601486"/>
                  <a:gd name="connsiteX15" fmla="*/ 1880925 w 2180771"/>
                  <a:gd name="connsiteY15" fmla="*/ 2230259 h 2601486"/>
                  <a:gd name="connsiteX16" fmla="*/ 1880925 w 2180771"/>
                  <a:gd name="connsiteY16" fmla="*/ 2230257 h 2601486"/>
                  <a:gd name="connsiteX17" fmla="*/ 2053176 w 2180771"/>
                  <a:gd name="connsiteY17" fmla="*/ 1931909 h 2601486"/>
                  <a:gd name="connsiteX18" fmla="*/ 2068692 w 2180771"/>
                  <a:gd name="connsiteY18" fmla="*/ 1007598 h 2601486"/>
                  <a:gd name="connsiteX19" fmla="*/ 2052044 w 2180771"/>
                  <a:gd name="connsiteY19" fmla="*/ 978380 h 2601486"/>
                  <a:gd name="connsiteX20" fmla="*/ 2063335 w 2180771"/>
                  <a:gd name="connsiteY20" fmla="*/ 996075 h 2601486"/>
                  <a:gd name="connsiteX21" fmla="*/ 2101939 w 2180771"/>
                  <a:gd name="connsiteY21" fmla="*/ 1833636 h 2601486"/>
                  <a:gd name="connsiteX22" fmla="*/ 2095166 w 2180771"/>
                  <a:gd name="connsiteY22" fmla="*/ 1850517 h 2601486"/>
                  <a:gd name="connsiteX23" fmla="*/ 2053189 w 2180771"/>
                  <a:gd name="connsiteY23" fmla="*/ 1931884 h 2601486"/>
                  <a:gd name="connsiteX24" fmla="*/ 2113879 w 2180771"/>
                  <a:gd name="connsiteY24" fmla="*/ 1803879 h 2601486"/>
                  <a:gd name="connsiteX25" fmla="*/ 2107267 w 2180771"/>
                  <a:gd name="connsiteY25" fmla="*/ 1822898 h 2601486"/>
                  <a:gd name="connsiteX26" fmla="*/ 2101939 w 2180771"/>
                  <a:gd name="connsiteY26" fmla="*/ 1833636 h 2601486"/>
                  <a:gd name="connsiteX27" fmla="*/ 2139904 w 2180771"/>
                  <a:gd name="connsiteY27" fmla="*/ 1729011 h 2601486"/>
                  <a:gd name="connsiteX28" fmla="*/ 2128657 w 2180771"/>
                  <a:gd name="connsiteY28" fmla="*/ 1767046 h 2601486"/>
                  <a:gd name="connsiteX29" fmla="*/ 2113879 w 2180771"/>
                  <a:gd name="connsiteY29" fmla="*/ 1803879 h 2601486"/>
                  <a:gd name="connsiteX30" fmla="*/ 2148810 w 2180771"/>
                  <a:gd name="connsiteY30" fmla="*/ 1698893 h 2601486"/>
                  <a:gd name="connsiteX31" fmla="*/ 2146335 w 2180771"/>
                  <a:gd name="connsiteY31" fmla="*/ 1710510 h 2601486"/>
                  <a:gd name="connsiteX32" fmla="*/ 2139904 w 2180771"/>
                  <a:gd name="connsiteY32" fmla="*/ 1729011 h 2601486"/>
                  <a:gd name="connsiteX33" fmla="*/ 2157689 w 2180771"/>
                  <a:gd name="connsiteY33" fmla="*/ 1251116 h 2601486"/>
                  <a:gd name="connsiteX34" fmla="*/ 2150333 w 2180771"/>
                  <a:gd name="connsiteY34" fmla="*/ 1218457 h 2601486"/>
                  <a:gd name="connsiteX35" fmla="*/ 2154097 w 2180771"/>
                  <a:gd name="connsiteY35" fmla="*/ 1230476 h 2601486"/>
                  <a:gd name="connsiteX36" fmla="*/ 2170719 w 2180771"/>
                  <a:gd name="connsiteY36" fmla="*/ 1596043 h 2601486"/>
                  <a:gd name="connsiteX37" fmla="*/ 2153795 w 2180771"/>
                  <a:gd name="connsiteY37" fmla="*/ 1682035 h 2601486"/>
                  <a:gd name="connsiteX38" fmla="*/ 2148810 w 2180771"/>
                  <a:gd name="connsiteY38" fmla="*/ 1698893 h 2601486"/>
                  <a:gd name="connsiteX39" fmla="*/ 2176181 w 2180771"/>
                  <a:gd name="connsiteY39" fmla="*/ 1367039 h 2601486"/>
                  <a:gd name="connsiteX40" fmla="*/ 2172063 w 2180771"/>
                  <a:gd name="connsiteY40" fmla="*/ 1333720 h 2601486"/>
                  <a:gd name="connsiteX41" fmla="*/ 2175673 w 2180771"/>
                  <a:gd name="connsiteY41" fmla="*/ 1354469 h 2601486"/>
                  <a:gd name="connsiteX42" fmla="*/ 2180771 w 2180771"/>
                  <a:gd name="connsiteY42" fmla="*/ 1480722 h 2601486"/>
                  <a:gd name="connsiteX43" fmla="*/ 2170722 w 2180771"/>
                  <a:gd name="connsiteY43" fmla="*/ 1596025 h 2601486"/>
                  <a:gd name="connsiteX44" fmla="*/ 2170719 w 2180771"/>
                  <a:gd name="connsiteY44" fmla="*/ 1596043 h 2601486"/>
                  <a:gd name="connsiteX45" fmla="*/ 2170722 w 2180771"/>
                  <a:gd name="connsiteY45" fmla="*/ 1596025 h 260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2180771" h="2601486">
                    <a:moveTo>
                      <a:pt x="1880924" y="763130"/>
                    </a:moveTo>
                    <a:lnTo>
                      <a:pt x="1880924" y="2530378"/>
                    </a:lnTo>
                    <a:lnTo>
                      <a:pt x="1863032" y="2536926"/>
                    </a:lnTo>
                    <a:cubicBezTo>
                      <a:pt x="1728135" y="2578883"/>
                      <a:pt x="1584711" y="2601486"/>
                      <a:pt x="1436007" y="2601486"/>
                    </a:cubicBezTo>
                    <a:cubicBezTo>
                      <a:pt x="642922" y="2601486"/>
                      <a:pt x="0" y="1958564"/>
                      <a:pt x="0" y="1165479"/>
                    </a:cubicBezTo>
                    <a:cubicBezTo>
                      <a:pt x="0" y="719369"/>
                      <a:pt x="203425" y="320771"/>
                      <a:pt x="522574" y="57386"/>
                    </a:cubicBezTo>
                    <a:lnTo>
                      <a:pt x="599315" y="0"/>
                    </a:lnTo>
                    <a:lnTo>
                      <a:pt x="705163" y="52521"/>
                    </a:lnTo>
                    <a:lnTo>
                      <a:pt x="1704137" y="629279"/>
                    </a:lnTo>
                    <a:cubicBezTo>
                      <a:pt x="1743333" y="651909"/>
                      <a:pt x="1780314" y="676901"/>
                      <a:pt x="1815005" y="703972"/>
                    </a:cubicBezTo>
                    <a:close/>
                    <a:moveTo>
                      <a:pt x="2006548" y="907075"/>
                    </a:moveTo>
                    <a:lnTo>
                      <a:pt x="1986860" y="879387"/>
                    </a:lnTo>
                    <a:lnTo>
                      <a:pt x="1995060" y="889072"/>
                    </a:lnTo>
                    <a:close/>
                    <a:moveTo>
                      <a:pt x="2053189" y="1931884"/>
                    </a:moveTo>
                    <a:lnTo>
                      <a:pt x="2053176" y="1931910"/>
                    </a:lnTo>
                    <a:lnTo>
                      <a:pt x="1880925" y="2230259"/>
                    </a:lnTo>
                    <a:lnTo>
                      <a:pt x="1880925" y="2230257"/>
                    </a:lnTo>
                    <a:lnTo>
                      <a:pt x="2053176" y="1931909"/>
                    </a:lnTo>
                    <a:close/>
                    <a:moveTo>
                      <a:pt x="2068692" y="1007598"/>
                    </a:moveTo>
                    <a:lnTo>
                      <a:pt x="2052044" y="978380"/>
                    </a:lnTo>
                    <a:lnTo>
                      <a:pt x="2063335" y="996075"/>
                    </a:lnTo>
                    <a:close/>
                    <a:moveTo>
                      <a:pt x="2101939" y="1833636"/>
                    </a:moveTo>
                    <a:lnTo>
                      <a:pt x="2095166" y="1850517"/>
                    </a:lnTo>
                    <a:lnTo>
                      <a:pt x="2053189" y="1931884"/>
                    </a:lnTo>
                    <a:close/>
                    <a:moveTo>
                      <a:pt x="2113879" y="1803879"/>
                    </a:moveTo>
                    <a:lnTo>
                      <a:pt x="2107267" y="1822898"/>
                    </a:lnTo>
                    <a:lnTo>
                      <a:pt x="2101939" y="1833636"/>
                    </a:lnTo>
                    <a:close/>
                    <a:moveTo>
                      <a:pt x="2139904" y="1729011"/>
                    </a:moveTo>
                    <a:lnTo>
                      <a:pt x="2128657" y="1767046"/>
                    </a:lnTo>
                    <a:lnTo>
                      <a:pt x="2113879" y="1803879"/>
                    </a:lnTo>
                    <a:close/>
                    <a:moveTo>
                      <a:pt x="2148810" y="1698893"/>
                    </a:moveTo>
                    <a:lnTo>
                      <a:pt x="2146335" y="1710510"/>
                    </a:lnTo>
                    <a:lnTo>
                      <a:pt x="2139904" y="1729011"/>
                    </a:lnTo>
                    <a:close/>
                    <a:moveTo>
                      <a:pt x="2157689" y="1251116"/>
                    </a:moveTo>
                    <a:lnTo>
                      <a:pt x="2150333" y="1218457"/>
                    </a:lnTo>
                    <a:lnTo>
                      <a:pt x="2154097" y="1230476"/>
                    </a:lnTo>
                    <a:close/>
                    <a:moveTo>
                      <a:pt x="2170719" y="1596043"/>
                    </a:moveTo>
                    <a:lnTo>
                      <a:pt x="2153795" y="1682035"/>
                    </a:lnTo>
                    <a:lnTo>
                      <a:pt x="2148810" y="1698893"/>
                    </a:lnTo>
                    <a:close/>
                    <a:moveTo>
                      <a:pt x="2176181" y="1367039"/>
                    </a:moveTo>
                    <a:lnTo>
                      <a:pt x="2172063" y="1333720"/>
                    </a:lnTo>
                    <a:lnTo>
                      <a:pt x="2175673" y="1354469"/>
                    </a:lnTo>
                    <a:close/>
                    <a:moveTo>
                      <a:pt x="2180771" y="1480722"/>
                    </a:moveTo>
                    <a:cubicBezTo>
                      <a:pt x="2179773" y="1519151"/>
                      <a:pt x="2176442" y="1557656"/>
                      <a:pt x="2170722" y="1596025"/>
                    </a:cubicBezTo>
                    <a:lnTo>
                      <a:pt x="2170719" y="1596043"/>
                    </a:lnTo>
                    <a:lnTo>
                      <a:pt x="2170722" y="1596025"/>
                    </a:lnTo>
                    <a:close/>
                  </a:path>
                </a:pathLst>
              </a:custGeom>
              <a:gradFill>
                <a:gsLst>
                  <a:gs pos="0">
                    <a:srgbClr val="F2F9FF">
                      <a:alpha val="27000"/>
                    </a:srgbClr>
                  </a:gs>
                  <a:gs pos="100000">
                    <a:srgbClr val="F2F9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阿里巴巴普惠体" panose="00020600040101010101" pitchFamily="18" charset="-122"/>
                  <a:ea typeface="微软雅黑" panose="020B0503020204020204" pitchFamily="34" charset="-122"/>
                  <a:sym typeface="Segoe UI" panose="020B0502040204020203" pitchFamily="34" charset="0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6781800" y="2709637"/>
                <a:ext cx="2438400" cy="2438400"/>
              </a:xfrm>
              <a:prstGeom prst="ellipse">
                <a:avLst/>
              </a:prstGeom>
              <a:gradFill>
                <a:gsLst>
                  <a:gs pos="0">
                    <a:srgbClr val="F2F9FF">
                      <a:alpha val="27000"/>
                    </a:srgbClr>
                  </a:gs>
                  <a:gs pos="100000">
                    <a:srgbClr val="F2F9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阿里巴巴普惠体" panose="00020600040101010101" pitchFamily="18" charset="-122"/>
                  <a:ea typeface="微软雅黑" panose="020B0503020204020204" pitchFamily="34" charset="-122"/>
                  <a:sym typeface="Segoe UI" panose="020B0502040204020203" pitchFamily="34" charset="0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 rot="16200000">
                <a:off x="9418682" y="1817763"/>
                <a:ext cx="3851186" cy="1695450"/>
              </a:xfrm>
              <a:custGeom>
                <a:avLst/>
                <a:gdLst>
                  <a:gd name="connsiteX0" fmla="*/ 3851186 w 3851186"/>
                  <a:gd name="connsiteY0" fmla="*/ 1695450 h 1695450"/>
                  <a:gd name="connsiteX1" fmla="*/ 1839831 w 3851186"/>
                  <a:gd name="connsiteY1" fmla="*/ 1695450 h 1695450"/>
                  <a:gd name="connsiteX2" fmla="*/ 1306432 w 3851186"/>
                  <a:gd name="connsiteY2" fmla="*/ 1695450 h 1695450"/>
                  <a:gd name="connsiteX3" fmla="*/ 0 w 3851186"/>
                  <a:gd name="connsiteY3" fmla="*/ 1695450 h 1695450"/>
                  <a:gd name="connsiteX4" fmla="*/ 21970 w 3851186"/>
                  <a:gd name="connsiteY4" fmla="*/ 1551497 h 1695450"/>
                  <a:gd name="connsiteX5" fmla="*/ 1925594 w 3851186"/>
                  <a:gd name="connsiteY5" fmla="*/ 0 h 1695450"/>
                  <a:gd name="connsiteX6" fmla="*/ 3829216 w 3851186"/>
                  <a:gd name="connsiteY6" fmla="*/ 1551497 h 1695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51186" h="1695450">
                    <a:moveTo>
                      <a:pt x="3851186" y="1695450"/>
                    </a:moveTo>
                    <a:lnTo>
                      <a:pt x="1839831" y="1695450"/>
                    </a:lnTo>
                    <a:lnTo>
                      <a:pt x="1306432" y="1695450"/>
                    </a:lnTo>
                    <a:lnTo>
                      <a:pt x="0" y="1695450"/>
                    </a:lnTo>
                    <a:lnTo>
                      <a:pt x="21970" y="1551497"/>
                    </a:lnTo>
                    <a:cubicBezTo>
                      <a:pt x="203158" y="666060"/>
                      <a:pt x="986593" y="0"/>
                      <a:pt x="1925594" y="0"/>
                    </a:cubicBezTo>
                    <a:cubicBezTo>
                      <a:pt x="2864594" y="0"/>
                      <a:pt x="3648029" y="666060"/>
                      <a:pt x="3829216" y="1551497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9FF">
                      <a:alpha val="27000"/>
                    </a:srgbClr>
                  </a:gs>
                  <a:gs pos="100000">
                    <a:srgbClr val="F2F9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阿里巴巴普惠体" panose="00020600040101010101" pitchFamily="18" charset="-122"/>
                  <a:ea typeface="微软雅黑" panose="020B0503020204020204" pitchFamily="34" charset="-122"/>
                  <a:sym typeface="Segoe UI" panose="020B0502040204020203" pitchFamily="34" charset="0"/>
                </a:endParaRPr>
              </a:p>
            </p:txBody>
          </p:sp>
        </p:grpSp>
        <p:cxnSp>
          <p:nvCxnSpPr>
            <p:cNvPr id="21" name="直接连接符 20"/>
            <p:cNvCxnSpPr/>
            <p:nvPr userDrawn="1"/>
          </p:nvCxnSpPr>
          <p:spPr>
            <a:xfrm>
              <a:off x="5427535" y="1957388"/>
              <a:ext cx="168404" cy="328612"/>
            </a:xfrm>
            <a:prstGeom prst="line">
              <a:avLst/>
            </a:prstGeom>
            <a:ln w="12700">
              <a:solidFill>
                <a:srgbClr val="C8CB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494207"/>
      </p:ext>
    </p:extLst>
  </p:cSld>
  <p:clrMapOvr>
    <a:masterClrMapping/>
  </p:clrMapOvr>
  <p:transition spd="slow" advTm="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序号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 flipH="1">
            <a:off x="-1697057" y="-344712"/>
            <a:ext cx="7221666" cy="7232166"/>
            <a:chOff x="4970334" y="-304798"/>
            <a:chExt cx="7221666" cy="6431342"/>
          </a:xfrm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13" name="任意多边形: 形状 12"/>
            <p:cNvSpPr/>
            <p:nvPr/>
          </p:nvSpPr>
          <p:spPr>
            <a:xfrm rot="16200000">
              <a:off x="5365496" y="-699960"/>
              <a:ext cx="6431342" cy="7221666"/>
            </a:xfrm>
            <a:custGeom>
              <a:avLst/>
              <a:gdLst>
                <a:gd name="connsiteX0" fmla="*/ 6096001 w 6395847"/>
                <a:gd name="connsiteY0" fmla="*/ 7221665 h 7221666"/>
                <a:gd name="connsiteX1" fmla="*/ 6096001 w 6395847"/>
                <a:gd name="connsiteY1" fmla="*/ 7221666 h 7221666"/>
                <a:gd name="connsiteX2" fmla="*/ 3314700 w 6395847"/>
                <a:gd name="connsiteY2" fmla="*/ 7221666 h 7221666"/>
                <a:gd name="connsiteX3" fmla="*/ 2781301 w 6395847"/>
                <a:gd name="connsiteY3" fmla="*/ 7221666 h 7221666"/>
                <a:gd name="connsiteX4" fmla="*/ 0 w 6395847"/>
                <a:gd name="connsiteY4" fmla="*/ 7221666 h 7221666"/>
                <a:gd name="connsiteX5" fmla="*/ 0 w 6395847"/>
                <a:gd name="connsiteY5" fmla="*/ 3447952 h 7221666"/>
                <a:gd name="connsiteX6" fmla="*/ 1 w 6395847"/>
                <a:gd name="connsiteY6" fmla="*/ 3447952 h 7221666"/>
                <a:gd name="connsiteX7" fmla="*/ 1 w 6395847"/>
                <a:gd name="connsiteY7" fmla="*/ 3019060 h 7221666"/>
                <a:gd name="connsiteX8" fmla="*/ 279301 w 6395847"/>
                <a:gd name="connsiteY8" fmla="*/ 2344769 h 7221666"/>
                <a:gd name="connsiteX9" fmla="*/ 405446 w 6395847"/>
                <a:gd name="connsiteY9" fmla="*/ 2240690 h 7221666"/>
                <a:gd name="connsiteX10" fmla="*/ 404464 w 6395847"/>
                <a:gd name="connsiteY10" fmla="*/ 2239038 h 7221666"/>
                <a:gd name="connsiteX11" fmla="*/ 415115 w 6395847"/>
                <a:gd name="connsiteY11" fmla="*/ 2232712 h 7221666"/>
                <a:gd name="connsiteX12" fmla="*/ 420431 w 6395847"/>
                <a:gd name="connsiteY12" fmla="*/ 2228326 h 7221666"/>
                <a:gd name="connsiteX13" fmla="*/ 444464 w 6395847"/>
                <a:gd name="connsiteY13" fmla="*/ 2215281 h 7221666"/>
                <a:gd name="connsiteX14" fmla="*/ 3989796 w 6395847"/>
                <a:gd name="connsiteY14" fmla="*/ 109665 h 7221666"/>
                <a:gd name="connsiteX15" fmla="*/ 3993587 w 6395847"/>
                <a:gd name="connsiteY15" fmla="*/ 116048 h 7221666"/>
                <a:gd name="connsiteX16" fmla="*/ 4025229 w 6395847"/>
                <a:gd name="connsiteY16" fmla="*/ 96652 h 7221666"/>
                <a:gd name="connsiteX17" fmla="*/ 4920239 w 6395847"/>
                <a:gd name="connsiteY17" fmla="*/ 127915 h 7221666"/>
                <a:gd name="connsiteX18" fmla="*/ 5919213 w 6395847"/>
                <a:gd name="connsiteY18" fmla="*/ 704673 h 7221666"/>
                <a:gd name="connsiteX19" fmla="*/ 6030081 w 6395847"/>
                <a:gd name="connsiteY19" fmla="*/ 779366 h 7221666"/>
                <a:gd name="connsiteX20" fmla="*/ 6096000 w 6395847"/>
                <a:gd name="connsiteY20" fmla="*/ 838524 h 7221666"/>
                <a:gd name="connsiteX21" fmla="*/ 6096000 w 6395847"/>
                <a:gd name="connsiteY21" fmla="*/ 7221665 h 7221666"/>
                <a:gd name="connsiteX22" fmla="*/ 6221624 w 6395847"/>
                <a:gd name="connsiteY22" fmla="*/ 982469 h 7221666"/>
                <a:gd name="connsiteX23" fmla="*/ 6201936 w 6395847"/>
                <a:gd name="connsiteY23" fmla="*/ 954781 h 7221666"/>
                <a:gd name="connsiteX24" fmla="*/ 6210136 w 6395847"/>
                <a:gd name="connsiteY24" fmla="*/ 964466 h 7221666"/>
                <a:gd name="connsiteX25" fmla="*/ 6283768 w 6395847"/>
                <a:gd name="connsiteY25" fmla="*/ 1082992 h 7221666"/>
                <a:gd name="connsiteX26" fmla="*/ 6267120 w 6395847"/>
                <a:gd name="connsiteY26" fmla="*/ 1053774 h 7221666"/>
                <a:gd name="connsiteX27" fmla="*/ 6278411 w 6395847"/>
                <a:gd name="connsiteY27" fmla="*/ 1071469 h 7221666"/>
                <a:gd name="connsiteX28" fmla="*/ 6372765 w 6395847"/>
                <a:gd name="connsiteY28" fmla="*/ 1326510 h 7221666"/>
                <a:gd name="connsiteX29" fmla="*/ 6365409 w 6395847"/>
                <a:gd name="connsiteY29" fmla="*/ 1293851 h 7221666"/>
                <a:gd name="connsiteX30" fmla="*/ 6369173 w 6395847"/>
                <a:gd name="connsiteY30" fmla="*/ 1305870 h 7221666"/>
                <a:gd name="connsiteX31" fmla="*/ 6391257 w 6395847"/>
                <a:gd name="connsiteY31" fmla="*/ 1442433 h 7221666"/>
                <a:gd name="connsiteX32" fmla="*/ 6387139 w 6395847"/>
                <a:gd name="connsiteY32" fmla="*/ 1409114 h 7221666"/>
                <a:gd name="connsiteX33" fmla="*/ 6390749 w 6395847"/>
                <a:gd name="connsiteY33" fmla="*/ 1429863 h 7221666"/>
                <a:gd name="connsiteX34" fmla="*/ 6395847 w 6395847"/>
                <a:gd name="connsiteY34" fmla="*/ 1556116 h 7221666"/>
                <a:gd name="connsiteX35" fmla="*/ 6268252 w 6395847"/>
                <a:gd name="connsiteY35" fmla="*/ 2007304 h 7221666"/>
                <a:gd name="connsiteX36" fmla="*/ 6096001 w 6395847"/>
                <a:gd name="connsiteY36" fmla="*/ 2305652 h 7221666"/>
                <a:gd name="connsiteX37" fmla="*/ 6096001 w 6395847"/>
                <a:gd name="connsiteY37" fmla="*/ 2305651 h 7221666"/>
                <a:gd name="connsiteX38" fmla="*/ 6268252 w 6395847"/>
                <a:gd name="connsiteY38" fmla="*/ 2007303 h 7221666"/>
                <a:gd name="connsiteX39" fmla="*/ 6385798 w 6395847"/>
                <a:gd name="connsiteY39" fmla="*/ 1671419 h 7221666"/>
                <a:gd name="connsiteX40" fmla="*/ 6395847 w 6395847"/>
                <a:gd name="connsiteY40" fmla="*/ 1556116 h 722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395847" h="7221666">
                  <a:moveTo>
                    <a:pt x="6096001" y="7221665"/>
                  </a:moveTo>
                  <a:lnTo>
                    <a:pt x="6096001" y="7221666"/>
                  </a:lnTo>
                  <a:lnTo>
                    <a:pt x="3314700" y="7221666"/>
                  </a:lnTo>
                  <a:lnTo>
                    <a:pt x="2781301" y="7221666"/>
                  </a:lnTo>
                  <a:lnTo>
                    <a:pt x="0" y="7221666"/>
                  </a:lnTo>
                  <a:lnTo>
                    <a:pt x="0" y="3447952"/>
                  </a:lnTo>
                  <a:lnTo>
                    <a:pt x="1" y="3447952"/>
                  </a:lnTo>
                  <a:lnTo>
                    <a:pt x="1" y="3019060"/>
                  </a:lnTo>
                  <a:cubicBezTo>
                    <a:pt x="1" y="2755733"/>
                    <a:pt x="106735" y="2517335"/>
                    <a:pt x="279301" y="2344769"/>
                  </a:cubicBezTo>
                  <a:lnTo>
                    <a:pt x="405446" y="2240690"/>
                  </a:lnTo>
                  <a:lnTo>
                    <a:pt x="404464" y="2239038"/>
                  </a:lnTo>
                  <a:lnTo>
                    <a:pt x="415115" y="2232712"/>
                  </a:lnTo>
                  <a:lnTo>
                    <a:pt x="420431" y="2228326"/>
                  </a:lnTo>
                  <a:lnTo>
                    <a:pt x="444464" y="2215281"/>
                  </a:lnTo>
                  <a:lnTo>
                    <a:pt x="3989796" y="109665"/>
                  </a:lnTo>
                  <a:lnTo>
                    <a:pt x="3993587" y="116048"/>
                  </a:lnTo>
                  <a:lnTo>
                    <a:pt x="4025229" y="96652"/>
                  </a:lnTo>
                  <a:cubicBezTo>
                    <a:pt x="4300466" y="-37338"/>
                    <a:pt x="4635179" y="-36664"/>
                    <a:pt x="4920239" y="127915"/>
                  </a:cubicBezTo>
                  <a:lnTo>
                    <a:pt x="5919213" y="704673"/>
                  </a:lnTo>
                  <a:cubicBezTo>
                    <a:pt x="5958409" y="727303"/>
                    <a:pt x="5995390" y="752295"/>
                    <a:pt x="6030081" y="779366"/>
                  </a:cubicBezTo>
                  <a:lnTo>
                    <a:pt x="6096000" y="838524"/>
                  </a:lnTo>
                  <a:lnTo>
                    <a:pt x="6096000" y="7221665"/>
                  </a:lnTo>
                  <a:close/>
                  <a:moveTo>
                    <a:pt x="6221624" y="982469"/>
                  </a:moveTo>
                  <a:lnTo>
                    <a:pt x="6201936" y="954781"/>
                  </a:lnTo>
                  <a:lnTo>
                    <a:pt x="6210136" y="964466"/>
                  </a:lnTo>
                  <a:close/>
                  <a:moveTo>
                    <a:pt x="6283768" y="1082992"/>
                  </a:moveTo>
                  <a:lnTo>
                    <a:pt x="6267120" y="1053774"/>
                  </a:lnTo>
                  <a:lnTo>
                    <a:pt x="6278411" y="1071469"/>
                  </a:lnTo>
                  <a:close/>
                  <a:moveTo>
                    <a:pt x="6372765" y="1326510"/>
                  </a:moveTo>
                  <a:lnTo>
                    <a:pt x="6365409" y="1293851"/>
                  </a:lnTo>
                  <a:lnTo>
                    <a:pt x="6369173" y="1305870"/>
                  </a:lnTo>
                  <a:close/>
                  <a:moveTo>
                    <a:pt x="6391257" y="1442433"/>
                  </a:moveTo>
                  <a:lnTo>
                    <a:pt x="6387139" y="1409114"/>
                  </a:lnTo>
                  <a:lnTo>
                    <a:pt x="6390749" y="1429863"/>
                  </a:lnTo>
                  <a:close/>
                  <a:moveTo>
                    <a:pt x="6395847" y="1556116"/>
                  </a:moveTo>
                  <a:cubicBezTo>
                    <a:pt x="6391855" y="1709831"/>
                    <a:pt x="6350542" y="1864774"/>
                    <a:pt x="6268252" y="2007304"/>
                  </a:cubicBezTo>
                  <a:lnTo>
                    <a:pt x="6096001" y="2305652"/>
                  </a:lnTo>
                  <a:lnTo>
                    <a:pt x="6096001" y="2305651"/>
                  </a:lnTo>
                  <a:lnTo>
                    <a:pt x="6268252" y="2007303"/>
                  </a:lnTo>
                  <a:cubicBezTo>
                    <a:pt x="6329969" y="1900406"/>
                    <a:pt x="6368637" y="1786526"/>
                    <a:pt x="6385798" y="1671419"/>
                  </a:cubicBezTo>
                  <a:lnTo>
                    <a:pt x="6395847" y="1556116"/>
                  </a:lnTo>
                  <a:close/>
                </a:path>
              </a:pathLst>
            </a:custGeom>
            <a:gradFill>
              <a:gsLst>
                <a:gs pos="0">
                  <a:srgbClr val="0165C5"/>
                </a:gs>
                <a:gs pos="100000">
                  <a:srgbClr val="0165C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 rot="16200000">
              <a:off x="5253261" y="-515155"/>
              <a:ext cx="2180771" cy="2601486"/>
            </a:xfrm>
            <a:custGeom>
              <a:avLst/>
              <a:gdLst>
                <a:gd name="connsiteX0" fmla="*/ 1880924 w 2180771"/>
                <a:gd name="connsiteY0" fmla="*/ 763130 h 2601486"/>
                <a:gd name="connsiteX1" fmla="*/ 1880924 w 2180771"/>
                <a:gd name="connsiteY1" fmla="*/ 2530378 h 2601486"/>
                <a:gd name="connsiteX2" fmla="*/ 1863032 w 2180771"/>
                <a:gd name="connsiteY2" fmla="*/ 2536926 h 2601486"/>
                <a:gd name="connsiteX3" fmla="*/ 1436007 w 2180771"/>
                <a:gd name="connsiteY3" fmla="*/ 2601486 h 2601486"/>
                <a:gd name="connsiteX4" fmla="*/ 0 w 2180771"/>
                <a:gd name="connsiteY4" fmla="*/ 1165479 h 2601486"/>
                <a:gd name="connsiteX5" fmla="*/ 522574 w 2180771"/>
                <a:gd name="connsiteY5" fmla="*/ 57386 h 2601486"/>
                <a:gd name="connsiteX6" fmla="*/ 599315 w 2180771"/>
                <a:gd name="connsiteY6" fmla="*/ 0 h 2601486"/>
                <a:gd name="connsiteX7" fmla="*/ 705163 w 2180771"/>
                <a:gd name="connsiteY7" fmla="*/ 52521 h 2601486"/>
                <a:gd name="connsiteX8" fmla="*/ 1704137 w 2180771"/>
                <a:gd name="connsiteY8" fmla="*/ 629279 h 2601486"/>
                <a:gd name="connsiteX9" fmla="*/ 1815005 w 2180771"/>
                <a:gd name="connsiteY9" fmla="*/ 703972 h 2601486"/>
                <a:gd name="connsiteX10" fmla="*/ 2006548 w 2180771"/>
                <a:gd name="connsiteY10" fmla="*/ 907075 h 2601486"/>
                <a:gd name="connsiteX11" fmla="*/ 1986860 w 2180771"/>
                <a:gd name="connsiteY11" fmla="*/ 879387 h 2601486"/>
                <a:gd name="connsiteX12" fmla="*/ 1995060 w 2180771"/>
                <a:gd name="connsiteY12" fmla="*/ 889072 h 2601486"/>
                <a:gd name="connsiteX13" fmla="*/ 2053189 w 2180771"/>
                <a:gd name="connsiteY13" fmla="*/ 1931884 h 2601486"/>
                <a:gd name="connsiteX14" fmla="*/ 2053176 w 2180771"/>
                <a:gd name="connsiteY14" fmla="*/ 1931910 h 2601486"/>
                <a:gd name="connsiteX15" fmla="*/ 1880925 w 2180771"/>
                <a:gd name="connsiteY15" fmla="*/ 2230259 h 2601486"/>
                <a:gd name="connsiteX16" fmla="*/ 1880925 w 2180771"/>
                <a:gd name="connsiteY16" fmla="*/ 2230257 h 2601486"/>
                <a:gd name="connsiteX17" fmla="*/ 2053176 w 2180771"/>
                <a:gd name="connsiteY17" fmla="*/ 1931909 h 2601486"/>
                <a:gd name="connsiteX18" fmla="*/ 2068692 w 2180771"/>
                <a:gd name="connsiteY18" fmla="*/ 1007598 h 2601486"/>
                <a:gd name="connsiteX19" fmla="*/ 2052044 w 2180771"/>
                <a:gd name="connsiteY19" fmla="*/ 978380 h 2601486"/>
                <a:gd name="connsiteX20" fmla="*/ 2063335 w 2180771"/>
                <a:gd name="connsiteY20" fmla="*/ 996075 h 2601486"/>
                <a:gd name="connsiteX21" fmla="*/ 2101939 w 2180771"/>
                <a:gd name="connsiteY21" fmla="*/ 1833636 h 2601486"/>
                <a:gd name="connsiteX22" fmla="*/ 2095166 w 2180771"/>
                <a:gd name="connsiteY22" fmla="*/ 1850517 h 2601486"/>
                <a:gd name="connsiteX23" fmla="*/ 2053189 w 2180771"/>
                <a:gd name="connsiteY23" fmla="*/ 1931884 h 2601486"/>
                <a:gd name="connsiteX24" fmla="*/ 2113879 w 2180771"/>
                <a:gd name="connsiteY24" fmla="*/ 1803879 h 2601486"/>
                <a:gd name="connsiteX25" fmla="*/ 2107267 w 2180771"/>
                <a:gd name="connsiteY25" fmla="*/ 1822898 h 2601486"/>
                <a:gd name="connsiteX26" fmla="*/ 2101939 w 2180771"/>
                <a:gd name="connsiteY26" fmla="*/ 1833636 h 2601486"/>
                <a:gd name="connsiteX27" fmla="*/ 2139904 w 2180771"/>
                <a:gd name="connsiteY27" fmla="*/ 1729011 h 2601486"/>
                <a:gd name="connsiteX28" fmla="*/ 2128657 w 2180771"/>
                <a:gd name="connsiteY28" fmla="*/ 1767046 h 2601486"/>
                <a:gd name="connsiteX29" fmla="*/ 2113879 w 2180771"/>
                <a:gd name="connsiteY29" fmla="*/ 1803879 h 2601486"/>
                <a:gd name="connsiteX30" fmla="*/ 2148810 w 2180771"/>
                <a:gd name="connsiteY30" fmla="*/ 1698893 h 2601486"/>
                <a:gd name="connsiteX31" fmla="*/ 2146335 w 2180771"/>
                <a:gd name="connsiteY31" fmla="*/ 1710510 h 2601486"/>
                <a:gd name="connsiteX32" fmla="*/ 2139904 w 2180771"/>
                <a:gd name="connsiteY32" fmla="*/ 1729011 h 2601486"/>
                <a:gd name="connsiteX33" fmla="*/ 2157689 w 2180771"/>
                <a:gd name="connsiteY33" fmla="*/ 1251116 h 2601486"/>
                <a:gd name="connsiteX34" fmla="*/ 2150333 w 2180771"/>
                <a:gd name="connsiteY34" fmla="*/ 1218457 h 2601486"/>
                <a:gd name="connsiteX35" fmla="*/ 2154097 w 2180771"/>
                <a:gd name="connsiteY35" fmla="*/ 1230476 h 2601486"/>
                <a:gd name="connsiteX36" fmla="*/ 2170719 w 2180771"/>
                <a:gd name="connsiteY36" fmla="*/ 1596043 h 2601486"/>
                <a:gd name="connsiteX37" fmla="*/ 2153795 w 2180771"/>
                <a:gd name="connsiteY37" fmla="*/ 1682035 h 2601486"/>
                <a:gd name="connsiteX38" fmla="*/ 2148810 w 2180771"/>
                <a:gd name="connsiteY38" fmla="*/ 1698893 h 2601486"/>
                <a:gd name="connsiteX39" fmla="*/ 2176181 w 2180771"/>
                <a:gd name="connsiteY39" fmla="*/ 1367039 h 2601486"/>
                <a:gd name="connsiteX40" fmla="*/ 2172063 w 2180771"/>
                <a:gd name="connsiteY40" fmla="*/ 1333720 h 2601486"/>
                <a:gd name="connsiteX41" fmla="*/ 2175673 w 2180771"/>
                <a:gd name="connsiteY41" fmla="*/ 1354469 h 2601486"/>
                <a:gd name="connsiteX42" fmla="*/ 2180771 w 2180771"/>
                <a:gd name="connsiteY42" fmla="*/ 1480722 h 2601486"/>
                <a:gd name="connsiteX43" fmla="*/ 2170722 w 2180771"/>
                <a:gd name="connsiteY43" fmla="*/ 1596025 h 2601486"/>
                <a:gd name="connsiteX44" fmla="*/ 2170719 w 2180771"/>
                <a:gd name="connsiteY44" fmla="*/ 1596043 h 2601486"/>
                <a:gd name="connsiteX45" fmla="*/ 2170722 w 2180771"/>
                <a:gd name="connsiteY45" fmla="*/ 1596025 h 260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80771" h="2601486">
                  <a:moveTo>
                    <a:pt x="1880924" y="763130"/>
                  </a:moveTo>
                  <a:lnTo>
                    <a:pt x="1880924" y="2530378"/>
                  </a:lnTo>
                  <a:lnTo>
                    <a:pt x="1863032" y="2536926"/>
                  </a:lnTo>
                  <a:cubicBezTo>
                    <a:pt x="1728135" y="2578883"/>
                    <a:pt x="1584711" y="2601486"/>
                    <a:pt x="1436007" y="2601486"/>
                  </a:cubicBezTo>
                  <a:cubicBezTo>
                    <a:pt x="642922" y="2601486"/>
                    <a:pt x="0" y="1958564"/>
                    <a:pt x="0" y="1165479"/>
                  </a:cubicBezTo>
                  <a:cubicBezTo>
                    <a:pt x="0" y="719369"/>
                    <a:pt x="203425" y="320771"/>
                    <a:pt x="522574" y="57386"/>
                  </a:cubicBezTo>
                  <a:lnTo>
                    <a:pt x="599315" y="0"/>
                  </a:lnTo>
                  <a:lnTo>
                    <a:pt x="705163" y="52521"/>
                  </a:lnTo>
                  <a:lnTo>
                    <a:pt x="1704137" y="629279"/>
                  </a:lnTo>
                  <a:cubicBezTo>
                    <a:pt x="1743333" y="651909"/>
                    <a:pt x="1780314" y="676901"/>
                    <a:pt x="1815005" y="703972"/>
                  </a:cubicBezTo>
                  <a:close/>
                  <a:moveTo>
                    <a:pt x="2006548" y="907075"/>
                  </a:moveTo>
                  <a:lnTo>
                    <a:pt x="1986860" y="879387"/>
                  </a:lnTo>
                  <a:lnTo>
                    <a:pt x="1995060" y="889072"/>
                  </a:lnTo>
                  <a:close/>
                  <a:moveTo>
                    <a:pt x="2053189" y="1931884"/>
                  </a:moveTo>
                  <a:lnTo>
                    <a:pt x="2053176" y="1931910"/>
                  </a:lnTo>
                  <a:lnTo>
                    <a:pt x="1880925" y="2230259"/>
                  </a:lnTo>
                  <a:lnTo>
                    <a:pt x="1880925" y="2230257"/>
                  </a:lnTo>
                  <a:lnTo>
                    <a:pt x="2053176" y="1931909"/>
                  </a:lnTo>
                  <a:close/>
                  <a:moveTo>
                    <a:pt x="2068692" y="1007598"/>
                  </a:moveTo>
                  <a:lnTo>
                    <a:pt x="2052044" y="978380"/>
                  </a:lnTo>
                  <a:lnTo>
                    <a:pt x="2063335" y="996075"/>
                  </a:lnTo>
                  <a:close/>
                  <a:moveTo>
                    <a:pt x="2101939" y="1833636"/>
                  </a:moveTo>
                  <a:lnTo>
                    <a:pt x="2095166" y="1850517"/>
                  </a:lnTo>
                  <a:lnTo>
                    <a:pt x="2053189" y="1931884"/>
                  </a:lnTo>
                  <a:close/>
                  <a:moveTo>
                    <a:pt x="2113879" y="1803879"/>
                  </a:moveTo>
                  <a:lnTo>
                    <a:pt x="2107267" y="1822898"/>
                  </a:lnTo>
                  <a:lnTo>
                    <a:pt x="2101939" y="1833636"/>
                  </a:lnTo>
                  <a:close/>
                  <a:moveTo>
                    <a:pt x="2139904" y="1729011"/>
                  </a:moveTo>
                  <a:lnTo>
                    <a:pt x="2128657" y="1767046"/>
                  </a:lnTo>
                  <a:lnTo>
                    <a:pt x="2113879" y="1803879"/>
                  </a:lnTo>
                  <a:close/>
                  <a:moveTo>
                    <a:pt x="2148810" y="1698893"/>
                  </a:moveTo>
                  <a:lnTo>
                    <a:pt x="2146335" y="1710510"/>
                  </a:lnTo>
                  <a:lnTo>
                    <a:pt x="2139904" y="1729011"/>
                  </a:lnTo>
                  <a:close/>
                  <a:moveTo>
                    <a:pt x="2157689" y="1251116"/>
                  </a:moveTo>
                  <a:lnTo>
                    <a:pt x="2150333" y="1218457"/>
                  </a:lnTo>
                  <a:lnTo>
                    <a:pt x="2154097" y="1230476"/>
                  </a:lnTo>
                  <a:close/>
                  <a:moveTo>
                    <a:pt x="2170719" y="1596043"/>
                  </a:moveTo>
                  <a:lnTo>
                    <a:pt x="2153795" y="1682035"/>
                  </a:lnTo>
                  <a:lnTo>
                    <a:pt x="2148810" y="1698893"/>
                  </a:lnTo>
                  <a:close/>
                  <a:moveTo>
                    <a:pt x="2176181" y="1367039"/>
                  </a:moveTo>
                  <a:lnTo>
                    <a:pt x="2172063" y="1333720"/>
                  </a:lnTo>
                  <a:lnTo>
                    <a:pt x="2175673" y="1354469"/>
                  </a:lnTo>
                  <a:close/>
                  <a:moveTo>
                    <a:pt x="2180771" y="1480722"/>
                  </a:moveTo>
                  <a:cubicBezTo>
                    <a:pt x="2179773" y="1519151"/>
                    <a:pt x="2176442" y="1557656"/>
                    <a:pt x="2170722" y="1596025"/>
                  </a:cubicBezTo>
                  <a:lnTo>
                    <a:pt x="2170719" y="1596043"/>
                  </a:lnTo>
                  <a:lnTo>
                    <a:pt x="2170722" y="1596025"/>
                  </a:lnTo>
                  <a:close/>
                </a:path>
              </a:pathLst>
            </a:custGeom>
            <a:gradFill>
              <a:gsLst>
                <a:gs pos="0">
                  <a:srgbClr val="F2F9FF">
                    <a:alpha val="27000"/>
                  </a:srgbClr>
                </a:gs>
                <a:gs pos="100000">
                  <a:srgbClr val="F2F9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6690135" y="2426414"/>
              <a:ext cx="1961282" cy="1961282"/>
            </a:xfrm>
            <a:prstGeom prst="ellipse">
              <a:avLst/>
            </a:prstGeom>
            <a:gradFill>
              <a:gsLst>
                <a:gs pos="0">
                  <a:srgbClr val="F2F9FF">
                    <a:alpha val="27000"/>
                  </a:srgbClr>
                </a:gs>
                <a:gs pos="100000">
                  <a:srgbClr val="F2F9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  <p:sp>
          <p:nvSpPr>
            <p:cNvPr id="16" name="任意多边形: 形状 15"/>
            <p:cNvSpPr/>
            <p:nvPr/>
          </p:nvSpPr>
          <p:spPr>
            <a:xfrm rot="16200000">
              <a:off x="8765537" y="2166106"/>
              <a:ext cx="3851186" cy="1695450"/>
            </a:xfrm>
            <a:custGeom>
              <a:avLst/>
              <a:gdLst>
                <a:gd name="connsiteX0" fmla="*/ 3851186 w 3851186"/>
                <a:gd name="connsiteY0" fmla="*/ 1695450 h 1695450"/>
                <a:gd name="connsiteX1" fmla="*/ 1839831 w 3851186"/>
                <a:gd name="connsiteY1" fmla="*/ 1695450 h 1695450"/>
                <a:gd name="connsiteX2" fmla="*/ 1306432 w 3851186"/>
                <a:gd name="connsiteY2" fmla="*/ 1695450 h 1695450"/>
                <a:gd name="connsiteX3" fmla="*/ 0 w 3851186"/>
                <a:gd name="connsiteY3" fmla="*/ 1695450 h 1695450"/>
                <a:gd name="connsiteX4" fmla="*/ 21970 w 3851186"/>
                <a:gd name="connsiteY4" fmla="*/ 1551497 h 1695450"/>
                <a:gd name="connsiteX5" fmla="*/ 1925594 w 3851186"/>
                <a:gd name="connsiteY5" fmla="*/ 0 h 1695450"/>
                <a:gd name="connsiteX6" fmla="*/ 3829216 w 3851186"/>
                <a:gd name="connsiteY6" fmla="*/ 1551497 h 169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186" h="1695450">
                  <a:moveTo>
                    <a:pt x="3851186" y="1695450"/>
                  </a:moveTo>
                  <a:lnTo>
                    <a:pt x="1839831" y="1695450"/>
                  </a:lnTo>
                  <a:lnTo>
                    <a:pt x="1306432" y="1695450"/>
                  </a:lnTo>
                  <a:lnTo>
                    <a:pt x="0" y="1695450"/>
                  </a:lnTo>
                  <a:lnTo>
                    <a:pt x="21970" y="1551497"/>
                  </a:lnTo>
                  <a:cubicBezTo>
                    <a:pt x="203158" y="666060"/>
                    <a:pt x="986593" y="0"/>
                    <a:pt x="1925594" y="0"/>
                  </a:cubicBezTo>
                  <a:cubicBezTo>
                    <a:pt x="2864594" y="0"/>
                    <a:pt x="3648029" y="666060"/>
                    <a:pt x="3829216" y="1551497"/>
                  </a:cubicBezTo>
                  <a:close/>
                </a:path>
              </a:pathLst>
            </a:custGeom>
            <a:gradFill>
              <a:gsLst>
                <a:gs pos="0">
                  <a:srgbClr val="F2F9FF">
                    <a:alpha val="27000"/>
                  </a:srgbClr>
                </a:gs>
                <a:gs pos="100000">
                  <a:srgbClr val="F2F9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</p:grpSp>
      <p:sp>
        <p:nvSpPr>
          <p:cNvPr id="23" name="任意多边形: 形状 22"/>
          <p:cNvSpPr/>
          <p:nvPr/>
        </p:nvSpPr>
        <p:spPr>
          <a:xfrm flipH="1">
            <a:off x="10602589" y="2807982"/>
            <a:ext cx="1583750" cy="3179395"/>
          </a:xfrm>
          <a:custGeom>
            <a:avLst/>
            <a:gdLst>
              <a:gd name="connsiteX0" fmla="*/ 0 w 1252875"/>
              <a:gd name="connsiteY0" fmla="*/ 0 h 2515160"/>
              <a:gd name="connsiteX1" fmla="*/ 123651 w 1252875"/>
              <a:gd name="connsiteY1" fmla="*/ 6244 h 2515160"/>
              <a:gd name="connsiteX2" fmla="*/ 1252875 w 1252875"/>
              <a:gd name="connsiteY2" fmla="*/ 1257580 h 2515160"/>
              <a:gd name="connsiteX3" fmla="*/ 123651 w 1252875"/>
              <a:gd name="connsiteY3" fmla="*/ 2508916 h 2515160"/>
              <a:gd name="connsiteX4" fmla="*/ 0 w 1252875"/>
              <a:gd name="connsiteY4" fmla="*/ 2515160 h 251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2875" h="2515160">
                <a:moveTo>
                  <a:pt x="0" y="0"/>
                </a:moveTo>
                <a:lnTo>
                  <a:pt x="123651" y="6244"/>
                </a:lnTo>
                <a:cubicBezTo>
                  <a:pt x="757919" y="70658"/>
                  <a:pt x="1252875" y="606318"/>
                  <a:pt x="1252875" y="1257580"/>
                </a:cubicBezTo>
                <a:cubicBezTo>
                  <a:pt x="1252875" y="1908843"/>
                  <a:pt x="757919" y="2444503"/>
                  <a:pt x="123651" y="2508916"/>
                </a:cubicBezTo>
                <a:lnTo>
                  <a:pt x="0" y="2515160"/>
                </a:lnTo>
                <a:close/>
              </a:path>
            </a:pathLst>
          </a:custGeom>
          <a:gradFill>
            <a:gsLst>
              <a:gs pos="0">
                <a:srgbClr val="0165C5">
                  <a:alpha val="7000"/>
                </a:srgbClr>
              </a:gs>
              <a:gs pos="100000">
                <a:srgbClr val="F2F9FF">
                  <a:alpha val="2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18" name="任意多边形: 形状 17"/>
          <p:cNvSpPr/>
          <p:nvPr/>
        </p:nvSpPr>
        <p:spPr>
          <a:xfrm flipV="1">
            <a:off x="8128592" y="-1372"/>
            <a:ext cx="2978956" cy="1146672"/>
          </a:xfrm>
          <a:custGeom>
            <a:avLst/>
            <a:gdLst>
              <a:gd name="connsiteX0" fmla="*/ 1936014 w 3872028"/>
              <a:gd name="connsiteY0" fmla="*/ 0 h 1490437"/>
              <a:gd name="connsiteX1" fmla="*/ 3851067 w 3872028"/>
              <a:gd name="connsiteY1" fmla="*/ 1408917 h 1490437"/>
              <a:gd name="connsiteX2" fmla="*/ 3872028 w 3872028"/>
              <a:gd name="connsiteY2" fmla="*/ 1490437 h 1490437"/>
              <a:gd name="connsiteX3" fmla="*/ 0 w 3872028"/>
              <a:gd name="connsiteY3" fmla="*/ 1490437 h 1490437"/>
              <a:gd name="connsiteX4" fmla="*/ 20961 w 3872028"/>
              <a:gd name="connsiteY4" fmla="*/ 1408917 h 1490437"/>
              <a:gd name="connsiteX5" fmla="*/ 1936014 w 3872028"/>
              <a:gd name="connsiteY5" fmla="*/ 0 h 149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2028" h="1490437">
                <a:moveTo>
                  <a:pt x="1936014" y="0"/>
                </a:moveTo>
                <a:cubicBezTo>
                  <a:pt x="2835812" y="0"/>
                  <a:pt x="3597185" y="592662"/>
                  <a:pt x="3851067" y="1408917"/>
                </a:cubicBezTo>
                <a:lnTo>
                  <a:pt x="3872028" y="1490437"/>
                </a:lnTo>
                <a:lnTo>
                  <a:pt x="0" y="1490437"/>
                </a:lnTo>
                <a:lnTo>
                  <a:pt x="20961" y="1408917"/>
                </a:lnTo>
                <a:cubicBezTo>
                  <a:pt x="274843" y="592662"/>
                  <a:pt x="1036217" y="0"/>
                  <a:pt x="1936014" y="0"/>
                </a:cubicBezTo>
                <a:close/>
              </a:path>
            </a:pathLst>
          </a:custGeom>
          <a:gradFill>
            <a:gsLst>
              <a:gs pos="0">
                <a:srgbClr val="0165C5">
                  <a:alpha val="7000"/>
                </a:srgbClr>
              </a:gs>
              <a:gs pos="100000">
                <a:srgbClr val="F2F9FF">
                  <a:alpha val="2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 flipH="1">
            <a:off x="4294452" y="5266545"/>
            <a:ext cx="4134465" cy="1591455"/>
          </a:xfrm>
          <a:custGeom>
            <a:avLst/>
            <a:gdLst>
              <a:gd name="connsiteX0" fmla="*/ 1936014 w 3872028"/>
              <a:gd name="connsiteY0" fmla="*/ 0 h 1490437"/>
              <a:gd name="connsiteX1" fmla="*/ 3851067 w 3872028"/>
              <a:gd name="connsiteY1" fmla="*/ 1408917 h 1490437"/>
              <a:gd name="connsiteX2" fmla="*/ 3872028 w 3872028"/>
              <a:gd name="connsiteY2" fmla="*/ 1490437 h 1490437"/>
              <a:gd name="connsiteX3" fmla="*/ 0 w 3872028"/>
              <a:gd name="connsiteY3" fmla="*/ 1490437 h 1490437"/>
              <a:gd name="connsiteX4" fmla="*/ 20961 w 3872028"/>
              <a:gd name="connsiteY4" fmla="*/ 1408917 h 1490437"/>
              <a:gd name="connsiteX5" fmla="*/ 1936014 w 3872028"/>
              <a:gd name="connsiteY5" fmla="*/ 0 h 149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2028" h="1490437">
                <a:moveTo>
                  <a:pt x="1936014" y="0"/>
                </a:moveTo>
                <a:cubicBezTo>
                  <a:pt x="2835812" y="0"/>
                  <a:pt x="3597185" y="592662"/>
                  <a:pt x="3851067" y="1408917"/>
                </a:cubicBezTo>
                <a:lnTo>
                  <a:pt x="3872028" y="1490437"/>
                </a:lnTo>
                <a:lnTo>
                  <a:pt x="0" y="1490437"/>
                </a:lnTo>
                <a:lnTo>
                  <a:pt x="20961" y="1408917"/>
                </a:lnTo>
                <a:cubicBezTo>
                  <a:pt x="274843" y="592662"/>
                  <a:pt x="1036217" y="0"/>
                  <a:pt x="1936014" y="0"/>
                </a:cubicBezTo>
                <a:close/>
              </a:path>
            </a:pathLst>
          </a:custGeom>
          <a:gradFill>
            <a:gsLst>
              <a:gs pos="0">
                <a:srgbClr val="0165C5">
                  <a:alpha val="7000"/>
                </a:srgbClr>
              </a:gs>
              <a:gs pos="100000">
                <a:srgbClr val="F2F9FF">
                  <a:alpha val="2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71437"/>
      </p:ext>
    </p:extLst>
  </p:cSld>
  <p:clrMapOvr>
    <a:masterClrMapping/>
  </p:clrMapOvr>
  <p:transition spd="slow" advTm="0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sp>
        <p:nvSpPr>
          <p:cNvPr id="14" name="内容占位符 13"/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7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01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预备知识</a:t>
            </a:r>
            <a:endParaRPr lang="zh-CN" altLang="en-US" sz="2800" b="1" kern="1200" dirty="0">
              <a:solidFill>
                <a:srgbClr val="0091D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9449592"/>
      </p:ext>
    </p:extLst>
  </p:cSld>
  <p:clrMapOvr>
    <a:masterClrMapping/>
  </p:clrMapOvr>
  <p:transition spd="slow" advTm="0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23" name="内容占位符 22"/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01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预备知识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030401"/>
      </p:ext>
    </p:extLst>
  </p:cSld>
  <p:clrMapOvr>
    <a:masterClrMapping/>
  </p:clrMapOvr>
  <p:transition spd="slow" advTm="0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0640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02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腐蚀和膨胀</a:t>
            </a:r>
            <a:endParaRPr lang="zh-CN" altLang="en-US" sz="2800" b="1" kern="1200" dirty="0">
              <a:solidFill>
                <a:srgbClr val="0091D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内容占位符 13">
            <a:extLst>
              <a:ext uri="{FF2B5EF4-FFF2-40B4-BE49-F238E27FC236}">
                <a16:creationId xmlns:a16="http://schemas.microsoft.com/office/drawing/2014/main" id="{62AED257-6608-F684-FDF7-453FCBCDB8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1953579"/>
      </p:ext>
    </p:extLst>
  </p:cSld>
  <p:clrMapOvr>
    <a:masterClrMapping/>
  </p:clrMapOvr>
  <p:transition spd="slow" advTm="0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02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腐蚀和膨胀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A93AFA8-1552-A5E1-62B6-A0D6CA7306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2683757"/>
      </p:ext>
    </p:extLst>
  </p:cSld>
  <p:clrMapOvr>
    <a:masterClrMapping/>
  </p:clrMapOvr>
  <p:transition spd="slow" advTm="0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03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开运算与闭运算</a:t>
            </a:r>
            <a:endParaRPr lang="zh-CN" altLang="en-US" sz="2800" b="1" kern="1200" dirty="0">
              <a:solidFill>
                <a:srgbClr val="0091D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内容占位符 13">
            <a:extLst>
              <a:ext uri="{FF2B5EF4-FFF2-40B4-BE49-F238E27FC236}">
                <a16:creationId xmlns:a16="http://schemas.microsoft.com/office/drawing/2014/main" id="{466479E4-8403-CE56-FD03-D3FF95C8F4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8240806"/>
      </p:ext>
    </p:extLst>
  </p:cSld>
  <p:clrMapOvr>
    <a:masterClrMapping/>
  </p:clrMapOvr>
  <p:transition spd="slow" advTm="0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03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开运算与闭运算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8941415"/>
      </p:ext>
    </p:extLst>
  </p:cSld>
  <p:clrMapOvr>
    <a:masterClrMapping/>
  </p:clrMapOvr>
  <p:transition spd="slow" advTm="0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04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击中</a:t>
            </a:r>
            <a:r>
              <a:rPr lang="en-US" altLang="zh-CN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-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击不中变换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5" name="内容占位符 13">
            <a:extLst>
              <a:ext uri="{FF2B5EF4-FFF2-40B4-BE49-F238E27FC236}">
                <a16:creationId xmlns:a16="http://schemas.microsoft.com/office/drawing/2014/main" id="{DD6272E6-0B32-CAD6-9441-D69B3FD5D0A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2653354"/>
      </p:ext>
    </p:extLst>
  </p:cSld>
  <p:clrMapOvr>
    <a:masterClrMapping/>
  </p:clrMapOvr>
  <p:transition spd="slow" advTm="0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04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击中</a:t>
            </a:r>
            <a:r>
              <a:rPr lang="en-US" altLang="zh-CN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-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击不中变换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24BB56DF-BF63-A4EA-5908-0B38ECD2F1A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8323051"/>
      </p:ext>
    </p:extLst>
  </p:cSld>
  <p:clrMapOvr>
    <a:masterClrMapping/>
  </p:clrMapOvr>
  <p:transition spd="slow" advTm="0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05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一些基本的形态学算法</a:t>
            </a:r>
          </a:p>
        </p:txBody>
      </p:sp>
      <p:sp>
        <p:nvSpPr>
          <p:cNvPr id="5" name="内容占位符 13">
            <a:extLst>
              <a:ext uri="{FF2B5EF4-FFF2-40B4-BE49-F238E27FC236}">
                <a16:creationId xmlns:a16="http://schemas.microsoft.com/office/drawing/2014/main" id="{656C573C-3185-C14E-7E8D-05692B268EE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607280"/>
      </p:ext>
    </p:extLst>
  </p:cSld>
  <p:clrMapOvr>
    <a:masterClrMapping/>
  </p:clrMapOvr>
  <p:transition spd="slow" advTm="0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05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一些基本的形态学算法</a:t>
            </a: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24BB56DF-BF63-A4EA-5908-0B38ECD2F1A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7080737"/>
      </p:ext>
    </p:extLst>
  </p:cSld>
  <p:clrMapOvr>
    <a:masterClrMapping/>
  </p:clrMapOvr>
  <p:transition spd="slow" advTm="0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06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形态学重建</a:t>
            </a:r>
          </a:p>
        </p:txBody>
      </p:sp>
      <p:sp>
        <p:nvSpPr>
          <p:cNvPr id="5" name="内容占位符 13">
            <a:extLst>
              <a:ext uri="{FF2B5EF4-FFF2-40B4-BE49-F238E27FC236}">
                <a16:creationId xmlns:a16="http://schemas.microsoft.com/office/drawing/2014/main" id="{61308ECA-8E7E-6491-7DA5-F9D3D45884A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1104673"/>
      </p:ext>
    </p:extLst>
  </p:cSld>
  <p:clrMapOvr>
    <a:masterClrMapping/>
  </p:clrMapOvr>
  <p:transition spd="slow" advTm="0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06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形态学重建</a:t>
            </a: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6639966"/>
      </p:ext>
    </p:extLst>
  </p:cSld>
  <p:clrMapOvr>
    <a:masterClrMapping/>
  </p:clrMapOvr>
  <p:transition spd="slow" advTm="0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07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二值图像形态学运算小结</a:t>
            </a:r>
          </a:p>
        </p:txBody>
      </p:sp>
      <p:sp>
        <p:nvSpPr>
          <p:cNvPr id="5" name="内容占位符 13">
            <a:extLst>
              <a:ext uri="{FF2B5EF4-FFF2-40B4-BE49-F238E27FC236}">
                <a16:creationId xmlns:a16="http://schemas.microsoft.com/office/drawing/2014/main" id="{4BD6004F-E53E-21CC-A4AC-20A782CED0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1435413"/>
      </p:ext>
    </p:extLst>
  </p:cSld>
  <p:clrMapOvr>
    <a:masterClrMapping/>
  </p:clrMapOvr>
  <p:transition spd="slow" advTm="0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07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二值图像形态学运算小结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8252754"/>
      </p:ext>
    </p:extLst>
  </p:cSld>
  <p:clrMapOvr>
    <a:masterClrMapping/>
  </p:clrMapOvr>
  <p:transition spd="slow" advTm="0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08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灰度级形态学</a:t>
            </a:r>
          </a:p>
        </p:txBody>
      </p:sp>
      <p:sp>
        <p:nvSpPr>
          <p:cNvPr id="5" name="内容占位符 13">
            <a:extLst>
              <a:ext uri="{FF2B5EF4-FFF2-40B4-BE49-F238E27FC236}">
                <a16:creationId xmlns:a16="http://schemas.microsoft.com/office/drawing/2014/main" id="{CD5E1B1E-0C11-203D-7F3C-0C4024255D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224247"/>
      </p:ext>
    </p:extLst>
  </p:cSld>
  <p:clrMapOvr>
    <a:masterClrMapping/>
  </p:clrMapOvr>
  <p:transition spd="slow" advTm="0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08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灰度级形态学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8695583"/>
      </p:ext>
    </p:extLst>
  </p:cSld>
  <p:clrMapOvr>
    <a:masterClrMapping/>
  </p:clrMapOvr>
  <p:transition spd="slow" advTm="0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09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函</a:t>
            </a:r>
          </a:p>
        </p:txBody>
      </p:sp>
      <p:sp>
        <p:nvSpPr>
          <p:cNvPr id="5" name="内容占位符 13">
            <a:extLst>
              <a:ext uri="{FF2B5EF4-FFF2-40B4-BE49-F238E27FC236}">
                <a16:creationId xmlns:a16="http://schemas.microsoft.com/office/drawing/2014/main" id="{3A837F38-C337-3CBC-AED3-9CD57024DC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6711114"/>
      </p:ext>
    </p:extLst>
  </p:cSld>
  <p:clrMapOvr>
    <a:masterClrMapping/>
  </p:clrMapOvr>
  <p:transition spd="slow" advTm="0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09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财务管理的环境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8728591"/>
      </p:ext>
    </p:extLst>
  </p:cSld>
  <p:clrMapOvr>
    <a:masterClrMapping/>
  </p:clrMapOvr>
  <p:transition spd="slow" advTm="0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sp>
        <p:nvSpPr>
          <p:cNvPr id="14" name="内容占位符 13"/>
          <p:cNvSpPr>
            <a:spLocks noGrp="1"/>
          </p:cNvSpPr>
          <p:nvPr>
            <p:ph sz="quarter" idx="11"/>
          </p:nvPr>
        </p:nvSpPr>
        <p:spPr>
          <a:xfrm>
            <a:off x="524202" y="2368647"/>
            <a:ext cx="11299202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1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会议纪要</a:t>
            </a:r>
          </a:p>
        </p:txBody>
      </p:sp>
    </p:spTree>
    <p:extLst>
      <p:ext uri="{BB962C8B-B14F-4D97-AF65-F5344CB8AC3E}">
        <p14:creationId xmlns:p14="http://schemas.microsoft.com/office/powerpoint/2010/main" val="969513698"/>
      </p:ext>
    </p:extLst>
  </p:cSld>
  <p:clrMapOvr>
    <a:masterClrMapping/>
  </p:clrMapOvr>
  <p:transition spd="slow" advTm="0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1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财务管理的环境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6394565"/>
      </p:ext>
    </p:extLst>
  </p:cSld>
  <p:clrMapOvr>
    <a:masterClrMapping/>
  </p:clrMapOvr>
  <p:transition spd="slow" advTm="0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sp>
        <p:nvSpPr>
          <p:cNvPr id="14" name="内容占位符 13"/>
          <p:cNvSpPr>
            <a:spLocks noGrp="1"/>
          </p:cNvSpPr>
          <p:nvPr>
            <p:ph sz="quarter" idx="11"/>
          </p:nvPr>
        </p:nvSpPr>
        <p:spPr>
          <a:xfrm>
            <a:off x="524202" y="2368647"/>
            <a:ext cx="11299202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1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1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会议纪要</a:t>
            </a:r>
          </a:p>
        </p:txBody>
      </p:sp>
    </p:spTree>
    <p:extLst>
      <p:ext uri="{BB962C8B-B14F-4D97-AF65-F5344CB8AC3E}">
        <p14:creationId xmlns:p14="http://schemas.microsoft.com/office/powerpoint/2010/main" val="3752275043"/>
      </p:ext>
    </p:extLst>
  </p:cSld>
  <p:clrMapOvr>
    <a:masterClrMapping/>
  </p:clrMapOvr>
  <p:transition spd="slow" advTm="0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1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1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财务管理的环境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6494059"/>
      </p:ext>
    </p:extLst>
  </p:cSld>
  <p:clrMapOvr>
    <a:masterClrMapping/>
  </p:clrMapOvr>
  <p:transition spd="slow" advTm="0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sp>
        <p:nvSpPr>
          <p:cNvPr id="14" name="内容占位符 13"/>
          <p:cNvSpPr>
            <a:spLocks noGrp="1"/>
          </p:cNvSpPr>
          <p:nvPr>
            <p:ph sz="quarter" idx="11"/>
          </p:nvPr>
        </p:nvSpPr>
        <p:spPr>
          <a:xfrm>
            <a:off x="524202" y="2368647"/>
            <a:ext cx="11299202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1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2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会议纪要</a:t>
            </a:r>
          </a:p>
        </p:txBody>
      </p:sp>
    </p:spTree>
    <p:extLst>
      <p:ext uri="{BB962C8B-B14F-4D97-AF65-F5344CB8AC3E}">
        <p14:creationId xmlns:p14="http://schemas.microsoft.com/office/powerpoint/2010/main" val="3053596199"/>
      </p:ext>
    </p:extLst>
  </p:cSld>
  <p:clrMapOvr>
    <a:masterClrMapping/>
  </p:clrMapOvr>
  <p:transition spd="slow" advTm="0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1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2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财务管理的环境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833665"/>
      </p:ext>
    </p:extLst>
  </p:cSld>
  <p:clrMapOvr>
    <a:masterClrMapping/>
  </p:clrMapOvr>
  <p:transition spd="slow" advTm="0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860BB-E3C5-4D22-8BEC-68FDB1E3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64C3A6-28A5-477B-8FD3-82774CA65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360E54-6845-42DD-84DC-A39854FA1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A622C-F422-4DF9-A9ED-3237F89D88C7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DABCB2-5F2D-434F-8110-4656AF3E9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4DEC2A-E2D0-43AA-976A-170C369B5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558B-FF9B-4491-9E36-E51A77898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889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2F5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4963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</p:sldLayoutIdLst>
  <p:transition spd="slow" advTm="0"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组合 285"/>
          <p:cNvGrpSpPr/>
          <p:nvPr/>
        </p:nvGrpSpPr>
        <p:grpSpPr>
          <a:xfrm>
            <a:off x="959390" y="4495729"/>
            <a:ext cx="4142910" cy="479114"/>
            <a:chOff x="5646962" y="4937787"/>
            <a:chExt cx="1453481" cy="482463"/>
          </a:xfrm>
          <a:effectLst/>
        </p:grpSpPr>
        <p:sp>
          <p:nvSpPr>
            <p:cNvPr id="287" name="任意多边形: 形状 12"/>
            <p:cNvSpPr/>
            <p:nvPr/>
          </p:nvSpPr>
          <p:spPr>
            <a:xfrm flipH="1" flipV="1">
              <a:off x="5646962" y="4937787"/>
              <a:ext cx="1453481" cy="482463"/>
            </a:xfrm>
            <a:prstGeom prst="roundRect">
              <a:avLst>
                <a:gd name="adj" fmla="val 50000"/>
              </a:avLst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288" name="文本框 287"/>
            <p:cNvSpPr txBox="1"/>
            <p:nvPr/>
          </p:nvSpPr>
          <p:spPr>
            <a:xfrm>
              <a:off x="5715384" y="4993062"/>
              <a:ext cx="1316636" cy="3719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6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数字图像处理（第四版）</a:t>
              </a:r>
            </a:p>
          </p:txBody>
        </p:sp>
      </p:grpSp>
      <p:grpSp>
        <p:nvGrpSpPr>
          <p:cNvPr id="302" name="组合 301"/>
          <p:cNvGrpSpPr/>
          <p:nvPr/>
        </p:nvGrpSpPr>
        <p:grpSpPr>
          <a:xfrm>
            <a:off x="844485" y="1310600"/>
            <a:ext cx="4953600" cy="2186039"/>
            <a:chOff x="951801" y="1752810"/>
            <a:chExt cx="4953600" cy="2186039"/>
          </a:xfrm>
        </p:grpSpPr>
        <p:sp>
          <p:nvSpPr>
            <p:cNvPr id="285" name="文本框 284"/>
            <p:cNvSpPr txBox="1"/>
            <p:nvPr/>
          </p:nvSpPr>
          <p:spPr>
            <a:xfrm>
              <a:off x="951801" y="3015519"/>
              <a:ext cx="495360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54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形态学图像处理</a:t>
              </a:r>
              <a:endParaRPr lang="zh-CN" altLang="en-US" sz="5400" b="1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grpSp>
          <p:nvGrpSpPr>
            <p:cNvPr id="301" name="组合 300"/>
            <p:cNvGrpSpPr/>
            <p:nvPr/>
          </p:nvGrpSpPr>
          <p:grpSpPr>
            <a:xfrm>
              <a:off x="951801" y="1752810"/>
              <a:ext cx="3707553" cy="1252400"/>
              <a:chOff x="951801" y="1680239"/>
              <a:chExt cx="3707553" cy="1252400"/>
            </a:xfrm>
          </p:grpSpPr>
          <p:sp>
            <p:nvSpPr>
              <p:cNvPr id="290" name="文本框 289"/>
              <p:cNvSpPr txBox="1"/>
              <p:nvPr/>
            </p:nvSpPr>
            <p:spPr>
              <a:xfrm>
                <a:off x="951801" y="2009309"/>
                <a:ext cx="222849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65C4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阿里巴巴普惠体" panose="00020600040101010101" pitchFamily="18" charset="-122"/>
                  </a:rPr>
                  <a:t>第九章</a:t>
                </a:r>
                <a:endPara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5C4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endParaRPr>
              </a:p>
            </p:txBody>
          </p:sp>
          <p:sp>
            <p:nvSpPr>
              <p:cNvPr id="295" name="椭圆 294"/>
              <p:cNvSpPr/>
              <p:nvPr/>
            </p:nvSpPr>
            <p:spPr>
              <a:xfrm>
                <a:off x="3440154" y="1680239"/>
                <a:ext cx="1219200" cy="1219200"/>
              </a:xfrm>
              <a:prstGeom prst="ellipse">
                <a:avLst/>
              </a:prstGeom>
              <a:gradFill>
                <a:gsLst>
                  <a:gs pos="0">
                    <a:srgbClr val="0165C5">
                      <a:alpha val="7000"/>
                    </a:srgbClr>
                  </a:gs>
                  <a:gs pos="100000">
                    <a:srgbClr val="F2F9FF">
                      <a:alpha val="2400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endParaRPr>
              </a:p>
            </p:txBody>
          </p:sp>
        </p:grpSp>
      </p:grpSp>
      <p:sp>
        <p:nvSpPr>
          <p:cNvPr id="2" name="Freeform 24">
            <a:extLst>
              <a:ext uri="{FF2B5EF4-FFF2-40B4-BE49-F238E27FC236}">
                <a16:creationId xmlns:a16="http://schemas.microsoft.com/office/drawing/2014/main" id="{05D286A2-ECB7-9BA2-9D1F-172FDB772080}"/>
              </a:ext>
            </a:extLst>
          </p:cNvPr>
          <p:cNvSpPr>
            <a:spLocks/>
          </p:cNvSpPr>
          <p:nvPr/>
        </p:nvSpPr>
        <p:spPr bwMode="auto">
          <a:xfrm>
            <a:off x="959390" y="3743277"/>
            <a:ext cx="171824" cy="429542"/>
          </a:xfrm>
          <a:prstGeom prst="roundRect">
            <a:avLst/>
          </a:prstGeom>
          <a:solidFill>
            <a:srgbClr val="0463C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61215E34-C4A2-0714-4A5F-AD7D334A7606}"/>
              </a:ext>
            </a:extLst>
          </p:cNvPr>
          <p:cNvSpPr txBox="1">
            <a:spLocks/>
          </p:cNvSpPr>
          <p:nvPr/>
        </p:nvSpPr>
        <p:spPr>
          <a:xfrm>
            <a:off x="1261613" y="3819549"/>
            <a:ext cx="37879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dist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国外电子与通信教材系列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463C4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16345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14663" y="2221637"/>
            <a:ext cx="5326558" cy="2414726"/>
            <a:chOff x="6133596" y="2292214"/>
            <a:chExt cx="5326558" cy="2414726"/>
          </a:xfrm>
        </p:grpSpPr>
        <p:sp>
          <p:nvSpPr>
            <p:cNvPr id="20" name="任意多边形: 形状 20"/>
            <p:cNvSpPr/>
            <p:nvPr userDrawn="1"/>
          </p:nvSpPr>
          <p:spPr>
            <a:xfrm>
              <a:off x="8109345" y="2292214"/>
              <a:ext cx="1400172" cy="1339375"/>
            </a:xfrm>
            <a:prstGeom prst="ellipse">
              <a:avLst/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01</a:t>
              </a:r>
              <a:endPara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133596" y="3937499"/>
              <a:ext cx="532655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什么是数字图像处理</a:t>
              </a:r>
              <a:endParaRPr lang="zh-CN" altLang="en-US" sz="4400" b="1" dirty="0">
                <a:solidFill>
                  <a:srgbClr val="0065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37736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11C39-9782-3D33-EBD4-8DB5209B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概述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471266-165D-FEEC-FDC3-316C9FCACE7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中的最上一行显示了一个例子。左侧是我们习惯在书中看到的图形格式的集合。在中心位置，这些集合已嵌入到一个矩形背景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白色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中，形成了一幅图形图像。右侧显示了一幅数字图像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注意网格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它是用于数字图像处理的格式。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31D7CA-20A8-87B8-5068-6F9BE0B93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940" y="4047273"/>
            <a:ext cx="5932120" cy="266585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67A8881-57D2-346D-FEF1-83A036EF81A6}"/>
              </a:ext>
            </a:extLst>
          </p:cNvPr>
          <p:cNvSpPr/>
          <p:nvPr/>
        </p:nvSpPr>
        <p:spPr>
          <a:xfrm>
            <a:off x="801092" y="2446417"/>
            <a:ext cx="10589815" cy="1446851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7156031"/>
      </p:ext>
    </p:extLst>
  </p:cSld>
  <p:clrMapOvr>
    <a:masterClrMapping/>
  </p:clrMapOvr>
  <p:transition spd="slow" advTm="0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14663" y="2221637"/>
            <a:ext cx="5326558" cy="2414726"/>
            <a:chOff x="6133596" y="2292214"/>
            <a:chExt cx="5326558" cy="2414726"/>
          </a:xfrm>
        </p:grpSpPr>
        <p:sp>
          <p:nvSpPr>
            <p:cNvPr id="20" name="任意多边形: 形状 20"/>
            <p:cNvSpPr/>
            <p:nvPr userDrawn="1"/>
          </p:nvSpPr>
          <p:spPr>
            <a:xfrm>
              <a:off x="8109345" y="2292214"/>
              <a:ext cx="1400172" cy="1339375"/>
            </a:xfrm>
            <a:prstGeom prst="ellipse">
              <a:avLst/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02</a:t>
              </a:r>
              <a:endPara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133596" y="3937499"/>
              <a:ext cx="532655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腐蚀和膨胀</a:t>
              </a:r>
              <a:endParaRPr lang="zh-CN" altLang="en-US" sz="4400" b="1" dirty="0">
                <a:solidFill>
                  <a:srgbClr val="0065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806376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A6435C-F340-8C36-F42D-B310B689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腐蚀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847F94-9F2F-E099-F0CA-21B3A88E907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Autofit/>
          </a:bodyPr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形态学公式是根据结构元和前景像素集合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写出的，或是根据结构元和包含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的图像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I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来写出的。下面介绍前一种写法。假设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Z²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中的两个集合，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对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的腐蚀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表示为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el-GR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θ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定义为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式中，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是前景像素的一个集合，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是一个结构元，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项是前景像素值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(1)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。换话说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这个公式指出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对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的腐蚀是所有点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的集合，条件是平移后的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包含于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记住，位移是相对于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 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的原点定义的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5F56B6-2EAC-09C2-FF71-260E882A2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364" y="3958811"/>
            <a:ext cx="3638747" cy="54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390260"/>
      </p:ext>
    </p:extLst>
  </p:cSld>
  <p:clrMapOvr>
    <a:masterClrMapping/>
  </p:clrMapOvr>
  <p:transition spd="slow" advTm="0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7AB02-E5FA-336B-22B8-F16CA6461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膨胀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075E31-DEEF-CD99-6FCB-983F6DEEB64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假设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Z²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的两个集合，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对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的膨胀定义为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endParaRPr lang="zh-CN" altLang="en-US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类似于腐蚀，这个公式是以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相对于其原点反射并将这一反射平移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为基础的。于是，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对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的膨胀就是所有位移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的集合，条件是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的前景元素与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的至少一个元素重叠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记住，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的原点的位移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 根据这一解释，式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(9.6)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可以等价地写为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5CEC8B-5994-1C01-65D4-3EDA672D2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350" y="3059731"/>
            <a:ext cx="3255300" cy="5401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32B499-CEEA-822C-6C0F-CCC4B4FE91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225"/>
          <a:stretch/>
        </p:blipFill>
        <p:spPr>
          <a:xfrm>
            <a:off x="4430804" y="5139889"/>
            <a:ext cx="3330392" cy="54011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F2C86ED-19C4-F512-0C71-F9AEC05944B0}"/>
              </a:ext>
            </a:extLst>
          </p:cNvPr>
          <p:cNvSpPr/>
          <p:nvPr/>
        </p:nvSpPr>
        <p:spPr>
          <a:xfrm>
            <a:off x="801092" y="2446417"/>
            <a:ext cx="10589815" cy="3540426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1103972"/>
      </p:ext>
    </p:extLst>
  </p:cSld>
  <p:clrMapOvr>
    <a:masterClrMapping/>
  </p:clrMapOvr>
  <p:transition spd="slow" advTm="0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C873E-5B14-C8F5-6DE5-79BE76E1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对偶性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72D4BA-FBBA-CB92-5404-8A17B7B7648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腐蚀和膨胀相对于补集和反射彼此对偶，即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(9.8)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指出，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对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的腐蚀是         的膨胀的补集，反之亦然。当结构元相对于其原点对称时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通常如此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，有      ，因此对偶性特别有用。这样，使用一个相同的结构元膨胀的背景然后求结果的补集，即可得到这个结构元对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的腐蚀。类似的说明也适用于式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(9.9)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1D87CF-E283-2928-BC47-663878A1A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49" y="3141846"/>
            <a:ext cx="1866900" cy="838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4FCCC54-F82C-1E16-9ED0-EB12C6172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044" y="4397993"/>
            <a:ext cx="600075" cy="3143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B948B91-89E2-6B5F-A42F-068887D7A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753" y="4878955"/>
            <a:ext cx="40957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80079"/>
      </p:ext>
    </p:extLst>
  </p:cSld>
  <p:clrMapOvr>
    <a:masterClrMapping/>
  </p:clrMapOvr>
  <p:transition spd="slow" advTm="0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724545" y="2221637"/>
            <a:ext cx="5731905" cy="2414726"/>
            <a:chOff x="5943478" y="2292214"/>
            <a:chExt cx="5731905" cy="2414726"/>
          </a:xfrm>
        </p:grpSpPr>
        <p:sp>
          <p:nvSpPr>
            <p:cNvPr id="20" name="任意多边形: 形状 20"/>
            <p:cNvSpPr/>
            <p:nvPr userDrawn="1"/>
          </p:nvSpPr>
          <p:spPr>
            <a:xfrm>
              <a:off x="8109345" y="2292214"/>
              <a:ext cx="1400172" cy="1339375"/>
            </a:xfrm>
            <a:prstGeom prst="ellipse">
              <a:avLst/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03</a:t>
              </a:r>
              <a:endPara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943478" y="3937499"/>
              <a:ext cx="573190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开运算与闭运算</a:t>
              </a:r>
              <a:endParaRPr lang="zh-CN" altLang="en-US" sz="4400" b="1" dirty="0">
                <a:solidFill>
                  <a:srgbClr val="0065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15570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09DEF-BB87-41EC-1D8A-31E3A1AA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运算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437773-4BE3-018D-6F5A-D5A9AC8DF46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结构元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对集合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的开运算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表示为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AoB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 定义为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endParaRPr lang="zh-CN" altLang="en-US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因此，结构元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对集合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的开运算是：首先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对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腐蚀，接着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对腐蚀结果膨胀。 类似地，结构元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对集合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的闭运算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表示为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·B)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定义为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endParaRPr lang="zh-CN" altLang="en-US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上式说，结构元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对集合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的闭运算是：首先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对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膨胀，接着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对膨胀结果腐蚀。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8A78BD-76E6-F050-10A2-37A0B229F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847" y="3098582"/>
            <a:ext cx="2250306" cy="4420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4384E22-7261-0DF9-2630-883B9813C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879" y="4613889"/>
            <a:ext cx="2092242" cy="44202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A9A3B8E-9AE5-211E-AD90-D92F9A09A9B0}"/>
              </a:ext>
            </a:extLst>
          </p:cNvPr>
          <p:cNvSpPr/>
          <p:nvPr/>
        </p:nvSpPr>
        <p:spPr>
          <a:xfrm>
            <a:off x="801092" y="2446417"/>
            <a:ext cx="10589815" cy="3540426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2240997"/>
      </p:ext>
    </p:extLst>
  </p:cSld>
  <p:clrMapOvr>
    <a:masterClrMapping/>
  </p:clrMapOvr>
  <p:transition spd="slow" advTm="0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14663" y="2221637"/>
            <a:ext cx="5326558" cy="2414726"/>
            <a:chOff x="6133596" y="2292214"/>
            <a:chExt cx="5326558" cy="2414726"/>
          </a:xfrm>
        </p:grpSpPr>
        <p:sp>
          <p:nvSpPr>
            <p:cNvPr id="20" name="任意多边形: 形状 20"/>
            <p:cNvSpPr/>
            <p:nvPr userDrawn="1"/>
          </p:nvSpPr>
          <p:spPr>
            <a:xfrm>
              <a:off x="8109345" y="2292214"/>
              <a:ext cx="1400172" cy="1339375"/>
            </a:xfrm>
            <a:prstGeom prst="ellipse">
              <a:avLst/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04</a:t>
              </a:r>
              <a:endPara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133596" y="3937499"/>
              <a:ext cx="532655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击中</a:t>
              </a:r>
              <a:r>
                <a:rPr lang="en-US" altLang="zh-CN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-</a:t>
              </a: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击不中变换</a:t>
              </a:r>
              <a:endParaRPr lang="zh-CN" altLang="en-US" sz="4400" b="1" dirty="0">
                <a:solidFill>
                  <a:srgbClr val="0065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254833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F6FDDD-5419-88E1-EDAE-1B6AA3E01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变换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B1DD64-9E5C-5EA3-4BF3-C7AE453394C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形态学击中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-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击不中变换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(HMT)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 是形状检测的基本工具。令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I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是由前景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(A)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像素和背景像素组</a:t>
            </a: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成的一幅二值图像。与迄今为止讨论的形态学方法不同的是，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HMT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使用了两个结构元：在前景中检测形状的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B1,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在背景中检测形状的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₂ 。图像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I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HMT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定义为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endParaRPr lang="zh-CN" altLang="en-US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式中，最后一步是根据式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(9.3)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中腐蚀的定义得到的。换言之，这个公式说，形态学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HMT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是结构元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₁ 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₂ 同时平移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的集合，条件是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₁ 在前景中找到了匹配项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即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₁ 包含于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A),B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₂ 在背景中找到了匹配项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即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₂ 包含于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EF303B-6B39-1990-32B7-4B3F24230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025" y="4026500"/>
            <a:ext cx="4171950" cy="3524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F4E9A07-1ECA-52E8-4311-6A7EB2160F76}"/>
              </a:ext>
            </a:extLst>
          </p:cNvPr>
          <p:cNvSpPr/>
          <p:nvPr/>
        </p:nvSpPr>
        <p:spPr>
          <a:xfrm>
            <a:off x="801092" y="2446417"/>
            <a:ext cx="10589815" cy="3540426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9101924"/>
      </p:ext>
    </p:extLst>
  </p:cSld>
  <p:clrMapOvr>
    <a:masterClrMapping/>
  </p:clrMapOvr>
  <p:transition spd="slow" advTm="0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734170" y="2221637"/>
            <a:ext cx="5712655" cy="2414726"/>
            <a:chOff x="5953103" y="2292214"/>
            <a:chExt cx="5712655" cy="2414726"/>
          </a:xfrm>
        </p:grpSpPr>
        <p:sp>
          <p:nvSpPr>
            <p:cNvPr id="20" name="任意多边形: 形状 20"/>
            <p:cNvSpPr/>
            <p:nvPr userDrawn="1"/>
          </p:nvSpPr>
          <p:spPr>
            <a:xfrm>
              <a:off x="8109345" y="2292214"/>
              <a:ext cx="1400172" cy="1339375"/>
            </a:xfrm>
            <a:prstGeom prst="ellipse">
              <a:avLst/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05</a:t>
              </a:r>
              <a:endPara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953103" y="3937499"/>
              <a:ext cx="571265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一些基本的形态学算法</a:t>
              </a:r>
              <a:endParaRPr lang="zh-CN" altLang="en-US" sz="4400" b="1" dirty="0">
                <a:solidFill>
                  <a:srgbClr val="0065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987477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F24DF-2E24-A9EB-7847-D2E3D073F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边界提取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AAE608-5575-72F9-66AE-772D3439FED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marR="660" lvl="0" indent="0" rtl="0">
              <a:buNone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9.15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 说明了边界提取的原理。图中显示了一个简单的二值目标、 一个结构元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和使用式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(9.18)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得到的结果。尽管图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9.15(b)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中的结构元是最常用的结构元之一，但它不是唯一的。例如，使用由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组成的大小为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5×5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的结构元，会得到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～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个像素宽的边界。我们可以认为图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9.15(a)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中的图像是用背景像素的一个边框填充的，结果在完成形态学运算后被裁剪为原来的大小。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925ADE-C133-26CC-42D2-770CA104F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409" y="4406222"/>
            <a:ext cx="6031181" cy="238605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AF485A8-2835-9555-8B48-08B3E9883BCD}"/>
              </a:ext>
            </a:extLst>
          </p:cNvPr>
          <p:cNvSpPr/>
          <p:nvPr/>
        </p:nvSpPr>
        <p:spPr>
          <a:xfrm>
            <a:off x="801092" y="2446417"/>
            <a:ext cx="10589815" cy="1911680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0562786"/>
      </p:ext>
    </p:extLst>
  </p:cSld>
  <p:clrMapOvr>
    <a:masterClrMapping/>
  </p:clrMapOvr>
  <p:transition spd="slow" advTm="0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B4AA2-105E-EE83-6DD1-ADDC6B33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孔洞填充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78B7B7-0DED-9D2C-AA2B-9C5F5DB1A08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首先，我们形成一个元素为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0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的阵列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X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其大小与包含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的图像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I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相同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但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Xo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中对应孔洞的那些像素值为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。于是，如下过程将用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填充所有孔洞：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endParaRPr lang="zh-CN" altLang="en-US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如果不加以控制，那么式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(9.19)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中的膨胀将填充整个区域。然而，在每个步骤中，膨胀结果与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I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的交集会将结果限制到感兴趣区域内部。这是说明如何调节形态学处理来得到期望性质的第一个例子。 在当前应用中，这一处理被合适地称为条件膨胀。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BC8721-6FDF-0AFD-A268-9A09E21DD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887" y="3507706"/>
            <a:ext cx="3638223" cy="43865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46E0734-A61C-C416-728F-2D68E3AD7568}"/>
              </a:ext>
            </a:extLst>
          </p:cNvPr>
          <p:cNvSpPr/>
          <p:nvPr/>
        </p:nvSpPr>
        <p:spPr>
          <a:xfrm>
            <a:off x="801092" y="2446417"/>
            <a:ext cx="10589815" cy="3174737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4731915"/>
      </p:ext>
    </p:extLst>
  </p:cSld>
  <p:clrMapOvr>
    <a:masterClrMapping/>
  </p:clrMapOvr>
  <p:transition spd="slow" advTm="0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ED55F-B78B-8E0D-39A4-7C50168EC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  提取连通分量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3A3F9E-9BD1-0828-829F-F0586478B92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9.19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说明了式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(9.20)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的原理，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k=6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时即可实现收敛。注意，所用结构元的形状基于像素间的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连通。就像在填充孔洞算法中一样，式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(9.20)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适用于包含于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I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的任何有限数量的连通分量，假设已知每个连通分量中的一个点。关于消除这一要求的完全自动化的过程，见习题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9.37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C7EE26-B6E0-3BBA-66DC-2C91E586B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862" y="3973579"/>
            <a:ext cx="3858276" cy="241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92255"/>
      </p:ext>
    </p:extLst>
  </p:cSld>
  <p:clrMapOvr>
    <a:masterClrMapping/>
  </p:clrMapOvr>
  <p:transition spd="slow" advTm="0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6C588-5EB4-8029-0F30-E7C679FC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凸壳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74F7C3-B701-4683-8F27-9D328E5F56C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4" y="2432500"/>
            <a:ext cx="10589814" cy="3540427"/>
          </a:xfrm>
        </p:spPr>
        <p:txBody>
          <a:bodyPr>
            <a:normAutofit/>
          </a:bodyPr>
          <a:lstStyle/>
          <a:p>
            <a:pPr marR="660" lvl="0" rtl="0"/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欧氏平面中的点集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S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是凸的，当且仅当连接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S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内任意两点的直线段完全在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S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内。集合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S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的凸壳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H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是包含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S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的最小凸集。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S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的凸缺是差集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H-S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  与欧氏平面不同的是，数字图像平面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见图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2.19)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只允许以离散坐标形式存在的点。因此，我们处理的集合是数字集合。凸性的概念同样适用于数字集合， 但数字凸集的定义略有不同。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R="660" lvl="0" rtl="0"/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数字集合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是凸的，当且仅当它的欧氏凸壳只包含属于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的数字点。如果数字前景点集是凸的，那么一种简单的可视化方法是，用直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连续的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欧几里得线段连接其边界点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zh-CN" altLang="en-US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R="660" lvl="0" rtl="0"/>
            <a:endParaRPr lang="zh-CN" altLang="en-US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77050D-43E9-1CA7-A057-8CFCE233EA5E}"/>
              </a:ext>
            </a:extLst>
          </p:cNvPr>
          <p:cNvSpPr/>
          <p:nvPr/>
        </p:nvSpPr>
        <p:spPr>
          <a:xfrm>
            <a:off x="801092" y="2446417"/>
            <a:ext cx="10589815" cy="3049608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2003230"/>
      </p:ext>
    </p:extLst>
  </p:cSld>
  <p:clrMapOvr>
    <a:masterClrMapping/>
  </p:clrMapOvr>
  <p:transition spd="slow" advTm="0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5F8837-A06F-72F7-E975-DF916077C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细化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10B65C-5A14-F30A-7F01-8B26A6A4E62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结构元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对前景像素集合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的细化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 可以根据击中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-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击不中变换来定义：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endParaRPr lang="zh-CN" altLang="en-US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式中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，最后一步是根据式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(2.40)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中的差集定义得到的。对称地细化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 的一个更有用的公式，是以结构元序列为基础的</a:t>
            </a:r>
          </a:p>
          <a:p>
            <a:pPr marL="0" marR="660" lvl="0" indent="0" rtl="0">
              <a:buNone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根据这一概念，我们现在可用一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个结构元序列，将细化定义为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AB3422-9691-5DAD-4BF6-20518FE98A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190"/>
          <a:stretch/>
        </p:blipFill>
        <p:spPr>
          <a:xfrm>
            <a:off x="4776786" y="3238258"/>
            <a:ext cx="2638425" cy="3373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5C21530-8D65-7EBD-CAB8-0F558E0D7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816" y="4151972"/>
            <a:ext cx="1924050" cy="3714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ED0E9F9-BC4A-43CB-13FD-A42149E51F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655"/>
          <a:stretch/>
        </p:blipFill>
        <p:spPr>
          <a:xfrm>
            <a:off x="4562099" y="5375850"/>
            <a:ext cx="3067802" cy="34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90102"/>
      </p:ext>
    </p:extLst>
  </p:cSld>
  <p:clrMapOvr>
    <a:masterClrMapping/>
  </p:clrMapOvr>
  <p:transition spd="slow" advTm="0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8745A6-05BB-A517-54BA-8B68DC39C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粗化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3A1EC6-163B-6F5B-B210-0563A90E95D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marR="660" lvl="0" indent="0" rtl="0"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的结构不同时，这个过程可能会产生某些断点，如图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9.24(d)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所示。因此，采用这种方法进行粗化处理时，通常要进行删除断点的后处理。注意，由图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9.24(c)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可知，细化后的背景形成了粗化处理的边界。这一有用的特性在使用式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(9.27)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直接进行粗化处理时不会出现，因此是用背景细化处理来实现粗化的主要原因之一。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74FD87-FC27-A7C7-94ED-FF6AAB196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478" y="4344460"/>
            <a:ext cx="2603043" cy="242853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34AB9C3-8257-F3A3-D6EC-B012A9F12842}"/>
              </a:ext>
            </a:extLst>
          </p:cNvPr>
          <p:cNvSpPr/>
          <p:nvPr/>
        </p:nvSpPr>
        <p:spPr>
          <a:xfrm>
            <a:off x="801092" y="2446417"/>
            <a:ext cx="10589815" cy="1849918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0204360"/>
      </p:ext>
    </p:extLst>
  </p:cSld>
  <p:clrMapOvr>
    <a:masterClrMapping/>
  </p:clrMapOvr>
  <p:transition spd="slow" advTm="0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8745A6-05BB-A517-54BA-8B68DC39C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660" lvl="0" rtl="0"/>
            <a:r>
              <a:rPr lang="zh-CN" altLang="en-US" b="1" i="0" u="none" strike="noStrike" baseline="0" dirty="0">
                <a:solidFill>
                  <a:srgbClr val="0070C0"/>
                </a:solidFill>
                <a:cs typeface="+mn-ea"/>
                <a:sym typeface="+mn-lt"/>
              </a:rPr>
              <a:t>骨架</a:t>
            </a:r>
            <a:endParaRPr lang="zh-CN" altLang="en-US" b="0" i="0" u="none" strike="noStrike" baseline="-25000" dirty="0">
              <a:solidFill>
                <a:srgbClr val="162BE5"/>
              </a:solidFill>
              <a:cs typeface="+mn-ea"/>
              <a:sym typeface="+mn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3A1EC6-163B-6F5B-B210-0563A90E95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5214085" cy="3230517"/>
          </a:xfrm>
        </p:spPr>
        <p:txBody>
          <a:bodyPr>
            <a:noAutofit/>
          </a:bodyPr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如图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9.25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所示，集合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的骨架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S(4)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概念上很简单。由该图我们可以得出如下结论：</a:t>
            </a:r>
          </a:p>
          <a:p>
            <a:pPr marL="0" marR="660" lvl="0" indent="0" rtl="0"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(a)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若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S(4)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的一点，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(D)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内以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为圆心的最大圆盘，则不存在包含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(D)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。且位于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内的更大圆盘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不必以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为中心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</a:p>
          <a:p>
            <a:pPr marL="0" marR="660" lvl="0" indent="0" rtl="0"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(b)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若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(D)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。是一个最大圆盘，则它在两个或多个不同的位置与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的边界接触。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099D85-AD52-1733-5183-E66CD71D5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338" y="2630453"/>
            <a:ext cx="5214085" cy="334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30722"/>
      </p:ext>
    </p:extLst>
  </p:cSld>
  <p:clrMapOvr>
    <a:masterClrMapping/>
  </p:clrMapOvr>
  <p:transition spd="slow" advTm="0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FDD97-95AE-24F4-2F81-2C1C9800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裁剪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30B473-75BB-D38E-5067-D4B52F832F3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9.27(a)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是手写字符“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a”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的骨架。字符最左侧的寄生成分就是我们要消除的内容。解决方案是通过不断消除寄生分支的端点来抑制寄生分支。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8C2F9E-01AB-A750-128D-DA03641AF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158" y="3525253"/>
            <a:ext cx="4259681" cy="320045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2D1D148-3309-9722-98D5-90E380D0381A}"/>
              </a:ext>
            </a:extLst>
          </p:cNvPr>
          <p:cNvSpPr/>
          <p:nvPr/>
        </p:nvSpPr>
        <p:spPr>
          <a:xfrm>
            <a:off x="801092" y="2446417"/>
            <a:ext cx="10589815" cy="982583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9169512"/>
      </p:ext>
    </p:extLst>
  </p:cSld>
  <p:clrMapOvr>
    <a:masterClrMapping/>
  </p:clrMapOvr>
  <p:transition spd="slow" advTm="0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14663" y="2221637"/>
            <a:ext cx="5326558" cy="2414726"/>
            <a:chOff x="6133596" y="2292214"/>
            <a:chExt cx="5326558" cy="2414726"/>
          </a:xfrm>
        </p:grpSpPr>
        <p:sp>
          <p:nvSpPr>
            <p:cNvPr id="20" name="任意多边形: 形状 20"/>
            <p:cNvSpPr/>
            <p:nvPr userDrawn="1"/>
          </p:nvSpPr>
          <p:spPr>
            <a:xfrm>
              <a:off x="8109345" y="2292214"/>
              <a:ext cx="1400172" cy="1339375"/>
            </a:xfrm>
            <a:prstGeom prst="ellipse">
              <a:avLst/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06</a:t>
              </a:r>
              <a:endPara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133596" y="3937499"/>
              <a:ext cx="532655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形态学重建</a:t>
              </a:r>
              <a:endParaRPr lang="zh-CN" altLang="en-US" sz="4400" b="1" dirty="0">
                <a:solidFill>
                  <a:srgbClr val="0065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161096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17BD2-49E3-ED5D-BE09-23FCDCB1D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测地膨胀和腐蚀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4B9D68-F4C6-3214-EDE0-246ED19B98F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9.28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是一个大小为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的测地膨胀的简单例子。图中的步骤是式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(9.38)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的直接实现。注意，标记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仅由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G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中目标的一个点组成。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F92593-94B4-F055-E753-CC91C9DAB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037" y="3531869"/>
            <a:ext cx="6257925" cy="30861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88A6862-CD91-BB12-1CE8-B0199ECD1BB7}"/>
              </a:ext>
            </a:extLst>
          </p:cNvPr>
          <p:cNvSpPr/>
          <p:nvPr/>
        </p:nvSpPr>
        <p:spPr>
          <a:xfrm>
            <a:off x="801092" y="2446417"/>
            <a:ext cx="10589815" cy="982583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377600"/>
      </p:ext>
    </p:extLst>
  </p:cSld>
  <p:clrMapOvr>
    <a:masterClrMapping/>
  </p:clrMapOvr>
  <p:transition spd="slow" advTm="0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74767-5D5C-87F7-2A83-CD41C3A6D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膨胀和腐蚀形态学重建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9E5480-8284-1886-D5FC-C65E5000BDA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根据前面的概念，标记图像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相对于模板图像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G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的膨胀形态学重建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定义为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相对于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G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的测地膨胀，反复迭代直至达到稳定状态为止；即图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9.30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说明了膨胀形态学重建。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9B8E9B-0752-7179-23FB-26E4EA7E6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367" y="3525253"/>
            <a:ext cx="5193266" cy="281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97180"/>
      </p:ext>
    </p:extLst>
  </p:cSld>
  <p:clrMapOvr>
    <a:masterClrMapping/>
  </p:clrMapOvr>
  <p:transition spd="slow" advTm="0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5F18F-2654-431B-3F08-154E19B94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应用实例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1EE8EA-A8E7-15AB-559A-F652AD379B4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 marL="0" marR="660" lvl="0" indent="0" rtl="0">
              <a:buNone/>
            </a:pPr>
            <a:r>
              <a:rPr lang="en-US" altLang="zh-CN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1.</a:t>
            </a:r>
            <a:r>
              <a:rPr lang="zh-CN" altLang="en-US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重建开运算</a:t>
            </a: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在形态学开运算中，腐蚀会删除小目标，而膨胀会试图恢复保留的目标的形状。恢复的精度取决于目标的形状和所用结构元的相似性。重建开运算能够精确地恢复腐蚀后所保留目标的形状。</a:t>
            </a:r>
          </a:p>
          <a:p>
            <a:pPr marL="0" marR="660" lvl="0" indent="0" rtl="0">
              <a:buNone/>
            </a:pPr>
            <a:r>
              <a:rPr lang="en-US" altLang="zh-CN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</a:t>
            </a:r>
            <a:r>
              <a:rPr lang="zh-CN" altLang="en-US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填充孔洞的自动算法</a:t>
            </a:r>
          </a:p>
          <a:p>
            <a:pPr marL="0" marR="660" lvl="0" indent="0" rtl="0"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9.5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节根据每个孔洞中的一个起点开发了一个填充孔洞的算法。下面根据形态学重建开发一个全 自动的过程。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B3A4B8-E6FC-FC70-E031-70B327627304}"/>
              </a:ext>
            </a:extLst>
          </p:cNvPr>
          <p:cNvSpPr/>
          <p:nvPr/>
        </p:nvSpPr>
        <p:spPr>
          <a:xfrm>
            <a:off x="801092" y="2446417"/>
            <a:ext cx="10589815" cy="3261364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6476083"/>
      </p:ext>
    </p:extLst>
  </p:cSld>
  <p:clrMapOvr>
    <a:masterClrMapping/>
  </p:clrMapOvr>
  <p:transition spd="slow" advTm="0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5F18F-2654-431B-3F08-154E19B94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应用实例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1EE8EA-A8E7-15AB-559A-F652AD379B4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Autofit/>
          </a:bodyPr>
          <a:lstStyle/>
          <a:p>
            <a:pPr marL="0" marR="660" lvl="0" indent="0" rtl="0">
              <a:buNone/>
            </a:pPr>
            <a:r>
              <a:rPr lang="en-US" altLang="zh-CN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3.</a:t>
            </a:r>
            <a:r>
              <a:rPr lang="zh-CN" altLang="en-US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边界清除</a:t>
            </a: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对于后续形状分析而言，从图像中提取目标是自动图像处理的基本任务。检测接触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即连接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边界的目标的算法是一个很有用的工具，因为：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(1)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它可以遮蔽图像，以便为进一步处理保留完整的目标，或者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(2)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它可作为视野中出现的部分目标的一个信号。</a:t>
            </a:r>
          </a:p>
        </p:txBody>
      </p:sp>
    </p:spTree>
    <p:extLst>
      <p:ext uri="{BB962C8B-B14F-4D97-AF65-F5344CB8AC3E}">
        <p14:creationId xmlns:p14="http://schemas.microsoft.com/office/powerpoint/2010/main" val="4171914651"/>
      </p:ext>
    </p:extLst>
  </p:cSld>
  <p:clrMapOvr>
    <a:masterClrMapping/>
  </p:clrMapOvr>
  <p:transition spd="slow" advTm="0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14663" y="2221637"/>
            <a:ext cx="5326558" cy="3091835"/>
            <a:chOff x="6133596" y="2292214"/>
            <a:chExt cx="5326558" cy="3091835"/>
          </a:xfrm>
        </p:grpSpPr>
        <p:sp>
          <p:nvSpPr>
            <p:cNvPr id="20" name="任意多边形: 形状 20"/>
            <p:cNvSpPr/>
            <p:nvPr userDrawn="1"/>
          </p:nvSpPr>
          <p:spPr>
            <a:xfrm>
              <a:off x="8109345" y="2292214"/>
              <a:ext cx="1400172" cy="1339375"/>
            </a:xfrm>
            <a:prstGeom prst="ellipse">
              <a:avLst/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07</a:t>
              </a:r>
              <a:endPara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133596" y="3937499"/>
              <a:ext cx="532655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二值图像形态学运算小结</a:t>
              </a:r>
              <a:endParaRPr lang="zh-CN" altLang="en-US" sz="4400" b="1" dirty="0">
                <a:solidFill>
                  <a:srgbClr val="0065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81486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2FE38-EF83-03A1-8061-D5E59C784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小结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10114A-1BFC-1DFD-3327-2D38ECB5800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9.35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中小结了迄今为止讨论的各种二值形态学方法所用的结构元。加阴影的元素是前景值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通 常由数值阵列中的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表示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白色元素是背景值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通常由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0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表示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),x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是“不关心”元素。表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小结了 前几节中开发的二值形态学结果。表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第三列中的罗马数字指的是图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9.35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中的结构元。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254590-A6E4-5029-3AF0-FB6F276C3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674" y="4061132"/>
            <a:ext cx="7870650" cy="248218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4923F04-0E6D-C9DA-F5CC-39E28A28B728}"/>
              </a:ext>
            </a:extLst>
          </p:cNvPr>
          <p:cNvSpPr/>
          <p:nvPr/>
        </p:nvSpPr>
        <p:spPr>
          <a:xfrm>
            <a:off x="801092" y="2446417"/>
            <a:ext cx="10589815" cy="1459384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5031483"/>
      </p:ext>
    </p:extLst>
  </p:cSld>
  <p:clrMapOvr>
    <a:masterClrMapping/>
  </p:clrMapOvr>
  <p:transition spd="slow" advTm="0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14663" y="2221637"/>
            <a:ext cx="5326558" cy="2414726"/>
            <a:chOff x="6133596" y="2292214"/>
            <a:chExt cx="5326558" cy="2414726"/>
          </a:xfrm>
        </p:grpSpPr>
        <p:sp>
          <p:nvSpPr>
            <p:cNvPr id="20" name="任意多边形: 形状 20"/>
            <p:cNvSpPr/>
            <p:nvPr userDrawn="1"/>
          </p:nvSpPr>
          <p:spPr>
            <a:xfrm>
              <a:off x="8109345" y="2292214"/>
              <a:ext cx="1400172" cy="1339375"/>
            </a:xfrm>
            <a:prstGeom prst="ellipse">
              <a:avLst/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08</a:t>
              </a:r>
              <a:endPara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133596" y="3937499"/>
              <a:ext cx="532655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灰度级形态学</a:t>
              </a:r>
              <a:endParaRPr lang="zh-CN" altLang="en-US" sz="4400" b="1" dirty="0">
                <a:solidFill>
                  <a:srgbClr val="0065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789324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66493-0C91-72EA-B278-94724719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灰度腐蚀和膨胀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10DC7D-18F9-0D12-D3E2-E819F499AC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6600734" cy="3540427"/>
          </a:xfrm>
        </p:spPr>
        <p:txBody>
          <a:bodyPr>
            <a:normAutofit/>
          </a:bodyPr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9.38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以一维形式说明了这个概念。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假定图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9.38(a)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中的曲线是图像中某行的灰度剖面。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9.38(b)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是从曲线底部上推到不同位置的平坦结构元。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9.38(c)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中的实线是完全开运算。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A1FADB-8CFC-333A-A513-A48646F1E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019" y="2432499"/>
            <a:ext cx="2833861" cy="354042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57189D9-FA85-BEFD-92E0-88B69D42A01D}"/>
              </a:ext>
            </a:extLst>
          </p:cNvPr>
          <p:cNvSpPr/>
          <p:nvPr/>
        </p:nvSpPr>
        <p:spPr>
          <a:xfrm>
            <a:off x="801092" y="2446417"/>
            <a:ext cx="10589815" cy="3540426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118173"/>
      </p:ext>
    </p:extLst>
  </p:cSld>
  <p:clrMapOvr>
    <a:masterClrMapping/>
  </p:clrMapOvr>
  <p:transition spd="slow" advTm="0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E7634-1262-8A28-C534-25B3EC14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一些基本的灰度级形态学算法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A5DB20-237D-E459-E333-E8E4AC2526F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4" y="2432500"/>
            <a:ext cx="5195445" cy="3540427"/>
          </a:xfrm>
        </p:spPr>
        <p:txBody>
          <a:bodyPr>
            <a:normAutofit lnSpcReduction="10000"/>
          </a:bodyPr>
          <a:lstStyle/>
          <a:p>
            <a:pPr marL="0" marR="660" lvl="0" indent="0" rtl="0">
              <a:buNone/>
            </a:pPr>
            <a:r>
              <a:rPr lang="en-US" altLang="zh-CN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1.</a:t>
            </a:r>
            <a:r>
              <a:rPr lang="zh-CN" altLang="en-US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形态学平滑</a:t>
            </a: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由于开运算抑制比规定结构元小的亮细节，同时几乎不影响暗细节，而闭运算的效果相反。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en-US" altLang="zh-CN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</a:t>
            </a:r>
            <a:r>
              <a:rPr lang="zh-CN" altLang="en-US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形态学梯度</a:t>
            </a: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9.41(a)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是头部的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CT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扫描图像，接下来的两幅图像是用所有元素都为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3×3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结构元对该图像进行开运算和闭运算后的结果。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15985A-DFEF-D51A-CBFD-251EE5F81E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30"/>
          <a:stretch/>
        </p:blipFill>
        <p:spPr>
          <a:xfrm>
            <a:off x="5888229" y="2511612"/>
            <a:ext cx="5502678" cy="341003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D41E806-663E-1EB5-FA97-6E03883735E6}"/>
              </a:ext>
            </a:extLst>
          </p:cNvPr>
          <p:cNvSpPr/>
          <p:nvPr/>
        </p:nvSpPr>
        <p:spPr>
          <a:xfrm>
            <a:off x="801092" y="2446417"/>
            <a:ext cx="10589815" cy="3540426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342828"/>
      </p:ext>
    </p:extLst>
  </p:cSld>
  <p:clrMapOvr>
    <a:masterClrMapping/>
  </p:clrMapOvr>
  <p:transition spd="slow" advTm="0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E7634-1262-8A28-C534-25B3EC14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一些基本的灰度级形态学算法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A5DB20-237D-E459-E333-E8E4AC2526F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4769677" cy="3230517"/>
          </a:xfrm>
        </p:spPr>
        <p:txBody>
          <a:bodyPr>
            <a:normAutofit/>
          </a:bodyPr>
          <a:lstStyle/>
          <a:p>
            <a:pPr marL="0" marR="660" lvl="0" indent="0" rtl="0">
              <a:buNone/>
            </a:pPr>
            <a:r>
              <a:rPr lang="en-US" altLang="zh-CN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3.</a:t>
            </a:r>
            <a:r>
              <a:rPr lang="zh-CN" altLang="en-US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顶帽变换和底帽变换</a:t>
            </a: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为便于说明，我们考虑图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9.42(a),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它是一幅米粒图像，是在非均匀光照下得到的，图像底部和最右侧的暗色区域非常明显。图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9.42(b)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是对该图像使用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10.3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节讨论的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Otsu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最优阈值处理方法得到的结果。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0D7A2E-C48D-9C63-178E-8A54A30A8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127" y="2604982"/>
            <a:ext cx="5184809" cy="364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974669"/>
      </p:ext>
    </p:extLst>
  </p:cSld>
  <p:clrMapOvr>
    <a:masterClrMapping/>
  </p:clrMapOvr>
  <p:transition spd="slow" advTm="0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E7634-1262-8A28-C534-25B3EC14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一些基本的灰度级形态学算法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A5DB20-237D-E459-E333-E8E4AC2526F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4" y="2432500"/>
            <a:ext cx="5849963" cy="3540427"/>
          </a:xfrm>
        </p:spPr>
        <p:txBody>
          <a:bodyPr>
            <a:noAutofit/>
          </a:bodyPr>
          <a:lstStyle/>
          <a:p>
            <a:pPr marL="0" marR="660" lvl="0" indent="0" rtl="0">
              <a:buNone/>
            </a:pPr>
            <a:r>
              <a:rPr lang="en-US" altLang="zh-CN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4.</a:t>
            </a:r>
            <a:r>
              <a:rPr lang="zh-CN" altLang="en-US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粒度测定</a:t>
            </a: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粒度测定是指确定图像中颗粒的大小分布。由于颗粒几乎无法整齐地分开，因此采用逐个识别颗粒的方法来计算颗粒的数量非常困难。</a:t>
            </a:r>
          </a:p>
          <a:p>
            <a:pPr marL="0" marR="660" lvl="0" indent="0" rtl="0">
              <a:buNone/>
            </a:pPr>
            <a:r>
              <a:rPr lang="en-US" altLang="zh-CN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5.</a:t>
            </a:r>
            <a:r>
              <a:rPr lang="zh-CN" altLang="en-US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纹理分割</a:t>
            </a: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.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45(a)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是一幅在亮背景上叠加了暗斑点的噪声图像。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14BAAE-63CB-D3F9-EE5E-9C46D43AF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937" y="2486088"/>
            <a:ext cx="4556969" cy="35240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B5991CB-E8D6-9AB1-B501-2E9FE4AC168E}"/>
              </a:ext>
            </a:extLst>
          </p:cNvPr>
          <p:cNvSpPr/>
          <p:nvPr/>
        </p:nvSpPr>
        <p:spPr>
          <a:xfrm>
            <a:off x="801092" y="2446416"/>
            <a:ext cx="10589815" cy="3636749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0036779"/>
      </p:ext>
    </p:extLst>
  </p:cSld>
  <p:clrMapOvr>
    <a:masterClrMapping/>
  </p:clrMapOvr>
  <p:transition spd="slow" advTm="0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218EE-C412-449E-1138-32605ACD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灰度级形态学重建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158E1B-522C-FC65-03F0-D46AC526EBC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797365"/>
          </a:xfrm>
        </p:spPr>
        <p:txBody>
          <a:bodyPr>
            <a:normAutofit/>
          </a:bodyPr>
          <a:lstStyle/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灰度级形态学重建的定义，类似于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9.7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节中二值图像形态学重建的定义。令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g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分别表示标记图像和模板图像。假设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和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g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是大小相同的灰度图像，且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≤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g,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 即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在图像中任一点的灰度比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g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在这一点的灰度小。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相对于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g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的大小为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的测地膨胀定义为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66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式中，  表示逐点最小算子，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是一个合适的结构元。我们看到，大小为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的测地膨胀的获得方式如下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首先计算万对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的膨胀，然后选择点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(, 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处膨胀结果和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g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之间的最小者。若是一个平坦结构元则膨胀由式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(9.50)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给出，否则膨胀由式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(9.52)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给出。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E2F2C0-F496-6A4A-6898-63DA907AF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704" y="4076721"/>
            <a:ext cx="2376592" cy="5337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C9990B4-4196-03E4-4DEA-78C8B8ACF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396" y="4772676"/>
            <a:ext cx="238841" cy="23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73562"/>
      </p:ext>
    </p:extLst>
  </p:cSld>
  <p:clrMapOvr>
    <a:masterClrMapping/>
  </p:clrMapOvr>
  <p:transition spd="slow" advTm="0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组合 301"/>
          <p:cNvGrpSpPr/>
          <p:nvPr/>
        </p:nvGrpSpPr>
        <p:grpSpPr>
          <a:xfrm>
            <a:off x="951918" y="2003875"/>
            <a:ext cx="4621778" cy="1257438"/>
            <a:chOff x="951918" y="1752810"/>
            <a:chExt cx="4621778" cy="1257438"/>
          </a:xfrm>
        </p:grpSpPr>
        <p:sp>
          <p:nvSpPr>
            <p:cNvPr id="295" name="椭圆 294"/>
            <p:cNvSpPr/>
            <p:nvPr/>
          </p:nvSpPr>
          <p:spPr>
            <a:xfrm>
              <a:off x="3440154" y="1752810"/>
              <a:ext cx="1219200" cy="1219200"/>
            </a:xfrm>
            <a:prstGeom prst="ellipse">
              <a:avLst/>
            </a:prstGeom>
            <a:gradFill>
              <a:gsLst>
                <a:gs pos="0">
                  <a:srgbClr val="0165C5">
                    <a:alpha val="7000"/>
                  </a:srgbClr>
                </a:gs>
                <a:gs pos="100000">
                  <a:srgbClr val="F2F9FF">
                    <a:alpha val="24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285" name="文本框 284"/>
            <p:cNvSpPr txBox="1"/>
            <p:nvPr/>
          </p:nvSpPr>
          <p:spPr>
            <a:xfrm>
              <a:off x="951918" y="2240807"/>
              <a:ext cx="462177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感谢观看，再见！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BE357EE-D036-5636-DC77-B48D4D7055E5}"/>
              </a:ext>
            </a:extLst>
          </p:cNvPr>
          <p:cNvGrpSpPr/>
          <p:nvPr/>
        </p:nvGrpSpPr>
        <p:grpSpPr>
          <a:xfrm>
            <a:off x="951918" y="4412946"/>
            <a:ext cx="4142910" cy="479114"/>
            <a:chOff x="5646962" y="4937787"/>
            <a:chExt cx="1453481" cy="482463"/>
          </a:xfrm>
          <a:effectLst/>
        </p:grpSpPr>
        <p:sp>
          <p:nvSpPr>
            <p:cNvPr id="3" name="任意多边形: 形状 12">
              <a:extLst>
                <a:ext uri="{FF2B5EF4-FFF2-40B4-BE49-F238E27FC236}">
                  <a16:creationId xmlns:a16="http://schemas.microsoft.com/office/drawing/2014/main" id="{B8825F78-788B-5888-4DE8-08CDF7B2BB1A}"/>
                </a:ext>
              </a:extLst>
            </p:cNvPr>
            <p:cNvSpPr/>
            <p:nvPr/>
          </p:nvSpPr>
          <p:spPr>
            <a:xfrm flipH="1" flipV="1">
              <a:off x="5646962" y="4937787"/>
              <a:ext cx="1453481" cy="482463"/>
            </a:xfrm>
            <a:prstGeom prst="roundRect">
              <a:avLst>
                <a:gd name="adj" fmla="val 50000"/>
              </a:avLst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5D6DFA9-4BAC-CC65-293E-89A0FE6CFA72}"/>
                </a:ext>
              </a:extLst>
            </p:cNvPr>
            <p:cNvSpPr txBox="1"/>
            <p:nvPr/>
          </p:nvSpPr>
          <p:spPr>
            <a:xfrm>
              <a:off x="5715384" y="4993062"/>
              <a:ext cx="1316636" cy="3719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6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数字图像处理（第四版）</a:t>
              </a:r>
            </a:p>
          </p:txBody>
        </p:sp>
      </p:grpSp>
      <p:sp>
        <p:nvSpPr>
          <p:cNvPr id="5" name="Freeform 24">
            <a:extLst>
              <a:ext uri="{FF2B5EF4-FFF2-40B4-BE49-F238E27FC236}">
                <a16:creationId xmlns:a16="http://schemas.microsoft.com/office/drawing/2014/main" id="{CA6C89E0-1294-29F9-32FC-0C6AE93501E4}"/>
              </a:ext>
            </a:extLst>
          </p:cNvPr>
          <p:cNvSpPr>
            <a:spLocks/>
          </p:cNvSpPr>
          <p:nvPr/>
        </p:nvSpPr>
        <p:spPr bwMode="auto">
          <a:xfrm>
            <a:off x="951918" y="3660494"/>
            <a:ext cx="171824" cy="429542"/>
          </a:xfrm>
          <a:prstGeom prst="roundRect">
            <a:avLst/>
          </a:prstGeom>
          <a:solidFill>
            <a:srgbClr val="0463C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FAA5296B-124B-0722-3B9F-18899F4AC0A1}"/>
              </a:ext>
            </a:extLst>
          </p:cNvPr>
          <p:cNvSpPr txBox="1">
            <a:spLocks/>
          </p:cNvSpPr>
          <p:nvPr/>
        </p:nvSpPr>
        <p:spPr>
          <a:xfrm>
            <a:off x="1254141" y="3736766"/>
            <a:ext cx="37879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dist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国外电子与通信教材系列</a:t>
            </a:r>
          </a:p>
        </p:txBody>
      </p:sp>
    </p:spTree>
    <p:extLst>
      <p:ext uri="{BB962C8B-B14F-4D97-AF65-F5344CB8AC3E}">
        <p14:creationId xmlns:p14="http://schemas.microsoft.com/office/powerpoint/2010/main" val="40605682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ooxxci0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【ch02】数字图像基础</Template>
  <TotalTime>55</TotalTime>
  <Words>2349</Words>
  <Application>Microsoft Office PowerPoint</Application>
  <PresentationFormat>宽屏</PresentationFormat>
  <Paragraphs>111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8" baseType="lpstr">
      <vt:lpstr>阿里巴巴普惠体</vt:lpstr>
      <vt:lpstr>Arial</vt:lpstr>
      <vt:lpstr>Wingdings</vt:lpstr>
      <vt:lpstr>Office 主题</vt:lpstr>
      <vt:lpstr>PowerPoint 演示文稿</vt:lpstr>
      <vt:lpstr>PowerPoint 演示文稿</vt:lpstr>
      <vt:lpstr>概述</vt:lpstr>
      <vt:lpstr>PowerPoint 演示文稿</vt:lpstr>
      <vt:lpstr>腐蚀</vt:lpstr>
      <vt:lpstr>膨胀</vt:lpstr>
      <vt:lpstr>对偶性</vt:lpstr>
      <vt:lpstr>PowerPoint 演示文稿</vt:lpstr>
      <vt:lpstr>运算</vt:lpstr>
      <vt:lpstr>PowerPoint 演示文稿</vt:lpstr>
      <vt:lpstr>变换</vt:lpstr>
      <vt:lpstr>PowerPoint 演示文稿</vt:lpstr>
      <vt:lpstr>边界提取</vt:lpstr>
      <vt:lpstr>孔洞填充</vt:lpstr>
      <vt:lpstr>  提取连通分量</vt:lpstr>
      <vt:lpstr>凸壳</vt:lpstr>
      <vt:lpstr>细化</vt:lpstr>
      <vt:lpstr>粗化</vt:lpstr>
      <vt:lpstr>骨架</vt:lpstr>
      <vt:lpstr>裁剪</vt:lpstr>
      <vt:lpstr>PowerPoint 演示文稿</vt:lpstr>
      <vt:lpstr>测地膨胀和腐蚀</vt:lpstr>
      <vt:lpstr>膨胀和腐蚀形态学重建</vt:lpstr>
      <vt:lpstr>应用实例</vt:lpstr>
      <vt:lpstr>应用实例</vt:lpstr>
      <vt:lpstr>PowerPoint 演示文稿</vt:lpstr>
      <vt:lpstr>小结</vt:lpstr>
      <vt:lpstr>PowerPoint 演示文稿</vt:lpstr>
      <vt:lpstr>灰度腐蚀和膨胀</vt:lpstr>
      <vt:lpstr>一些基本的灰度级形态学算法</vt:lpstr>
      <vt:lpstr>一些基本的灰度级形态学算法</vt:lpstr>
      <vt:lpstr>一些基本的灰度级形态学算法</vt:lpstr>
      <vt:lpstr>灰度级形态学重建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形态学图像处理</dc:title>
  <dc:creator>娜 王</dc:creator>
  <cp:lastModifiedBy>娜 王</cp:lastModifiedBy>
  <cp:revision>4</cp:revision>
  <dcterms:created xsi:type="dcterms:W3CDTF">2023-10-13T03:32:09Z</dcterms:created>
  <dcterms:modified xsi:type="dcterms:W3CDTF">2023-10-19T08:48:04Z</dcterms:modified>
</cp:coreProperties>
</file>