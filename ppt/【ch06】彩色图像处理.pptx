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sldIdLst>
    <p:sldId id="281" r:id="rId2"/>
    <p:sldId id="282" r:id="rId3"/>
    <p:sldId id="257" r:id="rId4"/>
    <p:sldId id="283" r:id="rId5"/>
    <p:sldId id="259" r:id="rId6"/>
    <p:sldId id="260" r:id="rId7"/>
    <p:sldId id="261" r:id="rId8"/>
    <p:sldId id="292" r:id="rId9"/>
    <p:sldId id="262" r:id="rId10"/>
    <p:sldId id="284" r:id="rId11"/>
    <p:sldId id="264" r:id="rId12"/>
    <p:sldId id="265" r:id="rId13"/>
    <p:sldId id="285" r:id="rId14"/>
    <p:sldId id="266" r:id="rId15"/>
    <p:sldId id="286" r:id="rId16"/>
    <p:sldId id="269" r:id="rId17"/>
    <p:sldId id="270" r:id="rId18"/>
    <p:sldId id="271" r:id="rId19"/>
    <p:sldId id="272" r:id="rId20"/>
    <p:sldId id="287" r:id="rId21"/>
    <p:sldId id="274" r:id="rId22"/>
    <p:sldId id="275" r:id="rId23"/>
    <p:sldId id="288" r:id="rId24"/>
    <p:sldId id="277" r:id="rId25"/>
    <p:sldId id="278" r:id="rId26"/>
    <p:sldId id="279" r:id="rId27"/>
    <p:sldId id="289" r:id="rId28"/>
    <p:sldId id="293" r:id="rId29"/>
    <p:sldId id="291" r:id="rId30"/>
    <p:sldId id="280" r:id="rId31"/>
    <p:sldId id="290" r:id="rId3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7" autoAdjust="0"/>
    <p:restoredTop sz="94660"/>
  </p:normalViewPr>
  <p:slideViewPr>
    <p:cSldViewPr snapToGrid="0">
      <p:cViewPr varScale="1">
        <p:scale>
          <a:sx n="66" d="100"/>
          <a:sy n="66" d="100"/>
        </p:scale>
        <p:origin x="3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首页">
    <p:spTree>
      <p:nvGrpSpPr>
        <p:cNvPr id="1" name=""/>
        <p:cNvGrpSpPr/>
        <p:nvPr/>
      </p:nvGrpSpPr>
      <p:grpSpPr>
        <a:xfrm>
          <a:off x="0" y="0"/>
          <a:ext cx="0" cy="0"/>
          <a:chOff x="0" y="0"/>
          <a:chExt cx="0" cy="0"/>
        </a:xfrm>
      </p:grpSpPr>
      <p:sp>
        <p:nvSpPr>
          <p:cNvPr id="17" name="任意多边形: 形状 16"/>
          <p:cNvSpPr/>
          <p:nvPr/>
        </p:nvSpPr>
        <p:spPr>
          <a:xfrm>
            <a:off x="0" y="2807982"/>
            <a:ext cx="1583750" cy="3179395"/>
          </a:xfrm>
          <a:custGeom>
            <a:avLst/>
            <a:gdLst>
              <a:gd name="connsiteX0" fmla="*/ 0 w 1252875"/>
              <a:gd name="connsiteY0" fmla="*/ 0 h 2515160"/>
              <a:gd name="connsiteX1" fmla="*/ 123651 w 1252875"/>
              <a:gd name="connsiteY1" fmla="*/ 6244 h 2515160"/>
              <a:gd name="connsiteX2" fmla="*/ 1252875 w 1252875"/>
              <a:gd name="connsiteY2" fmla="*/ 1257580 h 2515160"/>
              <a:gd name="connsiteX3" fmla="*/ 123651 w 1252875"/>
              <a:gd name="connsiteY3" fmla="*/ 2508916 h 2515160"/>
              <a:gd name="connsiteX4" fmla="*/ 0 w 1252875"/>
              <a:gd name="connsiteY4" fmla="*/ 2515160 h 2515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875" h="2515160">
                <a:moveTo>
                  <a:pt x="0" y="0"/>
                </a:moveTo>
                <a:lnTo>
                  <a:pt x="123651" y="6244"/>
                </a:lnTo>
                <a:cubicBezTo>
                  <a:pt x="757919" y="70658"/>
                  <a:pt x="1252875" y="606318"/>
                  <a:pt x="1252875" y="1257580"/>
                </a:cubicBezTo>
                <a:cubicBezTo>
                  <a:pt x="1252875" y="1908843"/>
                  <a:pt x="757919" y="2444503"/>
                  <a:pt x="123651" y="2508916"/>
                </a:cubicBezTo>
                <a:lnTo>
                  <a:pt x="0" y="2515160"/>
                </a:ln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8" name="任意多边形: 形状 17"/>
          <p:cNvSpPr/>
          <p:nvPr/>
        </p:nvSpPr>
        <p:spPr>
          <a:xfrm>
            <a:off x="2733914" y="5295998"/>
            <a:ext cx="4134465" cy="1591455"/>
          </a:xfrm>
          <a:custGeom>
            <a:avLst/>
            <a:gdLst>
              <a:gd name="connsiteX0" fmla="*/ 1936014 w 3872028"/>
              <a:gd name="connsiteY0" fmla="*/ 0 h 1490437"/>
              <a:gd name="connsiteX1" fmla="*/ 3851067 w 3872028"/>
              <a:gd name="connsiteY1" fmla="*/ 1408917 h 1490437"/>
              <a:gd name="connsiteX2" fmla="*/ 3872028 w 3872028"/>
              <a:gd name="connsiteY2" fmla="*/ 1490437 h 1490437"/>
              <a:gd name="connsiteX3" fmla="*/ 0 w 3872028"/>
              <a:gd name="connsiteY3" fmla="*/ 1490437 h 1490437"/>
              <a:gd name="connsiteX4" fmla="*/ 20961 w 3872028"/>
              <a:gd name="connsiteY4" fmla="*/ 1408917 h 1490437"/>
              <a:gd name="connsiteX5" fmla="*/ 1936014 w 3872028"/>
              <a:gd name="connsiteY5" fmla="*/ 0 h 149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72028" h="1490437">
                <a:moveTo>
                  <a:pt x="1936014" y="0"/>
                </a:moveTo>
                <a:cubicBezTo>
                  <a:pt x="2835812" y="0"/>
                  <a:pt x="3597185" y="592662"/>
                  <a:pt x="3851067" y="1408917"/>
                </a:cubicBezTo>
                <a:lnTo>
                  <a:pt x="3872028" y="1490437"/>
                </a:lnTo>
                <a:lnTo>
                  <a:pt x="0" y="1490437"/>
                </a:lnTo>
                <a:lnTo>
                  <a:pt x="20961" y="1408917"/>
                </a:lnTo>
                <a:cubicBezTo>
                  <a:pt x="274843" y="592662"/>
                  <a:pt x="1036217" y="0"/>
                  <a:pt x="1936014" y="0"/>
                </a:cubicBez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grpSp>
        <p:nvGrpSpPr>
          <p:cNvPr id="22" name="组合 21"/>
          <p:cNvGrpSpPr/>
          <p:nvPr/>
        </p:nvGrpSpPr>
        <p:grpSpPr>
          <a:xfrm>
            <a:off x="5389245" y="-304800"/>
            <a:ext cx="7221855" cy="6395720"/>
            <a:chOff x="5389435" y="-304798"/>
            <a:chExt cx="7221666" cy="6395847"/>
          </a:xfrm>
        </p:grpSpPr>
        <p:grpSp>
          <p:nvGrpSpPr>
            <p:cNvPr id="16" name="组合 15"/>
            <p:cNvGrpSpPr/>
            <p:nvPr userDrawn="1"/>
          </p:nvGrpSpPr>
          <p:grpSpPr>
            <a:xfrm>
              <a:off x="5389435" y="-304798"/>
              <a:ext cx="7221666" cy="6395847"/>
              <a:chOff x="4970335" y="-304798"/>
              <a:chExt cx="7221666" cy="6395847"/>
            </a:xfrm>
          </p:grpSpPr>
          <p:sp>
            <p:nvSpPr>
              <p:cNvPr id="9" name="任意多边形: 形状 8"/>
              <p:cNvSpPr/>
              <p:nvPr/>
            </p:nvSpPr>
            <p:spPr>
              <a:xfrm rot="16200000">
                <a:off x="5383244" y="-717707"/>
                <a:ext cx="6395847" cy="7221666"/>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0" name="任意多边形: 形状 9"/>
              <p:cNvSpPr/>
              <p:nvPr/>
            </p:nvSpPr>
            <p:spPr>
              <a:xfrm rot="16200000">
                <a:off x="5253261" y="-515155"/>
                <a:ext cx="2180771" cy="2601486"/>
              </a:xfrm>
              <a:custGeom>
                <a:avLst/>
                <a:gdLst>
                  <a:gd name="connsiteX0" fmla="*/ 1880924 w 2180771"/>
                  <a:gd name="connsiteY0" fmla="*/ 763130 h 2601486"/>
                  <a:gd name="connsiteX1" fmla="*/ 1880924 w 2180771"/>
                  <a:gd name="connsiteY1" fmla="*/ 2530378 h 2601486"/>
                  <a:gd name="connsiteX2" fmla="*/ 1863032 w 2180771"/>
                  <a:gd name="connsiteY2" fmla="*/ 2536926 h 2601486"/>
                  <a:gd name="connsiteX3" fmla="*/ 1436007 w 2180771"/>
                  <a:gd name="connsiteY3" fmla="*/ 2601486 h 2601486"/>
                  <a:gd name="connsiteX4" fmla="*/ 0 w 2180771"/>
                  <a:gd name="connsiteY4" fmla="*/ 1165479 h 2601486"/>
                  <a:gd name="connsiteX5" fmla="*/ 522574 w 2180771"/>
                  <a:gd name="connsiteY5" fmla="*/ 57386 h 2601486"/>
                  <a:gd name="connsiteX6" fmla="*/ 599315 w 2180771"/>
                  <a:gd name="connsiteY6" fmla="*/ 0 h 2601486"/>
                  <a:gd name="connsiteX7" fmla="*/ 705163 w 2180771"/>
                  <a:gd name="connsiteY7" fmla="*/ 52521 h 2601486"/>
                  <a:gd name="connsiteX8" fmla="*/ 1704137 w 2180771"/>
                  <a:gd name="connsiteY8" fmla="*/ 629279 h 2601486"/>
                  <a:gd name="connsiteX9" fmla="*/ 1815005 w 2180771"/>
                  <a:gd name="connsiteY9" fmla="*/ 703972 h 2601486"/>
                  <a:gd name="connsiteX10" fmla="*/ 2006548 w 2180771"/>
                  <a:gd name="connsiteY10" fmla="*/ 907075 h 2601486"/>
                  <a:gd name="connsiteX11" fmla="*/ 1986860 w 2180771"/>
                  <a:gd name="connsiteY11" fmla="*/ 879387 h 2601486"/>
                  <a:gd name="connsiteX12" fmla="*/ 1995060 w 2180771"/>
                  <a:gd name="connsiteY12" fmla="*/ 889072 h 2601486"/>
                  <a:gd name="connsiteX13" fmla="*/ 2053189 w 2180771"/>
                  <a:gd name="connsiteY13" fmla="*/ 1931884 h 2601486"/>
                  <a:gd name="connsiteX14" fmla="*/ 2053176 w 2180771"/>
                  <a:gd name="connsiteY14" fmla="*/ 1931910 h 2601486"/>
                  <a:gd name="connsiteX15" fmla="*/ 1880925 w 2180771"/>
                  <a:gd name="connsiteY15" fmla="*/ 2230259 h 2601486"/>
                  <a:gd name="connsiteX16" fmla="*/ 1880925 w 2180771"/>
                  <a:gd name="connsiteY16" fmla="*/ 2230257 h 2601486"/>
                  <a:gd name="connsiteX17" fmla="*/ 2053176 w 2180771"/>
                  <a:gd name="connsiteY17" fmla="*/ 1931909 h 2601486"/>
                  <a:gd name="connsiteX18" fmla="*/ 2068692 w 2180771"/>
                  <a:gd name="connsiteY18" fmla="*/ 1007598 h 2601486"/>
                  <a:gd name="connsiteX19" fmla="*/ 2052044 w 2180771"/>
                  <a:gd name="connsiteY19" fmla="*/ 978380 h 2601486"/>
                  <a:gd name="connsiteX20" fmla="*/ 2063335 w 2180771"/>
                  <a:gd name="connsiteY20" fmla="*/ 996075 h 2601486"/>
                  <a:gd name="connsiteX21" fmla="*/ 2101939 w 2180771"/>
                  <a:gd name="connsiteY21" fmla="*/ 1833636 h 2601486"/>
                  <a:gd name="connsiteX22" fmla="*/ 2095166 w 2180771"/>
                  <a:gd name="connsiteY22" fmla="*/ 1850517 h 2601486"/>
                  <a:gd name="connsiteX23" fmla="*/ 2053189 w 2180771"/>
                  <a:gd name="connsiteY23" fmla="*/ 1931884 h 2601486"/>
                  <a:gd name="connsiteX24" fmla="*/ 2113879 w 2180771"/>
                  <a:gd name="connsiteY24" fmla="*/ 1803879 h 2601486"/>
                  <a:gd name="connsiteX25" fmla="*/ 2107267 w 2180771"/>
                  <a:gd name="connsiteY25" fmla="*/ 1822898 h 2601486"/>
                  <a:gd name="connsiteX26" fmla="*/ 2101939 w 2180771"/>
                  <a:gd name="connsiteY26" fmla="*/ 1833636 h 2601486"/>
                  <a:gd name="connsiteX27" fmla="*/ 2139904 w 2180771"/>
                  <a:gd name="connsiteY27" fmla="*/ 1729011 h 2601486"/>
                  <a:gd name="connsiteX28" fmla="*/ 2128657 w 2180771"/>
                  <a:gd name="connsiteY28" fmla="*/ 1767046 h 2601486"/>
                  <a:gd name="connsiteX29" fmla="*/ 2113879 w 2180771"/>
                  <a:gd name="connsiteY29" fmla="*/ 1803879 h 2601486"/>
                  <a:gd name="connsiteX30" fmla="*/ 2148810 w 2180771"/>
                  <a:gd name="connsiteY30" fmla="*/ 1698893 h 2601486"/>
                  <a:gd name="connsiteX31" fmla="*/ 2146335 w 2180771"/>
                  <a:gd name="connsiteY31" fmla="*/ 1710510 h 2601486"/>
                  <a:gd name="connsiteX32" fmla="*/ 2139904 w 2180771"/>
                  <a:gd name="connsiteY32" fmla="*/ 1729011 h 2601486"/>
                  <a:gd name="connsiteX33" fmla="*/ 2157689 w 2180771"/>
                  <a:gd name="connsiteY33" fmla="*/ 1251116 h 2601486"/>
                  <a:gd name="connsiteX34" fmla="*/ 2150333 w 2180771"/>
                  <a:gd name="connsiteY34" fmla="*/ 1218457 h 2601486"/>
                  <a:gd name="connsiteX35" fmla="*/ 2154097 w 2180771"/>
                  <a:gd name="connsiteY35" fmla="*/ 1230476 h 2601486"/>
                  <a:gd name="connsiteX36" fmla="*/ 2170719 w 2180771"/>
                  <a:gd name="connsiteY36" fmla="*/ 1596043 h 2601486"/>
                  <a:gd name="connsiteX37" fmla="*/ 2153795 w 2180771"/>
                  <a:gd name="connsiteY37" fmla="*/ 1682035 h 2601486"/>
                  <a:gd name="connsiteX38" fmla="*/ 2148810 w 2180771"/>
                  <a:gd name="connsiteY38" fmla="*/ 1698893 h 2601486"/>
                  <a:gd name="connsiteX39" fmla="*/ 2176181 w 2180771"/>
                  <a:gd name="connsiteY39" fmla="*/ 1367039 h 2601486"/>
                  <a:gd name="connsiteX40" fmla="*/ 2172063 w 2180771"/>
                  <a:gd name="connsiteY40" fmla="*/ 1333720 h 2601486"/>
                  <a:gd name="connsiteX41" fmla="*/ 2175673 w 2180771"/>
                  <a:gd name="connsiteY41" fmla="*/ 1354469 h 2601486"/>
                  <a:gd name="connsiteX42" fmla="*/ 2180771 w 2180771"/>
                  <a:gd name="connsiteY42" fmla="*/ 1480722 h 2601486"/>
                  <a:gd name="connsiteX43" fmla="*/ 2170722 w 2180771"/>
                  <a:gd name="connsiteY43" fmla="*/ 1596025 h 2601486"/>
                  <a:gd name="connsiteX44" fmla="*/ 2170719 w 2180771"/>
                  <a:gd name="connsiteY44" fmla="*/ 1596043 h 2601486"/>
                  <a:gd name="connsiteX45" fmla="*/ 2170722 w 2180771"/>
                  <a:gd name="connsiteY45" fmla="*/ 1596025 h 2601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80771" h="2601486">
                    <a:moveTo>
                      <a:pt x="1880924" y="763130"/>
                    </a:moveTo>
                    <a:lnTo>
                      <a:pt x="1880924" y="2530378"/>
                    </a:lnTo>
                    <a:lnTo>
                      <a:pt x="1863032" y="2536926"/>
                    </a:lnTo>
                    <a:cubicBezTo>
                      <a:pt x="1728135" y="2578883"/>
                      <a:pt x="1584711" y="2601486"/>
                      <a:pt x="1436007" y="2601486"/>
                    </a:cubicBezTo>
                    <a:cubicBezTo>
                      <a:pt x="642922" y="2601486"/>
                      <a:pt x="0" y="1958564"/>
                      <a:pt x="0" y="1165479"/>
                    </a:cubicBezTo>
                    <a:cubicBezTo>
                      <a:pt x="0" y="719369"/>
                      <a:pt x="203425" y="320771"/>
                      <a:pt x="522574" y="57386"/>
                    </a:cubicBezTo>
                    <a:lnTo>
                      <a:pt x="599315" y="0"/>
                    </a:lnTo>
                    <a:lnTo>
                      <a:pt x="705163" y="52521"/>
                    </a:lnTo>
                    <a:lnTo>
                      <a:pt x="1704137" y="629279"/>
                    </a:lnTo>
                    <a:cubicBezTo>
                      <a:pt x="1743333" y="651909"/>
                      <a:pt x="1780314" y="676901"/>
                      <a:pt x="1815005" y="703972"/>
                    </a:cubicBezTo>
                    <a:close/>
                    <a:moveTo>
                      <a:pt x="2006548" y="907075"/>
                    </a:moveTo>
                    <a:lnTo>
                      <a:pt x="1986860" y="879387"/>
                    </a:lnTo>
                    <a:lnTo>
                      <a:pt x="1995060" y="889072"/>
                    </a:lnTo>
                    <a:close/>
                    <a:moveTo>
                      <a:pt x="2053189" y="1931884"/>
                    </a:moveTo>
                    <a:lnTo>
                      <a:pt x="2053176" y="1931910"/>
                    </a:lnTo>
                    <a:lnTo>
                      <a:pt x="1880925" y="2230259"/>
                    </a:lnTo>
                    <a:lnTo>
                      <a:pt x="1880925" y="2230257"/>
                    </a:lnTo>
                    <a:lnTo>
                      <a:pt x="2053176" y="1931909"/>
                    </a:lnTo>
                    <a:close/>
                    <a:moveTo>
                      <a:pt x="2068692" y="1007598"/>
                    </a:moveTo>
                    <a:lnTo>
                      <a:pt x="2052044" y="978380"/>
                    </a:lnTo>
                    <a:lnTo>
                      <a:pt x="2063335" y="996075"/>
                    </a:lnTo>
                    <a:close/>
                    <a:moveTo>
                      <a:pt x="2101939" y="1833636"/>
                    </a:moveTo>
                    <a:lnTo>
                      <a:pt x="2095166" y="1850517"/>
                    </a:lnTo>
                    <a:lnTo>
                      <a:pt x="2053189" y="1931884"/>
                    </a:lnTo>
                    <a:close/>
                    <a:moveTo>
                      <a:pt x="2113879" y="1803879"/>
                    </a:moveTo>
                    <a:lnTo>
                      <a:pt x="2107267" y="1822898"/>
                    </a:lnTo>
                    <a:lnTo>
                      <a:pt x="2101939" y="1833636"/>
                    </a:lnTo>
                    <a:close/>
                    <a:moveTo>
                      <a:pt x="2139904" y="1729011"/>
                    </a:moveTo>
                    <a:lnTo>
                      <a:pt x="2128657" y="1767046"/>
                    </a:lnTo>
                    <a:lnTo>
                      <a:pt x="2113879" y="1803879"/>
                    </a:lnTo>
                    <a:close/>
                    <a:moveTo>
                      <a:pt x="2148810" y="1698893"/>
                    </a:moveTo>
                    <a:lnTo>
                      <a:pt x="2146335" y="1710510"/>
                    </a:lnTo>
                    <a:lnTo>
                      <a:pt x="2139904" y="1729011"/>
                    </a:lnTo>
                    <a:close/>
                    <a:moveTo>
                      <a:pt x="2157689" y="1251116"/>
                    </a:moveTo>
                    <a:lnTo>
                      <a:pt x="2150333" y="1218457"/>
                    </a:lnTo>
                    <a:lnTo>
                      <a:pt x="2154097" y="1230476"/>
                    </a:lnTo>
                    <a:close/>
                    <a:moveTo>
                      <a:pt x="2170719" y="1596043"/>
                    </a:moveTo>
                    <a:lnTo>
                      <a:pt x="2153795" y="1682035"/>
                    </a:lnTo>
                    <a:lnTo>
                      <a:pt x="2148810" y="1698893"/>
                    </a:lnTo>
                    <a:close/>
                    <a:moveTo>
                      <a:pt x="2176181" y="1367039"/>
                    </a:moveTo>
                    <a:lnTo>
                      <a:pt x="2172063" y="1333720"/>
                    </a:lnTo>
                    <a:lnTo>
                      <a:pt x="2175673" y="1354469"/>
                    </a:lnTo>
                    <a:close/>
                    <a:moveTo>
                      <a:pt x="2180771" y="1480722"/>
                    </a:moveTo>
                    <a:cubicBezTo>
                      <a:pt x="2179773" y="1519151"/>
                      <a:pt x="2176442" y="1557656"/>
                      <a:pt x="2170722" y="1596025"/>
                    </a:cubicBezTo>
                    <a:lnTo>
                      <a:pt x="2170719" y="1596043"/>
                    </a:lnTo>
                    <a:lnTo>
                      <a:pt x="2170722" y="1596025"/>
                    </a:lnTo>
                    <a:close/>
                  </a:path>
                </a:pathLst>
              </a:cu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1" name="椭圆 10"/>
              <p:cNvSpPr/>
              <p:nvPr/>
            </p:nvSpPr>
            <p:spPr>
              <a:xfrm>
                <a:off x="6781800" y="2709637"/>
                <a:ext cx="2438400" cy="2438400"/>
              </a:xfrm>
              <a:prstGeom prst="ellipse">
                <a:avLst/>
              </a:pr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2" name="任意多边形: 形状 11"/>
              <p:cNvSpPr/>
              <p:nvPr/>
            </p:nvSpPr>
            <p:spPr>
              <a:xfrm rot="16200000">
                <a:off x="9418682" y="1817763"/>
                <a:ext cx="3851186" cy="1695450"/>
              </a:xfrm>
              <a:custGeom>
                <a:avLst/>
                <a:gdLst>
                  <a:gd name="connsiteX0" fmla="*/ 3851186 w 3851186"/>
                  <a:gd name="connsiteY0" fmla="*/ 1695450 h 1695450"/>
                  <a:gd name="connsiteX1" fmla="*/ 1839831 w 3851186"/>
                  <a:gd name="connsiteY1" fmla="*/ 1695450 h 1695450"/>
                  <a:gd name="connsiteX2" fmla="*/ 1306432 w 3851186"/>
                  <a:gd name="connsiteY2" fmla="*/ 1695450 h 1695450"/>
                  <a:gd name="connsiteX3" fmla="*/ 0 w 3851186"/>
                  <a:gd name="connsiteY3" fmla="*/ 1695450 h 1695450"/>
                  <a:gd name="connsiteX4" fmla="*/ 21970 w 3851186"/>
                  <a:gd name="connsiteY4" fmla="*/ 1551497 h 1695450"/>
                  <a:gd name="connsiteX5" fmla="*/ 1925594 w 3851186"/>
                  <a:gd name="connsiteY5" fmla="*/ 0 h 1695450"/>
                  <a:gd name="connsiteX6" fmla="*/ 3829216 w 3851186"/>
                  <a:gd name="connsiteY6" fmla="*/ 1551497 h 1695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186" h="1695450">
                    <a:moveTo>
                      <a:pt x="3851186" y="1695450"/>
                    </a:moveTo>
                    <a:lnTo>
                      <a:pt x="1839831" y="1695450"/>
                    </a:lnTo>
                    <a:lnTo>
                      <a:pt x="1306432" y="1695450"/>
                    </a:lnTo>
                    <a:lnTo>
                      <a:pt x="0" y="1695450"/>
                    </a:lnTo>
                    <a:lnTo>
                      <a:pt x="21970" y="1551497"/>
                    </a:lnTo>
                    <a:cubicBezTo>
                      <a:pt x="203158" y="666060"/>
                      <a:pt x="986593" y="0"/>
                      <a:pt x="1925594" y="0"/>
                    </a:cubicBezTo>
                    <a:cubicBezTo>
                      <a:pt x="2864594" y="0"/>
                      <a:pt x="3648029" y="666060"/>
                      <a:pt x="3829216" y="1551497"/>
                    </a:cubicBezTo>
                    <a:close/>
                  </a:path>
                </a:pathLst>
              </a:cu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grpSp>
        <p:cxnSp>
          <p:nvCxnSpPr>
            <p:cNvPr id="21" name="直接连接符 20"/>
            <p:cNvCxnSpPr/>
            <p:nvPr userDrawn="1"/>
          </p:nvCxnSpPr>
          <p:spPr>
            <a:xfrm>
              <a:off x="5427535" y="1957388"/>
              <a:ext cx="168404" cy="328612"/>
            </a:xfrm>
            <a:prstGeom prst="line">
              <a:avLst/>
            </a:prstGeom>
            <a:ln w="12700">
              <a:solidFill>
                <a:srgbClr val="C8CBCD"/>
              </a:solidFill>
            </a:ln>
          </p:spPr>
          <p:style>
            <a:lnRef idx="1">
              <a:schemeClr val="accent1"/>
            </a:lnRef>
            <a:fillRef idx="0">
              <a:schemeClr val="accent1"/>
            </a:fillRef>
            <a:effectRef idx="0">
              <a:schemeClr val="accent1"/>
            </a:effectRef>
            <a:fontRef idx="minor">
              <a:schemeClr val="tx1"/>
            </a:fontRef>
          </p:style>
        </p:cxnSp>
      </p:grpSp>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Tree>
    <p:extLst>
      <p:ext uri="{BB962C8B-B14F-4D97-AF65-F5344CB8AC3E}">
        <p14:creationId xmlns:p14="http://schemas.microsoft.com/office/powerpoint/2010/main" val="610472645"/>
      </p:ext>
    </p:extLst>
  </p:cSld>
  <p:clrMapOvr>
    <a:masterClrMapping/>
  </p:clrMapOvr>
  <p:transition spd="slow" advTm="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30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par>
                                <p:cTn id="13" presetID="10" presetClass="entr" presetSubtype="0" fill="hold" grpId="0" nodeType="withEffect">
                                  <p:stCondLst>
                                    <p:cond delay="60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序号页">
    <p:spTree>
      <p:nvGrpSpPr>
        <p:cNvPr id="1" name=""/>
        <p:cNvGrpSpPr/>
        <p:nvPr/>
      </p:nvGrpSpPr>
      <p:grpSpPr>
        <a:xfrm>
          <a:off x="0" y="0"/>
          <a:ext cx="0" cy="0"/>
          <a:chOff x="0" y="0"/>
          <a:chExt cx="0" cy="0"/>
        </a:xfrm>
      </p:grpSpPr>
      <p:grpSp>
        <p:nvGrpSpPr>
          <p:cNvPr id="12" name="组合 11"/>
          <p:cNvGrpSpPr/>
          <p:nvPr/>
        </p:nvGrpSpPr>
        <p:grpSpPr>
          <a:xfrm flipH="1">
            <a:off x="-1697057" y="-344712"/>
            <a:ext cx="7221666" cy="7232166"/>
            <a:chOff x="4970334" y="-304798"/>
            <a:chExt cx="7221666" cy="6431342"/>
          </a:xfrm>
          <a:effectLst>
            <a:outerShdw blurRad="50800" dist="38100" dir="2700000" algn="tl" rotWithShape="0">
              <a:prstClr val="black">
                <a:alpha val="20000"/>
              </a:prstClr>
            </a:outerShdw>
          </a:effectLst>
        </p:grpSpPr>
        <p:sp>
          <p:nvSpPr>
            <p:cNvPr id="13" name="任意多边形: 形状 12"/>
            <p:cNvSpPr/>
            <p:nvPr/>
          </p:nvSpPr>
          <p:spPr>
            <a:xfrm rot="16200000">
              <a:off x="5365496" y="-699960"/>
              <a:ext cx="6431342" cy="7221666"/>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4" name="任意多边形: 形状 13"/>
            <p:cNvSpPr/>
            <p:nvPr/>
          </p:nvSpPr>
          <p:spPr>
            <a:xfrm rot="16200000">
              <a:off x="5253261" y="-515155"/>
              <a:ext cx="2180771" cy="2601486"/>
            </a:xfrm>
            <a:custGeom>
              <a:avLst/>
              <a:gdLst>
                <a:gd name="connsiteX0" fmla="*/ 1880924 w 2180771"/>
                <a:gd name="connsiteY0" fmla="*/ 763130 h 2601486"/>
                <a:gd name="connsiteX1" fmla="*/ 1880924 w 2180771"/>
                <a:gd name="connsiteY1" fmla="*/ 2530378 h 2601486"/>
                <a:gd name="connsiteX2" fmla="*/ 1863032 w 2180771"/>
                <a:gd name="connsiteY2" fmla="*/ 2536926 h 2601486"/>
                <a:gd name="connsiteX3" fmla="*/ 1436007 w 2180771"/>
                <a:gd name="connsiteY3" fmla="*/ 2601486 h 2601486"/>
                <a:gd name="connsiteX4" fmla="*/ 0 w 2180771"/>
                <a:gd name="connsiteY4" fmla="*/ 1165479 h 2601486"/>
                <a:gd name="connsiteX5" fmla="*/ 522574 w 2180771"/>
                <a:gd name="connsiteY5" fmla="*/ 57386 h 2601486"/>
                <a:gd name="connsiteX6" fmla="*/ 599315 w 2180771"/>
                <a:gd name="connsiteY6" fmla="*/ 0 h 2601486"/>
                <a:gd name="connsiteX7" fmla="*/ 705163 w 2180771"/>
                <a:gd name="connsiteY7" fmla="*/ 52521 h 2601486"/>
                <a:gd name="connsiteX8" fmla="*/ 1704137 w 2180771"/>
                <a:gd name="connsiteY8" fmla="*/ 629279 h 2601486"/>
                <a:gd name="connsiteX9" fmla="*/ 1815005 w 2180771"/>
                <a:gd name="connsiteY9" fmla="*/ 703972 h 2601486"/>
                <a:gd name="connsiteX10" fmla="*/ 2006548 w 2180771"/>
                <a:gd name="connsiteY10" fmla="*/ 907075 h 2601486"/>
                <a:gd name="connsiteX11" fmla="*/ 1986860 w 2180771"/>
                <a:gd name="connsiteY11" fmla="*/ 879387 h 2601486"/>
                <a:gd name="connsiteX12" fmla="*/ 1995060 w 2180771"/>
                <a:gd name="connsiteY12" fmla="*/ 889072 h 2601486"/>
                <a:gd name="connsiteX13" fmla="*/ 2053189 w 2180771"/>
                <a:gd name="connsiteY13" fmla="*/ 1931884 h 2601486"/>
                <a:gd name="connsiteX14" fmla="*/ 2053176 w 2180771"/>
                <a:gd name="connsiteY14" fmla="*/ 1931910 h 2601486"/>
                <a:gd name="connsiteX15" fmla="*/ 1880925 w 2180771"/>
                <a:gd name="connsiteY15" fmla="*/ 2230259 h 2601486"/>
                <a:gd name="connsiteX16" fmla="*/ 1880925 w 2180771"/>
                <a:gd name="connsiteY16" fmla="*/ 2230257 h 2601486"/>
                <a:gd name="connsiteX17" fmla="*/ 2053176 w 2180771"/>
                <a:gd name="connsiteY17" fmla="*/ 1931909 h 2601486"/>
                <a:gd name="connsiteX18" fmla="*/ 2068692 w 2180771"/>
                <a:gd name="connsiteY18" fmla="*/ 1007598 h 2601486"/>
                <a:gd name="connsiteX19" fmla="*/ 2052044 w 2180771"/>
                <a:gd name="connsiteY19" fmla="*/ 978380 h 2601486"/>
                <a:gd name="connsiteX20" fmla="*/ 2063335 w 2180771"/>
                <a:gd name="connsiteY20" fmla="*/ 996075 h 2601486"/>
                <a:gd name="connsiteX21" fmla="*/ 2101939 w 2180771"/>
                <a:gd name="connsiteY21" fmla="*/ 1833636 h 2601486"/>
                <a:gd name="connsiteX22" fmla="*/ 2095166 w 2180771"/>
                <a:gd name="connsiteY22" fmla="*/ 1850517 h 2601486"/>
                <a:gd name="connsiteX23" fmla="*/ 2053189 w 2180771"/>
                <a:gd name="connsiteY23" fmla="*/ 1931884 h 2601486"/>
                <a:gd name="connsiteX24" fmla="*/ 2113879 w 2180771"/>
                <a:gd name="connsiteY24" fmla="*/ 1803879 h 2601486"/>
                <a:gd name="connsiteX25" fmla="*/ 2107267 w 2180771"/>
                <a:gd name="connsiteY25" fmla="*/ 1822898 h 2601486"/>
                <a:gd name="connsiteX26" fmla="*/ 2101939 w 2180771"/>
                <a:gd name="connsiteY26" fmla="*/ 1833636 h 2601486"/>
                <a:gd name="connsiteX27" fmla="*/ 2139904 w 2180771"/>
                <a:gd name="connsiteY27" fmla="*/ 1729011 h 2601486"/>
                <a:gd name="connsiteX28" fmla="*/ 2128657 w 2180771"/>
                <a:gd name="connsiteY28" fmla="*/ 1767046 h 2601486"/>
                <a:gd name="connsiteX29" fmla="*/ 2113879 w 2180771"/>
                <a:gd name="connsiteY29" fmla="*/ 1803879 h 2601486"/>
                <a:gd name="connsiteX30" fmla="*/ 2148810 w 2180771"/>
                <a:gd name="connsiteY30" fmla="*/ 1698893 h 2601486"/>
                <a:gd name="connsiteX31" fmla="*/ 2146335 w 2180771"/>
                <a:gd name="connsiteY31" fmla="*/ 1710510 h 2601486"/>
                <a:gd name="connsiteX32" fmla="*/ 2139904 w 2180771"/>
                <a:gd name="connsiteY32" fmla="*/ 1729011 h 2601486"/>
                <a:gd name="connsiteX33" fmla="*/ 2157689 w 2180771"/>
                <a:gd name="connsiteY33" fmla="*/ 1251116 h 2601486"/>
                <a:gd name="connsiteX34" fmla="*/ 2150333 w 2180771"/>
                <a:gd name="connsiteY34" fmla="*/ 1218457 h 2601486"/>
                <a:gd name="connsiteX35" fmla="*/ 2154097 w 2180771"/>
                <a:gd name="connsiteY35" fmla="*/ 1230476 h 2601486"/>
                <a:gd name="connsiteX36" fmla="*/ 2170719 w 2180771"/>
                <a:gd name="connsiteY36" fmla="*/ 1596043 h 2601486"/>
                <a:gd name="connsiteX37" fmla="*/ 2153795 w 2180771"/>
                <a:gd name="connsiteY37" fmla="*/ 1682035 h 2601486"/>
                <a:gd name="connsiteX38" fmla="*/ 2148810 w 2180771"/>
                <a:gd name="connsiteY38" fmla="*/ 1698893 h 2601486"/>
                <a:gd name="connsiteX39" fmla="*/ 2176181 w 2180771"/>
                <a:gd name="connsiteY39" fmla="*/ 1367039 h 2601486"/>
                <a:gd name="connsiteX40" fmla="*/ 2172063 w 2180771"/>
                <a:gd name="connsiteY40" fmla="*/ 1333720 h 2601486"/>
                <a:gd name="connsiteX41" fmla="*/ 2175673 w 2180771"/>
                <a:gd name="connsiteY41" fmla="*/ 1354469 h 2601486"/>
                <a:gd name="connsiteX42" fmla="*/ 2180771 w 2180771"/>
                <a:gd name="connsiteY42" fmla="*/ 1480722 h 2601486"/>
                <a:gd name="connsiteX43" fmla="*/ 2170722 w 2180771"/>
                <a:gd name="connsiteY43" fmla="*/ 1596025 h 2601486"/>
                <a:gd name="connsiteX44" fmla="*/ 2170719 w 2180771"/>
                <a:gd name="connsiteY44" fmla="*/ 1596043 h 2601486"/>
                <a:gd name="connsiteX45" fmla="*/ 2170722 w 2180771"/>
                <a:gd name="connsiteY45" fmla="*/ 1596025 h 2601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80771" h="2601486">
                  <a:moveTo>
                    <a:pt x="1880924" y="763130"/>
                  </a:moveTo>
                  <a:lnTo>
                    <a:pt x="1880924" y="2530378"/>
                  </a:lnTo>
                  <a:lnTo>
                    <a:pt x="1863032" y="2536926"/>
                  </a:lnTo>
                  <a:cubicBezTo>
                    <a:pt x="1728135" y="2578883"/>
                    <a:pt x="1584711" y="2601486"/>
                    <a:pt x="1436007" y="2601486"/>
                  </a:cubicBezTo>
                  <a:cubicBezTo>
                    <a:pt x="642922" y="2601486"/>
                    <a:pt x="0" y="1958564"/>
                    <a:pt x="0" y="1165479"/>
                  </a:cubicBezTo>
                  <a:cubicBezTo>
                    <a:pt x="0" y="719369"/>
                    <a:pt x="203425" y="320771"/>
                    <a:pt x="522574" y="57386"/>
                  </a:cubicBezTo>
                  <a:lnTo>
                    <a:pt x="599315" y="0"/>
                  </a:lnTo>
                  <a:lnTo>
                    <a:pt x="705163" y="52521"/>
                  </a:lnTo>
                  <a:lnTo>
                    <a:pt x="1704137" y="629279"/>
                  </a:lnTo>
                  <a:cubicBezTo>
                    <a:pt x="1743333" y="651909"/>
                    <a:pt x="1780314" y="676901"/>
                    <a:pt x="1815005" y="703972"/>
                  </a:cubicBezTo>
                  <a:close/>
                  <a:moveTo>
                    <a:pt x="2006548" y="907075"/>
                  </a:moveTo>
                  <a:lnTo>
                    <a:pt x="1986860" y="879387"/>
                  </a:lnTo>
                  <a:lnTo>
                    <a:pt x="1995060" y="889072"/>
                  </a:lnTo>
                  <a:close/>
                  <a:moveTo>
                    <a:pt x="2053189" y="1931884"/>
                  </a:moveTo>
                  <a:lnTo>
                    <a:pt x="2053176" y="1931910"/>
                  </a:lnTo>
                  <a:lnTo>
                    <a:pt x="1880925" y="2230259"/>
                  </a:lnTo>
                  <a:lnTo>
                    <a:pt x="1880925" y="2230257"/>
                  </a:lnTo>
                  <a:lnTo>
                    <a:pt x="2053176" y="1931909"/>
                  </a:lnTo>
                  <a:close/>
                  <a:moveTo>
                    <a:pt x="2068692" y="1007598"/>
                  </a:moveTo>
                  <a:lnTo>
                    <a:pt x="2052044" y="978380"/>
                  </a:lnTo>
                  <a:lnTo>
                    <a:pt x="2063335" y="996075"/>
                  </a:lnTo>
                  <a:close/>
                  <a:moveTo>
                    <a:pt x="2101939" y="1833636"/>
                  </a:moveTo>
                  <a:lnTo>
                    <a:pt x="2095166" y="1850517"/>
                  </a:lnTo>
                  <a:lnTo>
                    <a:pt x="2053189" y="1931884"/>
                  </a:lnTo>
                  <a:close/>
                  <a:moveTo>
                    <a:pt x="2113879" y="1803879"/>
                  </a:moveTo>
                  <a:lnTo>
                    <a:pt x="2107267" y="1822898"/>
                  </a:lnTo>
                  <a:lnTo>
                    <a:pt x="2101939" y="1833636"/>
                  </a:lnTo>
                  <a:close/>
                  <a:moveTo>
                    <a:pt x="2139904" y="1729011"/>
                  </a:moveTo>
                  <a:lnTo>
                    <a:pt x="2128657" y="1767046"/>
                  </a:lnTo>
                  <a:lnTo>
                    <a:pt x="2113879" y="1803879"/>
                  </a:lnTo>
                  <a:close/>
                  <a:moveTo>
                    <a:pt x="2148810" y="1698893"/>
                  </a:moveTo>
                  <a:lnTo>
                    <a:pt x="2146335" y="1710510"/>
                  </a:lnTo>
                  <a:lnTo>
                    <a:pt x="2139904" y="1729011"/>
                  </a:lnTo>
                  <a:close/>
                  <a:moveTo>
                    <a:pt x="2157689" y="1251116"/>
                  </a:moveTo>
                  <a:lnTo>
                    <a:pt x="2150333" y="1218457"/>
                  </a:lnTo>
                  <a:lnTo>
                    <a:pt x="2154097" y="1230476"/>
                  </a:lnTo>
                  <a:close/>
                  <a:moveTo>
                    <a:pt x="2170719" y="1596043"/>
                  </a:moveTo>
                  <a:lnTo>
                    <a:pt x="2153795" y="1682035"/>
                  </a:lnTo>
                  <a:lnTo>
                    <a:pt x="2148810" y="1698893"/>
                  </a:lnTo>
                  <a:close/>
                  <a:moveTo>
                    <a:pt x="2176181" y="1367039"/>
                  </a:moveTo>
                  <a:lnTo>
                    <a:pt x="2172063" y="1333720"/>
                  </a:lnTo>
                  <a:lnTo>
                    <a:pt x="2175673" y="1354469"/>
                  </a:lnTo>
                  <a:close/>
                  <a:moveTo>
                    <a:pt x="2180771" y="1480722"/>
                  </a:moveTo>
                  <a:cubicBezTo>
                    <a:pt x="2179773" y="1519151"/>
                    <a:pt x="2176442" y="1557656"/>
                    <a:pt x="2170722" y="1596025"/>
                  </a:cubicBezTo>
                  <a:lnTo>
                    <a:pt x="2170719" y="1596043"/>
                  </a:lnTo>
                  <a:lnTo>
                    <a:pt x="2170722" y="1596025"/>
                  </a:lnTo>
                  <a:close/>
                </a:path>
              </a:pathLst>
            </a:cu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5" name="椭圆 14"/>
            <p:cNvSpPr/>
            <p:nvPr/>
          </p:nvSpPr>
          <p:spPr>
            <a:xfrm>
              <a:off x="6690135" y="2426414"/>
              <a:ext cx="1961282" cy="1961282"/>
            </a:xfrm>
            <a:prstGeom prst="ellipse">
              <a:avLst/>
            </a:pr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6" name="任意多边形: 形状 15"/>
            <p:cNvSpPr/>
            <p:nvPr/>
          </p:nvSpPr>
          <p:spPr>
            <a:xfrm rot="16200000">
              <a:off x="8765537" y="2166106"/>
              <a:ext cx="3851186" cy="1695450"/>
            </a:xfrm>
            <a:custGeom>
              <a:avLst/>
              <a:gdLst>
                <a:gd name="connsiteX0" fmla="*/ 3851186 w 3851186"/>
                <a:gd name="connsiteY0" fmla="*/ 1695450 h 1695450"/>
                <a:gd name="connsiteX1" fmla="*/ 1839831 w 3851186"/>
                <a:gd name="connsiteY1" fmla="*/ 1695450 h 1695450"/>
                <a:gd name="connsiteX2" fmla="*/ 1306432 w 3851186"/>
                <a:gd name="connsiteY2" fmla="*/ 1695450 h 1695450"/>
                <a:gd name="connsiteX3" fmla="*/ 0 w 3851186"/>
                <a:gd name="connsiteY3" fmla="*/ 1695450 h 1695450"/>
                <a:gd name="connsiteX4" fmla="*/ 21970 w 3851186"/>
                <a:gd name="connsiteY4" fmla="*/ 1551497 h 1695450"/>
                <a:gd name="connsiteX5" fmla="*/ 1925594 w 3851186"/>
                <a:gd name="connsiteY5" fmla="*/ 0 h 1695450"/>
                <a:gd name="connsiteX6" fmla="*/ 3829216 w 3851186"/>
                <a:gd name="connsiteY6" fmla="*/ 1551497 h 1695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186" h="1695450">
                  <a:moveTo>
                    <a:pt x="3851186" y="1695450"/>
                  </a:moveTo>
                  <a:lnTo>
                    <a:pt x="1839831" y="1695450"/>
                  </a:lnTo>
                  <a:lnTo>
                    <a:pt x="1306432" y="1695450"/>
                  </a:lnTo>
                  <a:lnTo>
                    <a:pt x="0" y="1695450"/>
                  </a:lnTo>
                  <a:lnTo>
                    <a:pt x="21970" y="1551497"/>
                  </a:lnTo>
                  <a:cubicBezTo>
                    <a:pt x="203158" y="666060"/>
                    <a:pt x="986593" y="0"/>
                    <a:pt x="1925594" y="0"/>
                  </a:cubicBezTo>
                  <a:cubicBezTo>
                    <a:pt x="2864594" y="0"/>
                    <a:pt x="3648029" y="666060"/>
                    <a:pt x="3829216" y="1551497"/>
                  </a:cubicBezTo>
                  <a:close/>
                </a:path>
              </a:pathLst>
            </a:cu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grpSp>
      <p:sp>
        <p:nvSpPr>
          <p:cNvPr id="23" name="任意多边形: 形状 22"/>
          <p:cNvSpPr/>
          <p:nvPr/>
        </p:nvSpPr>
        <p:spPr>
          <a:xfrm flipH="1">
            <a:off x="10602589" y="2807982"/>
            <a:ext cx="1583750" cy="3179395"/>
          </a:xfrm>
          <a:custGeom>
            <a:avLst/>
            <a:gdLst>
              <a:gd name="connsiteX0" fmla="*/ 0 w 1252875"/>
              <a:gd name="connsiteY0" fmla="*/ 0 h 2515160"/>
              <a:gd name="connsiteX1" fmla="*/ 123651 w 1252875"/>
              <a:gd name="connsiteY1" fmla="*/ 6244 h 2515160"/>
              <a:gd name="connsiteX2" fmla="*/ 1252875 w 1252875"/>
              <a:gd name="connsiteY2" fmla="*/ 1257580 h 2515160"/>
              <a:gd name="connsiteX3" fmla="*/ 123651 w 1252875"/>
              <a:gd name="connsiteY3" fmla="*/ 2508916 h 2515160"/>
              <a:gd name="connsiteX4" fmla="*/ 0 w 1252875"/>
              <a:gd name="connsiteY4" fmla="*/ 2515160 h 2515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875" h="2515160">
                <a:moveTo>
                  <a:pt x="0" y="0"/>
                </a:moveTo>
                <a:lnTo>
                  <a:pt x="123651" y="6244"/>
                </a:lnTo>
                <a:cubicBezTo>
                  <a:pt x="757919" y="70658"/>
                  <a:pt x="1252875" y="606318"/>
                  <a:pt x="1252875" y="1257580"/>
                </a:cubicBezTo>
                <a:cubicBezTo>
                  <a:pt x="1252875" y="1908843"/>
                  <a:pt x="757919" y="2444503"/>
                  <a:pt x="123651" y="2508916"/>
                </a:cubicBezTo>
                <a:lnTo>
                  <a:pt x="0" y="2515160"/>
                </a:ln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8" name="任意多边形: 形状 17"/>
          <p:cNvSpPr/>
          <p:nvPr/>
        </p:nvSpPr>
        <p:spPr>
          <a:xfrm flipV="1">
            <a:off x="8128592" y="-1372"/>
            <a:ext cx="2978956" cy="1146672"/>
          </a:xfrm>
          <a:custGeom>
            <a:avLst/>
            <a:gdLst>
              <a:gd name="connsiteX0" fmla="*/ 1936014 w 3872028"/>
              <a:gd name="connsiteY0" fmla="*/ 0 h 1490437"/>
              <a:gd name="connsiteX1" fmla="*/ 3851067 w 3872028"/>
              <a:gd name="connsiteY1" fmla="*/ 1408917 h 1490437"/>
              <a:gd name="connsiteX2" fmla="*/ 3872028 w 3872028"/>
              <a:gd name="connsiteY2" fmla="*/ 1490437 h 1490437"/>
              <a:gd name="connsiteX3" fmla="*/ 0 w 3872028"/>
              <a:gd name="connsiteY3" fmla="*/ 1490437 h 1490437"/>
              <a:gd name="connsiteX4" fmla="*/ 20961 w 3872028"/>
              <a:gd name="connsiteY4" fmla="*/ 1408917 h 1490437"/>
              <a:gd name="connsiteX5" fmla="*/ 1936014 w 3872028"/>
              <a:gd name="connsiteY5" fmla="*/ 0 h 149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72028" h="1490437">
                <a:moveTo>
                  <a:pt x="1936014" y="0"/>
                </a:moveTo>
                <a:cubicBezTo>
                  <a:pt x="2835812" y="0"/>
                  <a:pt x="3597185" y="592662"/>
                  <a:pt x="3851067" y="1408917"/>
                </a:cubicBezTo>
                <a:lnTo>
                  <a:pt x="3872028" y="1490437"/>
                </a:lnTo>
                <a:lnTo>
                  <a:pt x="0" y="1490437"/>
                </a:lnTo>
                <a:lnTo>
                  <a:pt x="20961" y="1408917"/>
                </a:lnTo>
                <a:cubicBezTo>
                  <a:pt x="274843" y="592662"/>
                  <a:pt x="1036217" y="0"/>
                  <a:pt x="1936014" y="0"/>
                </a:cubicBez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9" name="任意多边形: 形状 18"/>
          <p:cNvSpPr/>
          <p:nvPr/>
        </p:nvSpPr>
        <p:spPr>
          <a:xfrm flipH="1">
            <a:off x="4294452" y="5266545"/>
            <a:ext cx="4134465" cy="1591455"/>
          </a:xfrm>
          <a:custGeom>
            <a:avLst/>
            <a:gdLst>
              <a:gd name="connsiteX0" fmla="*/ 1936014 w 3872028"/>
              <a:gd name="connsiteY0" fmla="*/ 0 h 1490437"/>
              <a:gd name="connsiteX1" fmla="*/ 3851067 w 3872028"/>
              <a:gd name="connsiteY1" fmla="*/ 1408917 h 1490437"/>
              <a:gd name="connsiteX2" fmla="*/ 3872028 w 3872028"/>
              <a:gd name="connsiteY2" fmla="*/ 1490437 h 1490437"/>
              <a:gd name="connsiteX3" fmla="*/ 0 w 3872028"/>
              <a:gd name="connsiteY3" fmla="*/ 1490437 h 1490437"/>
              <a:gd name="connsiteX4" fmla="*/ 20961 w 3872028"/>
              <a:gd name="connsiteY4" fmla="*/ 1408917 h 1490437"/>
              <a:gd name="connsiteX5" fmla="*/ 1936014 w 3872028"/>
              <a:gd name="connsiteY5" fmla="*/ 0 h 149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72028" h="1490437">
                <a:moveTo>
                  <a:pt x="1936014" y="0"/>
                </a:moveTo>
                <a:cubicBezTo>
                  <a:pt x="2835812" y="0"/>
                  <a:pt x="3597185" y="592662"/>
                  <a:pt x="3851067" y="1408917"/>
                </a:cubicBezTo>
                <a:lnTo>
                  <a:pt x="3872028" y="1490437"/>
                </a:lnTo>
                <a:lnTo>
                  <a:pt x="0" y="1490437"/>
                </a:lnTo>
                <a:lnTo>
                  <a:pt x="20961" y="1408917"/>
                </a:lnTo>
                <a:cubicBezTo>
                  <a:pt x="274843" y="592662"/>
                  <a:pt x="1036217" y="0"/>
                  <a:pt x="1936014" y="0"/>
                </a:cubicBez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Tree>
    <p:extLst>
      <p:ext uri="{BB962C8B-B14F-4D97-AF65-F5344CB8AC3E}">
        <p14:creationId xmlns:p14="http://schemas.microsoft.com/office/powerpoint/2010/main" val="474320623"/>
      </p:ext>
    </p:extLst>
  </p:cSld>
  <p:clrMapOvr>
    <a:masterClrMapping/>
  </p:clrMapOvr>
  <p:transition spd="slow" advTm="0">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
        <p:nvSpPr>
          <p:cNvPr id="14" name="内容占位符 13"/>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7"/>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ltLang="zh-CN" sz="2800" dirty="0">
                <a:solidFill>
                  <a:schemeClr val="bg1"/>
                </a:solidFill>
              </a:rPr>
              <a:t>  </a:t>
            </a:r>
            <a:r>
              <a:rPr lang="en-US" altLang="zh-CN" sz="2800" dirty="0">
                <a:solidFill>
                  <a:schemeClr val="bg1">
                    <a:alpha val="80000"/>
                  </a:schemeClr>
                </a:solidFill>
              </a:rPr>
              <a:t>01</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彩色基础</a:t>
            </a:r>
            <a:endPar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3568213143"/>
      </p:ext>
    </p:extLst>
  </p:cSld>
  <p:clrMapOvr>
    <a:masterClrMapping/>
  </p:clrMapOvr>
  <p:transition spd="slow" advTm="0">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3" name="内容占位符 22"/>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01</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彩色基础</a:t>
            </a:r>
            <a:endParaRPr lang="zh-CN" altLang="en-US" sz="2800" dirty="0">
              <a:solidFill>
                <a:srgbClr val="0091D9"/>
              </a:solidFill>
            </a:endParaRPr>
          </a:p>
        </p:txBody>
      </p:sp>
    </p:spTree>
    <p:extLst>
      <p:ext uri="{BB962C8B-B14F-4D97-AF65-F5344CB8AC3E}">
        <p14:creationId xmlns:p14="http://schemas.microsoft.com/office/powerpoint/2010/main" val="2922280839"/>
      </p:ext>
    </p:extLst>
  </p:cSld>
  <p:clrMapOvr>
    <a:masterClrMapping/>
  </p:clrMapOvr>
  <p:transition spd="slow" advTm="0">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1">
    <p:spTree>
      <p:nvGrpSpPr>
        <p:cNvPr id="1" name=""/>
        <p:cNvGrpSpPr/>
        <p:nvPr/>
      </p:nvGrpSpPr>
      <p:grpSpPr>
        <a:xfrm>
          <a:off x="0" y="0"/>
          <a:ext cx="0" cy="0"/>
          <a:chOff x="0" y="0"/>
          <a:chExt cx="0" cy="0"/>
        </a:xfrm>
      </p:grpSpPr>
      <p:sp>
        <p:nvSpPr>
          <p:cNvPr id="3" name="矩形 2"/>
          <p:cNvSpPr/>
          <p:nvPr/>
        </p:nvSpPr>
        <p:spPr>
          <a:xfrm>
            <a:off x="0" y="150640"/>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ltLang="zh-CN" sz="2800" dirty="0">
                <a:solidFill>
                  <a:schemeClr val="bg1"/>
                </a:solidFill>
              </a:rPr>
              <a:t>  </a:t>
            </a:r>
            <a:r>
              <a:rPr lang="en-US" altLang="zh-CN" sz="2800" dirty="0">
                <a:solidFill>
                  <a:schemeClr val="bg1">
                    <a:alpha val="80000"/>
                  </a:schemeClr>
                </a:solidFill>
              </a:rPr>
              <a:t>02</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彩色模型</a:t>
            </a:r>
            <a:endPar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5" name="内容占位符 13">
            <a:extLst>
              <a:ext uri="{FF2B5EF4-FFF2-40B4-BE49-F238E27FC236}">
                <a16:creationId xmlns:a16="http://schemas.microsoft.com/office/drawing/2014/main" id="{62AED257-6608-F684-FDF7-453FCBCDB899}"/>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480965465"/>
      </p:ext>
    </p:extLst>
  </p:cSld>
  <p:clrMapOvr>
    <a:masterClrMapping/>
  </p:clrMapOvr>
  <p:transition spd="slow" advTm="0">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02</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彩色模型</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A93AFA8-1552-A5E1-62B6-A0D6CA73065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90607723"/>
      </p:ext>
    </p:extLst>
  </p:cSld>
  <p:clrMapOvr>
    <a:masterClrMapping/>
  </p:clrMapOvr>
  <p:transition spd="slow" advTm="0">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3-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ltLang="zh-CN" sz="2800" dirty="0">
                <a:solidFill>
                  <a:schemeClr val="bg1"/>
                </a:solidFill>
              </a:rPr>
              <a:t>  </a:t>
            </a:r>
            <a:r>
              <a:rPr lang="en-US" altLang="zh-CN" sz="2800" dirty="0">
                <a:solidFill>
                  <a:schemeClr val="bg1">
                    <a:alpha val="80000"/>
                  </a:schemeClr>
                </a:solidFill>
              </a:rPr>
              <a:t>03</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假彩色图像处理</a:t>
            </a:r>
            <a:endPar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5" name="内容占位符 13">
            <a:extLst>
              <a:ext uri="{FF2B5EF4-FFF2-40B4-BE49-F238E27FC236}">
                <a16:creationId xmlns:a16="http://schemas.microsoft.com/office/drawing/2014/main" id="{466479E4-8403-CE56-FD03-D3FF95C8F40C}"/>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247799542"/>
      </p:ext>
    </p:extLst>
  </p:cSld>
  <p:clrMapOvr>
    <a:masterClrMapping/>
  </p:clrMapOvr>
  <p:transition spd="slow" advTm="0">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3-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03</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假彩色图像处理</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4000739912"/>
      </p:ext>
    </p:extLst>
  </p:cSld>
  <p:clrMapOvr>
    <a:masterClrMapping/>
  </p:clrMapOvr>
  <p:transition spd="slow" advTm="0">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4-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04</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全彩色图像处理基础</a:t>
            </a:r>
            <a:endParaRPr lang="zh-CN" altLang="en-US" sz="2800" dirty="0">
              <a:solidFill>
                <a:srgbClr val="0091D9"/>
              </a:solidFill>
            </a:endParaRPr>
          </a:p>
        </p:txBody>
      </p:sp>
      <p:sp>
        <p:nvSpPr>
          <p:cNvPr id="5" name="内容占位符 13">
            <a:extLst>
              <a:ext uri="{FF2B5EF4-FFF2-40B4-BE49-F238E27FC236}">
                <a16:creationId xmlns:a16="http://schemas.microsoft.com/office/drawing/2014/main" id="{DD6272E6-0B32-CAD6-9441-D69B3FD5D0A5}"/>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803900665"/>
      </p:ext>
    </p:extLst>
  </p:cSld>
  <p:clrMapOvr>
    <a:masterClrMapping/>
  </p:clrMapOvr>
  <p:transition spd="slow" advTm="0">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04</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全彩色图像处理基础</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24BB56DF-BF63-A4EA-5908-0B38ECD2F1A9}"/>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479832118"/>
      </p:ext>
    </p:extLst>
  </p:cSld>
  <p:clrMapOvr>
    <a:masterClrMapping/>
  </p:clrMapOvr>
  <p:transition spd="slow" advTm="0">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05</a:t>
            </a:r>
            <a:r>
              <a:rPr lang="en-US" altLang="zh-CN" sz="2800" dirty="0">
                <a:solidFill>
                  <a:srgbClr val="0091D9"/>
                </a:solidFill>
              </a:rPr>
              <a:t>         </a:t>
            </a:r>
            <a:r>
              <a:rPr lang="zh-CN" altLang="en-US" sz="2800" dirty="0">
                <a:solidFill>
                  <a:srgbClr val="0091D9"/>
                </a:solidFill>
              </a:rPr>
              <a:t>彩色交换</a:t>
            </a:r>
          </a:p>
        </p:txBody>
      </p:sp>
      <p:sp>
        <p:nvSpPr>
          <p:cNvPr id="5" name="内容占位符 13">
            <a:extLst>
              <a:ext uri="{FF2B5EF4-FFF2-40B4-BE49-F238E27FC236}">
                <a16:creationId xmlns:a16="http://schemas.microsoft.com/office/drawing/2014/main" id="{E77CC272-B7AD-3691-80EA-2BA05BA03462}"/>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4247791661"/>
      </p:ext>
    </p:extLst>
  </p:cSld>
  <p:clrMapOvr>
    <a:masterClrMapping/>
  </p:clrMapOvr>
  <p:transition spd="slow" advTm="0">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5-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05</a:t>
            </a:r>
            <a:r>
              <a:rPr lang="en-US" altLang="zh-CN" sz="2800" dirty="0">
                <a:solidFill>
                  <a:srgbClr val="0091D9"/>
                </a:solidFill>
              </a:rPr>
              <a:t>         </a:t>
            </a:r>
            <a:r>
              <a:rPr lang="zh-CN" altLang="en-US" sz="2800" dirty="0">
                <a:solidFill>
                  <a:srgbClr val="0091D9"/>
                </a:solidFill>
              </a:rPr>
              <a:t>彩色交换</a:t>
            </a:r>
          </a:p>
        </p:txBody>
      </p:sp>
      <p:sp>
        <p:nvSpPr>
          <p:cNvPr id="9" name="内容占位符 22">
            <a:extLst>
              <a:ext uri="{FF2B5EF4-FFF2-40B4-BE49-F238E27FC236}">
                <a16:creationId xmlns:a16="http://schemas.microsoft.com/office/drawing/2014/main" id="{24BB56DF-BF63-A4EA-5908-0B38ECD2F1A9}"/>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633903123"/>
      </p:ext>
    </p:extLst>
  </p:cSld>
  <p:clrMapOvr>
    <a:masterClrMapping/>
  </p:clrMapOvr>
  <p:transition spd="slow" advTm="0">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06</a:t>
            </a:r>
            <a:r>
              <a:rPr lang="en-US" altLang="zh-CN" sz="2800" dirty="0">
                <a:solidFill>
                  <a:srgbClr val="0091D9"/>
                </a:solidFill>
              </a:rPr>
              <a:t>         </a:t>
            </a:r>
            <a:r>
              <a:rPr lang="zh-CN" altLang="en-US" sz="2800" dirty="0">
                <a:solidFill>
                  <a:srgbClr val="0091D9"/>
                </a:solidFill>
              </a:rPr>
              <a:t>彩色图像平滑和锐化</a:t>
            </a:r>
          </a:p>
        </p:txBody>
      </p:sp>
      <p:sp>
        <p:nvSpPr>
          <p:cNvPr id="5" name="内容占位符 13">
            <a:extLst>
              <a:ext uri="{FF2B5EF4-FFF2-40B4-BE49-F238E27FC236}">
                <a16:creationId xmlns:a16="http://schemas.microsoft.com/office/drawing/2014/main" id="{8A07AA2F-C114-BDD5-5037-C5758746841D}"/>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797200486"/>
      </p:ext>
    </p:extLst>
  </p:cSld>
  <p:clrMapOvr>
    <a:masterClrMapping/>
  </p:clrMapOvr>
  <p:transition spd="slow" advTm="0">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6-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06</a:t>
            </a:r>
            <a:r>
              <a:rPr lang="en-US" altLang="zh-CN" sz="2800" dirty="0">
                <a:solidFill>
                  <a:srgbClr val="0091D9"/>
                </a:solidFill>
              </a:rPr>
              <a:t>         </a:t>
            </a:r>
            <a:r>
              <a:rPr lang="zh-CN" altLang="en-US" sz="2800" dirty="0">
                <a:solidFill>
                  <a:srgbClr val="0091D9"/>
                </a:solidFill>
              </a:rPr>
              <a:t>彩色图像平滑和锐化</a:t>
            </a: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987088199"/>
      </p:ext>
    </p:extLst>
  </p:cSld>
  <p:clrMapOvr>
    <a:masterClrMapping/>
  </p:clrMapOvr>
  <p:transition spd="slow" advTm="0">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07</a:t>
            </a:r>
            <a:r>
              <a:rPr lang="en-US" altLang="zh-CN" sz="2800" dirty="0">
                <a:solidFill>
                  <a:srgbClr val="0091D9"/>
                </a:solidFill>
              </a:rPr>
              <a:t>         </a:t>
            </a:r>
            <a:r>
              <a:rPr lang="zh-CN" altLang="en-US" sz="2800" dirty="0">
                <a:solidFill>
                  <a:srgbClr val="0091D9"/>
                </a:solidFill>
              </a:rPr>
              <a:t>使用彩色分割图像</a:t>
            </a:r>
          </a:p>
        </p:txBody>
      </p:sp>
      <p:sp>
        <p:nvSpPr>
          <p:cNvPr id="5" name="内容占位符 13">
            <a:extLst>
              <a:ext uri="{FF2B5EF4-FFF2-40B4-BE49-F238E27FC236}">
                <a16:creationId xmlns:a16="http://schemas.microsoft.com/office/drawing/2014/main" id="{3ECC8485-2CE5-8B94-A933-9AB0AB7D41D1}"/>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963929433"/>
      </p:ext>
    </p:extLst>
  </p:cSld>
  <p:clrMapOvr>
    <a:masterClrMapping/>
  </p:clrMapOvr>
  <p:transition spd="slow" advTm="0">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7-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07</a:t>
            </a:r>
            <a:r>
              <a:rPr lang="en-US" altLang="zh-CN" sz="2800" dirty="0">
                <a:solidFill>
                  <a:srgbClr val="0091D9"/>
                </a:solidFill>
              </a:rPr>
              <a:t>         </a:t>
            </a:r>
            <a:r>
              <a:rPr lang="zh-CN" altLang="en-US" sz="2800" dirty="0">
                <a:solidFill>
                  <a:srgbClr val="0091D9"/>
                </a:solidFill>
              </a:rPr>
              <a:t>使用彩色分割图像</a:t>
            </a: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172352571"/>
      </p:ext>
    </p:extLst>
  </p:cSld>
  <p:clrMapOvr>
    <a:masterClrMapping/>
  </p:clrMapOvr>
  <p:transition spd="slow" advTm="0">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8-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08</a:t>
            </a:r>
            <a:r>
              <a:rPr lang="en-US" altLang="zh-CN" sz="2800" dirty="0">
                <a:solidFill>
                  <a:srgbClr val="0091D9"/>
                </a:solidFill>
              </a:rPr>
              <a:t>         </a:t>
            </a:r>
            <a:r>
              <a:rPr lang="zh-CN" altLang="en-US" sz="2800" dirty="0">
                <a:solidFill>
                  <a:srgbClr val="0091D9"/>
                </a:solidFill>
              </a:rPr>
              <a:t>彩色图像中的噪声</a:t>
            </a:r>
          </a:p>
        </p:txBody>
      </p:sp>
      <p:sp>
        <p:nvSpPr>
          <p:cNvPr id="5" name="内容占位符 13">
            <a:extLst>
              <a:ext uri="{FF2B5EF4-FFF2-40B4-BE49-F238E27FC236}">
                <a16:creationId xmlns:a16="http://schemas.microsoft.com/office/drawing/2014/main" id="{62F722A5-C794-E42E-CD81-989DE31CDF38}"/>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31657923"/>
      </p:ext>
    </p:extLst>
  </p:cSld>
  <p:clrMapOvr>
    <a:masterClrMapping/>
  </p:clrMapOvr>
  <p:transition spd="slow" advTm="0">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8-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08</a:t>
            </a:r>
            <a:r>
              <a:rPr lang="en-US" altLang="zh-CN" sz="2800" dirty="0">
                <a:solidFill>
                  <a:srgbClr val="0091D9"/>
                </a:solidFill>
              </a:rPr>
              <a:t>         </a:t>
            </a:r>
            <a:r>
              <a:rPr lang="zh-CN" altLang="en-US" sz="2800" dirty="0">
                <a:solidFill>
                  <a:srgbClr val="0091D9"/>
                </a:solidFill>
              </a:rPr>
              <a:t>彩色图像中的噪声</a:t>
            </a: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11591790"/>
      </p:ext>
    </p:extLst>
  </p:cSld>
  <p:clrMapOvr>
    <a:masterClrMapping/>
  </p:clrMapOvr>
  <p:transition spd="slow" advTm="0">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9-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09</a:t>
            </a:r>
            <a:r>
              <a:rPr lang="en-US" altLang="zh-CN" sz="2800" dirty="0">
                <a:solidFill>
                  <a:srgbClr val="0091D9"/>
                </a:solidFill>
              </a:rPr>
              <a:t>         </a:t>
            </a:r>
            <a:r>
              <a:rPr lang="zh-CN" altLang="en-US" sz="2800" dirty="0">
                <a:solidFill>
                  <a:srgbClr val="0091D9"/>
                </a:solidFill>
              </a:rPr>
              <a:t>彩色图像压缩</a:t>
            </a:r>
          </a:p>
        </p:txBody>
      </p:sp>
      <p:sp>
        <p:nvSpPr>
          <p:cNvPr id="5" name="内容占位符 13">
            <a:extLst>
              <a:ext uri="{FF2B5EF4-FFF2-40B4-BE49-F238E27FC236}">
                <a16:creationId xmlns:a16="http://schemas.microsoft.com/office/drawing/2014/main" id="{F3A8C2AC-E59D-2B18-D658-C5B3C188076D}"/>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403702317"/>
      </p:ext>
    </p:extLst>
  </p:cSld>
  <p:clrMapOvr>
    <a:masterClrMapping/>
  </p:clrMapOvr>
  <p:transition spd="slow" advTm="0">
    <p:wipe dir="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9-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09</a:t>
            </a:r>
            <a:r>
              <a:rPr lang="en-US" altLang="zh-CN" sz="2800" dirty="0">
                <a:solidFill>
                  <a:srgbClr val="0091D9"/>
                </a:solidFill>
              </a:rPr>
              <a:t>         </a:t>
            </a:r>
            <a:r>
              <a:rPr lang="zh-CN" altLang="en-US" sz="2800" dirty="0">
                <a:solidFill>
                  <a:srgbClr val="0091D9"/>
                </a:solidFill>
              </a:rPr>
              <a:t>彩色图像压缩</a:t>
            </a: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478646211"/>
      </p:ext>
    </p:extLst>
  </p:cSld>
  <p:clrMapOvr>
    <a:masterClrMapping/>
  </p:clrMapOvr>
  <p:transition spd="slow" advTm="0">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0-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
        <p:nvSpPr>
          <p:cNvPr id="14" name="内容占位符 13"/>
          <p:cNvSpPr>
            <a:spLocks noGrp="1"/>
          </p:cNvSpPr>
          <p:nvPr>
            <p:ph sz="quarter" idx="11"/>
          </p:nvPr>
        </p:nvSpPr>
        <p:spPr>
          <a:xfrm>
            <a:off x="524202" y="2368647"/>
            <a:ext cx="11299202"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0</a:t>
            </a:r>
            <a:r>
              <a:rPr lang="en-US" altLang="zh-CN" sz="2800" dirty="0">
                <a:solidFill>
                  <a:srgbClr val="0091D9"/>
                </a:solidFill>
              </a:rPr>
              <a:t>         </a:t>
            </a:r>
            <a:r>
              <a:rPr lang="zh-CN" altLang="en-US" sz="2800" dirty="0">
                <a:solidFill>
                  <a:srgbClr val="0091D9"/>
                </a:solidFill>
              </a:rPr>
              <a:t>会议纪要</a:t>
            </a:r>
          </a:p>
        </p:txBody>
      </p:sp>
    </p:spTree>
    <p:extLst>
      <p:ext uri="{BB962C8B-B14F-4D97-AF65-F5344CB8AC3E}">
        <p14:creationId xmlns:p14="http://schemas.microsoft.com/office/powerpoint/2010/main" val="669415938"/>
      </p:ext>
    </p:extLst>
  </p:cSld>
  <p:clrMapOvr>
    <a:masterClrMapping/>
  </p:clrMapOvr>
  <p:transition spd="slow" advTm="0">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0-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0</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财务管理的环境</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178035796"/>
      </p:ext>
    </p:extLst>
  </p:cSld>
  <p:clrMapOvr>
    <a:masterClrMapping/>
  </p:clrMapOvr>
  <p:transition spd="slow" advTm="0">
    <p:wipe dir="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1-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
        <p:nvSpPr>
          <p:cNvPr id="14" name="内容占位符 13"/>
          <p:cNvSpPr>
            <a:spLocks noGrp="1"/>
          </p:cNvSpPr>
          <p:nvPr>
            <p:ph sz="quarter" idx="11"/>
          </p:nvPr>
        </p:nvSpPr>
        <p:spPr>
          <a:xfrm>
            <a:off x="524202" y="2368647"/>
            <a:ext cx="11299202"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1</a:t>
            </a:r>
            <a:r>
              <a:rPr lang="en-US" altLang="zh-CN" sz="2800" dirty="0">
                <a:solidFill>
                  <a:srgbClr val="0091D9"/>
                </a:solidFill>
              </a:rPr>
              <a:t>         </a:t>
            </a:r>
            <a:r>
              <a:rPr lang="zh-CN" altLang="en-US" sz="2800" dirty="0">
                <a:solidFill>
                  <a:srgbClr val="0091D9"/>
                </a:solidFill>
              </a:rPr>
              <a:t>会议纪要</a:t>
            </a:r>
          </a:p>
        </p:txBody>
      </p:sp>
    </p:spTree>
    <p:extLst>
      <p:ext uri="{BB962C8B-B14F-4D97-AF65-F5344CB8AC3E}">
        <p14:creationId xmlns:p14="http://schemas.microsoft.com/office/powerpoint/2010/main" val="1676336143"/>
      </p:ext>
    </p:extLst>
  </p:cSld>
  <p:clrMapOvr>
    <a:masterClrMapping/>
  </p:clrMapOvr>
  <p:transition spd="slow" advTm="0">
    <p:wipe dir="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1-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1</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财务管理的环境</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404169989"/>
      </p:ext>
    </p:extLst>
  </p:cSld>
  <p:clrMapOvr>
    <a:masterClrMapping/>
  </p:clrMapOvr>
  <p:transition spd="slow" advTm="0">
    <p:wipe dir="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2-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
        <p:nvSpPr>
          <p:cNvPr id="14" name="内容占位符 13"/>
          <p:cNvSpPr>
            <a:spLocks noGrp="1"/>
          </p:cNvSpPr>
          <p:nvPr>
            <p:ph sz="quarter" idx="11"/>
          </p:nvPr>
        </p:nvSpPr>
        <p:spPr>
          <a:xfrm>
            <a:off x="524202" y="2368647"/>
            <a:ext cx="11299202"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2</a:t>
            </a:r>
            <a:r>
              <a:rPr lang="en-US" altLang="zh-CN" sz="2800" dirty="0">
                <a:solidFill>
                  <a:srgbClr val="0091D9"/>
                </a:solidFill>
              </a:rPr>
              <a:t>         </a:t>
            </a:r>
            <a:r>
              <a:rPr lang="zh-CN" altLang="en-US" sz="2800" dirty="0">
                <a:solidFill>
                  <a:srgbClr val="0091D9"/>
                </a:solidFill>
              </a:rPr>
              <a:t>会议纪要</a:t>
            </a:r>
          </a:p>
        </p:txBody>
      </p:sp>
    </p:spTree>
    <p:extLst>
      <p:ext uri="{BB962C8B-B14F-4D97-AF65-F5344CB8AC3E}">
        <p14:creationId xmlns:p14="http://schemas.microsoft.com/office/powerpoint/2010/main" val="3328852496"/>
      </p:ext>
    </p:extLst>
  </p:cSld>
  <p:clrMapOvr>
    <a:masterClrMapping/>
  </p:clrMapOvr>
  <p:transition spd="slow" advTm="0">
    <p:wipe dir="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12-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2</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财务管理的环境</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412330514"/>
      </p:ext>
    </p:extLst>
  </p:cSld>
  <p:clrMapOvr>
    <a:masterClrMapping/>
  </p:clrMapOvr>
  <p:transition spd="slow" advTm="0">
    <p:wipe dir="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x" preserve="1">
  <p:cSld name="标题和文本">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8860BB-E3C5-4D22-8BEC-68FDB1E314FC}"/>
              </a:ext>
            </a:extLst>
          </p:cNvPr>
          <p:cNvSpPr>
            <a:spLocks noGrp="1"/>
          </p:cNvSpPr>
          <p:nvPr>
            <p:ph type="title"/>
          </p:nvPr>
        </p:nvSpPr>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564C3A6-28A5-477B-8FD3-82774CA65DB8}"/>
              </a:ext>
            </a:extLst>
          </p:cNvPr>
          <p:cNvSpPr>
            <a:spLocks noGrp="1"/>
          </p:cNvSpPr>
          <p:nvPr>
            <p:ph type="body"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2360E54-6845-42DD-84DC-A39854FA1A77}"/>
              </a:ext>
            </a:extLst>
          </p:cNvPr>
          <p:cNvSpPr>
            <a:spLocks noGrp="1"/>
          </p:cNvSpPr>
          <p:nvPr>
            <p:ph type="dt" sz="half" idx="10"/>
          </p:nvPr>
        </p:nvSpPr>
        <p:spPr/>
        <p:txBody>
          <a:bodyPr/>
          <a:lstStyle/>
          <a:p>
            <a:fld id="{65B73AD3-1C74-4744-A7C9-3279C2624C18}" type="datetimeFigureOut">
              <a:rPr lang="zh-CN" altLang="en-US" smtClean="0"/>
              <a:t>2023/10/19</a:t>
            </a:fld>
            <a:endParaRPr lang="zh-CN" altLang="en-US"/>
          </a:p>
        </p:txBody>
      </p:sp>
      <p:sp>
        <p:nvSpPr>
          <p:cNvPr id="5" name="页脚占位符 4">
            <a:extLst>
              <a:ext uri="{FF2B5EF4-FFF2-40B4-BE49-F238E27FC236}">
                <a16:creationId xmlns:a16="http://schemas.microsoft.com/office/drawing/2014/main" id="{9ADABCB2-5F2D-434F-8110-4656AF3E9F6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C4DEC2A-E2D0-43AA-976A-170C369B5040}"/>
              </a:ext>
            </a:extLst>
          </p:cNvPr>
          <p:cNvSpPr>
            <a:spLocks noGrp="1"/>
          </p:cNvSpPr>
          <p:nvPr>
            <p:ph type="sldNum" sz="quarter" idx="12"/>
          </p:nvPr>
        </p:nvSpPr>
        <p:spPr/>
        <p:txBody>
          <a:bodyPr/>
          <a:lstStyle/>
          <a:p>
            <a:fld id="{D6854D67-34FE-412E-B0D6-E7E304E82786}" type="slidenum">
              <a:rPr lang="zh-CN" altLang="en-US" smtClean="0"/>
              <a:t>‹#›</a:t>
            </a:fld>
            <a:endParaRPr lang="zh-CN" altLang="en-US"/>
          </a:p>
        </p:txBody>
      </p:sp>
    </p:spTree>
    <p:extLst>
      <p:ext uri="{BB962C8B-B14F-4D97-AF65-F5344CB8AC3E}">
        <p14:creationId xmlns:p14="http://schemas.microsoft.com/office/powerpoint/2010/main" val="25748308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矩形 6"/>
          <p:cNvSpPr/>
          <p:nvPr/>
        </p:nvSpPr>
        <p:spPr>
          <a:xfrm>
            <a:off x="0" y="0"/>
            <a:ext cx="12192000" cy="6858000"/>
          </a:xfrm>
          <a:prstGeom prst="rect">
            <a:avLst/>
          </a:prstGeom>
          <a:solidFill>
            <a:srgbClr val="EAF2F5">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928225699"/>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Lst>
  <p:transition spd="slow" advTm="0">
    <p:wipe dir="r"/>
  </p:transition>
  <p:txStyles>
    <p:titleStyle>
      <a:lvl1pPr algn="l" defTabSz="914400" rtl="0" eaLnBrk="1" latinLnBrk="0" hangingPunct="1">
        <a:lnSpc>
          <a:spcPct val="90000"/>
        </a:lnSpc>
        <a:spcBef>
          <a:spcPct val="0"/>
        </a:spcBef>
        <a:buNone/>
        <a:defRPr sz="2400" b="1" kern="1200">
          <a:solidFill>
            <a:schemeClr val="accent1">
              <a:lumMod val="75000"/>
            </a:schemeClr>
          </a:solidFill>
          <a:latin typeface="+mj-lt"/>
          <a:ea typeface="+mj-ea"/>
          <a:cs typeface="+mj-cs"/>
        </a:defRPr>
      </a:lvl1pPr>
    </p:titleStyle>
    <p:bodyStyle>
      <a:lvl1pPr marL="228600" indent="-228600" algn="l" defTabSz="914400" rtl="0" eaLnBrk="1" fontAlgn="auto" latinLnBrk="0" hangingPunct="1">
        <a:lnSpc>
          <a:spcPct val="15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6" name="组合 285"/>
          <p:cNvGrpSpPr/>
          <p:nvPr/>
        </p:nvGrpSpPr>
        <p:grpSpPr>
          <a:xfrm>
            <a:off x="1142271" y="4495729"/>
            <a:ext cx="4142910" cy="479114"/>
            <a:chOff x="5646962" y="4937787"/>
            <a:chExt cx="1453481" cy="482463"/>
          </a:xfrm>
          <a:effectLst/>
        </p:grpSpPr>
        <p:sp>
          <p:nvSpPr>
            <p:cNvPr id="287" name="任意多边形: 形状 12"/>
            <p:cNvSpPr/>
            <p:nvPr/>
          </p:nvSpPr>
          <p:spPr>
            <a:xfrm flipH="1" flipV="1">
              <a:off x="5646962" y="4937787"/>
              <a:ext cx="1453481" cy="482463"/>
            </a:xfrm>
            <a:prstGeom prst="roundRect">
              <a:avLst>
                <a:gd name="adj" fmla="val 50000"/>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88" name="文本框 287"/>
            <p:cNvSpPr txBox="1"/>
            <p:nvPr/>
          </p:nvSpPr>
          <p:spPr>
            <a:xfrm>
              <a:off x="5715384" y="4993062"/>
              <a:ext cx="1316636" cy="371914"/>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60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数字图像处理（第四版）</a:t>
              </a:r>
            </a:p>
          </p:txBody>
        </p:sp>
      </p:grpSp>
      <p:grpSp>
        <p:nvGrpSpPr>
          <p:cNvPr id="302" name="组合 301"/>
          <p:cNvGrpSpPr/>
          <p:nvPr/>
        </p:nvGrpSpPr>
        <p:grpSpPr>
          <a:xfrm>
            <a:off x="1027366" y="1310600"/>
            <a:ext cx="4272323" cy="2186039"/>
            <a:chOff x="951801" y="1752810"/>
            <a:chExt cx="4272323" cy="2186039"/>
          </a:xfrm>
        </p:grpSpPr>
        <p:sp>
          <p:nvSpPr>
            <p:cNvPr id="285" name="文本框 284"/>
            <p:cNvSpPr txBox="1"/>
            <p:nvPr/>
          </p:nvSpPr>
          <p:spPr>
            <a:xfrm>
              <a:off x="951801" y="3015519"/>
              <a:ext cx="4272323" cy="9233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5400" b="1" dirty="0">
                  <a:solidFill>
                    <a:prstClr val="black">
                      <a:lumMod val="85000"/>
                      <a:lumOff val="15000"/>
                    </a:prst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彩色图像处理</a:t>
              </a:r>
              <a:endParaRPr lang="zh-CN" altLang="en-US" sz="5400" b="1" dirty="0">
                <a:solidFill>
                  <a:prstClr val="black">
                    <a:lumMod val="85000"/>
                    <a:lumOff val="15000"/>
                  </a:prst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nvGrpSpPr>
            <p:cNvPr id="301" name="组合 300"/>
            <p:cNvGrpSpPr/>
            <p:nvPr/>
          </p:nvGrpSpPr>
          <p:grpSpPr>
            <a:xfrm>
              <a:off x="951801" y="1752810"/>
              <a:ext cx="3707553" cy="1252400"/>
              <a:chOff x="951801" y="1680239"/>
              <a:chExt cx="3707553" cy="1252400"/>
            </a:xfrm>
          </p:grpSpPr>
          <p:sp>
            <p:nvSpPr>
              <p:cNvPr id="290" name="文本框 289"/>
              <p:cNvSpPr txBox="1"/>
              <p:nvPr/>
            </p:nvSpPr>
            <p:spPr>
              <a:xfrm>
                <a:off x="951801" y="2009309"/>
                <a:ext cx="2228495" cy="9233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5400" b="1" i="0" u="none" strike="noStrike" kern="1200" cap="none" spc="0" normalizeH="0" baseline="0" noProof="0" dirty="0">
                    <a:ln>
                      <a:noFill/>
                    </a:ln>
                    <a:solidFill>
                      <a:srgbClr val="0065C4"/>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第六章</a:t>
                </a:r>
                <a:endParaRPr kumimoji="0" lang="en-US" altLang="zh-CN" sz="5400" b="1" i="0" u="none" strike="noStrike" kern="1200" cap="none" spc="0" normalizeH="0" baseline="0" noProof="0" dirty="0">
                  <a:ln>
                    <a:noFill/>
                  </a:ln>
                  <a:solidFill>
                    <a:srgbClr val="0065C4"/>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95" name="椭圆 294"/>
              <p:cNvSpPr/>
              <p:nvPr/>
            </p:nvSpPr>
            <p:spPr>
              <a:xfrm>
                <a:off x="3440154" y="1680239"/>
                <a:ext cx="1219200" cy="1219200"/>
              </a:xfrm>
              <a:prstGeom prst="ellipse">
                <a:avLst/>
              </a:pr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grpSp>
      <p:sp>
        <p:nvSpPr>
          <p:cNvPr id="2" name="Freeform 24">
            <a:extLst>
              <a:ext uri="{FF2B5EF4-FFF2-40B4-BE49-F238E27FC236}">
                <a16:creationId xmlns:a16="http://schemas.microsoft.com/office/drawing/2014/main" id="{05D286A2-ECB7-9BA2-9D1F-172FDB772080}"/>
              </a:ext>
            </a:extLst>
          </p:cNvPr>
          <p:cNvSpPr>
            <a:spLocks/>
          </p:cNvSpPr>
          <p:nvPr/>
        </p:nvSpPr>
        <p:spPr bwMode="auto">
          <a:xfrm>
            <a:off x="1142271" y="3743277"/>
            <a:ext cx="171824" cy="429542"/>
          </a:xfrm>
          <a:prstGeom prst="roundRect">
            <a:avLst/>
          </a:prstGeom>
          <a:solidFill>
            <a:srgbClr val="0463C4"/>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 name="Inhaltsplatzhalter 4">
            <a:extLst>
              <a:ext uri="{FF2B5EF4-FFF2-40B4-BE49-F238E27FC236}">
                <a16:creationId xmlns:a16="http://schemas.microsoft.com/office/drawing/2014/main" id="{61215E34-C4A2-0714-4A5F-AD7D334A7606}"/>
              </a:ext>
            </a:extLst>
          </p:cNvPr>
          <p:cNvSpPr txBox="1">
            <a:spLocks/>
          </p:cNvSpPr>
          <p:nvPr/>
        </p:nvSpPr>
        <p:spPr>
          <a:xfrm>
            <a:off x="1444494" y="3819549"/>
            <a:ext cx="3787962" cy="276999"/>
          </a:xfrm>
          <a:prstGeom prst="rect">
            <a:avLst/>
          </a:prstGeom>
        </p:spPr>
        <p:txBody>
          <a:bodyPr wrap="square" lIns="0" tIns="0" rIns="0" bIns="0">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gn="dist">
              <a:lnSpc>
                <a:spcPct val="100000"/>
              </a:lnSpc>
              <a:spcAft>
                <a:spcPts val="1200"/>
              </a:spcAft>
              <a:buNone/>
            </a:pPr>
            <a:r>
              <a:rPr lang="zh-CN" altLang="en-US" sz="1800" b="1"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国外电子与通信教材系列</a:t>
            </a:r>
            <a:endParaRPr kumimoji="0" lang="zh-CN" altLang="en-US" sz="1800" b="1" i="0" u="none" strike="noStrike" kern="1200" cap="none" spc="0" normalizeH="0" baseline="0" noProof="0" dirty="0">
              <a:ln>
                <a:noFill/>
              </a:ln>
              <a:solidFill>
                <a:srgbClr val="0463C4"/>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345882170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02"/>
                                        </p:tgtEl>
                                        <p:attrNameLst>
                                          <p:attrName>style.visibility</p:attrName>
                                        </p:attrNameLst>
                                      </p:cBhvr>
                                      <p:to>
                                        <p:strVal val="visible"/>
                                      </p:to>
                                    </p:set>
                                    <p:anim calcmode="lin" valueType="num">
                                      <p:cBhvr additive="base">
                                        <p:cTn id="7" dur="500" fill="hold"/>
                                        <p:tgtEl>
                                          <p:spTgt spid="302"/>
                                        </p:tgtEl>
                                        <p:attrNameLst>
                                          <p:attrName>ppt_x</p:attrName>
                                        </p:attrNameLst>
                                      </p:cBhvr>
                                      <p:tavLst>
                                        <p:tav tm="0">
                                          <p:val>
                                            <p:strVal val="#ppt_x"/>
                                          </p:val>
                                        </p:tav>
                                        <p:tav tm="100000">
                                          <p:val>
                                            <p:strVal val="#ppt_x"/>
                                          </p:val>
                                        </p:tav>
                                      </p:tavLst>
                                    </p:anim>
                                    <p:anim calcmode="lin" valueType="num">
                                      <p:cBhvr additive="base">
                                        <p:cTn id="8" dur="500" fill="hold"/>
                                        <p:tgtEl>
                                          <p:spTgt spid="30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2" accel="20000" decel="80000"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1+#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childTnLst>
                                </p:cTn>
                              </p:par>
                              <p:par>
                                <p:cTn id="14" presetID="22" presetClass="entr" presetSubtype="8" fill="hold" grpId="0" nodeType="withEffect">
                                  <p:stCondLst>
                                    <p:cond delay="20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childTnLst>
                          </p:cTn>
                        </p:par>
                        <p:par>
                          <p:cTn id="17" fill="hold">
                            <p:stCondLst>
                              <p:cond delay="1200"/>
                            </p:stCondLst>
                            <p:childTnLst>
                              <p:par>
                                <p:cTn id="18" presetID="2" presetClass="entr" presetSubtype="4" fill="hold" nodeType="afterEffect">
                                  <p:stCondLst>
                                    <p:cond delay="0"/>
                                  </p:stCondLst>
                                  <p:childTnLst>
                                    <p:set>
                                      <p:cBhvr>
                                        <p:cTn id="19" dur="1" fill="hold">
                                          <p:stCondLst>
                                            <p:cond delay="0"/>
                                          </p:stCondLst>
                                        </p:cTn>
                                        <p:tgtEl>
                                          <p:spTgt spid="286"/>
                                        </p:tgtEl>
                                        <p:attrNameLst>
                                          <p:attrName>style.visibility</p:attrName>
                                        </p:attrNameLst>
                                      </p:cBhvr>
                                      <p:to>
                                        <p:strVal val="visible"/>
                                      </p:to>
                                    </p:set>
                                    <p:anim calcmode="lin" valueType="num">
                                      <p:cBhvr additive="base">
                                        <p:cTn id="20" dur="500" fill="hold"/>
                                        <p:tgtEl>
                                          <p:spTgt spid="286"/>
                                        </p:tgtEl>
                                        <p:attrNameLst>
                                          <p:attrName>ppt_x</p:attrName>
                                        </p:attrNameLst>
                                      </p:cBhvr>
                                      <p:tavLst>
                                        <p:tav tm="0">
                                          <p:val>
                                            <p:strVal val="#ppt_x"/>
                                          </p:val>
                                        </p:tav>
                                        <p:tav tm="100000">
                                          <p:val>
                                            <p:strVal val="#ppt_x"/>
                                          </p:val>
                                        </p:tav>
                                      </p:tavLst>
                                    </p:anim>
                                    <p:anim calcmode="lin" valueType="num">
                                      <p:cBhvr additive="base">
                                        <p:cTn id="21" dur="500" fill="hold"/>
                                        <p:tgtEl>
                                          <p:spTgt spid="2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01</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彩色基础</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476143304"/>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5FA12B-8400-5255-80D4-E6FC68D80F34}"/>
              </a:ext>
            </a:extLst>
          </p:cNvPr>
          <p:cNvSpPr>
            <a:spLocks noGrp="1"/>
          </p:cNvSpPr>
          <p:nvPr>
            <p:ph type="title"/>
          </p:nvPr>
        </p:nvSpPr>
        <p:spPr/>
        <p:txBody>
          <a:bodyPr/>
          <a:lstStyle/>
          <a:p>
            <a:pPr marR="0" rtl="0"/>
            <a:r>
              <a:rPr lang="zh-CN" altLang="en-US" b="1" i="0" u="none" strike="noStrike" baseline="0" dirty="0">
                <a:solidFill>
                  <a:srgbClr val="0070C0"/>
                </a:solidFill>
                <a:latin typeface="+mn-lt"/>
                <a:ea typeface="+mn-ea"/>
                <a:cs typeface="+mn-ea"/>
                <a:sym typeface="+mn-lt"/>
              </a:rPr>
              <a:t>基础</a:t>
            </a:r>
          </a:p>
        </p:txBody>
      </p:sp>
      <p:sp>
        <p:nvSpPr>
          <p:cNvPr id="3" name="文本占位符 2">
            <a:extLst>
              <a:ext uri="{FF2B5EF4-FFF2-40B4-BE49-F238E27FC236}">
                <a16:creationId xmlns:a16="http://schemas.microsoft.com/office/drawing/2014/main" id="{4935DA34-42A5-0249-EC09-9CF37D72E806}"/>
              </a:ext>
            </a:extLst>
          </p:cNvPr>
          <p:cNvSpPr>
            <a:spLocks noGrp="1"/>
          </p:cNvSpPr>
          <p:nvPr>
            <p:ph sz="quarter" idx="11"/>
          </p:nvPr>
        </p:nvSpPr>
        <p:spPr/>
        <p:txBody>
          <a:bodyPr/>
          <a:lstStyle/>
          <a:p>
            <a:pPr marL="0" marR="0" lvl="0" indent="0" rtl="0">
              <a:buNone/>
            </a:pPr>
            <a:r>
              <a:rPr lang="en-US" altLang="zh-CN" b="0" i="0" u="none" strike="noStrike" baseline="0" dirty="0">
                <a:solidFill>
                  <a:srgbClr val="000000"/>
                </a:solidFill>
                <a:cs typeface="+mn-ea"/>
                <a:sym typeface="+mn-lt"/>
              </a:rPr>
              <a:t>1666</a:t>
            </a:r>
            <a:r>
              <a:rPr lang="zh-CN" altLang="en-US" b="0" i="0" u="none" strike="noStrike" baseline="0" dirty="0">
                <a:solidFill>
                  <a:srgbClr val="000000"/>
                </a:solidFill>
                <a:cs typeface="+mn-ea"/>
                <a:sym typeface="+mn-lt"/>
              </a:rPr>
              <a:t>年，艾萨克 </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 牛顿发现，一束阳光通过一个玻璃棱镜时，出射的光束不是白色的，而是由一端为紫色、另一端为红色的连续色谱组成。如图</a:t>
            </a:r>
            <a:r>
              <a:rPr lang="en-US" altLang="zh-CN" b="0" i="0" u="none" strike="noStrike" baseline="0" dirty="0">
                <a:solidFill>
                  <a:srgbClr val="000000"/>
                </a:solidFill>
                <a:cs typeface="+mn-ea"/>
                <a:sym typeface="+mn-lt"/>
              </a:rPr>
              <a:t>6.1</a:t>
            </a:r>
            <a:r>
              <a:rPr lang="zh-CN" altLang="en-US" b="0" i="0" u="none" strike="noStrike" baseline="0" dirty="0">
                <a:solidFill>
                  <a:srgbClr val="000000"/>
                </a:solidFill>
                <a:cs typeface="+mn-ea"/>
                <a:sym typeface="+mn-lt"/>
              </a:rPr>
              <a:t> 所示，色谱分为</a:t>
            </a:r>
            <a:r>
              <a:rPr lang="en-US" altLang="zh-CN" b="0" i="0" u="none" strike="noStrike" baseline="0" dirty="0">
                <a:solidFill>
                  <a:srgbClr val="000000"/>
                </a:solidFill>
                <a:cs typeface="+mn-ea"/>
                <a:sym typeface="+mn-lt"/>
              </a:rPr>
              <a:t>6</a:t>
            </a:r>
            <a:r>
              <a:rPr lang="zh-CN" altLang="en-US" b="0" i="0" u="none" strike="noStrike" baseline="0" dirty="0">
                <a:solidFill>
                  <a:srgbClr val="000000"/>
                </a:solidFill>
                <a:cs typeface="+mn-ea"/>
                <a:sym typeface="+mn-lt"/>
              </a:rPr>
              <a:t>个较宽的区域：紫色 、蓝色、绿色、黄色、橙色和红色。观察全色发现</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见图</a:t>
            </a:r>
            <a:r>
              <a:rPr lang="en-US" altLang="zh-CN" b="0" i="0" u="none" strike="noStrike" baseline="0" dirty="0">
                <a:solidFill>
                  <a:srgbClr val="000000"/>
                </a:solidFill>
                <a:cs typeface="+mn-ea"/>
                <a:sym typeface="+mn-lt"/>
              </a:rPr>
              <a:t>6</a:t>
            </a:r>
            <a:r>
              <a:rPr lang="zh-CN" altLang="en-US" b="0" i="0" u="none" strike="noStrike" baseline="0" dirty="0">
                <a:solidFill>
                  <a:srgbClr val="000000"/>
                </a:solidFill>
                <a:cs typeface="+mn-ea"/>
                <a:sym typeface="+mn-lt"/>
              </a:rPr>
              <a:t> </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 </a:t>
            </a:r>
            <a:r>
              <a:rPr lang="en-US" altLang="zh-CN" b="0" i="0" u="none" strike="noStrike" baseline="0" dirty="0">
                <a:solidFill>
                  <a:srgbClr val="000000"/>
                </a:solidFill>
                <a:cs typeface="+mn-ea"/>
                <a:sym typeface="+mn-lt"/>
              </a:rPr>
              <a:t>2),</a:t>
            </a:r>
            <a:r>
              <a:rPr lang="zh-CN" altLang="en-US" b="0" i="0" u="none" strike="noStrike" baseline="0" dirty="0">
                <a:solidFill>
                  <a:srgbClr val="000000"/>
                </a:solidFill>
                <a:cs typeface="+mn-ea"/>
                <a:sym typeface="+mn-lt"/>
              </a:rPr>
              <a:t>色谱两端的颜色不是突变的，而是从一种颜色平滑地融入下一种颜色的 。</a:t>
            </a:r>
          </a:p>
        </p:txBody>
      </p:sp>
      <p:pic>
        <p:nvPicPr>
          <p:cNvPr id="5" name="图片 4">
            <a:extLst>
              <a:ext uri="{FF2B5EF4-FFF2-40B4-BE49-F238E27FC236}">
                <a16:creationId xmlns:a16="http://schemas.microsoft.com/office/drawing/2014/main" id="{6EF65A3A-6F3B-1E27-E7DE-CCC5AB6E66AD}"/>
              </a:ext>
            </a:extLst>
          </p:cNvPr>
          <p:cNvPicPr>
            <a:picLocks noChangeAspect="1"/>
          </p:cNvPicPr>
          <p:nvPr/>
        </p:nvPicPr>
        <p:blipFill>
          <a:blip r:embed="rId2"/>
          <a:stretch>
            <a:fillRect/>
          </a:stretch>
        </p:blipFill>
        <p:spPr>
          <a:xfrm>
            <a:off x="187454" y="4311566"/>
            <a:ext cx="5610225" cy="2181225"/>
          </a:xfrm>
          <a:prstGeom prst="rect">
            <a:avLst/>
          </a:prstGeom>
        </p:spPr>
      </p:pic>
      <p:pic>
        <p:nvPicPr>
          <p:cNvPr id="7" name="图片 6">
            <a:extLst>
              <a:ext uri="{FF2B5EF4-FFF2-40B4-BE49-F238E27FC236}">
                <a16:creationId xmlns:a16="http://schemas.microsoft.com/office/drawing/2014/main" id="{6CBD0BCF-E1A3-31E7-6AFF-E16A8CCD6795}"/>
              </a:ext>
            </a:extLst>
          </p:cNvPr>
          <p:cNvPicPr>
            <a:picLocks noChangeAspect="1"/>
          </p:cNvPicPr>
          <p:nvPr/>
        </p:nvPicPr>
        <p:blipFill>
          <a:blip r:embed="rId3"/>
          <a:stretch>
            <a:fillRect/>
          </a:stretch>
        </p:blipFill>
        <p:spPr>
          <a:xfrm>
            <a:off x="5491472" y="4311566"/>
            <a:ext cx="6576231" cy="2181225"/>
          </a:xfrm>
          <a:prstGeom prst="rect">
            <a:avLst/>
          </a:prstGeom>
        </p:spPr>
      </p:pic>
      <p:sp>
        <p:nvSpPr>
          <p:cNvPr id="8" name="矩形 7">
            <a:extLst>
              <a:ext uri="{FF2B5EF4-FFF2-40B4-BE49-F238E27FC236}">
                <a16:creationId xmlns:a16="http://schemas.microsoft.com/office/drawing/2014/main" id="{28485A63-C06F-AB11-390C-B9174194D4AF}"/>
              </a:ext>
            </a:extLst>
          </p:cNvPr>
          <p:cNvSpPr/>
          <p:nvPr/>
        </p:nvSpPr>
        <p:spPr>
          <a:xfrm>
            <a:off x="801092" y="2446417"/>
            <a:ext cx="10589815" cy="1865149"/>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613235568"/>
      </p:ext>
    </p:extLst>
  </p:cSld>
  <p:clrMapOvr>
    <a:masterClrMapping/>
  </p:clrMapOvr>
  <p:transition spd="slow" advTm="0">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02</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彩色模型</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1337032326"/>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EB25F5-43C2-E5EB-4102-C8565009C740}"/>
              </a:ext>
            </a:extLst>
          </p:cNvPr>
          <p:cNvSpPr>
            <a:spLocks noGrp="1"/>
          </p:cNvSpPr>
          <p:nvPr>
            <p:ph type="title"/>
          </p:nvPr>
        </p:nvSpPr>
        <p:spPr/>
        <p:txBody>
          <a:bodyPr/>
          <a:lstStyle/>
          <a:p>
            <a:pPr marR="0" rtl="0"/>
            <a:r>
              <a:rPr lang="en-US" altLang="zh-CN" b="1" i="0" u="none" strike="noStrike" baseline="0">
                <a:solidFill>
                  <a:srgbClr val="0070C0"/>
                </a:solidFill>
                <a:latin typeface="+mn-lt"/>
                <a:ea typeface="+mn-ea"/>
                <a:cs typeface="+mn-ea"/>
                <a:sym typeface="+mn-lt"/>
              </a:rPr>
              <a:t>RGB</a:t>
            </a:r>
            <a:r>
              <a:rPr lang="zh-CN" altLang="en-US" b="1" i="0" u="none" strike="noStrike" baseline="0">
                <a:solidFill>
                  <a:srgbClr val="0070C0"/>
                </a:solidFill>
                <a:latin typeface="+mn-lt"/>
                <a:ea typeface="+mn-ea"/>
                <a:cs typeface="+mn-ea"/>
                <a:sym typeface="+mn-lt"/>
              </a:rPr>
              <a:t>  彩色模型</a:t>
            </a:r>
          </a:p>
        </p:txBody>
      </p:sp>
      <p:sp>
        <p:nvSpPr>
          <p:cNvPr id="3" name="文本占位符 2">
            <a:extLst>
              <a:ext uri="{FF2B5EF4-FFF2-40B4-BE49-F238E27FC236}">
                <a16:creationId xmlns:a16="http://schemas.microsoft.com/office/drawing/2014/main" id="{9A50F567-E872-09F3-818B-76DAD86BADC3}"/>
              </a:ext>
            </a:extLst>
          </p:cNvPr>
          <p:cNvSpPr>
            <a:spLocks noGrp="1"/>
          </p:cNvSpPr>
          <p:nvPr>
            <p:ph sz="quarter" idx="11"/>
          </p:nvPr>
        </p:nvSpPr>
        <p:spPr>
          <a:xfrm>
            <a:off x="801093" y="2432500"/>
            <a:ext cx="6769139" cy="3540427"/>
          </a:xfrm>
        </p:spPr>
        <p:txBody>
          <a:bodyPr>
            <a:normAutofit/>
          </a:bodyPr>
          <a:lstStyle/>
          <a:p>
            <a:pPr marL="0" marR="0" lvl="0" indent="0" rtl="0">
              <a:buNone/>
            </a:pPr>
            <a:r>
              <a:rPr lang="zh-CN" altLang="en-US" b="0" i="0" u="none" strike="noStrike" baseline="0" dirty="0">
                <a:solidFill>
                  <a:srgbClr val="000000"/>
                </a:solidFill>
                <a:cs typeface="+mn-ea"/>
                <a:sym typeface="+mn-lt"/>
              </a:rPr>
              <a:t>在 </a:t>
            </a:r>
            <a:r>
              <a:rPr lang="en-US" altLang="zh-CN" b="0" i="0" u="none" strike="noStrike" baseline="0" dirty="0">
                <a:solidFill>
                  <a:srgbClr val="000000"/>
                </a:solidFill>
                <a:cs typeface="+mn-ea"/>
                <a:sym typeface="+mn-lt"/>
              </a:rPr>
              <a:t>RGB</a:t>
            </a:r>
            <a:r>
              <a:rPr lang="zh-CN" altLang="en-US" b="0" i="0" u="none" strike="noStrike" baseline="0" dirty="0">
                <a:solidFill>
                  <a:srgbClr val="000000"/>
                </a:solidFill>
                <a:cs typeface="+mn-ea"/>
                <a:sym typeface="+mn-lt"/>
              </a:rPr>
              <a:t>模型中，每种颜色都以其红色、绿色和蓝色光谱成分显示。这个模型是根据笛卡儿坐标系建立的。感兴趣的颜色子空间是图</a:t>
            </a:r>
            <a:r>
              <a:rPr lang="en-US" altLang="zh-CN" b="0" i="0" u="none" strike="noStrike" baseline="0" dirty="0">
                <a:solidFill>
                  <a:srgbClr val="000000"/>
                </a:solidFill>
                <a:cs typeface="+mn-ea"/>
                <a:sym typeface="+mn-lt"/>
              </a:rPr>
              <a:t>6.7</a:t>
            </a:r>
            <a:r>
              <a:rPr lang="zh-CN" altLang="en-US" b="0" i="0" u="none" strike="noStrike" baseline="0" dirty="0">
                <a:solidFill>
                  <a:srgbClr val="000000"/>
                </a:solidFill>
                <a:cs typeface="+mn-ea"/>
                <a:sym typeface="+mn-lt"/>
              </a:rPr>
              <a:t>中的立方体，其中</a:t>
            </a:r>
            <a:r>
              <a:rPr lang="en-US" altLang="zh-CN" b="0" i="0" u="none" strike="noStrike" baseline="0" dirty="0">
                <a:solidFill>
                  <a:srgbClr val="000000"/>
                </a:solidFill>
                <a:cs typeface="+mn-ea"/>
                <a:sym typeface="+mn-lt"/>
              </a:rPr>
              <a:t>RGB</a:t>
            </a:r>
            <a:r>
              <a:rPr lang="zh-CN" altLang="en-US" b="0" i="0" u="none" strike="noStrike" baseline="0" dirty="0">
                <a:solidFill>
                  <a:srgbClr val="000000"/>
                </a:solidFill>
                <a:cs typeface="+mn-ea"/>
                <a:sym typeface="+mn-lt"/>
              </a:rPr>
              <a:t> 的原色位于</a:t>
            </a:r>
            <a:r>
              <a:rPr lang="en-US" altLang="zh-CN" b="0" i="0" u="none" strike="noStrike" baseline="0" dirty="0">
                <a:solidFill>
                  <a:srgbClr val="000000"/>
                </a:solidFill>
                <a:cs typeface="+mn-ea"/>
                <a:sym typeface="+mn-lt"/>
              </a:rPr>
              <a:t>3</a:t>
            </a:r>
            <a:r>
              <a:rPr lang="zh-CN" altLang="en-US" b="0" i="0" u="none" strike="noStrike" baseline="0" dirty="0">
                <a:solidFill>
                  <a:srgbClr val="000000"/>
                </a:solidFill>
                <a:cs typeface="+mn-ea"/>
                <a:sym typeface="+mn-lt"/>
              </a:rPr>
              <a:t>个角上；二次色</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青色</a:t>
            </a:r>
            <a:r>
              <a:rPr lang="zh-CN" altLang="en-US" dirty="0">
                <a:solidFill>
                  <a:srgbClr val="000000"/>
                </a:solidFill>
                <a:cs typeface="+mn-ea"/>
                <a:sym typeface="+mn-lt"/>
              </a:rPr>
              <a:t>、</a:t>
            </a:r>
            <a:r>
              <a:rPr lang="zh-CN" altLang="en-US" b="0" i="0" u="none" strike="noStrike" baseline="0" dirty="0">
                <a:solidFill>
                  <a:srgbClr val="000000"/>
                </a:solidFill>
                <a:cs typeface="+mn-ea"/>
                <a:sym typeface="+mn-lt"/>
              </a:rPr>
              <a:t>深红色和黄色</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位于另外</a:t>
            </a:r>
            <a:r>
              <a:rPr lang="en-US" altLang="zh-CN" b="0" i="0" u="none" strike="noStrike" baseline="0" dirty="0">
                <a:solidFill>
                  <a:srgbClr val="000000"/>
                </a:solidFill>
                <a:cs typeface="+mn-ea"/>
                <a:sym typeface="+mn-lt"/>
              </a:rPr>
              <a:t>3</a:t>
            </a:r>
            <a:r>
              <a:rPr lang="zh-CN" altLang="en-US" b="0" i="0" u="none" strike="noStrike" baseline="0" dirty="0">
                <a:solidFill>
                  <a:srgbClr val="000000"/>
                </a:solidFill>
                <a:cs typeface="+mn-ea"/>
                <a:sym typeface="+mn-lt"/>
              </a:rPr>
              <a:t>个角上；黑色位于 原点上；白色位于离原点最远的角上。在这个模型中，灰度</a:t>
            </a:r>
            <a:r>
              <a:rPr lang="en-US" altLang="zh-CN" b="0" i="0" u="none" strike="noStrike" baseline="0" dirty="0">
                <a:solidFill>
                  <a:srgbClr val="000000"/>
                </a:solidFill>
                <a:cs typeface="+mn-ea"/>
                <a:sym typeface="+mn-lt"/>
              </a:rPr>
              <a:t>(RGB</a:t>
            </a:r>
            <a:r>
              <a:rPr lang="zh-CN" altLang="en-US" b="0" i="0" u="none" strike="noStrike" baseline="0" dirty="0">
                <a:solidFill>
                  <a:srgbClr val="000000"/>
                </a:solidFill>
                <a:cs typeface="+mn-ea"/>
                <a:sym typeface="+mn-lt"/>
              </a:rPr>
              <a:t>值相等的点</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沿这两个点的连线从黑色变为白色。</a:t>
            </a:r>
          </a:p>
        </p:txBody>
      </p:sp>
      <p:pic>
        <p:nvPicPr>
          <p:cNvPr id="5" name="图片 4">
            <a:extLst>
              <a:ext uri="{FF2B5EF4-FFF2-40B4-BE49-F238E27FC236}">
                <a16:creationId xmlns:a16="http://schemas.microsoft.com/office/drawing/2014/main" id="{3C894214-9082-14D8-742F-368D5207F96C}"/>
              </a:ext>
            </a:extLst>
          </p:cNvPr>
          <p:cNvPicPr>
            <a:picLocks noChangeAspect="1"/>
          </p:cNvPicPr>
          <p:nvPr/>
        </p:nvPicPr>
        <p:blipFill>
          <a:blip r:embed="rId2"/>
          <a:stretch>
            <a:fillRect/>
          </a:stretch>
        </p:blipFill>
        <p:spPr>
          <a:xfrm>
            <a:off x="7570234" y="2432500"/>
            <a:ext cx="3820672" cy="3540427"/>
          </a:xfrm>
          <a:prstGeom prst="rect">
            <a:avLst/>
          </a:prstGeom>
        </p:spPr>
      </p:pic>
      <p:sp>
        <p:nvSpPr>
          <p:cNvPr id="6" name="矩形 5">
            <a:extLst>
              <a:ext uri="{FF2B5EF4-FFF2-40B4-BE49-F238E27FC236}">
                <a16:creationId xmlns:a16="http://schemas.microsoft.com/office/drawing/2014/main" id="{D3DA7796-44B1-A553-19AB-4AF007A25803}"/>
              </a:ext>
            </a:extLst>
          </p:cNvPr>
          <p:cNvSpPr/>
          <p:nvPr/>
        </p:nvSpPr>
        <p:spPr>
          <a:xfrm>
            <a:off x="801092" y="2446417"/>
            <a:ext cx="10589815" cy="3540426"/>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175701291"/>
      </p:ext>
    </p:extLst>
  </p:cSld>
  <p:clrMapOvr>
    <a:masterClrMapping/>
  </p:clrMapOvr>
  <p:transition spd="slow" advTm="0">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05AF6C-91CA-00E3-9371-C36B04DF3A32}"/>
              </a:ext>
            </a:extLst>
          </p:cNvPr>
          <p:cNvSpPr>
            <a:spLocks noGrp="1"/>
          </p:cNvSpPr>
          <p:nvPr>
            <p:ph type="title"/>
          </p:nvPr>
        </p:nvSpPr>
        <p:spPr/>
        <p:txBody>
          <a:bodyPr/>
          <a:lstStyle/>
          <a:p>
            <a:pPr marR="0" rtl="0"/>
            <a:r>
              <a:rPr lang="en-US" altLang="zh-CN" b="1" i="0" u="none" strike="noStrike" baseline="0" dirty="0">
                <a:solidFill>
                  <a:srgbClr val="0070C0"/>
                </a:solidFill>
                <a:latin typeface="+mn-lt"/>
                <a:ea typeface="+mn-ea"/>
                <a:cs typeface="+mn-ea"/>
                <a:sym typeface="+mn-lt"/>
              </a:rPr>
              <a:t>CMY</a:t>
            </a:r>
            <a:r>
              <a:rPr lang="zh-CN" altLang="en-US" b="1" i="0" u="none" strike="noStrike" baseline="0" dirty="0">
                <a:solidFill>
                  <a:srgbClr val="0070C0"/>
                </a:solidFill>
                <a:latin typeface="+mn-lt"/>
                <a:ea typeface="+mn-ea"/>
                <a:cs typeface="+mn-ea"/>
                <a:sym typeface="+mn-lt"/>
              </a:rPr>
              <a:t>和</a:t>
            </a:r>
            <a:r>
              <a:rPr lang="en-US" altLang="zh-CN" b="1" i="0" u="none" strike="noStrike" baseline="0" dirty="0">
                <a:solidFill>
                  <a:srgbClr val="0070C0"/>
                </a:solidFill>
                <a:latin typeface="+mn-lt"/>
                <a:ea typeface="+mn-ea"/>
                <a:cs typeface="+mn-ea"/>
                <a:sym typeface="+mn-lt"/>
              </a:rPr>
              <a:t>CMYK</a:t>
            </a:r>
            <a:r>
              <a:rPr lang="zh-CN" altLang="en-US" b="1" i="0" u="none" strike="noStrike" baseline="0" dirty="0">
                <a:solidFill>
                  <a:srgbClr val="0070C0"/>
                </a:solidFill>
                <a:latin typeface="+mn-lt"/>
                <a:ea typeface="+mn-ea"/>
                <a:cs typeface="+mn-ea"/>
                <a:sym typeface="+mn-lt"/>
              </a:rPr>
              <a:t>彩色模型</a:t>
            </a:r>
          </a:p>
        </p:txBody>
      </p:sp>
      <p:sp>
        <p:nvSpPr>
          <p:cNvPr id="3" name="文本占位符 2">
            <a:extLst>
              <a:ext uri="{FF2B5EF4-FFF2-40B4-BE49-F238E27FC236}">
                <a16:creationId xmlns:a16="http://schemas.microsoft.com/office/drawing/2014/main" id="{26C0E653-629B-F52D-9C5A-B45117B1818F}"/>
              </a:ext>
            </a:extLst>
          </p:cNvPr>
          <p:cNvSpPr>
            <a:spLocks noGrp="1"/>
          </p:cNvSpPr>
          <p:nvPr>
            <p:ph sz="quarter" idx="12"/>
          </p:nvPr>
        </p:nvSpPr>
        <p:spPr/>
        <p:txBody>
          <a:bodyPr/>
          <a:lstStyle/>
          <a:p>
            <a:pPr marR="0" lvl="0" rtl="0"/>
            <a:r>
              <a:rPr lang="en-US" altLang="zh-CN" b="0" i="0" u="none" strike="noStrike" baseline="0" dirty="0">
                <a:solidFill>
                  <a:srgbClr val="000000"/>
                </a:solidFill>
                <a:cs typeface="+mn-ea"/>
                <a:sym typeface="+mn-lt"/>
              </a:rPr>
              <a:t>6.1</a:t>
            </a:r>
            <a:r>
              <a:rPr lang="zh-CN" altLang="en-US" b="0" i="0" u="none" strike="noStrike" baseline="0" dirty="0">
                <a:solidFill>
                  <a:srgbClr val="000000"/>
                </a:solidFill>
                <a:cs typeface="+mn-ea"/>
                <a:sym typeface="+mn-lt"/>
              </a:rPr>
              <a:t> 节中指出，青色、深红色和黄色是二次色，换句话说，它们是颜料的原色。例如，用白光照射涂有青色颜料的表面时，表面不会反射红光。也就是说，青色从反射的白光中减去红光，而白光本身是由等量的红光、绿光和蓝光组成的。</a:t>
            </a:r>
          </a:p>
          <a:p>
            <a:pPr marR="0" lvl="0" rtl="0"/>
            <a:r>
              <a:rPr lang="zh-CN" altLang="en-US" b="0" i="0" u="none" strike="noStrike" baseline="0" dirty="0">
                <a:solidFill>
                  <a:srgbClr val="000000"/>
                </a:solidFill>
                <a:cs typeface="+mn-ea"/>
                <a:sym typeface="+mn-lt"/>
              </a:rPr>
              <a:t>大多数在纸上淀积彩色颜料的设备，如彩色打印机和复印机，要求输入 </a:t>
            </a:r>
            <a:r>
              <a:rPr lang="en-US" altLang="zh-CN" b="0" i="0" u="none" strike="noStrike" baseline="0" dirty="0">
                <a:solidFill>
                  <a:srgbClr val="000000"/>
                </a:solidFill>
                <a:cs typeface="+mn-ea"/>
                <a:sym typeface="+mn-lt"/>
              </a:rPr>
              <a:t>CMY</a:t>
            </a:r>
            <a:r>
              <a:rPr lang="zh-CN" altLang="en-US" b="0" i="0" u="none" strike="noStrike" baseline="0" dirty="0">
                <a:solidFill>
                  <a:srgbClr val="000000"/>
                </a:solidFill>
                <a:cs typeface="+mn-ea"/>
                <a:sym typeface="+mn-lt"/>
              </a:rPr>
              <a:t> 数据，或在内部进行</a:t>
            </a:r>
            <a:r>
              <a:rPr lang="en-US" altLang="zh-CN" b="0" i="0" u="none" strike="noStrike" baseline="0" dirty="0">
                <a:solidFill>
                  <a:srgbClr val="000000"/>
                </a:solidFill>
                <a:cs typeface="+mn-ea"/>
                <a:sym typeface="+mn-lt"/>
              </a:rPr>
              <a:t>RGB</a:t>
            </a:r>
            <a:r>
              <a:rPr lang="zh-CN" altLang="en-US" b="0" i="0" u="none" strike="noStrike" baseline="0" dirty="0">
                <a:solidFill>
                  <a:srgbClr val="000000"/>
                </a:solidFill>
                <a:cs typeface="+mn-ea"/>
                <a:sym typeface="+mn-lt"/>
              </a:rPr>
              <a:t>至</a:t>
            </a:r>
            <a:r>
              <a:rPr lang="en-US" altLang="zh-CN" b="0" i="0" u="none" strike="noStrike" baseline="0" dirty="0">
                <a:solidFill>
                  <a:srgbClr val="000000"/>
                </a:solidFill>
                <a:cs typeface="+mn-ea"/>
                <a:sym typeface="+mn-lt"/>
              </a:rPr>
              <a:t>CMY</a:t>
            </a:r>
            <a:r>
              <a:rPr lang="zh-CN" altLang="en-US" b="0" i="0" u="none" strike="noStrike" baseline="0" dirty="0">
                <a:solidFill>
                  <a:srgbClr val="000000"/>
                </a:solidFill>
                <a:cs typeface="+mn-ea"/>
                <a:sym typeface="+mn-lt"/>
              </a:rPr>
              <a:t>的转换。这一转换用下面这个简单的运算执行：</a:t>
            </a:r>
          </a:p>
        </p:txBody>
      </p:sp>
      <p:pic>
        <p:nvPicPr>
          <p:cNvPr id="5" name="图片 4">
            <a:extLst>
              <a:ext uri="{FF2B5EF4-FFF2-40B4-BE49-F238E27FC236}">
                <a16:creationId xmlns:a16="http://schemas.microsoft.com/office/drawing/2014/main" id="{7E9F5F90-DC1C-D73E-136F-6B2245B4E251}"/>
              </a:ext>
            </a:extLst>
          </p:cNvPr>
          <p:cNvPicPr>
            <a:picLocks noChangeAspect="1"/>
          </p:cNvPicPr>
          <p:nvPr/>
        </p:nvPicPr>
        <p:blipFill rotWithShape="1">
          <a:blip r:embed="rId2"/>
          <a:srcRect t="3179" b="5051"/>
          <a:stretch/>
        </p:blipFill>
        <p:spPr>
          <a:xfrm>
            <a:off x="5078379" y="5043637"/>
            <a:ext cx="2035240" cy="1049154"/>
          </a:xfrm>
          <a:prstGeom prst="rect">
            <a:avLst/>
          </a:prstGeom>
        </p:spPr>
      </p:pic>
    </p:spTree>
    <p:extLst>
      <p:ext uri="{BB962C8B-B14F-4D97-AF65-F5344CB8AC3E}">
        <p14:creationId xmlns:p14="http://schemas.microsoft.com/office/powerpoint/2010/main" val="3094319498"/>
      </p:ext>
    </p:extLst>
  </p:cSld>
  <p:clrMapOvr>
    <a:masterClrMapping/>
  </p:clrMapOvr>
  <p:transition spd="slow" advTm="0">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BECF8A-E0F5-54E1-6DC9-CC458F7F61A3}"/>
              </a:ext>
            </a:extLst>
          </p:cNvPr>
          <p:cNvSpPr>
            <a:spLocks noGrp="1"/>
          </p:cNvSpPr>
          <p:nvPr>
            <p:ph type="title"/>
          </p:nvPr>
        </p:nvSpPr>
        <p:spPr/>
        <p:txBody>
          <a:bodyPr/>
          <a:lstStyle/>
          <a:p>
            <a:pPr marR="0" rtl="0"/>
            <a:r>
              <a:rPr lang="en-US" altLang="zh-CN" b="1" i="0" u="none" strike="noStrike" baseline="0">
                <a:solidFill>
                  <a:srgbClr val="0070C0"/>
                </a:solidFill>
                <a:latin typeface="+mn-lt"/>
                <a:ea typeface="+mn-ea"/>
                <a:cs typeface="+mn-ea"/>
                <a:sym typeface="+mn-lt"/>
              </a:rPr>
              <a:t>HSI</a:t>
            </a:r>
            <a:r>
              <a:rPr lang="zh-CN" altLang="en-US" b="1" i="0" u="none" strike="noStrike" baseline="0">
                <a:solidFill>
                  <a:srgbClr val="0070C0"/>
                </a:solidFill>
                <a:latin typeface="+mn-lt"/>
                <a:ea typeface="+mn-ea"/>
                <a:cs typeface="+mn-ea"/>
                <a:sym typeface="+mn-lt"/>
              </a:rPr>
              <a:t> 彩色模型</a:t>
            </a:r>
          </a:p>
        </p:txBody>
      </p:sp>
      <p:sp>
        <p:nvSpPr>
          <p:cNvPr id="3" name="文本占位符 2">
            <a:extLst>
              <a:ext uri="{FF2B5EF4-FFF2-40B4-BE49-F238E27FC236}">
                <a16:creationId xmlns:a16="http://schemas.microsoft.com/office/drawing/2014/main" id="{830A5FB2-1D41-A61C-C146-6D5B84BBF348}"/>
              </a:ext>
            </a:extLst>
          </p:cNvPr>
          <p:cNvSpPr>
            <a:spLocks noGrp="1"/>
          </p:cNvSpPr>
          <p:nvPr>
            <p:ph sz="quarter" idx="11"/>
          </p:nvPr>
        </p:nvSpPr>
        <p:spPr/>
        <p:txBody>
          <a:bodyPr>
            <a:noAutofit/>
          </a:bodyPr>
          <a:lstStyle/>
          <a:p>
            <a:pPr marL="0" marR="0" lvl="0" indent="0" rtl="0">
              <a:buNone/>
            </a:pPr>
            <a:r>
              <a:rPr lang="en-US" altLang="zh-CN" b="1" i="0" u="none" strike="noStrike" baseline="0" dirty="0">
                <a:solidFill>
                  <a:srgbClr val="000000"/>
                </a:solidFill>
                <a:cs typeface="+mn-ea"/>
                <a:sym typeface="+mn-lt"/>
              </a:rPr>
              <a:t>1.</a:t>
            </a:r>
            <a:r>
              <a:rPr lang="zh-CN" altLang="en-US" b="1" i="0" u="none" strike="noStrike" baseline="0" dirty="0">
                <a:solidFill>
                  <a:srgbClr val="000000"/>
                </a:solidFill>
                <a:cs typeface="+mn-ea"/>
                <a:sym typeface="+mn-lt"/>
              </a:rPr>
              <a:t> 从 </a:t>
            </a:r>
            <a:r>
              <a:rPr lang="en-US" altLang="zh-CN" b="1" i="0" u="none" strike="noStrike" baseline="0" dirty="0">
                <a:solidFill>
                  <a:srgbClr val="000000"/>
                </a:solidFill>
                <a:cs typeface="+mn-ea"/>
                <a:sym typeface="+mn-lt"/>
              </a:rPr>
              <a:t>RGB</a:t>
            </a:r>
            <a:r>
              <a:rPr lang="zh-CN" altLang="en-US" b="1" i="0" u="none" strike="noStrike" baseline="0" dirty="0">
                <a:solidFill>
                  <a:srgbClr val="000000"/>
                </a:solidFill>
                <a:cs typeface="+mn-ea"/>
                <a:sym typeface="+mn-lt"/>
              </a:rPr>
              <a:t>  到</a:t>
            </a:r>
            <a:r>
              <a:rPr lang="en-US" altLang="zh-CN" b="1" i="0" u="none" strike="noStrike" baseline="0" dirty="0">
                <a:solidFill>
                  <a:srgbClr val="000000"/>
                </a:solidFill>
                <a:cs typeface="+mn-ea"/>
                <a:sym typeface="+mn-lt"/>
              </a:rPr>
              <a:t>HSI</a:t>
            </a:r>
            <a:r>
              <a:rPr lang="zh-CN" altLang="en-US" b="1" i="0" u="none" strike="noStrike" baseline="0" dirty="0">
                <a:solidFill>
                  <a:srgbClr val="000000"/>
                </a:solidFill>
                <a:cs typeface="+mn-ea"/>
                <a:sym typeface="+mn-lt"/>
              </a:rPr>
              <a:t> 的彩色变换</a:t>
            </a:r>
          </a:p>
          <a:p>
            <a:pPr marL="0" marR="0" lvl="0" indent="0" rtl="0">
              <a:buNone/>
            </a:pPr>
            <a:r>
              <a:rPr lang="zh-CN" altLang="en-US" b="0" i="0" u="none" strike="noStrike" baseline="0" dirty="0">
                <a:solidFill>
                  <a:srgbClr val="000000"/>
                </a:solidFill>
                <a:cs typeface="+mn-ea"/>
                <a:sym typeface="+mn-lt"/>
              </a:rPr>
              <a:t>已知一幅</a:t>
            </a:r>
            <a:r>
              <a:rPr lang="en-US" altLang="zh-CN" b="0" i="0" u="none" strike="noStrike" baseline="0" dirty="0">
                <a:solidFill>
                  <a:srgbClr val="000000"/>
                </a:solidFill>
                <a:cs typeface="+mn-ea"/>
                <a:sym typeface="+mn-lt"/>
              </a:rPr>
              <a:t>RGB</a:t>
            </a:r>
            <a:r>
              <a:rPr lang="zh-CN" altLang="en-US" b="0" i="0" u="none" strike="noStrike" baseline="0" dirty="0">
                <a:solidFill>
                  <a:srgbClr val="000000"/>
                </a:solidFill>
                <a:cs typeface="+mn-ea"/>
                <a:sym typeface="+mn-lt"/>
              </a:rPr>
              <a:t>彩色格式的图像，每个</a:t>
            </a:r>
            <a:r>
              <a:rPr lang="en-US" altLang="zh-CN" b="0" i="0" u="none" strike="noStrike" baseline="0" dirty="0">
                <a:solidFill>
                  <a:srgbClr val="000000"/>
                </a:solidFill>
                <a:cs typeface="+mn-ea"/>
                <a:sym typeface="+mn-lt"/>
              </a:rPr>
              <a:t>RGB</a:t>
            </a:r>
            <a:r>
              <a:rPr lang="zh-CN" altLang="en-US" b="0" i="0" u="none" strike="noStrike" baseline="0" dirty="0">
                <a:solidFill>
                  <a:srgbClr val="000000"/>
                </a:solidFill>
                <a:cs typeface="+mn-ea"/>
                <a:sym typeface="+mn-lt"/>
              </a:rPr>
              <a:t>像素的</a:t>
            </a:r>
            <a:r>
              <a:rPr lang="en-US" altLang="zh-CN" b="0" i="0" u="none" strike="noStrike" baseline="0" dirty="0">
                <a:solidFill>
                  <a:srgbClr val="000000"/>
                </a:solidFill>
                <a:cs typeface="+mn-ea"/>
                <a:sym typeface="+mn-lt"/>
              </a:rPr>
              <a:t>H</a:t>
            </a:r>
            <a:r>
              <a:rPr lang="zh-CN" altLang="en-US" b="0" i="0" u="none" strike="noStrike" baseline="0" dirty="0">
                <a:solidFill>
                  <a:srgbClr val="000000"/>
                </a:solidFill>
                <a:cs typeface="+mn-ea"/>
                <a:sym typeface="+mn-lt"/>
              </a:rPr>
              <a:t>分量可用下式得到：</a:t>
            </a:r>
          </a:p>
          <a:p>
            <a:pPr marL="0" marR="0" lvl="0" indent="0" rtl="0">
              <a:buNone/>
            </a:pPr>
            <a:r>
              <a:rPr lang="en-US" altLang="zh-CN" b="1" i="0" u="none" strike="noStrike" baseline="0" dirty="0">
                <a:solidFill>
                  <a:srgbClr val="000000"/>
                </a:solidFill>
                <a:cs typeface="+mn-ea"/>
                <a:sym typeface="+mn-lt"/>
              </a:rPr>
              <a:t>2.</a:t>
            </a:r>
            <a:r>
              <a:rPr lang="zh-CN" altLang="en-US" b="1" i="0" u="none" strike="noStrike" baseline="0" dirty="0">
                <a:solidFill>
                  <a:srgbClr val="000000"/>
                </a:solidFill>
                <a:cs typeface="+mn-ea"/>
                <a:sym typeface="+mn-lt"/>
              </a:rPr>
              <a:t> 从 </a:t>
            </a:r>
            <a:r>
              <a:rPr lang="en-US" altLang="zh-CN" b="1" i="0" u="none" strike="noStrike" baseline="0" dirty="0">
                <a:solidFill>
                  <a:srgbClr val="000000"/>
                </a:solidFill>
                <a:cs typeface="+mn-ea"/>
                <a:sym typeface="+mn-lt"/>
              </a:rPr>
              <a:t>HSI</a:t>
            </a:r>
            <a:r>
              <a:rPr lang="zh-CN" altLang="en-US" b="1" i="0" u="none" strike="noStrike" baseline="0" dirty="0">
                <a:solidFill>
                  <a:srgbClr val="000000"/>
                </a:solidFill>
                <a:cs typeface="+mn-ea"/>
                <a:sym typeface="+mn-lt"/>
              </a:rPr>
              <a:t>到 </a:t>
            </a:r>
            <a:r>
              <a:rPr lang="en-US" altLang="zh-CN" b="1" i="0" u="none" strike="noStrike" baseline="0" dirty="0">
                <a:solidFill>
                  <a:srgbClr val="000000"/>
                </a:solidFill>
                <a:cs typeface="+mn-ea"/>
                <a:sym typeface="+mn-lt"/>
              </a:rPr>
              <a:t>RGB </a:t>
            </a:r>
            <a:r>
              <a:rPr lang="zh-CN" altLang="en-US" b="1" i="0" u="none" strike="noStrike" baseline="0" dirty="0">
                <a:solidFill>
                  <a:srgbClr val="000000"/>
                </a:solidFill>
                <a:cs typeface="+mn-ea"/>
                <a:sym typeface="+mn-lt"/>
              </a:rPr>
              <a:t>的彩色变换</a:t>
            </a:r>
          </a:p>
          <a:p>
            <a:pPr marL="0" marR="0" lvl="0" indent="0" rtl="0">
              <a:buNone/>
            </a:pPr>
            <a:r>
              <a:rPr lang="en-US" altLang="zh-CN" b="0" i="0" u="none" strike="noStrike" baseline="0" dirty="0">
                <a:solidFill>
                  <a:srgbClr val="000000"/>
                </a:solidFill>
                <a:cs typeface="+mn-ea"/>
                <a:sym typeface="+mn-lt"/>
              </a:rPr>
              <a:t>RG</a:t>
            </a:r>
            <a:r>
              <a:rPr lang="zh-CN" altLang="en-US" b="0" i="0" u="none" strike="noStrike" baseline="0" dirty="0">
                <a:solidFill>
                  <a:srgbClr val="000000"/>
                </a:solidFill>
                <a:cs typeface="+mn-ea"/>
                <a:sym typeface="+mn-lt"/>
              </a:rPr>
              <a:t> 扇区</a:t>
            </a:r>
            <a:r>
              <a:rPr lang="en-US" altLang="zh-CN" b="0" i="0" u="none" strike="noStrike" baseline="0" dirty="0">
                <a:solidFill>
                  <a:srgbClr val="000000"/>
                </a:solidFill>
                <a:cs typeface="+mn-ea"/>
                <a:sym typeface="+mn-lt"/>
              </a:rPr>
              <a:t>(0°</a:t>
            </a:r>
            <a:r>
              <a:rPr lang="zh-CN" altLang="en-US" b="0" i="0" u="none" strike="noStrike" baseline="0" dirty="0">
                <a:solidFill>
                  <a:srgbClr val="000000"/>
                </a:solidFill>
                <a:cs typeface="+mn-ea"/>
                <a:sym typeface="+mn-lt"/>
              </a:rPr>
              <a:t>≤</a:t>
            </a:r>
            <a:r>
              <a:rPr lang="en-US" altLang="zh-CN" b="0" i="0" u="none" strike="noStrike" baseline="0" dirty="0">
                <a:solidFill>
                  <a:srgbClr val="000000"/>
                </a:solidFill>
                <a:cs typeface="+mn-ea"/>
                <a:sym typeface="+mn-lt"/>
              </a:rPr>
              <a:t>H&lt;120°):</a:t>
            </a:r>
            <a:r>
              <a:rPr lang="zh-CN" altLang="en-US" b="0" i="0" u="none" strike="noStrike" baseline="0" dirty="0">
                <a:solidFill>
                  <a:srgbClr val="000000"/>
                </a:solidFill>
                <a:cs typeface="+mn-ea"/>
                <a:sym typeface="+mn-lt"/>
              </a:rPr>
              <a:t> 当</a:t>
            </a:r>
            <a:r>
              <a:rPr lang="en-US" altLang="zh-CN" b="0" i="0" u="none" strike="noStrike" baseline="0" dirty="0">
                <a:solidFill>
                  <a:srgbClr val="000000"/>
                </a:solidFill>
                <a:cs typeface="+mn-ea"/>
                <a:sym typeface="+mn-lt"/>
              </a:rPr>
              <a:t>H</a:t>
            </a:r>
            <a:r>
              <a:rPr lang="zh-CN" altLang="en-US" b="0" i="0" u="none" strike="noStrike" baseline="0" dirty="0">
                <a:solidFill>
                  <a:srgbClr val="000000"/>
                </a:solidFill>
                <a:cs typeface="+mn-ea"/>
                <a:sym typeface="+mn-lt"/>
              </a:rPr>
              <a:t> 的值在这个扇区中时，</a:t>
            </a:r>
            <a:r>
              <a:rPr lang="en-US" altLang="zh-CN" b="0" i="0" u="none" strike="noStrike" baseline="0" dirty="0">
                <a:solidFill>
                  <a:srgbClr val="000000"/>
                </a:solidFill>
                <a:cs typeface="+mn-ea"/>
                <a:sym typeface="+mn-lt"/>
              </a:rPr>
              <a:t>RGB</a:t>
            </a:r>
            <a:r>
              <a:rPr lang="zh-CN" altLang="en-US" b="0" i="0" u="none" strike="noStrike" baseline="0" dirty="0">
                <a:solidFill>
                  <a:srgbClr val="000000"/>
                </a:solidFill>
                <a:cs typeface="+mn-ea"/>
                <a:sym typeface="+mn-lt"/>
              </a:rPr>
              <a:t>分量由以下公式给出： </a:t>
            </a:r>
            <a:r>
              <a:rPr lang="en-US" altLang="zh-CN" b="0" i="0" u="none" strike="noStrike" baseline="0" dirty="0">
                <a:solidFill>
                  <a:srgbClr val="000000"/>
                </a:solidFill>
                <a:cs typeface="+mn-ea"/>
                <a:sym typeface="+mn-lt"/>
              </a:rPr>
              <a:t>B=I(1-S)</a:t>
            </a:r>
          </a:p>
        </p:txBody>
      </p:sp>
      <p:pic>
        <p:nvPicPr>
          <p:cNvPr id="5" name="图片 4">
            <a:extLst>
              <a:ext uri="{FF2B5EF4-FFF2-40B4-BE49-F238E27FC236}">
                <a16:creationId xmlns:a16="http://schemas.microsoft.com/office/drawing/2014/main" id="{EA938AEF-C8FF-6392-9820-87367D863EC2}"/>
              </a:ext>
            </a:extLst>
          </p:cNvPr>
          <p:cNvPicPr>
            <a:picLocks noChangeAspect="1"/>
          </p:cNvPicPr>
          <p:nvPr/>
        </p:nvPicPr>
        <p:blipFill>
          <a:blip r:embed="rId2"/>
          <a:stretch>
            <a:fillRect/>
          </a:stretch>
        </p:blipFill>
        <p:spPr>
          <a:xfrm>
            <a:off x="8754979" y="3042886"/>
            <a:ext cx="2286000" cy="581025"/>
          </a:xfrm>
          <a:prstGeom prst="rect">
            <a:avLst/>
          </a:prstGeom>
        </p:spPr>
      </p:pic>
      <p:pic>
        <p:nvPicPr>
          <p:cNvPr id="7" name="图片 6">
            <a:extLst>
              <a:ext uri="{FF2B5EF4-FFF2-40B4-BE49-F238E27FC236}">
                <a16:creationId xmlns:a16="http://schemas.microsoft.com/office/drawing/2014/main" id="{B86A4806-402F-91BC-17D7-D8D33A1E9CFD}"/>
              </a:ext>
            </a:extLst>
          </p:cNvPr>
          <p:cNvPicPr>
            <a:picLocks noChangeAspect="1"/>
          </p:cNvPicPr>
          <p:nvPr/>
        </p:nvPicPr>
        <p:blipFill>
          <a:blip r:embed="rId3"/>
          <a:stretch>
            <a:fillRect/>
          </a:stretch>
        </p:blipFill>
        <p:spPr>
          <a:xfrm>
            <a:off x="5024437" y="4887887"/>
            <a:ext cx="2143125" cy="828675"/>
          </a:xfrm>
          <a:prstGeom prst="rect">
            <a:avLst/>
          </a:prstGeom>
        </p:spPr>
      </p:pic>
      <p:sp>
        <p:nvSpPr>
          <p:cNvPr id="8" name="矩形 7">
            <a:extLst>
              <a:ext uri="{FF2B5EF4-FFF2-40B4-BE49-F238E27FC236}">
                <a16:creationId xmlns:a16="http://schemas.microsoft.com/office/drawing/2014/main" id="{7E946A3E-3659-B704-390A-8C40D8AC2345}"/>
              </a:ext>
            </a:extLst>
          </p:cNvPr>
          <p:cNvSpPr/>
          <p:nvPr/>
        </p:nvSpPr>
        <p:spPr>
          <a:xfrm>
            <a:off x="801092" y="2446417"/>
            <a:ext cx="10589815" cy="3540426"/>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1001009460"/>
      </p:ext>
    </p:extLst>
  </p:cSld>
  <p:clrMapOvr>
    <a:masterClrMapping/>
  </p:clrMapOvr>
  <p:transition spd="slow" advTm="0">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BECF8A-E0F5-54E1-6DC9-CC458F7F61A3}"/>
              </a:ext>
            </a:extLst>
          </p:cNvPr>
          <p:cNvSpPr>
            <a:spLocks noGrp="1"/>
          </p:cNvSpPr>
          <p:nvPr>
            <p:ph type="title"/>
          </p:nvPr>
        </p:nvSpPr>
        <p:spPr/>
        <p:txBody>
          <a:bodyPr/>
          <a:lstStyle/>
          <a:p>
            <a:pPr marR="0" rtl="0"/>
            <a:r>
              <a:rPr lang="en-US" altLang="zh-CN" b="1" i="0" u="none" strike="noStrike" baseline="0">
                <a:solidFill>
                  <a:srgbClr val="0070C0"/>
                </a:solidFill>
                <a:latin typeface="+mn-lt"/>
                <a:ea typeface="+mn-ea"/>
                <a:cs typeface="+mn-ea"/>
                <a:sym typeface="+mn-lt"/>
              </a:rPr>
              <a:t>HSI</a:t>
            </a:r>
            <a:r>
              <a:rPr lang="zh-CN" altLang="en-US" b="1" i="0" u="none" strike="noStrike" baseline="0">
                <a:solidFill>
                  <a:srgbClr val="0070C0"/>
                </a:solidFill>
                <a:latin typeface="+mn-lt"/>
                <a:ea typeface="+mn-ea"/>
                <a:cs typeface="+mn-ea"/>
                <a:sym typeface="+mn-lt"/>
              </a:rPr>
              <a:t> 彩色模型</a:t>
            </a:r>
          </a:p>
        </p:txBody>
      </p:sp>
      <p:sp>
        <p:nvSpPr>
          <p:cNvPr id="3" name="文本占位符 2">
            <a:extLst>
              <a:ext uri="{FF2B5EF4-FFF2-40B4-BE49-F238E27FC236}">
                <a16:creationId xmlns:a16="http://schemas.microsoft.com/office/drawing/2014/main" id="{830A5FB2-1D41-A61C-C146-6D5B84BBF348}"/>
              </a:ext>
            </a:extLst>
          </p:cNvPr>
          <p:cNvSpPr>
            <a:spLocks noGrp="1"/>
          </p:cNvSpPr>
          <p:nvPr>
            <p:ph sz="quarter" idx="12"/>
          </p:nvPr>
        </p:nvSpPr>
        <p:spPr>
          <a:xfrm>
            <a:off x="1024732" y="2516808"/>
            <a:ext cx="6386721" cy="3230517"/>
          </a:xfrm>
        </p:spPr>
        <p:txBody>
          <a:bodyPr>
            <a:noAutofit/>
          </a:bodyPr>
          <a:lstStyle/>
          <a:p>
            <a:pPr marL="0" marR="0" lvl="0" indent="0" rtl="0">
              <a:buNone/>
            </a:pPr>
            <a:r>
              <a:rPr lang="en-US" altLang="zh-CN" b="1" i="0" u="none" strike="noStrike" baseline="0" dirty="0">
                <a:solidFill>
                  <a:srgbClr val="000000"/>
                </a:solidFill>
                <a:cs typeface="+mn-ea"/>
                <a:sym typeface="+mn-lt"/>
              </a:rPr>
              <a:t>3.</a:t>
            </a:r>
            <a:r>
              <a:rPr lang="zh-CN" altLang="en-US" b="1" i="0" u="none" strike="noStrike" baseline="0" dirty="0">
                <a:solidFill>
                  <a:srgbClr val="000000"/>
                </a:solidFill>
                <a:cs typeface="+mn-ea"/>
                <a:sym typeface="+mn-lt"/>
              </a:rPr>
              <a:t> 操作</a:t>
            </a:r>
            <a:r>
              <a:rPr lang="en-US" altLang="zh-CN" b="1" i="0" u="none" strike="noStrike" baseline="0" dirty="0">
                <a:solidFill>
                  <a:srgbClr val="000000"/>
                </a:solidFill>
                <a:cs typeface="+mn-ea"/>
                <a:sym typeface="+mn-lt"/>
              </a:rPr>
              <a:t>HSI</a:t>
            </a:r>
            <a:r>
              <a:rPr lang="zh-CN" altLang="en-US" b="1" i="0" u="none" strike="noStrike" baseline="0" dirty="0">
                <a:solidFill>
                  <a:srgbClr val="000000"/>
                </a:solidFill>
                <a:cs typeface="+mn-ea"/>
                <a:sym typeface="+mn-lt"/>
              </a:rPr>
              <a:t> 分量图像</a:t>
            </a:r>
          </a:p>
          <a:p>
            <a:pPr marL="0" marR="0" lvl="0" indent="0" rtl="0">
              <a:buNone/>
            </a:pPr>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6.14(a)</a:t>
            </a:r>
            <a:r>
              <a:rPr lang="zh-CN" altLang="en-US" b="0" i="0" u="none" strike="noStrike" baseline="0" dirty="0">
                <a:solidFill>
                  <a:srgbClr val="000000"/>
                </a:solidFill>
                <a:cs typeface="+mn-ea"/>
                <a:sym typeface="+mn-lt"/>
              </a:rPr>
              <a:t>显示了一幅由 </a:t>
            </a:r>
            <a:r>
              <a:rPr lang="en-US" altLang="zh-CN" b="0" i="0" u="none" strike="noStrike" baseline="0" dirty="0">
                <a:solidFill>
                  <a:srgbClr val="000000"/>
                </a:solidFill>
                <a:cs typeface="+mn-ea"/>
                <a:sym typeface="+mn-lt"/>
              </a:rPr>
              <a:t>RGB</a:t>
            </a:r>
            <a:r>
              <a:rPr lang="zh-CN" altLang="en-US" b="0" i="0" u="none" strike="noStrike" baseline="0" dirty="0">
                <a:solidFill>
                  <a:srgbClr val="000000"/>
                </a:solidFill>
                <a:cs typeface="+mn-ea"/>
                <a:sym typeface="+mn-lt"/>
              </a:rPr>
              <a:t> 原色和二次色组成的图像。图</a:t>
            </a:r>
            <a:r>
              <a:rPr lang="en-US" altLang="zh-CN" b="0" i="0" u="none" strike="noStrike" baseline="0" dirty="0">
                <a:solidFill>
                  <a:srgbClr val="000000"/>
                </a:solidFill>
                <a:cs typeface="+mn-ea"/>
                <a:sym typeface="+mn-lt"/>
              </a:rPr>
              <a:t>6.14(b)</a:t>
            </a:r>
            <a:r>
              <a:rPr lang="zh-CN" altLang="en-US" b="0" i="0" u="none" strike="noStrike" baseline="0" dirty="0">
                <a:solidFill>
                  <a:srgbClr val="000000"/>
                </a:solidFill>
                <a:cs typeface="+mn-ea"/>
                <a:sym typeface="+mn-lt"/>
              </a:rPr>
              <a:t>到图</a:t>
            </a:r>
            <a:r>
              <a:rPr lang="en-US" altLang="zh-CN" b="0" i="0" u="none" strike="noStrike" baseline="0" dirty="0">
                <a:solidFill>
                  <a:srgbClr val="000000"/>
                </a:solidFill>
                <a:cs typeface="+mn-ea"/>
                <a:sym typeface="+mn-lt"/>
              </a:rPr>
              <a:t>6.14(d)</a:t>
            </a:r>
            <a:r>
              <a:rPr lang="zh-CN" altLang="en-US" b="0" i="0" u="none" strike="noStrike" baseline="0" dirty="0">
                <a:solidFill>
                  <a:srgbClr val="000000"/>
                </a:solidFill>
                <a:cs typeface="+mn-ea"/>
                <a:sym typeface="+mn-lt"/>
              </a:rPr>
              <a:t>显示了这幅图像的</a:t>
            </a:r>
            <a:r>
              <a:rPr lang="en-US" altLang="zh-CN" b="0" i="0" u="none" strike="noStrike" baseline="0" dirty="0">
                <a:solidFill>
                  <a:srgbClr val="000000"/>
                </a:solidFill>
                <a:cs typeface="+mn-ea"/>
                <a:sym typeface="+mn-lt"/>
              </a:rPr>
              <a:t>H</a:t>
            </a:r>
            <a:r>
              <a:rPr lang="zh-CN" altLang="en-US" b="0" i="0" u="none" strike="noStrike" baseline="0" dirty="0">
                <a:solidFill>
                  <a:srgbClr val="000000"/>
                </a:solidFill>
                <a:cs typeface="+mn-ea"/>
                <a:sym typeface="+mn-lt"/>
              </a:rPr>
              <a:t>、</a:t>
            </a:r>
            <a:r>
              <a:rPr lang="en-US" altLang="zh-CN" b="0" i="0" u="none" strike="noStrike" baseline="0" dirty="0">
                <a:solidFill>
                  <a:srgbClr val="000000"/>
                </a:solidFill>
                <a:cs typeface="+mn-ea"/>
                <a:sym typeface="+mn-lt"/>
              </a:rPr>
              <a:t>S</a:t>
            </a:r>
            <a:r>
              <a:rPr lang="zh-CN" altLang="en-US" b="0" i="0" u="none" strike="noStrike" baseline="0" dirty="0">
                <a:solidFill>
                  <a:srgbClr val="000000"/>
                </a:solidFill>
                <a:cs typeface="+mn-ea"/>
                <a:sym typeface="+mn-lt"/>
              </a:rPr>
              <a:t> 和</a:t>
            </a:r>
            <a:r>
              <a:rPr lang="en-US" altLang="zh-CN" b="0" i="0" u="none" strike="noStrike" baseline="0" dirty="0">
                <a:solidFill>
                  <a:srgbClr val="000000"/>
                </a:solidFill>
                <a:cs typeface="+mn-ea"/>
                <a:sym typeface="+mn-lt"/>
              </a:rPr>
              <a:t>I</a:t>
            </a:r>
            <a:r>
              <a:rPr lang="zh-CN" altLang="en-US" b="0" i="0" u="none" strike="noStrike" baseline="0" dirty="0">
                <a:solidFill>
                  <a:srgbClr val="000000"/>
                </a:solidFill>
                <a:cs typeface="+mn-ea"/>
                <a:sym typeface="+mn-lt"/>
              </a:rPr>
              <a:t> 分量图像，它们是用式</a:t>
            </a:r>
            <a:r>
              <a:rPr lang="en-US" altLang="zh-CN" b="0" i="0" u="none" strike="noStrike" baseline="0" dirty="0">
                <a:solidFill>
                  <a:srgbClr val="000000"/>
                </a:solidFill>
                <a:cs typeface="+mn-ea"/>
                <a:sym typeface="+mn-lt"/>
              </a:rPr>
              <a:t>(6.16)</a:t>
            </a:r>
            <a:r>
              <a:rPr lang="zh-CN" altLang="en-US" b="0" i="0" u="none" strike="noStrike" baseline="0" dirty="0">
                <a:solidFill>
                  <a:srgbClr val="000000"/>
                </a:solidFill>
                <a:cs typeface="+mn-ea"/>
                <a:sym typeface="+mn-lt"/>
              </a:rPr>
              <a:t>到式</a:t>
            </a:r>
            <a:r>
              <a:rPr lang="en-US" altLang="zh-CN" b="0" i="0" u="none" strike="noStrike" baseline="0" dirty="0">
                <a:solidFill>
                  <a:srgbClr val="000000"/>
                </a:solidFill>
                <a:cs typeface="+mn-ea"/>
                <a:sym typeface="+mn-lt"/>
              </a:rPr>
              <a:t>(6.19)</a:t>
            </a:r>
            <a:r>
              <a:rPr lang="zh-CN" altLang="en-US" b="0" i="0" u="none" strike="noStrike" baseline="0" dirty="0">
                <a:solidFill>
                  <a:srgbClr val="000000"/>
                </a:solidFill>
                <a:cs typeface="+mn-ea"/>
                <a:sym typeface="+mn-lt"/>
              </a:rPr>
              <a:t>产生的。类似地，图</a:t>
            </a:r>
            <a:r>
              <a:rPr lang="en-US" altLang="zh-CN" b="0" i="0" u="none" strike="noStrike" baseline="0" dirty="0">
                <a:solidFill>
                  <a:srgbClr val="000000"/>
                </a:solidFill>
                <a:cs typeface="+mn-ea"/>
                <a:sym typeface="+mn-lt"/>
              </a:rPr>
              <a:t>6.14(c)</a:t>
            </a:r>
            <a:r>
              <a:rPr lang="zh-CN" altLang="en-US" b="0" i="0" u="none" strike="noStrike" baseline="0" dirty="0">
                <a:solidFill>
                  <a:srgbClr val="000000"/>
                </a:solidFill>
                <a:cs typeface="+mn-ea"/>
                <a:sym typeface="+mn-lt"/>
              </a:rPr>
              <a:t>中的灰度级对应于饱和度</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为便于显示，它们已标定到区间</a:t>
            </a:r>
            <a:r>
              <a:rPr lang="en-US" altLang="zh-CN" b="0" i="0" u="none" strike="noStrike" baseline="0" dirty="0">
                <a:solidFill>
                  <a:srgbClr val="000000"/>
                </a:solidFill>
                <a:cs typeface="+mn-ea"/>
                <a:sym typeface="+mn-lt"/>
              </a:rPr>
              <a:t>[0,255]),</a:t>
            </a:r>
            <a:r>
              <a:rPr lang="zh-CN" altLang="en-US" b="0" i="0" u="none" strike="noStrike" baseline="0" dirty="0">
                <a:solidFill>
                  <a:srgbClr val="000000"/>
                </a:solidFill>
                <a:cs typeface="+mn-ea"/>
                <a:sym typeface="+mn-lt"/>
              </a:rPr>
              <a:t>图 </a:t>
            </a:r>
            <a:r>
              <a:rPr lang="en-US" altLang="zh-CN" b="0" i="0" u="none" strike="noStrike" baseline="0" dirty="0">
                <a:solidFill>
                  <a:srgbClr val="000000"/>
                </a:solidFill>
                <a:cs typeface="+mn-ea"/>
                <a:sym typeface="+mn-lt"/>
              </a:rPr>
              <a:t>6.14(d)</a:t>
            </a:r>
            <a:r>
              <a:rPr lang="zh-CN" altLang="en-US" b="0" i="0" u="none" strike="noStrike" baseline="0" dirty="0">
                <a:solidFill>
                  <a:srgbClr val="000000"/>
                </a:solidFill>
                <a:cs typeface="+mn-ea"/>
                <a:sym typeface="+mn-lt"/>
              </a:rPr>
              <a:t>中的灰度级是平均灰度。</a:t>
            </a:r>
          </a:p>
        </p:txBody>
      </p:sp>
      <p:pic>
        <p:nvPicPr>
          <p:cNvPr id="6" name="图片 5">
            <a:extLst>
              <a:ext uri="{FF2B5EF4-FFF2-40B4-BE49-F238E27FC236}">
                <a16:creationId xmlns:a16="http://schemas.microsoft.com/office/drawing/2014/main" id="{587F11E4-FEFE-2541-9E2D-AC1E0580B095}"/>
              </a:ext>
            </a:extLst>
          </p:cNvPr>
          <p:cNvPicPr>
            <a:picLocks noChangeAspect="1"/>
          </p:cNvPicPr>
          <p:nvPr/>
        </p:nvPicPr>
        <p:blipFill>
          <a:blip r:embed="rId2"/>
          <a:stretch>
            <a:fillRect/>
          </a:stretch>
        </p:blipFill>
        <p:spPr>
          <a:xfrm>
            <a:off x="7271237" y="2516808"/>
            <a:ext cx="4076948" cy="3380530"/>
          </a:xfrm>
          <a:prstGeom prst="rect">
            <a:avLst/>
          </a:prstGeom>
        </p:spPr>
      </p:pic>
    </p:spTree>
    <p:extLst>
      <p:ext uri="{BB962C8B-B14F-4D97-AF65-F5344CB8AC3E}">
        <p14:creationId xmlns:p14="http://schemas.microsoft.com/office/powerpoint/2010/main" val="4259645017"/>
      </p:ext>
    </p:extLst>
  </p:cSld>
  <p:clrMapOvr>
    <a:masterClrMapping/>
  </p:clrMapOvr>
  <p:transition spd="slow" advTm="0">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84F487-39B6-E1DF-362A-85BA1F3F151E}"/>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设备无关彩色模型</a:t>
            </a:r>
          </a:p>
        </p:txBody>
      </p:sp>
      <p:sp>
        <p:nvSpPr>
          <p:cNvPr id="3" name="文本占位符 2">
            <a:extLst>
              <a:ext uri="{FF2B5EF4-FFF2-40B4-BE49-F238E27FC236}">
                <a16:creationId xmlns:a16="http://schemas.microsoft.com/office/drawing/2014/main" id="{BDA88A4E-EA68-511B-ABD1-577DDA3EC480}"/>
              </a:ext>
            </a:extLst>
          </p:cNvPr>
          <p:cNvSpPr>
            <a:spLocks noGrp="1"/>
          </p:cNvSpPr>
          <p:nvPr>
            <p:ph sz="quarter" idx="11"/>
          </p:nvPr>
        </p:nvSpPr>
        <p:spPr>
          <a:xfrm>
            <a:off x="801094" y="2432500"/>
            <a:ext cx="10589814" cy="3540427"/>
          </a:xfrm>
        </p:spPr>
        <p:txBody>
          <a:bodyPr>
            <a:normAutofit/>
          </a:bodyPr>
          <a:lstStyle/>
          <a:p>
            <a:pPr marR="0" lvl="0" rtl="0"/>
            <a:r>
              <a:rPr lang="zh-CN" altLang="en-US" b="0" i="0" u="none" strike="noStrike" baseline="0" dirty="0">
                <a:solidFill>
                  <a:srgbClr val="000000"/>
                </a:solidFill>
                <a:cs typeface="+mn-ea"/>
                <a:sym typeface="+mn-lt"/>
              </a:rPr>
              <a:t>彩色变换可以在大多数桌面计算机上执行。结合使用数字摄像机、台式扫描仪和喷墨打印机，就可把个人计算机变成数字暗室。此外，商业设备使用光谱仪测量和软件开发颜色配置文件后，能够将颜色配置文件加载到显示器和打印机中，以校准它们的颜色响应。</a:t>
            </a:r>
          </a:p>
          <a:p>
            <a:pPr marR="0" lvl="0" rtl="0"/>
            <a:r>
              <a:rPr lang="zh-CN" altLang="en-US" b="0" i="0" u="none" strike="noStrike" baseline="0" dirty="0">
                <a:solidFill>
                  <a:srgbClr val="000000"/>
                </a:solidFill>
                <a:cs typeface="+mn-ea"/>
                <a:sym typeface="+mn-lt"/>
              </a:rPr>
              <a:t>本节介绍的变换的效果最终由打印结果来判断。由于这些变换是在显示器上开发、改进和评估的，因此有必要在所用显示器和输出设备之间保持高度的颜色一致性。最好使用一个设备无关的彩色模型来实现，这个模型要将显示器、输出设备</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见</a:t>
            </a:r>
            <a:r>
              <a:rPr lang="en-US" altLang="zh-CN" b="0" i="0" u="none" strike="noStrike" baseline="0" dirty="0">
                <a:solidFill>
                  <a:srgbClr val="000000"/>
                </a:solidFill>
                <a:cs typeface="+mn-ea"/>
                <a:sym typeface="+mn-lt"/>
              </a:rPr>
              <a:t>6.1</a:t>
            </a:r>
            <a:r>
              <a:rPr lang="zh-CN" altLang="en-US" b="0" i="0" u="none" strike="noStrike" baseline="0" dirty="0">
                <a:solidFill>
                  <a:srgbClr val="000000"/>
                </a:solidFill>
                <a:cs typeface="+mn-ea"/>
                <a:sym typeface="+mn-lt"/>
              </a:rPr>
              <a:t> 节</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及正在使用的其他设备的彩色域关联起来。</a:t>
            </a:r>
          </a:p>
        </p:txBody>
      </p:sp>
      <p:sp>
        <p:nvSpPr>
          <p:cNvPr id="4" name="矩形 3">
            <a:extLst>
              <a:ext uri="{FF2B5EF4-FFF2-40B4-BE49-F238E27FC236}">
                <a16:creationId xmlns:a16="http://schemas.microsoft.com/office/drawing/2014/main" id="{4D6185C5-2383-FBC9-782E-F4599EA72610}"/>
              </a:ext>
            </a:extLst>
          </p:cNvPr>
          <p:cNvSpPr/>
          <p:nvPr/>
        </p:nvSpPr>
        <p:spPr>
          <a:xfrm>
            <a:off x="801092" y="2446417"/>
            <a:ext cx="10589815" cy="3540426"/>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3600118120"/>
      </p:ext>
    </p:extLst>
  </p:cSld>
  <p:clrMapOvr>
    <a:masterClrMapping/>
  </p:clrMapOvr>
  <p:transition spd="slow" advTm="0">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724545" y="2221637"/>
            <a:ext cx="5731905" cy="2414726"/>
            <a:chOff x="5943478" y="2292214"/>
            <a:chExt cx="5731905"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03</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5943478" y="3937499"/>
              <a:ext cx="5731905"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假彩色图像处理</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2751329383"/>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5B3493-6266-B12A-149B-9A18341F2CB4}"/>
              </a:ext>
            </a:extLst>
          </p:cNvPr>
          <p:cNvSpPr>
            <a:spLocks noGrp="1"/>
          </p:cNvSpPr>
          <p:nvPr>
            <p:ph type="title"/>
          </p:nvPr>
        </p:nvSpPr>
        <p:spPr/>
        <p:txBody>
          <a:bodyPr/>
          <a:lstStyle/>
          <a:p>
            <a:pPr marR="0" rtl="0"/>
            <a:r>
              <a:rPr lang="zh-CN" altLang="en-US" b="1" i="0" u="none" strike="noStrike" baseline="0" dirty="0">
                <a:solidFill>
                  <a:srgbClr val="0070C0"/>
                </a:solidFill>
                <a:latin typeface="+mn-lt"/>
                <a:ea typeface="+mn-ea"/>
                <a:cs typeface="+mn-ea"/>
                <a:sym typeface="+mn-lt"/>
              </a:rPr>
              <a:t>灰度分层和彩色编码</a:t>
            </a:r>
          </a:p>
        </p:txBody>
      </p:sp>
      <p:sp>
        <p:nvSpPr>
          <p:cNvPr id="3" name="文本占位符 2">
            <a:extLst>
              <a:ext uri="{FF2B5EF4-FFF2-40B4-BE49-F238E27FC236}">
                <a16:creationId xmlns:a16="http://schemas.microsoft.com/office/drawing/2014/main" id="{DDE1BC3C-8038-870E-B7C8-5FAD0C5CFA95}"/>
              </a:ext>
            </a:extLst>
          </p:cNvPr>
          <p:cNvSpPr>
            <a:spLocks noGrp="1"/>
          </p:cNvSpPr>
          <p:nvPr>
            <p:ph sz="quarter" idx="11"/>
          </p:nvPr>
        </p:nvSpPr>
        <p:spPr>
          <a:xfrm>
            <a:off x="801094" y="2432500"/>
            <a:ext cx="6437104" cy="3540427"/>
          </a:xfrm>
        </p:spPr>
        <p:txBody>
          <a:bodyPr/>
          <a:lstStyle/>
          <a:p>
            <a:pPr marL="0" marR="0" lvl="0" indent="0" rtl="0">
              <a:buNone/>
            </a:pPr>
            <a:r>
              <a:rPr lang="zh-CN" altLang="en-US" b="0" i="0" u="none" strike="noStrike" baseline="0" dirty="0">
                <a:solidFill>
                  <a:srgbClr val="000000"/>
                </a:solidFill>
                <a:cs typeface="+mn-ea"/>
                <a:sym typeface="+mn-lt"/>
              </a:rPr>
              <a:t>灰度分层</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有时也称密度分层</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和彩色编码技术是假彩色数字图像处理最简单、最早期的例子。 一幅图像被描述为一个三维函数</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见图</a:t>
            </a:r>
            <a:r>
              <a:rPr lang="en-US" altLang="zh-CN" b="0" i="0" u="none" strike="noStrike" baseline="0" dirty="0">
                <a:solidFill>
                  <a:srgbClr val="000000"/>
                </a:solidFill>
                <a:cs typeface="+mn-ea"/>
                <a:sym typeface="+mn-lt"/>
              </a:rPr>
              <a:t>2.18(a)]</a:t>
            </a:r>
            <a:r>
              <a:rPr lang="zh-CN" altLang="en-US" b="0" i="0" u="none" strike="noStrike" baseline="0" dirty="0">
                <a:solidFill>
                  <a:srgbClr val="000000"/>
                </a:solidFill>
                <a:cs typeface="+mn-ea"/>
                <a:sym typeface="+mn-lt"/>
              </a:rPr>
              <a:t>时，分层方法是指首先平行于图像坐标平面放置一些 平面，然后让每个平面“切割”相交的区域。图</a:t>
            </a:r>
            <a:r>
              <a:rPr lang="en-US" altLang="zh-CN" b="0" i="0" u="none" strike="noStrike" baseline="0" dirty="0">
                <a:solidFill>
                  <a:srgbClr val="000000"/>
                </a:solidFill>
                <a:cs typeface="+mn-ea"/>
                <a:sym typeface="+mn-lt"/>
              </a:rPr>
              <a:t>6.16</a:t>
            </a:r>
            <a:r>
              <a:rPr lang="zh-CN" altLang="en-US" b="0" i="0" u="none" strike="noStrike" baseline="0" dirty="0">
                <a:solidFill>
                  <a:srgbClr val="000000"/>
                </a:solidFill>
                <a:cs typeface="+mn-ea"/>
                <a:sym typeface="+mn-lt"/>
              </a:rPr>
              <a:t>显示了用</a:t>
            </a:r>
            <a:r>
              <a:rPr lang="en-US" altLang="zh-CN" b="0" i="0" u="none" strike="noStrike" baseline="0" dirty="0">
                <a:solidFill>
                  <a:srgbClr val="000000"/>
                </a:solidFill>
                <a:cs typeface="+mn-ea"/>
                <a:sym typeface="+mn-lt"/>
              </a:rPr>
              <a:t>f(</a:t>
            </a:r>
            <a:r>
              <a:rPr lang="en-US" altLang="zh-CN" b="0" i="0" u="none" strike="noStrike" baseline="0" dirty="0" err="1">
                <a:solidFill>
                  <a:srgbClr val="000000"/>
                </a:solidFill>
                <a:cs typeface="+mn-ea"/>
                <a:sym typeface="+mn-lt"/>
              </a:rPr>
              <a:t>x,y</a:t>
            </a:r>
            <a:r>
              <a:rPr lang="en-US" altLang="zh-CN" b="0" i="0" u="none" strike="noStrike" baseline="0" dirty="0">
                <a:solidFill>
                  <a:srgbClr val="000000"/>
                </a:solidFill>
                <a:cs typeface="+mn-ea"/>
                <a:sym typeface="+mn-lt"/>
              </a:rPr>
              <a:t>)=1,</a:t>
            </a:r>
            <a:r>
              <a:rPr lang="zh-CN" altLang="en-US" b="0" i="0" u="none" strike="noStrike" baseline="0" dirty="0">
                <a:solidFill>
                  <a:srgbClr val="000000"/>
                </a:solidFill>
                <a:cs typeface="+mn-ea"/>
                <a:sym typeface="+mn-lt"/>
              </a:rPr>
              <a:t>处的一个平面将图像灰度函数切割为两部分的例子。</a:t>
            </a:r>
          </a:p>
        </p:txBody>
      </p:sp>
      <p:pic>
        <p:nvPicPr>
          <p:cNvPr id="5" name="图片 4">
            <a:extLst>
              <a:ext uri="{FF2B5EF4-FFF2-40B4-BE49-F238E27FC236}">
                <a16:creationId xmlns:a16="http://schemas.microsoft.com/office/drawing/2014/main" id="{60A5E131-F387-B697-8527-623CB8D480CC}"/>
              </a:ext>
            </a:extLst>
          </p:cNvPr>
          <p:cNvPicPr>
            <a:picLocks noChangeAspect="1"/>
          </p:cNvPicPr>
          <p:nvPr/>
        </p:nvPicPr>
        <p:blipFill>
          <a:blip r:embed="rId2"/>
          <a:stretch>
            <a:fillRect/>
          </a:stretch>
        </p:blipFill>
        <p:spPr>
          <a:xfrm>
            <a:off x="7238198" y="2432500"/>
            <a:ext cx="4152708" cy="3540427"/>
          </a:xfrm>
          <a:prstGeom prst="rect">
            <a:avLst/>
          </a:prstGeom>
        </p:spPr>
      </p:pic>
      <p:sp>
        <p:nvSpPr>
          <p:cNvPr id="6" name="矩形 5">
            <a:extLst>
              <a:ext uri="{FF2B5EF4-FFF2-40B4-BE49-F238E27FC236}">
                <a16:creationId xmlns:a16="http://schemas.microsoft.com/office/drawing/2014/main" id="{51AEFC41-18B3-C51B-E096-29C4B6969CBF}"/>
              </a:ext>
            </a:extLst>
          </p:cNvPr>
          <p:cNvSpPr/>
          <p:nvPr/>
        </p:nvSpPr>
        <p:spPr>
          <a:xfrm>
            <a:off x="801092" y="2446417"/>
            <a:ext cx="10589815" cy="3540426"/>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3846550899"/>
      </p:ext>
    </p:extLst>
  </p:cSld>
  <p:clrMapOvr>
    <a:masterClrMapping/>
  </p:clrMapOvr>
  <p:transition spd="slow" advTm="0">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98EDC6-4A46-D287-657F-93BF4311D71A}"/>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灰度到彩色的变换</a:t>
            </a:r>
          </a:p>
        </p:txBody>
      </p:sp>
      <p:sp>
        <p:nvSpPr>
          <p:cNvPr id="3" name="文本占位符 2">
            <a:extLst>
              <a:ext uri="{FF2B5EF4-FFF2-40B4-BE49-F238E27FC236}">
                <a16:creationId xmlns:a16="http://schemas.microsoft.com/office/drawing/2014/main" id="{02E1C1A0-812B-9D97-7A2E-F4794A39F3A1}"/>
              </a:ext>
            </a:extLst>
          </p:cNvPr>
          <p:cNvSpPr>
            <a:spLocks noGrp="1"/>
          </p:cNvSpPr>
          <p:nvPr>
            <p:ph sz="quarter" idx="12"/>
          </p:nvPr>
        </p:nvSpPr>
        <p:spPr>
          <a:xfrm>
            <a:off x="1024732" y="2516808"/>
            <a:ext cx="5943960" cy="3230517"/>
          </a:xfrm>
        </p:spPr>
        <p:txBody>
          <a:bodyPr>
            <a:normAutofit/>
          </a:bodyPr>
          <a:lstStyle/>
          <a:p>
            <a:pPr marL="0" marR="0" lvl="0" indent="0" rtl="0">
              <a:buNone/>
            </a:pPr>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6.21</a:t>
            </a:r>
            <a:r>
              <a:rPr lang="zh-CN" altLang="en-US" b="0" i="0" u="none" strike="noStrike" baseline="0" dirty="0">
                <a:solidFill>
                  <a:srgbClr val="000000"/>
                </a:solidFill>
                <a:cs typeface="+mn-ea"/>
                <a:sym typeface="+mn-lt"/>
              </a:rPr>
              <a:t>显示了一种特别有吸引力的方法。从根本上说，这种方法的思想是对输入像素的灰度执行三个独立的变换，然后将三个结果分别</a:t>
            </a:r>
            <a:r>
              <a:rPr lang="zh-CN" altLang="en-US" dirty="0">
                <a:solidFill>
                  <a:srgbClr val="000000"/>
                </a:solidFill>
                <a:cs typeface="+mn-ea"/>
                <a:sym typeface="+mn-lt"/>
              </a:rPr>
              <a:t>送入彩色显示器的红色、绿色和蓝色通道。这种方法生成一幅合成图像，图像的颜色由变换函数的性质调控。</a:t>
            </a:r>
          </a:p>
        </p:txBody>
      </p:sp>
      <p:pic>
        <p:nvPicPr>
          <p:cNvPr id="5" name="图片 4">
            <a:extLst>
              <a:ext uri="{FF2B5EF4-FFF2-40B4-BE49-F238E27FC236}">
                <a16:creationId xmlns:a16="http://schemas.microsoft.com/office/drawing/2014/main" id="{4FA4F7DB-1E85-C14A-BDA0-EE0DBD8559D2}"/>
              </a:ext>
            </a:extLst>
          </p:cNvPr>
          <p:cNvPicPr>
            <a:picLocks noChangeAspect="1"/>
          </p:cNvPicPr>
          <p:nvPr/>
        </p:nvPicPr>
        <p:blipFill>
          <a:blip r:embed="rId2"/>
          <a:stretch>
            <a:fillRect/>
          </a:stretch>
        </p:blipFill>
        <p:spPr>
          <a:xfrm>
            <a:off x="7065151" y="2371708"/>
            <a:ext cx="4102117" cy="3520715"/>
          </a:xfrm>
          <a:prstGeom prst="rect">
            <a:avLst/>
          </a:prstGeom>
        </p:spPr>
      </p:pic>
    </p:spTree>
    <p:extLst>
      <p:ext uri="{BB962C8B-B14F-4D97-AF65-F5344CB8AC3E}">
        <p14:creationId xmlns:p14="http://schemas.microsoft.com/office/powerpoint/2010/main" val="121644677"/>
      </p:ext>
    </p:extLst>
  </p:cSld>
  <p:clrMapOvr>
    <a:masterClrMapping/>
  </p:clrMapOvr>
  <p:transition spd="slow" advTm="0">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04</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全彩色图像处理基础</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2721034189"/>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FF7835-D893-3193-9D76-E2EB5B631806}"/>
              </a:ext>
            </a:extLst>
          </p:cNvPr>
          <p:cNvSpPr>
            <a:spLocks noGrp="1"/>
          </p:cNvSpPr>
          <p:nvPr>
            <p:ph type="title"/>
          </p:nvPr>
        </p:nvSpPr>
        <p:spPr/>
        <p:txBody>
          <a:bodyPr/>
          <a:lstStyle/>
          <a:p>
            <a:pPr marR="0" rtl="0"/>
            <a:r>
              <a:rPr lang="zh-CN" altLang="en-US" b="1" i="0" u="none" strike="noStrike" baseline="0" dirty="0">
                <a:solidFill>
                  <a:srgbClr val="0070C0"/>
                </a:solidFill>
                <a:latin typeface="+mn-lt"/>
                <a:ea typeface="+mn-ea"/>
                <a:cs typeface="+mn-ea"/>
                <a:sym typeface="+mn-lt"/>
              </a:rPr>
              <a:t>基础</a:t>
            </a:r>
          </a:p>
        </p:txBody>
      </p:sp>
      <p:sp>
        <p:nvSpPr>
          <p:cNvPr id="3" name="文本占位符 2">
            <a:extLst>
              <a:ext uri="{FF2B5EF4-FFF2-40B4-BE49-F238E27FC236}">
                <a16:creationId xmlns:a16="http://schemas.microsoft.com/office/drawing/2014/main" id="{13F1DBF2-6FC1-43DC-A263-0112C7B05C6F}"/>
              </a:ext>
            </a:extLst>
          </p:cNvPr>
          <p:cNvSpPr>
            <a:spLocks noGrp="1"/>
          </p:cNvSpPr>
          <p:nvPr>
            <p:ph sz="quarter" idx="11"/>
          </p:nvPr>
        </p:nvSpPr>
        <p:spPr/>
        <p:txBody>
          <a:bodyPr/>
          <a:lstStyle/>
          <a:p>
            <a:pPr marL="0" marR="0" lvl="0" indent="0" rtl="0">
              <a:buNone/>
            </a:pPr>
            <a:r>
              <a:rPr lang="zh-CN" altLang="en-US" b="0" i="0" u="none" strike="noStrike" baseline="0" dirty="0">
                <a:solidFill>
                  <a:srgbClr val="000000"/>
                </a:solidFill>
                <a:cs typeface="+mn-ea"/>
                <a:sym typeface="+mn-lt"/>
              </a:rPr>
              <a:t>全彩色图像处理方法主要分为两种。第一种方法是首先分别处理每幅灰度级分量图像，然后将处理后的各幅分量图像合成为一幅彩色图像。第二种方法是直接处理彩色像素。因为全彩色图像至少有</a:t>
            </a:r>
            <a:r>
              <a:rPr lang="en-US" altLang="zh-CN" b="0" i="0" u="none" strike="noStrike" baseline="0" dirty="0">
                <a:solidFill>
                  <a:srgbClr val="000000"/>
                </a:solidFill>
                <a:cs typeface="+mn-ea"/>
                <a:sym typeface="+mn-lt"/>
              </a:rPr>
              <a:t>3</a:t>
            </a:r>
            <a:r>
              <a:rPr lang="zh-CN" altLang="en-US" b="0" i="0" u="none" strike="noStrike" baseline="0" dirty="0">
                <a:solidFill>
                  <a:srgbClr val="000000"/>
                </a:solidFill>
                <a:cs typeface="+mn-ea"/>
                <a:sym typeface="+mn-lt"/>
              </a:rPr>
              <a:t>个分量，因此彩色像素是向量。例如，在</a:t>
            </a:r>
            <a:r>
              <a:rPr lang="en-US" altLang="zh-CN" b="0" i="0" u="none" strike="noStrike" baseline="0" dirty="0">
                <a:solidFill>
                  <a:srgbClr val="000000"/>
                </a:solidFill>
                <a:cs typeface="+mn-ea"/>
                <a:sym typeface="+mn-lt"/>
              </a:rPr>
              <a:t>RGB</a:t>
            </a:r>
            <a:r>
              <a:rPr lang="zh-CN" altLang="en-US" b="0" i="0" u="none" strike="noStrike" baseline="0" dirty="0">
                <a:solidFill>
                  <a:srgbClr val="000000"/>
                </a:solidFill>
                <a:cs typeface="+mn-ea"/>
                <a:sym typeface="+mn-lt"/>
              </a:rPr>
              <a:t> 系统中，每个彩色点都可以用</a:t>
            </a:r>
            <a:r>
              <a:rPr lang="en-US" altLang="zh-CN" b="0" i="0" u="none" strike="noStrike" baseline="0" dirty="0">
                <a:solidFill>
                  <a:srgbClr val="000000"/>
                </a:solidFill>
                <a:cs typeface="+mn-ea"/>
                <a:sym typeface="+mn-lt"/>
              </a:rPr>
              <a:t>RGB</a:t>
            </a:r>
            <a:r>
              <a:rPr lang="zh-CN" altLang="en-US" b="0" i="0" u="none" strike="noStrike" baseline="0" dirty="0">
                <a:solidFill>
                  <a:srgbClr val="000000"/>
                </a:solidFill>
                <a:cs typeface="+mn-ea"/>
                <a:sym typeface="+mn-lt"/>
              </a:rPr>
              <a:t> 坐标系中从原点延伸到该点的一个向量来解释</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见图</a:t>
            </a:r>
            <a:r>
              <a:rPr lang="en-US" altLang="zh-CN" b="0" i="0" u="none" strike="noStrike" baseline="0" dirty="0">
                <a:solidFill>
                  <a:srgbClr val="000000"/>
                </a:solidFill>
                <a:cs typeface="+mn-ea"/>
                <a:sym typeface="+mn-lt"/>
              </a:rPr>
              <a:t>6.7)</a:t>
            </a:r>
            <a:r>
              <a:rPr lang="zh-CN" altLang="en-US" b="0" i="0" u="none" strike="noStrike" baseline="0" dirty="0">
                <a:solidFill>
                  <a:srgbClr val="000000"/>
                </a:solidFill>
                <a:cs typeface="+mn-ea"/>
                <a:sym typeface="+mn-lt"/>
              </a:rPr>
              <a:t>。</a:t>
            </a:r>
          </a:p>
        </p:txBody>
      </p:sp>
      <p:pic>
        <p:nvPicPr>
          <p:cNvPr id="5" name="图片 4">
            <a:extLst>
              <a:ext uri="{FF2B5EF4-FFF2-40B4-BE49-F238E27FC236}">
                <a16:creationId xmlns:a16="http://schemas.microsoft.com/office/drawing/2014/main" id="{60E1A4D8-FC6A-1C5D-13CA-23010A4A2E8D}"/>
              </a:ext>
            </a:extLst>
          </p:cNvPr>
          <p:cNvPicPr>
            <a:picLocks noChangeAspect="1"/>
          </p:cNvPicPr>
          <p:nvPr/>
        </p:nvPicPr>
        <p:blipFill>
          <a:blip r:embed="rId2"/>
          <a:stretch>
            <a:fillRect/>
          </a:stretch>
        </p:blipFill>
        <p:spPr>
          <a:xfrm>
            <a:off x="4786687" y="4394038"/>
            <a:ext cx="2618624" cy="2405255"/>
          </a:xfrm>
          <a:prstGeom prst="rect">
            <a:avLst/>
          </a:prstGeom>
        </p:spPr>
      </p:pic>
      <p:sp>
        <p:nvSpPr>
          <p:cNvPr id="6" name="矩形 5">
            <a:extLst>
              <a:ext uri="{FF2B5EF4-FFF2-40B4-BE49-F238E27FC236}">
                <a16:creationId xmlns:a16="http://schemas.microsoft.com/office/drawing/2014/main" id="{B6C15FBC-0A8C-FAC5-D547-3F16B3566F27}"/>
              </a:ext>
            </a:extLst>
          </p:cNvPr>
          <p:cNvSpPr/>
          <p:nvPr/>
        </p:nvSpPr>
        <p:spPr>
          <a:xfrm>
            <a:off x="801092" y="2446417"/>
            <a:ext cx="10589815" cy="1873778"/>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4072710644"/>
      </p:ext>
    </p:extLst>
  </p:cSld>
  <p:clrMapOvr>
    <a:masterClrMapping/>
  </p:clrMapOvr>
  <p:transition spd="slow" advTm="0">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05</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彩色变换</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4003877314"/>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EFC68F-2668-33E8-CEED-DCD482E7C502}"/>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补色</a:t>
            </a:r>
          </a:p>
        </p:txBody>
      </p:sp>
      <p:sp>
        <p:nvSpPr>
          <p:cNvPr id="3" name="文本占位符 2">
            <a:extLst>
              <a:ext uri="{FF2B5EF4-FFF2-40B4-BE49-F238E27FC236}">
                <a16:creationId xmlns:a16="http://schemas.microsoft.com/office/drawing/2014/main" id="{1B3FB8C1-053A-1EFD-2B72-959CAF1AE542}"/>
              </a:ext>
            </a:extLst>
          </p:cNvPr>
          <p:cNvSpPr>
            <a:spLocks noGrp="1"/>
          </p:cNvSpPr>
          <p:nvPr>
            <p:ph sz="quarter" idx="11"/>
          </p:nvPr>
        </p:nvSpPr>
        <p:spPr/>
        <p:txBody>
          <a:bodyPr/>
          <a:lstStyle/>
          <a:p>
            <a:pPr marL="0" marR="0" lvl="0" indent="0" rtl="0">
              <a:buNone/>
            </a:pPr>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6.30</a:t>
            </a:r>
            <a:r>
              <a:rPr lang="zh-CN" altLang="en-US" b="0" i="0" u="none" strike="noStrike" baseline="0" dirty="0">
                <a:solidFill>
                  <a:srgbClr val="000000"/>
                </a:solidFill>
                <a:cs typeface="+mn-ea"/>
                <a:sym typeface="+mn-lt"/>
              </a:rPr>
              <a:t>中的彩色环</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彩色轮</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是由艾萨克牛顿爵士于</a:t>
            </a:r>
            <a:r>
              <a:rPr lang="en-US" altLang="zh-CN" b="0" i="0" u="none" strike="noStrike" baseline="0" dirty="0">
                <a:solidFill>
                  <a:srgbClr val="000000"/>
                </a:solidFill>
                <a:cs typeface="+mn-ea"/>
                <a:sym typeface="+mn-lt"/>
              </a:rPr>
              <a:t>17</a:t>
            </a:r>
            <a:r>
              <a:rPr lang="zh-CN" altLang="en-US" b="0" i="0" u="none" strike="noStrike" baseline="0" dirty="0">
                <a:solidFill>
                  <a:srgbClr val="000000"/>
                </a:solidFill>
                <a:cs typeface="+mn-ea"/>
                <a:sym typeface="+mn-lt"/>
              </a:rPr>
              <a:t>世纪通过连接色谱的两端首次创建的。彩色环是根据颜色之间的色度关系排列而成的一种视觉表示，其形成方式如下：首先等距离地放置三原色，然后将二次色等距离地放在原色之间。最终结果是，彩色环两端对应的颜色是互补的。</a:t>
            </a:r>
          </a:p>
        </p:txBody>
      </p:sp>
      <p:pic>
        <p:nvPicPr>
          <p:cNvPr id="5" name="图片 4">
            <a:extLst>
              <a:ext uri="{FF2B5EF4-FFF2-40B4-BE49-F238E27FC236}">
                <a16:creationId xmlns:a16="http://schemas.microsoft.com/office/drawing/2014/main" id="{7816E858-29F6-AFE2-C272-365767216C75}"/>
              </a:ext>
            </a:extLst>
          </p:cNvPr>
          <p:cNvPicPr>
            <a:picLocks noChangeAspect="1"/>
          </p:cNvPicPr>
          <p:nvPr/>
        </p:nvPicPr>
        <p:blipFill>
          <a:blip r:embed="rId2"/>
          <a:stretch>
            <a:fillRect/>
          </a:stretch>
        </p:blipFill>
        <p:spPr>
          <a:xfrm>
            <a:off x="4427921" y="4023268"/>
            <a:ext cx="3336156" cy="2750419"/>
          </a:xfrm>
          <a:prstGeom prst="rect">
            <a:avLst/>
          </a:prstGeom>
        </p:spPr>
      </p:pic>
      <p:sp>
        <p:nvSpPr>
          <p:cNvPr id="6" name="矩形 5">
            <a:extLst>
              <a:ext uri="{FF2B5EF4-FFF2-40B4-BE49-F238E27FC236}">
                <a16:creationId xmlns:a16="http://schemas.microsoft.com/office/drawing/2014/main" id="{D10065E1-930E-6B87-B6D3-B8F5E7CB8847}"/>
              </a:ext>
            </a:extLst>
          </p:cNvPr>
          <p:cNvSpPr/>
          <p:nvPr/>
        </p:nvSpPr>
        <p:spPr>
          <a:xfrm>
            <a:off x="801092" y="2446417"/>
            <a:ext cx="10589815" cy="1480598"/>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3249348052"/>
      </p:ext>
    </p:extLst>
  </p:cSld>
  <p:clrMapOvr>
    <a:masterClrMapping/>
  </p:clrMapOvr>
  <p:transition spd="slow" advTm="0">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3C6178-242E-AC22-F1E3-E0638B77A745}"/>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彩色分层</a:t>
            </a:r>
          </a:p>
        </p:txBody>
      </p:sp>
      <p:sp>
        <p:nvSpPr>
          <p:cNvPr id="3" name="文本占位符 2">
            <a:extLst>
              <a:ext uri="{FF2B5EF4-FFF2-40B4-BE49-F238E27FC236}">
                <a16:creationId xmlns:a16="http://schemas.microsoft.com/office/drawing/2014/main" id="{7315F11F-AFAE-575C-4954-A4C698129912}"/>
              </a:ext>
            </a:extLst>
          </p:cNvPr>
          <p:cNvSpPr>
            <a:spLocks noGrp="1"/>
          </p:cNvSpPr>
          <p:nvPr>
            <p:ph sz="quarter" idx="11"/>
          </p:nvPr>
        </p:nvSpPr>
        <p:spPr/>
        <p:txBody>
          <a:bodyPr/>
          <a:lstStyle/>
          <a:p>
            <a:pPr marL="0" marR="0" lvl="0" indent="0" rtl="0">
              <a:buNone/>
            </a:pPr>
            <a:r>
              <a:rPr lang="zh-CN" altLang="en-US" b="0" i="0" u="none" strike="noStrike" baseline="0" dirty="0">
                <a:solidFill>
                  <a:srgbClr val="000000"/>
                </a:solidFill>
                <a:cs typeface="+mn-ea"/>
                <a:sym typeface="+mn-lt"/>
              </a:rPr>
              <a:t>突出图像中某个特定的彩色范围，有助于将目标从周围分离出来。这样做的基本想法是：</a:t>
            </a:r>
            <a:r>
              <a:rPr lang="en-US" altLang="zh-CN" b="0" i="0" u="none" strike="noStrike" baseline="0" dirty="0">
                <a:solidFill>
                  <a:srgbClr val="000000"/>
                </a:solidFill>
                <a:cs typeface="+mn-ea"/>
                <a:sym typeface="+mn-lt"/>
              </a:rPr>
              <a:t>(1)</a:t>
            </a:r>
            <a:r>
              <a:rPr lang="zh-CN" altLang="en-US" b="0" i="0" u="none" strike="noStrike" baseline="0" dirty="0">
                <a:solidFill>
                  <a:srgbClr val="000000"/>
                </a:solidFill>
                <a:cs typeface="+mn-ea"/>
                <a:sym typeface="+mn-lt"/>
              </a:rPr>
              <a:t>显 示感兴趣的颜色，从背景中突出它们；</a:t>
            </a:r>
            <a:r>
              <a:rPr lang="en-US" altLang="zh-CN" b="0" i="0" u="none" strike="noStrike" baseline="0" dirty="0">
                <a:solidFill>
                  <a:srgbClr val="000000"/>
                </a:solidFill>
                <a:cs typeface="+mn-ea"/>
                <a:sym typeface="+mn-lt"/>
              </a:rPr>
              <a:t>(2)</a:t>
            </a:r>
            <a:r>
              <a:rPr lang="zh-CN" altLang="en-US" b="0" i="0" u="none" strike="noStrike" baseline="0" dirty="0">
                <a:solidFill>
                  <a:srgbClr val="000000"/>
                </a:solidFill>
                <a:cs typeface="+mn-ea"/>
                <a:sym typeface="+mn-lt"/>
              </a:rPr>
              <a:t>将彩色定义的区域用做进一步处理的模板。最简单的方法是，扩展</a:t>
            </a:r>
            <a:r>
              <a:rPr lang="en-US" altLang="zh-CN" b="0" i="0" u="none" strike="noStrike" baseline="0" dirty="0">
                <a:solidFill>
                  <a:srgbClr val="000000"/>
                </a:solidFill>
                <a:cs typeface="+mn-ea"/>
                <a:sym typeface="+mn-lt"/>
              </a:rPr>
              <a:t>3.2</a:t>
            </a:r>
            <a:r>
              <a:rPr lang="zh-CN" altLang="en-US" b="0" i="0" u="none" strike="noStrike" baseline="0" dirty="0">
                <a:solidFill>
                  <a:srgbClr val="000000"/>
                </a:solidFill>
                <a:cs typeface="+mn-ea"/>
                <a:sym typeface="+mn-lt"/>
              </a:rPr>
              <a:t>节中的灰度分层技术。然而，由于彩色像素是一个</a:t>
            </a:r>
            <a:r>
              <a:rPr lang="en-US" altLang="zh-CN" b="0" i="0" u="none" strike="noStrike" baseline="0" dirty="0">
                <a:solidFill>
                  <a:srgbClr val="000000"/>
                </a:solidFill>
                <a:cs typeface="+mn-ea"/>
                <a:sym typeface="+mn-lt"/>
              </a:rPr>
              <a:t>n</a:t>
            </a:r>
            <a:r>
              <a:rPr lang="zh-CN" altLang="en-US" b="0" i="0" u="none" strike="noStrike" baseline="0" dirty="0">
                <a:solidFill>
                  <a:srgbClr val="000000"/>
                </a:solidFill>
                <a:cs typeface="+mn-ea"/>
                <a:sym typeface="+mn-lt"/>
              </a:rPr>
              <a:t> 维量，因此彩色变换函数要比图</a:t>
            </a:r>
            <a:r>
              <a:rPr lang="en-US" altLang="zh-CN" b="0" i="0" u="none" strike="noStrike" baseline="0" dirty="0">
                <a:solidFill>
                  <a:srgbClr val="000000"/>
                </a:solidFill>
                <a:cs typeface="+mn-ea"/>
                <a:sym typeface="+mn-lt"/>
              </a:rPr>
              <a:t>3.11</a:t>
            </a:r>
            <a:r>
              <a:rPr lang="zh-CN" altLang="en-US" b="0" i="0" u="none" strike="noStrike" baseline="0" dirty="0">
                <a:solidFill>
                  <a:srgbClr val="000000"/>
                </a:solidFill>
                <a:cs typeface="+mn-ea"/>
                <a:sym typeface="+mn-lt"/>
              </a:rPr>
              <a:t> 中对应的灰度变换函数复杂。</a:t>
            </a:r>
          </a:p>
        </p:txBody>
      </p:sp>
      <p:pic>
        <p:nvPicPr>
          <p:cNvPr id="5" name="图片 4">
            <a:extLst>
              <a:ext uri="{FF2B5EF4-FFF2-40B4-BE49-F238E27FC236}">
                <a16:creationId xmlns:a16="http://schemas.microsoft.com/office/drawing/2014/main" id="{880EE364-ED40-6D3A-7916-BE483D533EDB}"/>
              </a:ext>
            </a:extLst>
          </p:cNvPr>
          <p:cNvPicPr>
            <a:picLocks noChangeAspect="1"/>
          </p:cNvPicPr>
          <p:nvPr/>
        </p:nvPicPr>
        <p:blipFill>
          <a:blip r:embed="rId2"/>
          <a:stretch>
            <a:fillRect/>
          </a:stretch>
        </p:blipFill>
        <p:spPr>
          <a:xfrm>
            <a:off x="3343073" y="4445762"/>
            <a:ext cx="5505851" cy="2367516"/>
          </a:xfrm>
          <a:prstGeom prst="rect">
            <a:avLst/>
          </a:prstGeom>
        </p:spPr>
      </p:pic>
      <p:sp>
        <p:nvSpPr>
          <p:cNvPr id="6" name="矩形 5">
            <a:extLst>
              <a:ext uri="{FF2B5EF4-FFF2-40B4-BE49-F238E27FC236}">
                <a16:creationId xmlns:a16="http://schemas.microsoft.com/office/drawing/2014/main" id="{CFC56B3D-61AA-3876-3818-02A101A3494E}"/>
              </a:ext>
            </a:extLst>
          </p:cNvPr>
          <p:cNvSpPr/>
          <p:nvPr/>
        </p:nvSpPr>
        <p:spPr>
          <a:xfrm>
            <a:off x="801092" y="2446417"/>
            <a:ext cx="10589815" cy="1845808"/>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635560819"/>
      </p:ext>
    </p:extLst>
  </p:cSld>
  <p:clrMapOvr>
    <a:masterClrMapping/>
  </p:clrMapOvr>
  <p:transition spd="slow" advTm="0">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1F4C8A-EC57-0F2C-68E3-75A2BBBA5DAD}"/>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色调和彩色校正</a:t>
            </a:r>
          </a:p>
        </p:txBody>
      </p:sp>
      <p:sp>
        <p:nvSpPr>
          <p:cNvPr id="3" name="文本占位符 2">
            <a:extLst>
              <a:ext uri="{FF2B5EF4-FFF2-40B4-BE49-F238E27FC236}">
                <a16:creationId xmlns:a16="http://schemas.microsoft.com/office/drawing/2014/main" id="{627596EE-413B-9BA8-F77F-2AA6534224FD}"/>
              </a:ext>
            </a:extLst>
          </p:cNvPr>
          <p:cNvSpPr>
            <a:spLocks noGrp="1"/>
          </p:cNvSpPr>
          <p:nvPr>
            <p:ph sz="quarter" idx="12"/>
          </p:nvPr>
        </p:nvSpPr>
        <p:spPr/>
        <p:txBody>
          <a:bodyPr/>
          <a:lstStyle/>
          <a:p>
            <a:pPr marR="0" lvl="0" rtl="0"/>
            <a:r>
              <a:rPr lang="zh-CN" altLang="en-US" b="0" i="0" u="none" strike="noStrike" baseline="0" dirty="0">
                <a:solidFill>
                  <a:srgbClr val="000000"/>
                </a:solidFill>
                <a:cs typeface="+mn-ea"/>
                <a:sym typeface="+mn-lt"/>
              </a:rPr>
              <a:t>只有校正了图像的色调范围，才能解决图像中颜色的不规则问题，如过饱和颜色和欠饱和颜色问题。图像的色调范围</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也称主特性</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是指图像中颜色亮度的一般分布。高主特性图像中的大部分信息集中在高亮度上；低主特性图像的颜色主要集中在低亮度上；中主特性图像的颜色则介于前两者之间。 </a:t>
            </a:r>
            <a:endParaRPr lang="en-US" altLang="zh-CN" b="0" i="0" u="none" strike="noStrike" baseline="0" dirty="0">
              <a:solidFill>
                <a:srgbClr val="000000"/>
              </a:solidFill>
              <a:cs typeface="+mn-ea"/>
              <a:sym typeface="+mn-lt"/>
            </a:endParaRPr>
          </a:p>
          <a:p>
            <a:pPr marR="0" lvl="0" rtl="0"/>
            <a:r>
              <a:rPr lang="zh-CN" altLang="en-US" b="0" i="0" u="none" strike="noStrike" baseline="0" dirty="0">
                <a:solidFill>
                  <a:srgbClr val="000000"/>
                </a:solidFill>
                <a:cs typeface="+mn-ea"/>
                <a:sym typeface="+mn-lt"/>
              </a:rPr>
              <a:t>类似于灰度级的情况，我们通常希望彩色图像的亮度在高光和阴影之间是等间隔分布的。下面的几个例子说明了校正色调和颜色不平衡问题的一些彩色变换。</a:t>
            </a:r>
          </a:p>
        </p:txBody>
      </p:sp>
    </p:spTree>
    <p:extLst>
      <p:ext uri="{BB962C8B-B14F-4D97-AF65-F5344CB8AC3E}">
        <p14:creationId xmlns:p14="http://schemas.microsoft.com/office/powerpoint/2010/main" val="3220185682"/>
      </p:ext>
    </p:extLst>
  </p:cSld>
  <p:clrMapOvr>
    <a:masterClrMapping/>
  </p:clrMapOvr>
  <p:transition spd="slow" advTm="0">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9C9460-1E00-20B8-6A8F-6BBB3BF000BA}"/>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彩色图像的直方图处理</a:t>
            </a:r>
          </a:p>
        </p:txBody>
      </p:sp>
      <p:sp>
        <p:nvSpPr>
          <p:cNvPr id="3" name="文本占位符 2">
            <a:extLst>
              <a:ext uri="{FF2B5EF4-FFF2-40B4-BE49-F238E27FC236}">
                <a16:creationId xmlns:a16="http://schemas.microsoft.com/office/drawing/2014/main" id="{8548009D-6BF3-78CF-8E53-52D99474419E}"/>
              </a:ext>
            </a:extLst>
          </p:cNvPr>
          <p:cNvSpPr>
            <a:spLocks noGrp="1"/>
          </p:cNvSpPr>
          <p:nvPr>
            <p:ph sz="quarter" idx="11"/>
          </p:nvPr>
        </p:nvSpPr>
        <p:spPr>
          <a:xfrm>
            <a:off x="801094" y="2432500"/>
            <a:ext cx="6943616" cy="3540427"/>
          </a:xfrm>
        </p:spPr>
        <p:txBody>
          <a:bodyPr/>
          <a:lstStyle/>
          <a:p>
            <a:pPr marL="0" marR="0" lvl="0" indent="0" rtl="0">
              <a:buNone/>
            </a:pPr>
            <a:r>
              <a:rPr lang="en-US" altLang="zh-CN" b="0" i="0" u="none" strike="noStrike" baseline="0" dirty="0">
                <a:solidFill>
                  <a:srgbClr val="000000"/>
                </a:solidFill>
                <a:cs typeface="+mn-ea"/>
                <a:sym typeface="+mn-lt"/>
              </a:rPr>
              <a:t>3.3</a:t>
            </a:r>
            <a:r>
              <a:rPr lang="zh-CN" altLang="en-US" b="0" i="0" u="none" strike="noStrike" baseline="0" dirty="0">
                <a:solidFill>
                  <a:srgbClr val="000000"/>
                </a:solidFill>
                <a:cs typeface="+mn-ea"/>
                <a:sym typeface="+mn-lt"/>
              </a:rPr>
              <a:t> 节说过，直方图均衡化对低主特性、高调和中调图像的处理非常成功</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见图</a:t>
            </a:r>
            <a:r>
              <a:rPr lang="en-US" altLang="zh-CN" b="0" i="0" u="none" strike="noStrike" baseline="0" dirty="0">
                <a:solidFill>
                  <a:srgbClr val="000000"/>
                </a:solidFill>
                <a:cs typeface="+mn-ea"/>
                <a:sym typeface="+mn-lt"/>
              </a:rPr>
              <a:t>3.20)</a:t>
            </a:r>
            <a:r>
              <a:rPr lang="zh-CN" altLang="en-US" b="0" i="0" u="none" strike="noStrike" baseline="0" dirty="0">
                <a:solidFill>
                  <a:srgbClr val="000000"/>
                </a:solidFill>
                <a:cs typeface="+mn-ea"/>
                <a:sym typeface="+mn-lt"/>
              </a:rPr>
              <a:t>。我们认为，对彩色图像的各幅分量图像单独进行直方图均衡化处理可能并不明智，因为这样做会产生错误的彩色。更合适的做法是，均匀地分布颜色亮度，而保持颜色本身</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即色调</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不变。下例表明 </a:t>
            </a:r>
            <a:r>
              <a:rPr lang="en-US" altLang="zh-CN" b="0" i="0" u="none" strike="noStrike" baseline="0" dirty="0">
                <a:solidFill>
                  <a:srgbClr val="000000"/>
                </a:solidFill>
                <a:cs typeface="+mn-ea"/>
                <a:sym typeface="+mn-lt"/>
              </a:rPr>
              <a:t>HSI</a:t>
            </a:r>
            <a:r>
              <a:rPr lang="zh-CN" altLang="en-US" b="0" i="0" u="none" strike="noStrike" baseline="0" dirty="0">
                <a:solidFill>
                  <a:srgbClr val="000000"/>
                </a:solidFill>
                <a:cs typeface="+mn-ea"/>
                <a:sym typeface="+mn-lt"/>
              </a:rPr>
              <a:t> 彩色空间是适合这类方法的理想空间。</a:t>
            </a:r>
          </a:p>
        </p:txBody>
      </p:sp>
      <p:pic>
        <p:nvPicPr>
          <p:cNvPr id="5" name="图片 4">
            <a:extLst>
              <a:ext uri="{FF2B5EF4-FFF2-40B4-BE49-F238E27FC236}">
                <a16:creationId xmlns:a16="http://schemas.microsoft.com/office/drawing/2014/main" id="{096F501C-9E91-DCDC-CB57-FFB839A28CC3}"/>
              </a:ext>
            </a:extLst>
          </p:cNvPr>
          <p:cNvPicPr>
            <a:picLocks noChangeAspect="1"/>
          </p:cNvPicPr>
          <p:nvPr/>
        </p:nvPicPr>
        <p:blipFill>
          <a:blip r:embed="rId2"/>
          <a:stretch>
            <a:fillRect/>
          </a:stretch>
        </p:blipFill>
        <p:spPr>
          <a:xfrm>
            <a:off x="7744711" y="2432500"/>
            <a:ext cx="3646195" cy="3540427"/>
          </a:xfrm>
          <a:prstGeom prst="rect">
            <a:avLst/>
          </a:prstGeom>
        </p:spPr>
      </p:pic>
      <p:sp>
        <p:nvSpPr>
          <p:cNvPr id="6" name="矩形 5">
            <a:extLst>
              <a:ext uri="{FF2B5EF4-FFF2-40B4-BE49-F238E27FC236}">
                <a16:creationId xmlns:a16="http://schemas.microsoft.com/office/drawing/2014/main" id="{F5F2D663-67FD-F9B6-CADC-66BEE4551A2A}"/>
              </a:ext>
            </a:extLst>
          </p:cNvPr>
          <p:cNvSpPr/>
          <p:nvPr/>
        </p:nvSpPr>
        <p:spPr>
          <a:xfrm>
            <a:off x="801092" y="2446417"/>
            <a:ext cx="10589815" cy="3540426"/>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3276670675"/>
      </p:ext>
    </p:extLst>
  </p:cSld>
  <p:clrMapOvr>
    <a:masterClrMapping/>
  </p:clrMapOvr>
  <p:transition spd="slow" advTm="0">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06</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彩色图像平滑和锐化</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3111504085"/>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2D975F-630D-2A7C-FCBA-130372545381}"/>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彩色图像平滑</a:t>
            </a:r>
          </a:p>
        </p:txBody>
      </p:sp>
      <p:sp>
        <p:nvSpPr>
          <p:cNvPr id="3" name="文本占位符 2">
            <a:extLst>
              <a:ext uri="{FF2B5EF4-FFF2-40B4-BE49-F238E27FC236}">
                <a16:creationId xmlns:a16="http://schemas.microsoft.com/office/drawing/2014/main" id="{A2831A97-3F7F-150A-DEAF-0282F6FD9B13}"/>
              </a:ext>
            </a:extLst>
          </p:cNvPr>
          <p:cNvSpPr>
            <a:spLocks noGrp="1"/>
          </p:cNvSpPr>
          <p:nvPr>
            <p:ph sz="quarter" idx="11"/>
          </p:nvPr>
        </p:nvSpPr>
        <p:spPr/>
        <p:txBody>
          <a:bodyPr>
            <a:normAutofit/>
          </a:bodyPr>
          <a:lstStyle/>
          <a:p>
            <a:pPr marL="0" marR="0" lvl="0" indent="0" rtl="0">
              <a:buNone/>
            </a:pPr>
            <a:r>
              <a:rPr lang="zh-CN" altLang="en-US" b="0" i="0" u="none" strike="noStrike" baseline="0" dirty="0">
                <a:solidFill>
                  <a:srgbClr val="000000"/>
                </a:solidFill>
                <a:cs typeface="+mn-ea"/>
                <a:sym typeface="+mn-lt"/>
              </a:rPr>
              <a:t>参考图</a:t>
            </a:r>
            <a:r>
              <a:rPr lang="en-US" altLang="zh-CN" b="0" i="0" u="none" strike="noStrike" baseline="0" dirty="0">
                <a:solidFill>
                  <a:srgbClr val="000000"/>
                </a:solidFill>
                <a:cs typeface="+mn-ea"/>
                <a:sym typeface="+mn-lt"/>
              </a:rPr>
              <a:t>6.27(a)</a:t>
            </a:r>
            <a:r>
              <a:rPr lang="zh-CN" altLang="en-US" b="0" i="0" u="none" strike="noStrike" baseline="0" dirty="0">
                <a:solidFill>
                  <a:srgbClr val="000000"/>
                </a:solidFill>
                <a:cs typeface="+mn-ea"/>
                <a:sym typeface="+mn-lt"/>
              </a:rPr>
              <a:t>及</a:t>
            </a:r>
            <a:r>
              <a:rPr lang="en-US" altLang="zh-CN" b="0" i="0" u="none" strike="noStrike" baseline="0" dirty="0">
                <a:solidFill>
                  <a:srgbClr val="000000"/>
                </a:solidFill>
                <a:cs typeface="+mn-ea"/>
                <a:sym typeface="+mn-lt"/>
              </a:rPr>
              <a:t>3.4</a:t>
            </a:r>
            <a:r>
              <a:rPr lang="zh-CN" altLang="en-US" b="0" i="0" u="none" strike="noStrike" baseline="0" dirty="0">
                <a:solidFill>
                  <a:srgbClr val="000000"/>
                </a:solidFill>
                <a:cs typeface="+mn-ea"/>
                <a:sym typeface="+mn-lt"/>
              </a:rPr>
              <a:t>节和</a:t>
            </a:r>
            <a:r>
              <a:rPr lang="en-US" altLang="zh-CN" b="0" i="0" u="none" strike="noStrike" baseline="0" dirty="0">
                <a:solidFill>
                  <a:srgbClr val="000000"/>
                </a:solidFill>
                <a:cs typeface="+mn-ea"/>
                <a:sym typeface="+mn-lt"/>
              </a:rPr>
              <a:t>3.5</a:t>
            </a:r>
            <a:r>
              <a:rPr lang="zh-CN" altLang="en-US" b="0" i="0" u="none" strike="noStrike" baseline="0" dirty="0">
                <a:solidFill>
                  <a:srgbClr val="000000"/>
                </a:solidFill>
                <a:cs typeface="+mn-ea"/>
                <a:sym typeface="+mn-lt"/>
              </a:rPr>
              <a:t>节的讨论可知，灰度级图像平滑可视为一种空间滤波运算，在这种 运算中，滤波核的系数具有相同的值。核滑过待平滑的图像时，每个像素的值被核包围的邻域中的像素平均值代替。如图</a:t>
            </a:r>
            <a:r>
              <a:rPr lang="en-US" altLang="zh-CN" b="0" i="0" u="none" strike="noStrike" baseline="0" dirty="0">
                <a:solidFill>
                  <a:srgbClr val="000000"/>
                </a:solidFill>
                <a:cs typeface="+mn-ea"/>
                <a:sym typeface="+mn-lt"/>
              </a:rPr>
              <a:t>6.27(b)</a:t>
            </a:r>
            <a:r>
              <a:rPr lang="zh-CN" altLang="en-US" b="0" i="0" u="none" strike="noStrike" baseline="0" dirty="0">
                <a:solidFill>
                  <a:srgbClr val="000000"/>
                </a:solidFill>
                <a:cs typeface="+mn-ea"/>
                <a:sym typeface="+mn-lt"/>
              </a:rPr>
              <a:t>所示，这一概念很容易推广到全彩色图像处理。主要差别是，我们处理的不再是标量灰度值，而是式</a:t>
            </a:r>
            <a:r>
              <a:rPr lang="en-US" altLang="zh-CN" b="0" i="0" u="none" strike="noStrike" baseline="0" dirty="0">
                <a:solidFill>
                  <a:srgbClr val="000000"/>
                </a:solidFill>
                <a:cs typeface="+mn-ea"/>
                <a:sym typeface="+mn-lt"/>
              </a:rPr>
              <a:t>(6.37)</a:t>
            </a:r>
            <a:r>
              <a:rPr lang="zh-CN" altLang="en-US" b="0" i="0" u="none" strike="noStrike" baseline="0" dirty="0">
                <a:solidFill>
                  <a:srgbClr val="000000"/>
                </a:solidFill>
                <a:cs typeface="+mn-ea"/>
                <a:sym typeface="+mn-lt"/>
              </a:rPr>
              <a:t>给出的分量向量。</a:t>
            </a:r>
          </a:p>
          <a:p>
            <a:pPr marR="0" lvl="0" rtl="0"/>
            <a:endParaRPr lang="zh-CN" altLang="en-US" b="0" i="0" u="none" strike="noStrike" baseline="0" dirty="0">
              <a:solidFill>
                <a:srgbClr val="000000"/>
              </a:solidFill>
              <a:cs typeface="+mn-ea"/>
              <a:sym typeface="+mn-lt"/>
            </a:endParaRPr>
          </a:p>
        </p:txBody>
      </p:sp>
      <p:pic>
        <p:nvPicPr>
          <p:cNvPr id="5" name="图片 4">
            <a:extLst>
              <a:ext uri="{FF2B5EF4-FFF2-40B4-BE49-F238E27FC236}">
                <a16:creationId xmlns:a16="http://schemas.microsoft.com/office/drawing/2014/main" id="{A83C5240-0170-1DDC-41AC-D3FC2FD195C3}"/>
              </a:ext>
            </a:extLst>
          </p:cNvPr>
          <p:cNvPicPr>
            <a:picLocks noChangeAspect="1"/>
          </p:cNvPicPr>
          <p:nvPr/>
        </p:nvPicPr>
        <p:blipFill>
          <a:blip r:embed="rId2"/>
          <a:stretch>
            <a:fillRect/>
          </a:stretch>
        </p:blipFill>
        <p:spPr>
          <a:xfrm>
            <a:off x="3730190" y="4353978"/>
            <a:ext cx="4731619" cy="2453728"/>
          </a:xfrm>
          <a:prstGeom prst="rect">
            <a:avLst/>
          </a:prstGeom>
        </p:spPr>
      </p:pic>
      <p:sp>
        <p:nvSpPr>
          <p:cNvPr id="6" name="矩形 5">
            <a:extLst>
              <a:ext uri="{FF2B5EF4-FFF2-40B4-BE49-F238E27FC236}">
                <a16:creationId xmlns:a16="http://schemas.microsoft.com/office/drawing/2014/main" id="{BC99583F-8155-4855-F8B5-8FE377A34580}"/>
              </a:ext>
            </a:extLst>
          </p:cNvPr>
          <p:cNvSpPr/>
          <p:nvPr/>
        </p:nvSpPr>
        <p:spPr>
          <a:xfrm>
            <a:off x="801092" y="2446417"/>
            <a:ext cx="10589815" cy="1878686"/>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4200881183"/>
      </p:ext>
    </p:extLst>
  </p:cSld>
  <p:clrMapOvr>
    <a:masterClrMapping/>
  </p:clrMapOvr>
  <p:transition spd="slow" advTm="0">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28A1B4-DEE5-2F7E-4D8F-262AEAB683FF}"/>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彩色图像锐化</a:t>
            </a:r>
          </a:p>
        </p:txBody>
      </p:sp>
      <p:sp>
        <p:nvSpPr>
          <p:cNvPr id="3" name="文本占位符 2">
            <a:extLst>
              <a:ext uri="{FF2B5EF4-FFF2-40B4-BE49-F238E27FC236}">
                <a16:creationId xmlns:a16="http://schemas.microsoft.com/office/drawing/2014/main" id="{295EE56E-CD6A-DFDA-5068-A5E5AD813CB1}"/>
              </a:ext>
            </a:extLst>
          </p:cNvPr>
          <p:cNvSpPr>
            <a:spLocks noGrp="1"/>
          </p:cNvSpPr>
          <p:nvPr>
            <p:ph sz="quarter" idx="12"/>
          </p:nvPr>
        </p:nvSpPr>
        <p:spPr/>
        <p:txBody>
          <a:bodyPr/>
          <a:lstStyle/>
          <a:p>
            <a:pPr marL="0" marR="0" lvl="0" indent="0" rtl="0">
              <a:buNone/>
            </a:pPr>
            <a:r>
              <a:rPr lang="zh-CN" altLang="en-US" b="0" i="0" u="none" strike="noStrike" baseline="0" dirty="0">
                <a:solidFill>
                  <a:srgbClr val="000000"/>
                </a:solidFill>
                <a:cs typeface="+mn-ea"/>
                <a:sym typeface="+mn-lt"/>
              </a:rPr>
              <a:t>本节介绍如何用拉普拉斯</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见</a:t>
            </a:r>
            <a:r>
              <a:rPr lang="en-US" altLang="zh-CN" b="0" i="0" u="none" strike="noStrike" baseline="0" dirty="0">
                <a:solidFill>
                  <a:srgbClr val="000000"/>
                </a:solidFill>
                <a:cs typeface="+mn-ea"/>
                <a:sym typeface="+mn-lt"/>
              </a:rPr>
              <a:t>3.6</a:t>
            </a:r>
            <a:r>
              <a:rPr lang="zh-CN" altLang="en-US" b="0" i="0" u="none" strike="noStrike" baseline="0" dirty="0">
                <a:solidFill>
                  <a:srgbClr val="000000"/>
                </a:solidFill>
                <a:cs typeface="+mn-ea"/>
                <a:sym typeface="+mn-lt"/>
              </a:rPr>
              <a:t>节</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来锐化图像。向量分析表明，一个向量的拉普拉斯也是一个向量，其分量等于输入向量的各个标量分量的拉普拉斯。在 </a:t>
            </a:r>
            <a:r>
              <a:rPr lang="en-US" altLang="zh-CN" b="0" i="0" u="none" strike="noStrike" baseline="0" dirty="0">
                <a:solidFill>
                  <a:srgbClr val="000000"/>
                </a:solidFill>
                <a:cs typeface="+mn-ea"/>
                <a:sym typeface="+mn-lt"/>
              </a:rPr>
              <a:t>RGB</a:t>
            </a:r>
            <a:r>
              <a:rPr lang="zh-CN" altLang="en-US" b="0" i="0" u="none" strike="noStrike" baseline="0" dirty="0">
                <a:solidFill>
                  <a:srgbClr val="000000"/>
                </a:solidFill>
                <a:cs typeface="+mn-ea"/>
                <a:sym typeface="+mn-lt"/>
              </a:rPr>
              <a:t> 彩色系统中，式</a:t>
            </a:r>
            <a:r>
              <a:rPr lang="en-US" altLang="zh-CN" b="0" i="0" u="none" strike="noStrike" baseline="0" dirty="0">
                <a:solidFill>
                  <a:srgbClr val="000000"/>
                </a:solidFill>
                <a:cs typeface="+mn-ea"/>
                <a:sym typeface="+mn-lt"/>
              </a:rPr>
              <a:t>(6.37)</a:t>
            </a:r>
            <a:r>
              <a:rPr lang="zh-CN" altLang="en-US" b="0" i="0" u="none" strike="noStrike" baseline="0" dirty="0">
                <a:solidFill>
                  <a:srgbClr val="000000"/>
                </a:solidFill>
                <a:cs typeface="+mn-ea"/>
                <a:sym typeface="+mn-lt"/>
              </a:rPr>
              <a:t>中向量</a:t>
            </a:r>
            <a:r>
              <a:rPr lang="en-US" altLang="zh-CN" b="0" i="0" u="none" strike="noStrike" baseline="0" dirty="0">
                <a:solidFill>
                  <a:srgbClr val="000000"/>
                </a:solidFill>
                <a:cs typeface="+mn-ea"/>
                <a:sym typeface="+mn-lt"/>
              </a:rPr>
              <a:t>c</a:t>
            </a:r>
            <a:r>
              <a:rPr lang="zh-CN" altLang="en-US" b="0" i="0" u="none" strike="noStrike" baseline="0" dirty="0">
                <a:solidFill>
                  <a:srgbClr val="000000"/>
                </a:solidFill>
                <a:cs typeface="+mn-ea"/>
                <a:sym typeface="+mn-lt"/>
              </a:rPr>
              <a:t>的拉普拉斯为</a:t>
            </a:r>
            <a:endParaRPr lang="en-US" altLang="zh-CN" b="0" i="0" u="none" strike="noStrike" baseline="0" dirty="0">
              <a:solidFill>
                <a:srgbClr val="000000"/>
              </a:solidFill>
              <a:cs typeface="+mn-ea"/>
              <a:sym typeface="+mn-lt"/>
            </a:endParaRPr>
          </a:p>
          <a:p>
            <a:pPr marL="0" marR="0" lvl="0" indent="0" rtl="0">
              <a:buNone/>
            </a:pPr>
            <a:endParaRPr lang="zh-CN" altLang="en-US" b="0" i="0" u="none" strike="noStrike" baseline="0" dirty="0">
              <a:solidFill>
                <a:srgbClr val="000000"/>
              </a:solidFill>
              <a:cs typeface="+mn-ea"/>
              <a:sym typeface="+mn-lt"/>
            </a:endParaRPr>
          </a:p>
          <a:p>
            <a:pPr marL="0" marR="0" lvl="0" indent="0" rtl="0">
              <a:buNone/>
            </a:pPr>
            <a:endParaRPr lang="en-US" altLang="zh-CN" b="0" i="0" u="none" strike="noStrike" baseline="0" dirty="0">
              <a:solidFill>
                <a:srgbClr val="000000"/>
              </a:solidFill>
              <a:cs typeface="+mn-ea"/>
              <a:sym typeface="+mn-lt"/>
            </a:endParaRPr>
          </a:p>
          <a:p>
            <a:pPr marL="0" marR="0" lvl="0" indent="0" rtl="0">
              <a:buNone/>
            </a:pPr>
            <a:r>
              <a:rPr lang="zh-CN" altLang="en-US" b="0" i="0" u="none" strike="noStrike" baseline="0" dirty="0">
                <a:solidFill>
                  <a:srgbClr val="000000"/>
                </a:solidFill>
                <a:cs typeface="+mn-ea"/>
                <a:sym typeface="+mn-lt"/>
              </a:rPr>
              <a:t>上式表明，分别计算每幅分量图像的拉普拉斯，可求出全彩色图像的拉普拉斯。</a:t>
            </a:r>
          </a:p>
        </p:txBody>
      </p:sp>
      <p:pic>
        <p:nvPicPr>
          <p:cNvPr id="5" name="图片 4">
            <a:extLst>
              <a:ext uri="{FF2B5EF4-FFF2-40B4-BE49-F238E27FC236}">
                <a16:creationId xmlns:a16="http://schemas.microsoft.com/office/drawing/2014/main" id="{24DE678F-40BD-98A8-AFA6-C67C9F877883}"/>
              </a:ext>
            </a:extLst>
          </p:cNvPr>
          <p:cNvPicPr>
            <a:picLocks noChangeAspect="1"/>
          </p:cNvPicPr>
          <p:nvPr/>
        </p:nvPicPr>
        <p:blipFill>
          <a:blip r:embed="rId2"/>
          <a:stretch>
            <a:fillRect/>
          </a:stretch>
        </p:blipFill>
        <p:spPr>
          <a:xfrm>
            <a:off x="4715079" y="3953568"/>
            <a:ext cx="2761842" cy="1244073"/>
          </a:xfrm>
          <a:prstGeom prst="rect">
            <a:avLst/>
          </a:prstGeom>
        </p:spPr>
      </p:pic>
    </p:spTree>
    <p:extLst>
      <p:ext uri="{BB962C8B-B14F-4D97-AF65-F5344CB8AC3E}">
        <p14:creationId xmlns:p14="http://schemas.microsoft.com/office/powerpoint/2010/main" val="3242394251"/>
      </p:ext>
    </p:extLst>
  </p:cSld>
  <p:clrMapOvr>
    <a:masterClrMapping/>
  </p:clrMapOvr>
  <p:transition spd="slow" advTm="0">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07</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使用彩色分割图像</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3200924151"/>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32F6E5-C319-7C87-BA2D-76CE07855575}"/>
              </a:ext>
            </a:extLst>
          </p:cNvPr>
          <p:cNvSpPr>
            <a:spLocks noGrp="1"/>
          </p:cNvSpPr>
          <p:nvPr>
            <p:ph type="title"/>
          </p:nvPr>
        </p:nvSpPr>
        <p:spPr/>
        <p:txBody>
          <a:bodyPr/>
          <a:lstStyle/>
          <a:p>
            <a:pPr marR="0" rtl="0"/>
            <a:r>
              <a:rPr lang="en-US" altLang="zh-CN" b="1" i="0" u="none" strike="noStrike" baseline="0">
                <a:solidFill>
                  <a:srgbClr val="0070C0"/>
                </a:solidFill>
                <a:latin typeface="+mn-lt"/>
                <a:ea typeface="+mn-ea"/>
                <a:cs typeface="+mn-ea"/>
                <a:sym typeface="+mn-lt"/>
              </a:rPr>
              <a:t>HSI</a:t>
            </a:r>
            <a:r>
              <a:rPr lang="zh-CN" altLang="en-US" b="1" i="0" u="none" strike="noStrike" baseline="0">
                <a:solidFill>
                  <a:srgbClr val="0070C0"/>
                </a:solidFill>
                <a:latin typeface="+mn-lt"/>
                <a:ea typeface="+mn-ea"/>
                <a:cs typeface="+mn-ea"/>
                <a:sym typeface="+mn-lt"/>
              </a:rPr>
              <a:t> 彩色空间中的分割</a:t>
            </a:r>
          </a:p>
        </p:txBody>
      </p:sp>
      <p:sp>
        <p:nvSpPr>
          <p:cNvPr id="3" name="文本占位符 2">
            <a:extLst>
              <a:ext uri="{FF2B5EF4-FFF2-40B4-BE49-F238E27FC236}">
                <a16:creationId xmlns:a16="http://schemas.microsoft.com/office/drawing/2014/main" id="{80D71448-4A2C-4D48-3D67-D44B8E2A8D32}"/>
              </a:ext>
            </a:extLst>
          </p:cNvPr>
          <p:cNvSpPr>
            <a:spLocks noGrp="1"/>
          </p:cNvSpPr>
          <p:nvPr>
            <p:ph sz="quarter" idx="12"/>
          </p:nvPr>
        </p:nvSpPr>
        <p:spPr/>
        <p:txBody>
          <a:bodyPr/>
          <a:lstStyle/>
          <a:p>
            <a:pPr marR="0" lvl="0" rtl="0"/>
            <a:r>
              <a:rPr lang="zh-CN" altLang="en-US" b="0" i="0" u="none" strike="noStrike" baseline="0" dirty="0">
                <a:solidFill>
                  <a:srgbClr val="000000"/>
                </a:solidFill>
                <a:cs typeface="+mn-ea"/>
                <a:sym typeface="+mn-lt"/>
              </a:rPr>
              <a:t>如果要根据颜色来分割一幅图像，并希望在各个平面上执行这一处理，那么自然会想到 </a:t>
            </a:r>
            <a:r>
              <a:rPr lang="en-US" altLang="zh-CN" b="0" i="0" u="none" strike="noStrike" baseline="0" dirty="0">
                <a:solidFill>
                  <a:srgbClr val="000000"/>
                </a:solidFill>
                <a:cs typeface="+mn-ea"/>
                <a:sym typeface="+mn-lt"/>
              </a:rPr>
              <a:t>HSI</a:t>
            </a:r>
            <a:r>
              <a:rPr lang="zh-CN" altLang="en-US" b="0" i="0" u="none" strike="noStrike" baseline="0" dirty="0">
                <a:solidFill>
                  <a:srgbClr val="000000"/>
                </a:solidFill>
                <a:cs typeface="+mn-ea"/>
                <a:sym typeface="+mn-lt"/>
              </a:rPr>
              <a:t> 空间，因为颜色在色调图像中可方便地表示。通常，饱和度被用做一幅模板图像，以进一步隔离色调图像中的感兴趣区域。</a:t>
            </a:r>
            <a:endParaRPr lang="en-US" altLang="zh-CN" b="0" i="0" u="none" strike="noStrike" baseline="0" dirty="0">
              <a:solidFill>
                <a:srgbClr val="000000"/>
              </a:solidFill>
              <a:cs typeface="+mn-ea"/>
              <a:sym typeface="+mn-lt"/>
            </a:endParaRPr>
          </a:p>
          <a:p>
            <a:pPr marR="0" lvl="0" rtl="0"/>
            <a:r>
              <a:rPr lang="zh-CN" altLang="en-US" b="0" i="0" u="none" strike="noStrike" baseline="0" dirty="0">
                <a:solidFill>
                  <a:srgbClr val="000000"/>
                </a:solidFill>
                <a:cs typeface="+mn-ea"/>
                <a:sym typeface="+mn-lt"/>
              </a:rPr>
              <a:t>由于灰度图像不携带颜色信息，因此很少在彩色图像的分割中使用。下面是在</a:t>
            </a:r>
            <a:r>
              <a:rPr lang="en-US" altLang="zh-CN" b="0" i="0" u="none" strike="noStrike" baseline="0" dirty="0">
                <a:solidFill>
                  <a:srgbClr val="000000"/>
                </a:solidFill>
                <a:cs typeface="+mn-ea"/>
                <a:sym typeface="+mn-lt"/>
              </a:rPr>
              <a:t>HSI</a:t>
            </a:r>
            <a:r>
              <a:rPr lang="zh-CN" altLang="en-US" b="0" i="0" u="none" strike="noStrike" baseline="0" dirty="0">
                <a:solidFill>
                  <a:srgbClr val="000000"/>
                </a:solidFill>
                <a:cs typeface="+mn-ea"/>
                <a:sym typeface="+mn-lt"/>
              </a:rPr>
              <a:t>彩色空间中进行分割的典型例子。</a:t>
            </a:r>
          </a:p>
        </p:txBody>
      </p:sp>
    </p:spTree>
    <p:extLst>
      <p:ext uri="{BB962C8B-B14F-4D97-AF65-F5344CB8AC3E}">
        <p14:creationId xmlns:p14="http://schemas.microsoft.com/office/powerpoint/2010/main" val="946911777"/>
      </p:ext>
    </p:extLst>
  </p:cSld>
  <p:clrMapOvr>
    <a:masterClrMapping/>
  </p:clrMapOvr>
  <p:transition spd="slow" advTm="0">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1DED40-0E60-CF5A-1ABE-CCDB96AB5638}"/>
              </a:ext>
            </a:extLst>
          </p:cNvPr>
          <p:cNvSpPr>
            <a:spLocks noGrp="1"/>
          </p:cNvSpPr>
          <p:nvPr>
            <p:ph type="title"/>
          </p:nvPr>
        </p:nvSpPr>
        <p:spPr/>
        <p:txBody>
          <a:bodyPr/>
          <a:lstStyle/>
          <a:p>
            <a:pPr marR="0" rtl="0"/>
            <a:r>
              <a:rPr lang="en-US" altLang="zh-CN" b="1" i="0" u="none" strike="noStrike" baseline="0">
                <a:solidFill>
                  <a:srgbClr val="0070C0"/>
                </a:solidFill>
                <a:latin typeface="+mn-lt"/>
                <a:ea typeface="+mn-ea"/>
                <a:cs typeface="+mn-ea"/>
                <a:sym typeface="+mn-lt"/>
              </a:rPr>
              <a:t>RGB</a:t>
            </a:r>
            <a:r>
              <a:rPr lang="zh-CN" altLang="en-US" b="1" i="0" u="none" strike="noStrike" baseline="0">
                <a:solidFill>
                  <a:srgbClr val="0070C0"/>
                </a:solidFill>
                <a:latin typeface="+mn-lt"/>
                <a:ea typeface="+mn-ea"/>
                <a:cs typeface="+mn-ea"/>
                <a:sym typeface="+mn-lt"/>
              </a:rPr>
              <a:t> 空间中的分割</a:t>
            </a:r>
          </a:p>
        </p:txBody>
      </p:sp>
      <p:sp>
        <p:nvSpPr>
          <p:cNvPr id="3" name="文本占位符 2">
            <a:extLst>
              <a:ext uri="{FF2B5EF4-FFF2-40B4-BE49-F238E27FC236}">
                <a16:creationId xmlns:a16="http://schemas.microsoft.com/office/drawing/2014/main" id="{FF1C9A09-8FE1-6CE5-E5D8-31901AC94514}"/>
              </a:ext>
            </a:extLst>
          </p:cNvPr>
          <p:cNvSpPr>
            <a:spLocks noGrp="1"/>
          </p:cNvSpPr>
          <p:nvPr>
            <p:ph sz="quarter" idx="12"/>
          </p:nvPr>
        </p:nvSpPr>
        <p:spPr/>
        <p:txBody>
          <a:bodyPr/>
          <a:lstStyle/>
          <a:p>
            <a:pPr marL="0" marR="0" lvl="0" indent="0" rtl="0">
              <a:buNone/>
            </a:pPr>
            <a:r>
              <a:rPr lang="zh-CN" altLang="en-US" b="0" i="0" u="none" strike="noStrike" baseline="0" dirty="0">
                <a:solidFill>
                  <a:srgbClr val="000000"/>
                </a:solidFill>
                <a:cs typeface="+mn-ea"/>
                <a:sym typeface="+mn-lt"/>
              </a:rPr>
              <a:t>尽管在</a:t>
            </a:r>
            <a:r>
              <a:rPr lang="en-US" altLang="zh-CN" b="0" i="0" u="none" strike="noStrike" baseline="0" dirty="0">
                <a:solidFill>
                  <a:srgbClr val="000000"/>
                </a:solidFill>
                <a:cs typeface="+mn-ea"/>
                <a:sym typeface="+mn-lt"/>
              </a:rPr>
              <a:t>HSI</a:t>
            </a:r>
            <a:r>
              <a:rPr lang="zh-CN" altLang="en-US" b="0" i="0" u="none" strike="noStrike" baseline="0" dirty="0">
                <a:solidFill>
                  <a:srgbClr val="000000"/>
                </a:solidFill>
                <a:cs typeface="+mn-ea"/>
                <a:sym typeface="+mn-lt"/>
              </a:rPr>
              <a:t>空间中以我们更熟悉的方式表示颜色更加直观，但使用</a:t>
            </a:r>
            <a:r>
              <a:rPr lang="en-US" altLang="zh-CN" b="0" i="0" u="none" strike="noStrike" baseline="0" dirty="0">
                <a:solidFill>
                  <a:srgbClr val="000000"/>
                </a:solidFill>
                <a:cs typeface="+mn-ea"/>
                <a:sym typeface="+mn-lt"/>
              </a:rPr>
              <a:t>RGB</a:t>
            </a:r>
            <a:r>
              <a:rPr lang="zh-CN" altLang="en-US" b="0" i="0" u="none" strike="noStrike" baseline="0" dirty="0">
                <a:solidFill>
                  <a:srgbClr val="000000"/>
                </a:solidFill>
                <a:cs typeface="+mn-ea"/>
                <a:sym typeface="+mn-lt"/>
              </a:rPr>
              <a:t>向量能对区域进行更好的分割</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见图</a:t>
            </a:r>
            <a:r>
              <a:rPr lang="en-US" altLang="zh-CN" b="0" i="0" u="none" strike="noStrike" baseline="0" dirty="0">
                <a:solidFill>
                  <a:srgbClr val="000000"/>
                </a:solidFill>
                <a:cs typeface="+mn-ea"/>
                <a:sym typeface="+mn-lt"/>
              </a:rPr>
              <a:t>6.7)</a:t>
            </a:r>
            <a:r>
              <a:rPr lang="zh-CN" altLang="en-US" b="0" i="0" u="none" strike="noStrike" baseline="0" dirty="0">
                <a:solidFill>
                  <a:srgbClr val="000000"/>
                </a:solidFill>
                <a:cs typeface="+mn-ea"/>
                <a:sym typeface="+mn-lt"/>
              </a:rPr>
              <a:t>。在</a:t>
            </a:r>
            <a:r>
              <a:rPr lang="en-US" altLang="zh-CN" b="0" i="0" u="none" strike="noStrike" baseline="0" dirty="0">
                <a:solidFill>
                  <a:srgbClr val="000000"/>
                </a:solidFill>
                <a:cs typeface="+mn-ea"/>
                <a:sym typeface="+mn-lt"/>
              </a:rPr>
              <a:t>RGB</a:t>
            </a:r>
            <a:r>
              <a:rPr lang="zh-CN" altLang="en-US" b="0" i="0" u="none" strike="noStrike" baseline="0" dirty="0">
                <a:solidFill>
                  <a:srgbClr val="000000"/>
                </a:solidFill>
                <a:cs typeface="+mn-ea"/>
                <a:sym typeface="+mn-lt"/>
              </a:rPr>
              <a:t>空间中进行分割更为简单。假设我们的目的是分割一幅</a:t>
            </a:r>
            <a:r>
              <a:rPr lang="en-US" altLang="zh-CN" b="0" i="0" u="none" strike="noStrike" baseline="0" dirty="0">
                <a:solidFill>
                  <a:srgbClr val="000000"/>
                </a:solidFill>
                <a:cs typeface="+mn-ea"/>
                <a:sym typeface="+mn-lt"/>
              </a:rPr>
              <a:t>RGB</a:t>
            </a:r>
            <a:r>
              <a:rPr lang="zh-CN" altLang="en-US" b="0" i="0" u="none" strike="noStrike" baseline="0" dirty="0">
                <a:solidFill>
                  <a:srgbClr val="000000"/>
                </a:solidFill>
                <a:cs typeface="+mn-ea"/>
                <a:sym typeface="+mn-lt"/>
              </a:rPr>
              <a:t>图像中的某些规定颜色的目标。</a:t>
            </a:r>
          </a:p>
        </p:txBody>
      </p:sp>
      <p:pic>
        <p:nvPicPr>
          <p:cNvPr id="5" name="图片 4">
            <a:extLst>
              <a:ext uri="{FF2B5EF4-FFF2-40B4-BE49-F238E27FC236}">
                <a16:creationId xmlns:a16="http://schemas.microsoft.com/office/drawing/2014/main" id="{BD54B6AE-EC43-3760-1302-3648990FE744}"/>
              </a:ext>
            </a:extLst>
          </p:cNvPr>
          <p:cNvPicPr>
            <a:picLocks noChangeAspect="1"/>
          </p:cNvPicPr>
          <p:nvPr/>
        </p:nvPicPr>
        <p:blipFill>
          <a:blip r:embed="rId2"/>
          <a:stretch>
            <a:fillRect/>
          </a:stretch>
        </p:blipFill>
        <p:spPr>
          <a:xfrm>
            <a:off x="4527201" y="3522496"/>
            <a:ext cx="3137595" cy="2837347"/>
          </a:xfrm>
          <a:prstGeom prst="rect">
            <a:avLst/>
          </a:prstGeom>
        </p:spPr>
      </p:pic>
    </p:spTree>
    <p:extLst>
      <p:ext uri="{BB962C8B-B14F-4D97-AF65-F5344CB8AC3E}">
        <p14:creationId xmlns:p14="http://schemas.microsoft.com/office/powerpoint/2010/main" val="1704422096"/>
      </p:ext>
    </p:extLst>
  </p:cSld>
  <p:clrMapOvr>
    <a:masterClrMapping/>
  </p:clrMapOvr>
  <p:transition spd="slow" advTm="0">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B21FD1-AAAA-733C-0F99-1D39848A2DA2}"/>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彩色边缘检测</a:t>
            </a:r>
          </a:p>
        </p:txBody>
      </p:sp>
      <p:sp>
        <p:nvSpPr>
          <p:cNvPr id="3" name="文本占位符 2">
            <a:extLst>
              <a:ext uri="{FF2B5EF4-FFF2-40B4-BE49-F238E27FC236}">
                <a16:creationId xmlns:a16="http://schemas.microsoft.com/office/drawing/2014/main" id="{88A56B31-2EA7-B128-05BE-1C72BA267BD8}"/>
              </a:ext>
            </a:extLst>
          </p:cNvPr>
          <p:cNvSpPr>
            <a:spLocks noGrp="1"/>
          </p:cNvSpPr>
          <p:nvPr>
            <p:ph sz="quarter" idx="12"/>
          </p:nvPr>
        </p:nvSpPr>
        <p:spPr/>
        <p:txBody>
          <a:bodyPr/>
          <a:lstStyle/>
          <a:p>
            <a:pPr marR="0" lvl="0" rtl="0"/>
            <a:r>
              <a:rPr lang="zh-CN" altLang="en-US" b="0" i="0" u="none" strike="noStrike" baseline="0" dirty="0">
                <a:solidFill>
                  <a:srgbClr val="000000"/>
                </a:solidFill>
                <a:cs typeface="+mn-ea"/>
                <a:sym typeface="+mn-lt"/>
              </a:rPr>
              <a:t>如</a:t>
            </a:r>
            <a:r>
              <a:rPr lang="en-US" altLang="zh-CN" b="0" i="0" u="none" strike="noStrike" baseline="0" dirty="0">
                <a:solidFill>
                  <a:srgbClr val="000000"/>
                </a:solidFill>
                <a:cs typeface="+mn-ea"/>
                <a:sym typeface="+mn-lt"/>
              </a:rPr>
              <a:t>10.2</a:t>
            </a:r>
            <a:r>
              <a:rPr lang="zh-CN" altLang="en-US" b="0" i="0" u="none" strike="noStrike" baseline="0" dirty="0">
                <a:solidFill>
                  <a:srgbClr val="000000"/>
                </a:solidFill>
                <a:cs typeface="+mn-ea"/>
                <a:sym typeface="+mn-lt"/>
              </a:rPr>
              <a:t>节中将要讨论的那样，边缘检测对图像分割来说是一个重要的工具。本节的重点是计算各幅分量图像的边缘，而不是在彩色向量空间中直接计算边缘。</a:t>
            </a:r>
          </a:p>
          <a:p>
            <a:pPr marR="0" lvl="0" rtl="0"/>
            <a:r>
              <a:rPr lang="zh-CN" altLang="en-US" b="0" i="0" u="none" strike="noStrike" baseline="0" dirty="0">
                <a:solidFill>
                  <a:srgbClr val="000000"/>
                </a:solidFill>
                <a:cs typeface="+mn-ea"/>
                <a:sym typeface="+mn-lt"/>
              </a:rPr>
              <a:t>讨论图像锐化时，</a:t>
            </a:r>
            <a:r>
              <a:rPr lang="en-US" altLang="zh-CN" b="0" i="0" u="none" strike="noStrike" baseline="0" dirty="0">
                <a:solidFill>
                  <a:srgbClr val="000000"/>
                </a:solidFill>
                <a:cs typeface="+mn-ea"/>
                <a:sym typeface="+mn-lt"/>
              </a:rPr>
              <a:t>3.6</a:t>
            </a:r>
            <a:r>
              <a:rPr lang="zh-CN" altLang="en-US" b="0" i="0" u="none" strike="noStrike" baseline="0" dirty="0">
                <a:solidFill>
                  <a:srgbClr val="000000"/>
                </a:solidFill>
                <a:cs typeface="+mn-ea"/>
                <a:sym typeface="+mn-lt"/>
              </a:rPr>
              <a:t> 节介绍过用梯度算子来检测边缘。遗憾的是，当时讨论的梯度并不是为向量定义的。于是，我们立刻想到，首先计算各幅图像的梯度，然后将结果合成为一幅彩色图像，会得到错误的结果。 一个简单的例子就可帮助我们说明原因。</a:t>
            </a:r>
          </a:p>
        </p:txBody>
      </p:sp>
    </p:spTree>
    <p:extLst>
      <p:ext uri="{BB962C8B-B14F-4D97-AF65-F5344CB8AC3E}">
        <p14:creationId xmlns:p14="http://schemas.microsoft.com/office/powerpoint/2010/main" val="2076327639"/>
      </p:ext>
    </p:extLst>
  </p:cSld>
  <p:clrMapOvr>
    <a:masterClrMapping/>
  </p:clrMapOvr>
  <p:transition spd="slow" advTm="0">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08</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彩色图像中的噪声</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3162791148"/>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B21FD1-AAAA-733C-0F99-1D39848A2DA2}"/>
              </a:ext>
            </a:extLst>
          </p:cNvPr>
          <p:cNvSpPr>
            <a:spLocks noGrp="1"/>
          </p:cNvSpPr>
          <p:nvPr>
            <p:ph type="title"/>
          </p:nvPr>
        </p:nvSpPr>
        <p:spPr/>
        <p:txBody>
          <a:bodyPr/>
          <a:lstStyle/>
          <a:p>
            <a:pPr marR="0" rtl="0"/>
            <a:r>
              <a:rPr lang="zh-CN" altLang="en-US" b="1" i="0" u="none" strike="noStrike" baseline="0" dirty="0">
                <a:solidFill>
                  <a:srgbClr val="0070C0"/>
                </a:solidFill>
                <a:latin typeface="+mn-lt"/>
                <a:ea typeface="+mn-ea"/>
                <a:cs typeface="+mn-ea"/>
                <a:sym typeface="+mn-lt"/>
              </a:rPr>
              <a:t>概述</a:t>
            </a:r>
          </a:p>
        </p:txBody>
      </p:sp>
      <p:sp>
        <p:nvSpPr>
          <p:cNvPr id="3" name="文本占位符 2">
            <a:extLst>
              <a:ext uri="{FF2B5EF4-FFF2-40B4-BE49-F238E27FC236}">
                <a16:creationId xmlns:a16="http://schemas.microsoft.com/office/drawing/2014/main" id="{88A56B31-2EA7-B128-05BE-1C72BA267BD8}"/>
              </a:ext>
            </a:extLst>
          </p:cNvPr>
          <p:cNvSpPr>
            <a:spLocks noGrp="1"/>
          </p:cNvSpPr>
          <p:nvPr>
            <p:ph sz="quarter" idx="12"/>
          </p:nvPr>
        </p:nvSpPr>
        <p:spPr/>
        <p:txBody>
          <a:bodyPr>
            <a:noAutofit/>
          </a:bodyPr>
          <a:lstStyle/>
          <a:p>
            <a:pPr marR="0" lvl="0" rtl="0"/>
            <a:r>
              <a:rPr lang="zh-CN" altLang="en-US" b="0" i="0" u="none" strike="noStrike" baseline="0" dirty="0">
                <a:solidFill>
                  <a:srgbClr val="000000"/>
                </a:solidFill>
                <a:cs typeface="+mn-ea"/>
                <a:sym typeface="+mn-lt"/>
              </a:rPr>
              <a:t>事实上，到目前为止我们讨论的处理，都是在每幅图像的基础上对全彩色图像滤波，或直接在彩色向量空间中对全彩色图像滤波。例如，使用平均滤波器降噪是 </a:t>
            </a:r>
            <a:r>
              <a:rPr lang="en-US" altLang="zh-CN" b="0" i="0" u="none" strike="noStrike" baseline="0" dirty="0">
                <a:solidFill>
                  <a:srgbClr val="000000"/>
                </a:solidFill>
                <a:cs typeface="+mn-ea"/>
                <a:sym typeface="+mn-lt"/>
              </a:rPr>
              <a:t>6.6 </a:t>
            </a:r>
            <a:r>
              <a:rPr lang="zh-CN" altLang="en-US" b="0" i="0" u="none" strike="noStrike" baseline="0" dirty="0">
                <a:solidFill>
                  <a:srgbClr val="000000"/>
                </a:solidFill>
                <a:cs typeface="+mn-ea"/>
                <a:sym typeface="+mn-lt"/>
              </a:rPr>
              <a:t>节中讨论的处理方法，这种方法在向量空间中对整个图像滤波和分别对分量图像滤波，得到的结果相同。然而，其他滤波方法却不能以这种方式确切地表达。</a:t>
            </a:r>
            <a:endParaRPr lang="en-US" altLang="zh-CN" b="0" i="0" u="none" strike="noStrike" baseline="0" dirty="0">
              <a:solidFill>
                <a:srgbClr val="000000"/>
              </a:solidFill>
              <a:cs typeface="+mn-ea"/>
              <a:sym typeface="+mn-lt"/>
            </a:endParaRPr>
          </a:p>
          <a:p>
            <a:pPr marR="0" lvl="0" rtl="0"/>
            <a:r>
              <a:rPr lang="zh-CN" altLang="en-US" b="0" i="0" u="none" strike="noStrike" baseline="0" dirty="0">
                <a:solidFill>
                  <a:srgbClr val="000000"/>
                </a:solidFill>
                <a:cs typeface="+mn-ea"/>
                <a:sym typeface="+mn-lt"/>
              </a:rPr>
              <a:t>这样的例子包括 </a:t>
            </a:r>
            <a:r>
              <a:rPr lang="en-US" altLang="zh-CN" b="0" i="0" u="none" strike="noStrike" baseline="0" dirty="0">
                <a:solidFill>
                  <a:srgbClr val="000000"/>
                </a:solidFill>
                <a:cs typeface="+mn-ea"/>
                <a:sym typeface="+mn-lt"/>
              </a:rPr>
              <a:t>5.3 </a:t>
            </a:r>
            <a:r>
              <a:rPr lang="zh-CN" altLang="en-US" b="0" i="0" u="none" strike="noStrike" baseline="0" dirty="0">
                <a:solidFill>
                  <a:srgbClr val="000000"/>
                </a:solidFill>
                <a:cs typeface="+mn-ea"/>
                <a:sym typeface="+mn-lt"/>
              </a:rPr>
              <a:t>节中讨论的统计排序滤波。例如，要在彩色向量空间实现中值滤波，就要找到一种使得中值有意义的向量排序方案。这种方法处理标量时很简单，但在处理向量时却相当复杂。向量排序超出了此处的讨论范围，关于向量排序及基于排序概念的滤波器，请读者参阅 </a:t>
            </a:r>
            <a:r>
              <a:rPr lang="en-US" altLang="zh-CN" b="0" i="0" u="none" strike="noStrike" baseline="0" dirty="0" err="1">
                <a:solidFill>
                  <a:srgbClr val="000000"/>
                </a:solidFill>
                <a:cs typeface="+mn-ea"/>
                <a:sym typeface="+mn-lt"/>
              </a:rPr>
              <a:t>Plataniotis</a:t>
            </a:r>
            <a:r>
              <a:rPr lang="en-US" altLang="zh-CN" b="0" i="0" u="none" strike="noStrike" baseline="0" dirty="0">
                <a:solidFill>
                  <a:srgbClr val="000000"/>
                </a:solidFill>
                <a:cs typeface="+mn-ea"/>
                <a:sym typeface="+mn-lt"/>
              </a:rPr>
              <a:t> and </a:t>
            </a:r>
            <a:r>
              <a:rPr lang="en-US" altLang="zh-CN" b="0" i="0" u="none" strike="noStrike" baseline="0" dirty="0" err="1">
                <a:solidFill>
                  <a:srgbClr val="000000"/>
                </a:solidFill>
                <a:cs typeface="+mn-ea"/>
                <a:sym typeface="+mn-lt"/>
              </a:rPr>
              <a:t>Venetsanopoulos</a:t>
            </a:r>
            <a:r>
              <a:rPr lang="en-US" altLang="zh-CN" b="0" i="0" u="none" strike="noStrike" baseline="0" dirty="0">
                <a:solidFill>
                  <a:srgbClr val="000000"/>
                </a:solidFill>
                <a:cs typeface="+mn-ea"/>
                <a:sym typeface="+mn-lt"/>
              </a:rPr>
              <a:t>[2000]</a:t>
            </a:r>
            <a:r>
              <a:rPr lang="zh-CN" altLang="en-US" b="0" i="0" u="none" strike="noStrike" baseline="0" dirty="0">
                <a:solidFill>
                  <a:srgbClr val="000000"/>
                </a:solidFill>
                <a:cs typeface="+mn-ea"/>
                <a:sym typeface="+mn-lt"/>
              </a:rPr>
              <a:t>。</a:t>
            </a:r>
          </a:p>
        </p:txBody>
      </p:sp>
    </p:spTree>
    <p:extLst>
      <p:ext uri="{BB962C8B-B14F-4D97-AF65-F5344CB8AC3E}">
        <p14:creationId xmlns:p14="http://schemas.microsoft.com/office/powerpoint/2010/main" val="2945276938"/>
      </p:ext>
    </p:extLst>
  </p:cSld>
  <p:clrMapOvr>
    <a:masterClrMapping/>
  </p:clrMapOvr>
  <p:transition spd="slow" advTm="0">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09</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彩色图像压缩</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1740077417"/>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22A1B7-93A5-ACF5-C904-6D0699C74D76}"/>
              </a:ext>
            </a:extLst>
          </p:cNvPr>
          <p:cNvSpPr>
            <a:spLocks noGrp="1"/>
          </p:cNvSpPr>
          <p:nvPr>
            <p:ph type="title"/>
          </p:nvPr>
        </p:nvSpPr>
        <p:spPr/>
        <p:txBody>
          <a:bodyPr/>
          <a:lstStyle/>
          <a:p>
            <a:pPr marR="0" rtl="0"/>
            <a:r>
              <a:rPr lang="zh-CN" altLang="en-US" b="1" i="0" u="none" strike="noStrike" baseline="0" dirty="0">
                <a:solidFill>
                  <a:srgbClr val="0070C0"/>
                </a:solidFill>
                <a:latin typeface="+mn-lt"/>
                <a:ea typeface="+mn-ea"/>
                <a:cs typeface="+mn-ea"/>
                <a:sym typeface="+mn-lt"/>
              </a:rPr>
              <a:t>概述</a:t>
            </a:r>
          </a:p>
        </p:txBody>
      </p:sp>
      <p:sp>
        <p:nvSpPr>
          <p:cNvPr id="3" name="文本占位符 2">
            <a:extLst>
              <a:ext uri="{FF2B5EF4-FFF2-40B4-BE49-F238E27FC236}">
                <a16:creationId xmlns:a16="http://schemas.microsoft.com/office/drawing/2014/main" id="{2B1A017C-F25F-6091-6B79-69760225F4D9}"/>
              </a:ext>
            </a:extLst>
          </p:cNvPr>
          <p:cNvSpPr>
            <a:spLocks noGrp="1"/>
          </p:cNvSpPr>
          <p:nvPr>
            <p:ph sz="quarter" idx="12"/>
          </p:nvPr>
        </p:nvSpPr>
        <p:spPr/>
        <p:txBody>
          <a:bodyPr/>
          <a:lstStyle/>
          <a:p>
            <a:pPr marR="0" lvl="0" rtl="0"/>
            <a:r>
              <a:rPr lang="zh-CN" altLang="en-US" b="0" i="0" u="none" strike="noStrike" baseline="0" dirty="0">
                <a:solidFill>
                  <a:srgbClr val="000000"/>
                </a:solidFill>
                <a:cs typeface="+mn-ea"/>
                <a:sym typeface="+mn-lt"/>
              </a:rPr>
              <a:t>由于表示彩色所需的比特数要比表示灰度级所需的比特数大</a:t>
            </a:r>
            <a:r>
              <a:rPr lang="en-US" altLang="zh-CN" b="0" i="0" u="none" strike="noStrike" baseline="0" dirty="0">
                <a:solidFill>
                  <a:srgbClr val="000000"/>
                </a:solidFill>
                <a:cs typeface="+mn-ea"/>
                <a:sym typeface="+mn-lt"/>
              </a:rPr>
              <a:t>3</a:t>
            </a:r>
            <a:r>
              <a:rPr lang="zh-CN" altLang="en-US" b="0" i="0" u="none" strike="noStrike" baseline="0" dirty="0">
                <a:solidFill>
                  <a:srgbClr val="000000"/>
                </a:solidFill>
                <a:cs typeface="+mn-ea"/>
                <a:sym typeface="+mn-lt"/>
              </a:rPr>
              <a:t>～</a:t>
            </a:r>
            <a:r>
              <a:rPr lang="en-US" altLang="zh-CN" b="0" i="0" u="none" strike="noStrike" baseline="0" dirty="0">
                <a:solidFill>
                  <a:srgbClr val="000000"/>
                </a:solidFill>
                <a:cs typeface="+mn-ea"/>
                <a:sym typeface="+mn-lt"/>
              </a:rPr>
              <a:t>4</a:t>
            </a:r>
            <a:r>
              <a:rPr lang="zh-CN" altLang="en-US" b="0" i="0" u="none" strike="noStrike" baseline="0" dirty="0">
                <a:solidFill>
                  <a:srgbClr val="000000"/>
                </a:solidFill>
                <a:cs typeface="+mn-ea"/>
                <a:sym typeface="+mn-lt"/>
              </a:rPr>
              <a:t> 倍，因此数据压缩在存储和传输彩色图像时的作用非常重要。对于前几节中的</a:t>
            </a:r>
            <a:r>
              <a:rPr lang="en-US" altLang="zh-CN" b="0" i="0" u="none" strike="noStrike" baseline="0" dirty="0">
                <a:solidFill>
                  <a:srgbClr val="000000"/>
                </a:solidFill>
                <a:cs typeface="+mn-ea"/>
                <a:sym typeface="+mn-lt"/>
              </a:rPr>
              <a:t>RGB</a:t>
            </a:r>
            <a:r>
              <a:rPr lang="zh-CN" altLang="en-US" b="0" i="0" u="none" strike="noStrike" baseline="0" dirty="0">
                <a:solidFill>
                  <a:srgbClr val="000000"/>
                </a:solidFill>
                <a:cs typeface="+mn-ea"/>
                <a:sym typeface="+mn-lt"/>
              </a:rPr>
              <a:t>、</a:t>
            </a:r>
            <a:r>
              <a:rPr lang="en-US" altLang="zh-CN" b="0" i="0" u="none" strike="noStrike" baseline="0" dirty="0">
                <a:solidFill>
                  <a:srgbClr val="000000"/>
                </a:solidFill>
                <a:cs typeface="+mn-ea"/>
                <a:sym typeface="+mn-lt"/>
              </a:rPr>
              <a:t>CMY(K)</a:t>
            </a:r>
            <a:r>
              <a:rPr lang="zh-CN" altLang="en-US" b="0" i="0" u="none" strike="noStrike" baseline="0" dirty="0">
                <a:solidFill>
                  <a:srgbClr val="000000"/>
                </a:solidFill>
                <a:cs typeface="+mn-ea"/>
                <a:sym typeface="+mn-lt"/>
              </a:rPr>
              <a:t> 和</a:t>
            </a:r>
            <a:r>
              <a:rPr lang="en-US" altLang="zh-CN" b="0" i="0" u="none" strike="noStrike" baseline="0" dirty="0">
                <a:solidFill>
                  <a:srgbClr val="000000"/>
                </a:solidFill>
                <a:cs typeface="+mn-ea"/>
                <a:sym typeface="+mn-lt"/>
              </a:rPr>
              <a:t>HSI</a:t>
            </a:r>
            <a:r>
              <a:rPr lang="zh-CN" altLang="en-US" b="0" i="0" u="none" strike="noStrike" baseline="0" dirty="0">
                <a:solidFill>
                  <a:srgbClr val="000000"/>
                </a:solidFill>
                <a:cs typeface="+mn-ea"/>
                <a:sym typeface="+mn-lt"/>
              </a:rPr>
              <a:t> 图像，任何压缩对象的数据都是每个彩色像素的组成部分</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如</a:t>
            </a:r>
            <a:r>
              <a:rPr lang="en-US" altLang="zh-CN" b="0" i="0" u="none" strike="noStrike" baseline="0" dirty="0">
                <a:solidFill>
                  <a:srgbClr val="000000"/>
                </a:solidFill>
                <a:cs typeface="+mn-ea"/>
                <a:sym typeface="+mn-lt"/>
              </a:rPr>
              <a:t>RGB</a:t>
            </a:r>
            <a:r>
              <a:rPr lang="zh-CN" altLang="en-US" b="0" i="0" u="none" strike="noStrike" baseline="0" dirty="0">
                <a:solidFill>
                  <a:srgbClr val="000000"/>
                </a:solidFill>
                <a:cs typeface="+mn-ea"/>
                <a:sym typeface="+mn-lt"/>
              </a:rPr>
              <a:t> 图像中像素的红色、绿色和蓝色分量</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它们是传达彩色信息的方式。</a:t>
            </a:r>
            <a:endParaRPr lang="en-US" altLang="zh-CN" b="0" i="0" u="none" strike="noStrike" baseline="0" dirty="0">
              <a:solidFill>
                <a:srgbClr val="000000"/>
              </a:solidFill>
              <a:cs typeface="+mn-ea"/>
              <a:sym typeface="+mn-lt"/>
            </a:endParaRPr>
          </a:p>
          <a:p>
            <a:pPr marR="0" lvl="0" rtl="0"/>
            <a:r>
              <a:rPr lang="zh-CN" altLang="en-US" b="0" i="0" u="none" strike="noStrike" baseline="0" dirty="0">
                <a:solidFill>
                  <a:srgbClr val="000000"/>
                </a:solidFill>
                <a:cs typeface="+mn-ea"/>
                <a:sym typeface="+mn-lt"/>
              </a:rPr>
              <a:t>压缩是减小或消除冗余和</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或无关数据的处理。虽然压缩是第</a:t>
            </a:r>
            <a:r>
              <a:rPr lang="en-US" altLang="zh-CN" b="0" i="0" u="none" strike="noStrike" baseline="0" dirty="0">
                <a:solidFill>
                  <a:srgbClr val="000000"/>
                </a:solidFill>
                <a:cs typeface="+mn-ea"/>
                <a:sym typeface="+mn-lt"/>
              </a:rPr>
              <a:t>8</a:t>
            </a:r>
            <a:r>
              <a:rPr lang="zh-CN" altLang="en-US" b="0" i="0" u="none" strike="noStrike" baseline="0" dirty="0">
                <a:solidFill>
                  <a:srgbClr val="000000"/>
                </a:solidFill>
                <a:cs typeface="+mn-ea"/>
                <a:sym typeface="+mn-lt"/>
              </a:rPr>
              <a:t>章的主题，但下例使用一幅彩色图像来简单地说明这一概念。</a:t>
            </a:r>
          </a:p>
        </p:txBody>
      </p:sp>
    </p:spTree>
    <p:extLst>
      <p:ext uri="{BB962C8B-B14F-4D97-AF65-F5344CB8AC3E}">
        <p14:creationId xmlns:p14="http://schemas.microsoft.com/office/powerpoint/2010/main" val="1526465179"/>
      </p:ext>
    </p:extLst>
  </p:cSld>
  <p:clrMapOvr>
    <a:masterClrMapping/>
  </p:clrMapOvr>
  <p:transition spd="slow" advTm="0">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2" name="组合 301"/>
          <p:cNvGrpSpPr/>
          <p:nvPr/>
        </p:nvGrpSpPr>
        <p:grpSpPr>
          <a:xfrm>
            <a:off x="951918" y="2003875"/>
            <a:ext cx="4621778" cy="1257438"/>
            <a:chOff x="951918" y="1752810"/>
            <a:chExt cx="4621778" cy="1257438"/>
          </a:xfrm>
        </p:grpSpPr>
        <p:sp>
          <p:nvSpPr>
            <p:cNvPr id="295" name="椭圆 294"/>
            <p:cNvSpPr/>
            <p:nvPr/>
          </p:nvSpPr>
          <p:spPr>
            <a:xfrm>
              <a:off x="3440154" y="1752810"/>
              <a:ext cx="1219200" cy="1219200"/>
            </a:xfrm>
            <a:prstGeom prst="ellipse">
              <a:avLst/>
            </a:pr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85" name="文本框 284"/>
            <p:cNvSpPr txBox="1"/>
            <p:nvPr/>
          </p:nvSpPr>
          <p:spPr>
            <a:xfrm>
              <a:off x="951918" y="2240807"/>
              <a:ext cx="4621778"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400" b="1" i="0" u="none" strike="noStrike" kern="1200" cap="none" spc="0" normalizeH="0" baseline="0" noProof="0" dirty="0">
                  <a:ln>
                    <a:noFill/>
                  </a:ln>
                  <a:solidFill>
                    <a:prstClr val="black">
                      <a:lumMod val="85000"/>
                      <a:lumOff val="15000"/>
                    </a:prstClr>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感谢观看，再见！</a:t>
              </a:r>
            </a:p>
          </p:txBody>
        </p:sp>
      </p:grpSp>
      <p:grpSp>
        <p:nvGrpSpPr>
          <p:cNvPr id="2" name="组合 1">
            <a:extLst>
              <a:ext uri="{FF2B5EF4-FFF2-40B4-BE49-F238E27FC236}">
                <a16:creationId xmlns:a16="http://schemas.microsoft.com/office/drawing/2014/main" id="{4BE357EE-D036-5636-DC77-B48D4D7055E5}"/>
              </a:ext>
            </a:extLst>
          </p:cNvPr>
          <p:cNvGrpSpPr/>
          <p:nvPr/>
        </p:nvGrpSpPr>
        <p:grpSpPr>
          <a:xfrm>
            <a:off x="951918" y="4412946"/>
            <a:ext cx="4142910" cy="479114"/>
            <a:chOff x="5646962" y="4937787"/>
            <a:chExt cx="1453481" cy="482463"/>
          </a:xfrm>
          <a:effectLst/>
        </p:grpSpPr>
        <p:sp>
          <p:nvSpPr>
            <p:cNvPr id="3" name="任意多边形: 形状 12">
              <a:extLst>
                <a:ext uri="{FF2B5EF4-FFF2-40B4-BE49-F238E27FC236}">
                  <a16:creationId xmlns:a16="http://schemas.microsoft.com/office/drawing/2014/main" id="{B8825F78-788B-5888-4DE8-08CDF7B2BB1A}"/>
                </a:ext>
              </a:extLst>
            </p:cNvPr>
            <p:cNvSpPr/>
            <p:nvPr/>
          </p:nvSpPr>
          <p:spPr>
            <a:xfrm flipH="1" flipV="1">
              <a:off x="5646962" y="4937787"/>
              <a:ext cx="1453481" cy="482463"/>
            </a:xfrm>
            <a:prstGeom prst="roundRect">
              <a:avLst>
                <a:gd name="adj" fmla="val 50000"/>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4" name="文本框 3">
              <a:extLst>
                <a:ext uri="{FF2B5EF4-FFF2-40B4-BE49-F238E27FC236}">
                  <a16:creationId xmlns:a16="http://schemas.microsoft.com/office/drawing/2014/main" id="{95D6DFA9-4BAC-CC65-293E-89A0FE6CFA72}"/>
                </a:ext>
              </a:extLst>
            </p:cNvPr>
            <p:cNvSpPr txBox="1"/>
            <p:nvPr/>
          </p:nvSpPr>
          <p:spPr>
            <a:xfrm>
              <a:off x="5715384" y="4993062"/>
              <a:ext cx="1316636" cy="371914"/>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60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数字图像处理（第四版）</a:t>
              </a:r>
            </a:p>
          </p:txBody>
        </p:sp>
      </p:grpSp>
      <p:sp>
        <p:nvSpPr>
          <p:cNvPr id="5" name="Freeform 24">
            <a:extLst>
              <a:ext uri="{FF2B5EF4-FFF2-40B4-BE49-F238E27FC236}">
                <a16:creationId xmlns:a16="http://schemas.microsoft.com/office/drawing/2014/main" id="{CA6C89E0-1294-29F9-32FC-0C6AE93501E4}"/>
              </a:ext>
            </a:extLst>
          </p:cNvPr>
          <p:cNvSpPr>
            <a:spLocks/>
          </p:cNvSpPr>
          <p:nvPr/>
        </p:nvSpPr>
        <p:spPr bwMode="auto">
          <a:xfrm>
            <a:off x="951918" y="3660494"/>
            <a:ext cx="171824" cy="429542"/>
          </a:xfrm>
          <a:prstGeom prst="roundRect">
            <a:avLst/>
          </a:prstGeom>
          <a:solidFill>
            <a:srgbClr val="0463C4"/>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6" name="Inhaltsplatzhalter 4">
            <a:extLst>
              <a:ext uri="{FF2B5EF4-FFF2-40B4-BE49-F238E27FC236}">
                <a16:creationId xmlns:a16="http://schemas.microsoft.com/office/drawing/2014/main" id="{FAA5296B-124B-0722-3B9F-18899F4AC0A1}"/>
              </a:ext>
            </a:extLst>
          </p:cNvPr>
          <p:cNvSpPr txBox="1">
            <a:spLocks/>
          </p:cNvSpPr>
          <p:nvPr/>
        </p:nvSpPr>
        <p:spPr>
          <a:xfrm>
            <a:off x="1254141" y="3736766"/>
            <a:ext cx="3787962" cy="276999"/>
          </a:xfrm>
          <a:prstGeom prst="rect">
            <a:avLst/>
          </a:prstGeom>
        </p:spPr>
        <p:txBody>
          <a:bodyPr wrap="square" lIns="0" tIns="0" rIns="0" bIns="0">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gn="dist">
              <a:lnSpc>
                <a:spcPct val="100000"/>
              </a:lnSpc>
              <a:spcAft>
                <a:spcPts val="1200"/>
              </a:spcAft>
              <a:buNone/>
            </a:pPr>
            <a:r>
              <a:rPr lang="zh-CN" altLang="en-US" sz="1800" b="1"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国外电子与通信教材系列</a:t>
            </a:r>
          </a:p>
        </p:txBody>
      </p:sp>
    </p:spTree>
    <p:extLst>
      <p:ext uri="{BB962C8B-B14F-4D97-AF65-F5344CB8AC3E}">
        <p14:creationId xmlns:p14="http://schemas.microsoft.com/office/powerpoint/2010/main" val="279930665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02"/>
                                        </p:tgtEl>
                                        <p:attrNameLst>
                                          <p:attrName>style.visibility</p:attrName>
                                        </p:attrNameLst>
                                      </p:cBhvr>
                                      <p:to>
                                        <p:strVal val="visible"/>
                                      </p:to>
                                    </p:set>
                                    <p:anim calcmode="lin" valueType="num">
                                      <p:cBhvr additive="base">
                                        <p:cTn id="7" dur="500" fill="hold"/>
                                        <p:tgtEl>
                                          <p:spTgt spid="302"/>
                                        </p:tgtEl>
                                        <p:attrNameLst>
                                          <p:attrName>ppt_x</p:attrName>
                                        </p:attrNameLst>
                                      </p:cBhvr>
                                      <p:tavLst>
                                        <p:tav tm="0">
                                          <p:val>
                                            <p:strVal val="#ppt_x"/>
                                          </p:val>
                                        </p:tav>
                                        <p:tav tm="100000">
                                          <p:val>
                                            <p:strVal val="#ppt_x"/>
                                          </p:val>
                                        </p:tav>
                                      </p:tavLst>
                                    </p:anim>
                                    <p:anim calcmode="lin" valueType="num">
                                      <p:cBhvr additive="base">
                                        <p:cTn id="8" dur="500" fill="hold"/>
                                        <p:tgtEl>
                                          <p:spTgt spid="30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2" accel="20000" decel="80000"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1+#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par>
                                <p:cTn id="14" presetID="22" presetClass="entr" presetSubtype="8" fill="hold" grpId="0" nodeType="withEffect">
                                  <p:stCondLst>
                                    <p:cond delay="20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childTnLst>
                          </p:cTn>
                        </p:par>
                        <p:par>
                          <p:cTn id="17" fill="hold">
                            <p:stCondLst>
                              <p:cond delay="1200"/>
                            </p:stCondLst>
                            <p:childTnLst>
                              <p:par>
                                <p:cTn id="18" presetID="2" presetClass="entr" presetSubtype="4"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ppt_x"/>
                                          </p:val>
                                        </p:tav>
                                        <p:tav tm="100000">
                                          <p:val>
                                            <p:strVal val="#ppt_x"/>
                                          </p:val>
                                        </p:tav>
                                      </p:tavLst>
                                    </p:anim>
                                    <p:anim calcmode="lin" valueType="num">
                                      <p:cBhvr additive="base">
                                        <p:cTn id="21"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uf4m1zhv">
      <a:majorFont>
        <a:latin typeface="阿里巴巴普惠体"/>
        <a:ea typeface="阿里巴巴普惠体"/>
        <a:cs typeface=""/>
      </a:majorFont>
      <a:minorFont>
        <a:latin typeface="阿里巴巴普惠体"/>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【ch02】数字图像基础</Template>
  <TotalTime>68</TotalTime>
  <Words>2170</Words>
  <Application>Microsoft Office PowerPoint</Application>
  <PresentationFormat>宽屏</PresentationFormat>
  <Paragraphs>79</Paragraphs>
  <Slides>31</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31</vt:i4>
      </vt:variant>
    </vt:vector>
  </HeadingPairs>
  <TitlesOfParts>
    <vt:vector size="35" baseType="lpstr">
      <vt:lpstr>阿里巴巴普惠体</vt:lpstr>
      <vt:lpstr>Arial</vt:lpstr>
      <vt:lpstr>Wingdings</vt:lpstr>
      <vt:lpstr>Office 主题</vt:lpstr>
      <vt:lpstr>PowerPoint 演示文稿</vt:lpstr>
      <vt:lpstr>PowerPoint 演示文稿</vt:lpstr>
      <vt:lpstr>基础</vt:lpstr>
      <vt:lpstr>PowerPoint 演示文稿</vt:lpstr>
      <vt:lpstr>RGB  彩色模型</vt:lpstr>
      <vt:lpstr>CMY和CMYK彩色模型</vt:lpstr>
      <vt:lpstr>HSI 彩色模型</vt:lpstr>
      <vt:lpstr>HSI 彩色模型</vt:lpstr>
      <vt:lpstr>设备无关彩色模型</vt:lpstr>
      <vt:lpstr>PowerPoint 演示文稿</vt:lpstr>
      <vt:lpstr>灰度分层和彩色编码</vt:lpstr>
      <vt:lpstr>灰度到彩色的变换</vt:lpstr>
      <vt:lpstr>PowerPoint 演示文稿</vt:lpstr>
      <vt:lpstr>基础</vt:lpstr>
      <vt:lpstr>PowerPoint 演示文稿</vt:lpstr>
      <vt:lpstr>补色</vt:lpstr>
      <vt:lpstr>彩色分层</vt:lpstr>
      <vt:lpstr>色调和彩色校正</vt:lpstr>
      <vt:lpstr>彩色图像的直方图处理</vt:lpstr>
      <vt:lpstr>PowerPoint 演示文稿</vt:lpstr>
      <vt:lpstr>彩色图像平滑</vt:lpstr>
      <vt:lpstr>彩色图像锐化</vt:lpstr>
      <vt:lpstr>PowerPoint 演示文稿</vt:lpstr>
      <vt:lpstr>HSI 彩色空间中的分割</vt:lpstr>
      <vt:lpstr>RGB 空间中的分割</vt:lpstr>
      <vt:lpstr>彩色边缘检测</vt:lpstr>
      <vt:lpstr>PowerPoint 演示文稿</vt:lpstr>
      <vt:lpstr>概述</vt:lpstr>
      <vt:lpstr>PowerPoint 演示文稿</vt:lpstr>
      <vt:lpstr>概述</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 6 章 彩色图像处理</dc:title>
  <dc:creator>娜 王</dc:creator>
  <cp:lastModifiedBy>娜 王</cp:lastModifiedBy>
  <cp:revision>3</cp:revision>
  <dcterms:created xsi:type="dcterms:W3CDTF">2023-10-12T12:44:50Z</dcterms:created>
  <dcterms:modified xsi:type="dcterms:W3CDTF">2023-10-19T03:47:15Z</dcterms:modified>
</cp:coreProperties>
</file>