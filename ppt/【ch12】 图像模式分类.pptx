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77" r:id="rId2"/>
    <p:sldId id="278" r:id="rId3"/>
    <p:sldId id="257" r:id="rId4"/>
    <p:sldId id="279" r:id="rId5"/>
    <p:sldId id="259" r:id="rId6"/>
    <p:sldId id="260" r:id="rId7"/>
    <p:sldId id="280" r:id="rId8"/>
    <p:sldId id="262" r:id="rId9"/>
    <p:sldId id="263" r:id="rId10"/>
    <p:sldId id="264" r:id="rId11"/>
    <p:sldId id="265" r:id="rId12"/>
    <p:sldId id="281" r:id="rId13"/>
    <p:sldId id="267" r:id="rId14"/>
    <p:sldId id="268" r:id="rId15"/>
    <p:sldId id="269" r:id="rId16"/>
    <p:sldId id="286" r:id="rId17"/>
    <p:sldId id="282" r:id="rId18"/>
    <p:sldId id="270" r:id="rId19"/>
    <p:sldId id="271" r:id="rId20"/>
    <p:sldId id="283" r:id="rId21"/>
    <p:sldId id="273" r:id="rId22"/>
    <p:sldId id="288" r:id="rId23"/>
    <p:sldId id="287" r:id="rId24"/>
    <p:sldId id="274" r:id="rId25"/>
    <p:sldId id="275" r:id="rId26"/>
    <p:sldId id="284" r:id="rId27"/>
    <p:sldId id="276" r:id="rId28"/>
    <p:sldId id="285"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94" d="100"/>
          <a:sy n="94" d="100"/>
        </p:scale>
        <p:origin x="162"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首页">
    <p:spTree>
      <p:nvGrpSpPr>
        <p:cNvPr id="1" name=""/>
        <p:cNvGrpSpPr/>
        <p:nvPr/>
      </p:nvGrpSpPr>
      <p:grpSpPr>
        <a:xfrm>
          <a:off x="0" y="0"/>
          <a:ext cx="0" cy="0"/>
          <a:chOff x="0" y="0"/>
          <a:chExt cx="0" cy="0"/>
        </a:xfrm>
      </p:grpSpPr>
      <p:sp>
        <p:nvSpPr>
          <p:cNvPr id="17" name="任意多边形: 形状 16"/>
          <p:cNvSpPr/>
          <p:nvPr/>
        </p:nvSpPr>
        <p:spPr>
          <a:xfrm>
            <a:off x="0"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a:off x="2733914" y="5295998"/>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nvGrpSpPr>
          <p:cNvPr id="22" name="组合 21"/>
          <p:cNvGrpSpPr/>
          <p:nvPr/>
        </p:nvGrpSpPr>
        <p:grpSpPr>
          <a:xfrm>
            <a:off x="5389245" y="-304800"/>
            <a:ext cx="7221855" cy="6395720"/>
            <a:chOff x="5389435" y="-304798"/>
            <a:chExt cx="7221666" cy="6395847"/>
          </a:xfrm>
        </p:grpSpPr>
        <p:grpSp>
          <p:nvGrpSpPr>
            <p:cNvPr id="16" name="组合 15"/>
            <p:cNvGrpSpPr/>
            <p:nvPr userDrawn="1"/>
          </p:nvGrpSpPr>
          <p:grpSpPr>
            <a:xfrm>
              <a:off x="5389435" y="-304798"/>
              <a:ext cx="7221666" cy="6395847"/>
              <a:chOff x="4970335" y="-304798"/>
              <a:chExt cx="7221666" cy="6395847"/>
            </a:xfrm>
          </p:grpSpPr>
          <p:sp>
            <p:nvSpPr>
              <p:cNvPr id="9" name="任意多边形: 形状 8"/>
              <p:cNvSpPr/>
              <p:nvPr/>
            </p:nvSpPr>
            <p:spPr>
              <a:xfrm rot="16200000">
                <a:off x="5383244" y="-717707"/>
                <a:ext cx="6395847"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0" name="任意多边形: 形状 9"/>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1" name="椭圆 10"/>
              <p:cNvSpPr/>
              <p:nvPr/>
            </p:nvSpPr>
            <p:spPr>
              <a:xfrm>
                <a:off x="6781800" y="2709637"/>
                <a:ext cx="2438400" cy="2438400"/>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2" name="任意多边形: 形状 11"/>
              <p:cNvSpPr/>
              <p:nvPr/>
            </p:nvSpPr>
            <p:spPr>
              <a:xfrm rot="16200000">
                <a:off x="9418682" y="1817763"/>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cxnSp>
          <p:nvCxnSpPr>
            <p:cNvPr id="21" name="直接连接符 20"/>
            <p:cNvCxnSpPr/>
            <p:nvPr userDrawn="1"/>
          </p:nvCxnSpPr>
          <p:spPr>
            <a:xfrm>
              <a:off x="5427535" y="1957388"/>
              <a:ext cx="168404" cy="328612"/>
            </a:xfrm>
            <a:prstGeom prst="line">
              <a:avLst/>
            </a:prstGeom>
            <a:ln w="12700">
              <a:solidFill>
                <a:srgbClr val="C8CBCD"/>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2999276462"/>
      </p:ext>
    </p:extLst>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3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6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序号页">
    <p:spTree>
      <p:nvGrpSpPr>
        <p:cNvPr id="1" name=""/>
        <p:cNvGrpSpPr/>
        <p:nvPr/>
      </p:nvGrpSpPr>
      <p:grpSpPr>
        <a:xfrm>
          <a:off x="0" y="0"/>
          <a:ext cx="0" cy="0"/>
          <a:chOff x="0" y="0"/>
          <a:chExt cx="0" cy="0"/>
        </a:xfrm>
      </p:grpSpPr>
      <p:grpSp>
        <p:nvGrpSpPr>
          <p:cNvPr id="12" name="组合 11"/>
          <p:cNvGrpSpPr/>
          <p:nvPr/>
        </p:nvGrpSpPr>
        <p:grpSpPr>
          <a:xfrm flipH="1">
            <a:off x="-1697057" y="-344712"/>
            <a:ext cx="7221666" cy="7232166"/>
            <a:chOff x="4970334" y="-304798"/>
            <a:chExt cx="7221666" cy="6431342"/>
          </a:xfrm>
          <a:effectLst>
            <a:outerShdw blurRad="50800" dist="38100" dir="2700000" algn="tl" rotWithShape="0">
              <a:prstClr val="black">
                <a:alpha val="20000"/>
              </a:prstClr>
            </a:outerShdw>
          </a:effectLst>
        </p:grpSpPr>
        <p:sp>
          <p:nvSpPr>
            <p:cNvPr id="13" name="任意多边形: 形状 12"/>
            <p:cNvSpPr/>
            <p:nvPr/>
          </p:nvSpPr>
          <p:spPr>
            <a:xfrm rot="16200000">
              <a:off x="5365496" y="-699960"/>
              <a:ext cx="6431342"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4" name="任意多边形: 形状 13"/>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5" name="椭圆 14"/>
            <p:cNvSpPr/>
            <p:nvPr/>
          </p:nvSpPr>
          <p:spPr>
            <a:xfrm>
              <a:off x="6690135" y="2426414"/>
              <a:ext cx="1961282" cy="1961282"/>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6" name="任意多边形: 形状 15"/>
            <p:cNvSpPr/>
            <p:nvPr/>
          </p:nvSpPr>
          <p:spPr>
            <a:xfrm rot="16200000">
              <a:off x="8765537" y="2166106"/>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sp>
        <p:nvSpPr>
          <p:cNvPr id="23" name="任意多边形: 形状 22"/>
          <p:cNvSpPr/>
          <p:nvPr/>
        </p:nvSpPr>
        <p:spPr>
          <a:xfrm flipH="1">
            <a:off x="10602589"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flipV="1">
            <a:off x="8128592" y="-1372"/>
            <a:ext cx="2978956" cy="1146672"/>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9" name="任意多边形: 形状 18"/>
          <p:cNvSpPr/>
          <p:nvPr/>
        </p:nvSpPr>
        <p:spPr>
          <a:xfrm flipH="1">
            <a:off x="4294452" y="5266545"/>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3051059092"/>
      </p:ext>
    </p:extLst>
  </p:cSld>
  <p:clrMapOvr>
    <a:masterClrMapping/>
  </p:clrMapOvr>
  <p:transition spd="slow" advTm="0">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7"/>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背景</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1701754641"/>
      </p:ext>
    </p:extLst>
  </p:cSld>
  <p:clrMapOvr>
    <a:masterClrMapping/>
  </p:clrMapOvr>
  <p:transition spd="slow" advTm="0">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3" name="内容占位符 22"/>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背景</a:t>
            </a:r>
            <a:endParaRPr lang="zh-CN" altLang="en-US" sz="2800" dirty="0">
              <a:solidFill>
                <a:srgbClr val="0091D9"/>
              </a:solidFill>
            </a:endParaRPr>
          </a:p>
        </p:txBody>
      </p:sp>
    </p:spTree>
    <p:extLst>
      <p:ext uri="{BB962C8B-B14F-4D97-AF65-F5344CB8AC3E}">
        <p14:creationId xmlns:p14="http://schemas.microsoft.com/office/powerpoint/2010/main" val="1830634967"/>
      </p:ext>
    </p:extLst>
  </p:cSld>
  <p:clrMapOvr>
    <a:masterClrMapping/>
  </p:clrMapOvr>
  <p:transition spd="slow" advTm="0">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1">
    <p:spTree>
      <p:nvGrpSpPr>
        <p:cNvPr id="1" name=""/>
        <p:cNvGrpSpPr/>
        <p:nvPr/>
      </p:nvGrpSpPr>
      <p:grpSpPr>
        <a:xfrm>
          <a:off x="0" y="0"/>
          <a:ext cx="0" cy="0"/>
          <a:chOff x="0" y="0"/>
          <a:chExt cx="0" cy="0"/>
        </a:xfrm>
      </p:grpSpPr>
      <p:sp>
        <p:nvSpPr>
          <p:cNvPr id="3" name="矩形 2"/>
          <p:cNvSpPr/>
          <p:nvPr/>
        </p:nvSpPr>
        <p:spPr>
          <a:xfrm>
            <a:off x="0" y="150640"/>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模式与模式类</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62AED257-6608-F684-FDF7-453FCBCDB899}"/>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937007338"/>
      </p:ext>
    </p:extLst>
  </p:cSld>
  <p:clrMapOvr>
    <a:masterClrMapping/>
  </p:clrMapOvr>
  <p:transition spd="slow" advTm="0">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模式与模式类</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A93AFA8-1552-A5E1-62B6-A0D6CA73065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986043907"/>
      </p:ext>
    </p:extLst>
  </p:cSld>
  <p:clrMapOvr>
    <a:masterClrMapping/>
  </p:clrMapOvr>
  <p:transition spd="slow" advTm="0">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原型匹配模式分类</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466479E4-8403-CE56-FD03-D3FF95C8F40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746633424"/>
      </p:ext>
    </p:extLst>
  </p:cSld>
  <p:clrMapOvr>
    <a:masterClrMapping/>
  </p:clrMapOvr>
  <p:transition spd="slow" advTm="0">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原型匹配模式分类</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76421887"/>
      </p:ext>
    </p:extLst>
  </p:cSld>
  <p:clrMapOvr>
    <a:masterClrMapping/>
  </p:clrMapOvr>
  <p:transition spd="slow" advTm="0">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最优</a:t>
            </a:r>
            <a:r>
              <a:rPr lang="en-US" altLang="zh-CN"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贝叶斯</a:t>
            </a:r>
            <a:r>
              <a:rPr lang="en-US" altLang="zh-CN"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统计分类器</a:t>
            </a:r>
            <a:endParaRPr lang="zh-CN" altLang="en-US" sz="2800" dirty="0">
              <a:solidFill>
                <a:srgbClr val="0091D9"/>
              </a:solidFill>
            </a:endParaRPr>
          </a:p>
        </p:txBody>
      </p:sp>
      <p:sp>
        <p:nvSpPr>
          <p:cNvPr id="5" name="内容占位符 13">
            <a:extLst>
              <a:ext uri="{FF2B5EF4-FFF2-40B4-BE49-F238E27FC236}">
                <a16:creationId xmlns:a16="http://schemas.microsoft.com/office/drawing/2014/main" id="{DD6272E6-0B32-CAD6-9441-D69B3FD5D0A5}"/>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933474949"/>
      </p:ext>
    </p:extLst>
  </p:cSld>
  <p:clrMapOvr>
    <a:masterClrMapping/>
  </p:clrMapOvr>
  <p:transition spd="slow" advTm="0">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最优</a:t>
            </a:r>
            <a:r>
              <a:rPr lang="en-US" altLang="zh-CN"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贝叶斯</a:t>
            </a:r>
            <a:r>
              <a:rPr lang="en-US" altLang="zh-CN"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统计分类器</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236047919"/>
      </p:ext>
    </p:extLst>
  </p:cSld>
  <p:clrMapOvr>
    <a:masterClrMapping/>
  </p:clrMapOvr>
  <p:transition spd="slow" advTm="0">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神经网络与深度学习</a:t>
            </a:r>
          </a:p>
        </p:txBody>
      </p:sp>
      <p:sp>
        <p:nvSpPr>
          <p:cNvPr id="5" name="内容占位符 13">
            <a:extLst>
              <a:ext uri="{FF2B5EF4-FFF2-40B4-BE49-F238E27FC236}">
                <a16:creationId xmlns:a16="http://schemas.microsoft.com/office/drawing/2014/main" id="{2E9E2877-0CD5-D1FB-1212-E2DFC9A80A04}"/>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075877425"/>
      </p:ext>
    </p:extLst>
  </p:cSld>
  <p:clrMapOvr>
    <a:masterClrMapping/>
  </p:clrMapOvr>
  <p:transition spd="slow" advTm="0">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神经网络与深度学习</a:t>
            </a: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906899421"/>
      </p:ext>
    </p:extLst>
  </p:cSld>
  <p:clrMapOvr>
    <a:masterClrMapping/>
  </p:clrMapOvr>
  <p:transition spd="slow" advTm="0">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深度卷积神经网络</a:t>
            </a:r>
          </a:p>
        </p:txBody>
      </p:sp>
      <p:sp>
        <p:nvSpPr>
          <p:cNvPr id="5" name="内容占位符 13">
            <a:extLst>
              <a:ext uri="{FF2B5EF4-FFF2-40B4-BE49-F238E27FC236}">
                <a16:creationId xmlns:a16="http://schemas.microsoft.com/office/drawing/2014/main" id="{A26F17F2-1CC9-2184-0611-65F6490F9B81}"/>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770119802"/>
      </p:ext>
    </p:extLst>
  </p:cSld>
  <p:clrMapOvr>
    <a:masterClrMapping/>
  </p:clrMapOvr>
  <p:transition spd="slow" advTm="0">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深度卷积神经网络</a:t>
            </a: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84285242"/>
      </p:ext>
    </p:extLst>
  </p:cSld>
  <p:clrMapOvr>
    <a:masterClrMapping/>
  </p:clrMapOvr>
  <p:transition spd="slow" advTm="0">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dirty="0">
                <a:solidFill>
                  <a:srgbClr val="0091D9"/>
                </a:solidFill>
              </a:rPr>
              <a:t>实现的一些附加细节</a:t>
            </a:r>
          </a:p>
        </p:txBody>
      </p:sp>
      <p:sp>
        <p:nvSpPr>
          <p:cNvPr id="5" name="内容占位符 13">
            <a:extLst>
              <a:ext uri="{FF2B5EF4-FFF2-40B4-BE49-F238E27FC236}">
                <a16:creationId xmlns:a16="http://schemas.microsoft.com/office/drawing/2014/main" id="{4EA74D7A-B362-EAA3-2A64-3B248B852011}"/>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239770141"/>
      </p:ext>
    </p:extLst>
  </p:cSld>
  <p:clrMapOvr>
    <a:masterClrMapping/>
  </p:clrMapOvr>
  <p:transition spd="slow" advTm="0">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7-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实现的一些附加细节</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624663485"/>
      </p:ext>
    </p:extLst>
  </p:cSld>
  <p:clrMapOvr>
    <a:masterClrMapping/>
  </p:clrMapOvr>
  <p:transition spd="slow" advTm="0">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8-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dirty="0">
                <a:solidFill>
                  <a:srgbClr val="0091D9"/>
                </a:solidFill>
              </a:rPr>
              <a:t>报告</a:t>
            </a:r>
          </a:p>
        </p:txBody>
      </p:sp>
    </p:spTree>
    <p:extLst>
      <p:ext uri="{BB962C8B-B14F-4D97-AF65-F5344CB8AC3E}">
        <p14:creationId xmlns:p14="http://schemas.microsoft.com/office/powerpoint/2010/main" val="1679814002"/>
      </p:ext>
    </p:extLst>
  </p:cSld>
  <p:clrMapOvr>
    <a:masterClrMapping/>
  </p:clrMapOvr>
  <p:transition spd="slow" advTm="0">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8-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557148401"/>
      </p:ext>
    </p:extLst>
  </p:cSld>
  <p:clrMapOvr>
    <a:masterClrMapping/>
  </p:clrMapOvr>
  <p:transition spd="slow" advTm="0">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9-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dirty="0">
                <a:solidFill>
                  <a:srgbClr val="0091D9"/>
                </a:solidFill>
              </a:rPr>
              <a:t>函</a:t>
            </a:r>
          </a:p>
        </p:txBody>
      </p:sp>
    </p:spTree>
    <p:extLst>
      <p:ext uri="{BB962C8B-B14F-4D97-AF65-F5344CB8AC3E}">
        <p14:creationId xmlns:p14="http://schemas.microsoft.com/office/powerpoint/2010/main" val="1046095335"/>
      </p:ext>
    </p:extLst>
  </p:cSld>
  <p:clrMapOvr>
    <a:masterClrMapping/>
  </p:clrMapOvr>
  <p:transition spd="slow" advTm="0">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9-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357786650"/>
      </p:ext>
    </p:extLst>
  </p:cSld>
  <p:clrMapOvr>
    <a:masterClrMapping/>
  </p:clrMapOvr>
  <p:transition spd="slow" advTm="0">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0-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1524011621"/>
      </p:ext>
    </p:extLst>
  </p:cSld>
  <p:clrMapOvr>
    <a:masterClrMapping/>
  </p:clrMapOvr>
  <p:transition spd="slow" advTm="0">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0-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691419203"/>
      </p:ext>
    </p:extLst>
  </p:cSld>
  <p:clrMapOvr>
    <a:masterClrMapping/>
  </p:clrMapOvr>
  <p:transition spd="slow" advTm="0">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206720731"/>
      </p:ext>
    </p:extLst>
  </p:cSld>
  <p:clrMapOvr>
    <a:masterClrMapping/>
  </p:clrMapOvr>
  <p:transition spd="slow" advTm="0">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104356104"/>
      </p:ext>
    </p:extLst>
  </p:cSld>
  <p:clrMapOvr>
    <a:masterClrMapping/>
  </p:clrMapOvr>
  <p:transition spd="slow" advTm="0">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2-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3003388012"/>
      </p:ext>
    </p:extLst>
  </p:cSld>
  <p:clrMapOvr>
    <a:masterClrMapping/>
  </p:clrMapOvr>
  <p:transition spd="slow" advTm="0">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181173263"/>
      </p:ext>
    </p:extLst>
  </p:cSld>
  <p:clrMapOvr>
    <a:masterClrMapping/>
  </p:clrMapOvr>
  <p:transition spd="slow" advTm="0">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8860BB-E3C5-4D22-8BEC-68FDB1E314FC}"/>
              </a:ext>
            </a:extLst>
          </p:cNvPr>
          <p:cNvSpPr>
            <a:spLocks noGrp="1"/>
          </p:cNvSpPr>
          <p:nvPr>
            <p:ph type="title"/>
          </p:nvPr>
        </p:nvSpPr>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564C3A6-28A5-477B-8FD3-82774CA65DB8}"/>
              </a:ext>
            </a:extLst>
          </p:cNvPr>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360E54-6845-42DD-84DC-A39854FA1A77}"/>
              </a:ext>
            </a:extLst>
          </p:cNvPr>
          <p:cNvSpPr>
            <a:spLocks noGrp="1"/>
          </p:cNvSpPr>
          <p:nvPr>
            <p:ph type="dt" sz="half" idx="10"/>
          </p:nvPr>
        </p:nvSpPr>
        <p:spPr/>
        <p:txBody>
          <a:bodyPr/>
          <a:lstStyle/>
          <a:p>
            <a:fld id="{64EA996C-5381-422B-A72B-C4479FC24B79}" type="datetimeFigureOut">
              <a:rPr lang="zh-CN" altLang="en-US" smtClean="0"/>
              <a:t>2023/10/20</a:t>
            </a:fld>
            <a:endParaRPr lang="zh-CN" altLang="en-US"/>
          </a:p>
        </p:txBody>
      </p:sp>
      <p:sp>
        <p:nvSpPr>
          <p:cNvPr id="5" name="页脚占位符 4">
            <a:extLst>
              <a:ext uri="{FF2B5EF4-FFF2-40B4-BE49-F238E27FC236}">
                <a16:creationId xmlns:a16="http://schemas.microsoft.com/office/drawing/2014/main" id="{9ADABCB2-5F2D-434F-8110-4656AF3E9F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4DEC2A-E2D0-43AA-976A-170C369B5040}"/>
              </a:ext>
            </a:extLst>
          </p:cNvPr>
          <p:cNvSpPr>
            <a:spLocks noGrp="1"/>
          </p:cNvSpPr>
          <p:nvPr>
            <p:ph type="sldNum" sz="quarter" idx="12"/>
          </p:nvPr>
        </p:nvSpPr>
        <p:spPr/>
        <p:txBody>
          <a:bodyPr/>
          <a:lstStyle/>
          <a:p>
            <a:fld id="{96A3E56D-C932-47FD-BCB1-4C1B96691517}" type="slidenum">
              <a:rPr lang="zh-CN" altLang="en-US" smtClean="0"/>
              <a:t>‹#›</a:t>
            </a:fld>
            <a:endParaRPr lang="zh-CN" altLang="en-US"/>
          </a:p>
        </p:txBody>
      </p:sp>
    </p:spTree>
    <p:extLst>
      <p:ext uri="{BB962C8B-B14F-4D97-AF65-F5344CB8AC3E}">
        <p14:creationId xmlns:p14="http://schemas.microsoft.com/office/powerpoint/2010/main" val="1692110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solidFill>
            <a:srgbClr val="EAF2F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1145525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Lst>
  <p:transition spd="slow" advTm="0">
    <p:wipe dir="r"/>
  </p:transition>
  <p:txStyles>
    <p:titleStyle>
      <a:lvl1pPr algn="l" defTabSz="914400" rtl="0" eaLnBrk="1" latinLnBrk="0" hangingPunct="1">
        <a:lnSpc>
          <a:spcPct val="90000"/>
        </a:lnSpc>
        <a:spcBef>
          <a:spcPct val="0"/>
        </a:spcBef>
        <a:buNone/>
        <a:defRPr sz="2400" b="1" kern="1200">
          <a:solidFill>
            <a:schemeClr val="accent1">
              <a:lumMod val="75000"/>
            </a:schemeClr>
          </a:solidFill>
          <a:latin typeface="+mj-lt"/>
          <a:ea typeface="+mj-ea"/>
          <a:cs typeface="+mj-cs"/>
        </a:defRPr>
      </a:lvl1pPr>
    </p:titleStyle>
    <p:bodyStyle>
      <a:lvl1pPr marL="228600" indent="-228600" algn="l" defTabSz="914400" rtl="0" eaLnBrk="1" fontAlgn="auto" latinLnBrk="0" hangingPunct="1">
        <a:lnSpc>
          <a:spcPct val="15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 name="组合 285"/>
          <p:cNvGrpSpPr/>
          <p:nvPr/>
        </p:nvGrpSpPr>
        <p:grpSpPr>
          <a:xfrm>
            <a:off x="1142271" y="4495729"/>
            <a:ext cx="4142910" cy="479114"/>
            <a:chOff x="5646962" y="4937787"/>
            <a:chExt cx="1453481" cy="482463"/>
          </a:xfrm>
          <a:effectLst/>
        </p:grpSpPr>
        <p:sp>
          <p:nvSpPr>
            <p:cNvPr id="287" name="任意多边形: 形状 12"/>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8" name="文本框 287"/>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grpSp>
        <p:nvGrpSpPr>
          <p:cNvPr id="302" name="组合 301"/>
          <p:cNvGrpSpPr/>
          <p:nvPr/>
        </p:nvGrpSpPr>
        <p:grpSpPr>
          <a:xfrm>
            <a:off x="1027366" y="1310600"/>
            <a:ext cx="4272323" cy="2186039"/>
            <a:chOff x="951801" y="1752810"/>
            <a:chExt cx="4272323" cy="2186039"/>
          </a:xfrm>
        </p:grpSpPr>
        <p:sp>
          <p:nvSpPr>
            <p:cNvPr id="285" name="文本框 284"/>
            <p:cNvSpPr txBox="1"/>
            <p:nvPr/>
          </p:nvSpPr>
          <p:spPr>
            <a:xfrm>
              <a:off x="951801" y="3015519"/>
              <a:ext cx="4272323"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prstClr val="black">
                      <a:lumMod val="85000"/>
                      <a:lumOff val="15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图像模式分类</a:t>
              </a:r>
            </a:p>
          </p:txBody>
        </p:sp>
        <p:grpSp>
          <p:nvGrpSpPr>
            <p:cNvPr id="301" name="组合 300"/>
            <p:cNvGrpSpPr/>
            <p:nvPr/>
          </p:nvGrpSpPr>
          <p:grpSpPr>
            <a:xfrm>
              <a:off x="951801" y="1752810"/>
              <a:ext cx="3707553" cy="1252400"/>
              <a:chOff x="951801" y="1680239"/>
              <a:chExt cx="3707553" cy="1252400"/>
            </a:xfrm>
          </p:grpSpPr>
          <p:sp>
            <p:nvSpPr>
              <p:cNvPr id="290" name="文本框 289"/>
              <p:cNvSpPr txBox="1"/>
              <p:nvPr/>
            </p:nvSpPr>
            <p:spPr>
              <a:xfrm>
                <a:off x="951801" y="2009309"/>
                <a:ext cx="2909771"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第十二章</a:t>
                </a:r>
                <a:endParaRPr kumimoji="0" lang="en-US" altLang="zh-CN"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95" name="椭圆 294"/>
              <p:cNvSpPr/>
              <p:nvPr/>
            </p:nvSpPr>
            <p:spPr>
              <a:xfrm>
                <a:off x="3440154" y="1680239"/>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grpSp>
      <p:sp>
        <p:nvSpPr>
          <p:cNvPr id="2" name="Freeform 24">
            <a:extLst>
              <a:ext uri="{FF2B5EF4-FFF2-40B4-BE49-F238E27FC236}">
                <a16:creationId xmlns:a16="http://schemas.microsoft.com/office/drawing/2014/main" id="{05D286A2-ECB7-9BA2-9D1F-172FDB772080}"/>
              </a:ext>
            </a:extLst>
          </p:cNvPr>
          <p:cNvSpPr>
            <a:spLocks/>
          </p:cNvSpPr>
          <p:nvPr/>
        </p:nvSpPr>
        <p:spPr bwMode="auto">
          <a:xfrm>
            <a:off x="1142271" y="3743277"/>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 name="Inhaltsplatzhalter 4">
            <a:extLst>
              <a:ext uri="{FF2B5EF4-FFF2-40B4-BE49-F238E27FC236}">
                <a16:creationId xmlns:a16="http://schemas.microsoft.com/office/drawing/2014/main" id="{61215E34-C4A2-0714-4A5F-AD7D334A7606}"/>
              </a:ext>
            </a:extLst>
          </p:cNvPr>
          <p:cNvSpPr txBox="1">
            <a:spLocks/>
          </p:cNvSpPr>
          <p:nvPr/>
        </p:nvSpPr>
        <p:spPr>
          <a:xfrm>
            <a:off x="1444494" y="3819549"/>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endParaRPr kumimoji="0" lang="zh-CN" altLang="en-US" sz="1800" b="1" i="0" u="none" strike="noStrike" kern="1200" cap="none" spc="0" normalizeH="0" baseline="0" noProof="0" dirty="0">
              <a:ln>
                <a:noFill/>
              </a:ln>
              <a:solidFill>
                <a:srgbClr val="0463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4169481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86"/>
                                        </p:tgtEl>
                                        <p:attrNameLst>
                                          <p:attrName>style.visibility</p:attrName>
                                        </p:attrNameLst>
                                      </p:cBhvr>
                                      <p:to>
                                        <p:strVal val="visible"/>
                                      </p:to>
                                    </p:set>
                                    <p:anim calcmode="lin" valueType="num">
                                      <p:cBhvr additive="base">
                                        <p:cTn id="20" dur="500" fill="hold"/>
                                        <p:tgtEl>
                                          <p:spTgt spid="286"/>
                                        </p:tgtEl>
                                        <p:attrNameLst>
                                          <p:attrName>ppt_x</p:attrName>
                                        </p:attrNameLst>
                                      </p:cBhvr>
                                      <p:tavLst>
                                        <p:tav tm="0">
                                          <p:val>
                                            <p:strVal val="#ppt_x"/>
                                          </p:val>
                                        </p:tav>
                                        <p:tav tm="100000">
                                          <p:val>
                                            <p:strVal val="#ppt_x"/>
                                          </p:val>
                                        </p:tav>
                                      </p:tavLst>
                                    </p:anim>
                                    <p:anim calcmode="lin" valueType="num">
                                      <p:cBhvr additive="base">
                                        <p:cTn id="21" dur="500" fill="hold"/>
                                        <p:tgtEl>
                                          <p:spTgt spid="2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01</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背景</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92397596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FED699-0DAB-914B-549D-F236CAF1AE6A}"/>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概述</a:t>
            </a:r>
          </a:p>
        </p:txBody>
      </p:sp>
      <p:sp>
        <p:nvSpPr>
          <p:cNvPr id="3" name="文本占位符 2">
            <a:extLst>
              <a:ext uri="{FF2B5EF4-FFF2-40B4-BE49-F238E27FC236}">
                <a16:creationId xmlns:a16="http://schemas.microsoft.com/office/drawing/2014/main" id="{37FB8FF2-7FBC-2C7B-E4F7-F092E8ADE533}"/>
              </a:ext>
            </a:extLst>
          </p:cNvPr>
          <p:cNvSpPr>
            <a:spLocks noGrp="1"/>
          </p:cNvSpPr>
          <p:nvPr>
            <p:ph sz="quarter" idx="11"/>
          </p:nvPr>
        </p:nvSpPr>
        <p:spPr/>
        <p:txBody>
          <a:bodyPr>
            <a:normAutofit/>
          </a:bodyPr>
          <a:lstStyle/>
          <a:p>
            <a:pPr marR="610" lvl="0" rtl="0"/>
            <a:r>
              <a:rPr lang="zh-CN" altLang="en-US" b="0" i="0" u="none" strike="noStrike" baseline="0" dirty="0">
                <a:solidFill>
                  <a:srgbClr val="000000"/>
                </a:solidFill>
                <a:cs typeface="+mn-ea"/>
                <a:sym typeface="+mn-lt"/>
              </a:rPr>
              <a:t>在图像模式识别中，我们将模式视为特征的一种空间排列。模式类</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别</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是具有某些公共性质的 一组模式。机器模式识别包括自动将模式赋予各个类的技术。也就是说，已知一种或多组类未知的模式时，模式识别系统的任务就是为每个输入模式赋予一个类标记。</a:t>
            </a:r>
          </a:p>
          <a:p>
            <a:pPr marR="610" lvl="0" rtl="0"/>
            <a:r>
              <a:rPr lang="zh-CN" altLang="en-US" b="0" i="0" u="none" strike="noStrike" baseline="0" dirty="0">
                <a:solidFill>
                  <a:srgbClr val="000000"/>
                </a:solidFill>
                <a:cs typeface="+mn-ea"/>
                <a:sym typeface="+mn-lt"/>
              </a:rPr>
              <a:t>识别分为</a:t>
            </a: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个主要阶段：</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感知；</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预处理；</a:t>
            </a: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特征提取；</a:t>
            </a: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分类。就图像处理而言，感知是指在一个</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二维或更高维的</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空间中生成信号。第</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章中介绍了图像感知的许多内容。如前所 述，预处理涉及降噪、增强、复原和分割等技术。第</a:t>
            </a:r>
            <a:r>
              <a:rPr lang="en-US" altLang="zh-CN" b="0" i="0" u="none" strike="noStrike" baseline="0" dirty="0">
                <a:solidFill>
                  <a:srgbClr val="000000"/>
                </a:solidFill>
                <a:cs typeface="+mn-ea"/>
                <a:sym typeface="+mn-lt"/>
              </a:rPr>
              <a:t>11</a:t>
            </a:r>
            <a:r>
              <a:rPr lang="zh-CN" altLang="en-US" b="0" i="0" u="none" strike="noStrike" baseline="0" dirty="0">
                <a:solidFill>
                  <a:srgbClr val="000000"/>
                </a:solidFill>
                <a:cs typeface="+mn-ea"/>
                <a:sym typeface="+mn-lt"/>
              </a:rPr>
              <a:t>章中介绍了特征提取。本章重点介绍分类，即以一组特征为基础，给未知的输入图像模式赋予类标记。</a:t>
            </a:r>
          </a:p>
        </p:txBody>
      </p:sp>
      <p:sp>
        <p:nvSpPr>
          <p:cNvPr id="4" name="矩形 3">
            <a:extLst>
              <a:ext uri="{FF2B5EF4-FFF2-40B4-BE49-F238E27FC236}">
                <a16:creationId xmlns:a16="http://schemas.microsoft.com/office/drawing/2014/main" id="{64180FAE-65AD-B5E3-7717-4858FD3BC2E4}"/>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372950177"/>
      </p:ext>
    </p:extLst>
  </p:cSld>
  <p:clrMapOvr>
    <a:masterClrMapping/>
  </p:clrMapOvr>
  <p:transition spd="slow" advTm="0">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02</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模式与模式类</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403327079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BAE3E4-F5C4-FD8E-178D-01FABA04ADC1}"/>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模式向量</a:t>
            </a:r>
          </a:p>
        </p:txBody>
      </p:sp>
      <p:sp>
        <p:nvSpPr>
          <p:cNvPr id="3" name="文本占位符 2">
            <a:extLst>
              <a:ext uri="{FF2B5EF4-FFF2-40B4-BE49-F238E27FC236}">
                <a16:creationId xmlns:a16="http://schemas.microsoft.com/office/drawing/2014/main" id="{0B4A638C-780B-CABA-318C-EF9A273D7BF1}"/>
              </a:ext>
            </a:extLst>
          </p:cNvPr>
          <p:cNvSpPr>
            <a:spLocks noGrp="1"/>
          </p:cNvSpPr>
          <p:nvPr>
            <p:ph sz="quarter" idx="12"/>
          </p:nvPr>
        </p:nvSpPr>
        <p:spPr/>
        <p:txBody>
          <a:bodyPr/>
          <a:lstStyle/>
          <a:p>
            <a:pPr marL="0" marR="610" lvl="0" indent="0" rtl="0">
              <a:buNone/>
            </a:pPr>
            <a:r>
              <a:rPr lang="zh-CN" altLang="en-US" b="0" i="0" u="none" strike="noStrike" baseline="0" dirty="0">
                <a:solidFill>
                  <a:srgbClr val="000000"/>
                </a:solidFill>
                <a:cs typeface="+mn-ea"/>
                <a:sym typeface="+mn-lt"/>
              </a:rPr>
              <a:t>模式向量可直接由图像的像素灰度形成，方法是使用线性索引向量化图像，如图</a:t>
            </a:r>
            <a:r>
              <a:rPr lang="en-US" altLang="zh-CN" b="0" i="0" u="none" strike="noStrike" baseline="0" dirty="0">
                <a:solidFill>
                  <a:srgbClr val="000000"/>
                </a:solidFill>
                <a:cs typeface="+mn-ea"/>
                <a:sym typeface="+mn-lt"/>
              </a:rPr>
              <a:t>12.1</a:t>
            </a:r>
            <a:r>
              <a:rPr lang="zh-CN" altLang="en-US" b="0" i="0" u="none" strike="noStrike" baseline="0" dirty="0">
                <a:solidFill>
                  <a:srgbClr val="000000"/>
                </a:solidFill>
                <a:cs typeface="+mn-ea"/>
                <a:sym typeface="+mn-lt"/>
              </a:rPr>
              <a:t>所示。更常用的方法是将模式元素作为特征。</a:t>
            </a:r>
          </a:p>
        </p:txBody>
      </p:sp>
      <p:pic>
        <p:nvPicPr>
          <p:cNvPr id="5" name="图片 4">
            <a:extLst>
              <a:ext uri="{FF2B5EF4-FFF2-40B4-BE49-F238E27FC236}">
                <a16:creationId xmlns:a16="http://schemas.microsoft.com/office/drawing/2014/main" id="{DB6EEB4F-4E91-8C46-A8C9-1E8363624DE1}"/>
              </a:ext>
            </a:extLst>
          </p:cNvPr>
          <p:cNvPicPr>
            <a:picLocks noChangeAspect="1"/>
          </p:cNvPicPr>
          <p:nvPr/>
        </p:nvPicPr>
        <p:blipFill>
          <a:blip r:embed="rId2"/>
          <a:stretch>
            <a:fillRect/>
          </a:stretch>
        </p:blipFill>
        <p:spPr>
          <a:xfrm>
            <a:off x="4238086" y="3429000"/>
            <a:ext cx="3715827" cy="2883149"/>
          </a:xfrm>
          <a:prstGeom prst="rect">
            <a:avLst/>
          </a:prstGeom>
        </p:spPr>
      </p:pic>
    </p:spTree>
    <p:extLst>
      <p:ext uri="{BB962C8B-B14F-4D97-AF65-F5344CB8AC3E}">
        <p14:creationId xmlns:p14="http://schemas.microsoft.com/office/powerpoint/2010/main" val="3828365517"/>
      </p:ext>
    </p:extLst>
  </p:cSld>
  <p:clrMapOvr>
    <a:masterClrMapping/>
  </p:clrMapOvr>
  <p:transition spd="slow" advTm="0">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464A22-09CA-FAF8-3D25-43991DF061DF}"/>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结构模式</a:t>
            </a:r>
          </a:p>
        </p:txBody>
      </p:sp>
      <p:sp>
        <p:nvSpPr>
          <p:cNvPr id="3" name="文本占位符 2">
            <a:extLst>
              <a:ext uri="{FF2B5EF4-FFF2-40B4-BE49-F238E27FC236}">
                <a16:creationId xmlns:a16="http://schemas.microsoft.com/office/drawing/2014/main" id="{62DBC02A-E185-17C9-C0C7-3DC6F46E2148}"/>
              </a:ext>
            </a:extLst>
          </p:cNvPr>
          <p:cNvSpPr>
            <a:spLocks noGrp="1"/>
          </p:cNvSpPr>
          <p:nvPr>
            <p:ph sz="quarter" idx="11"/>
          </p:nvPr>
        </p:nvSpPr>
        <p:spPr/>
        <p:txBody>
          <a:bodyPr/>
          <a:lstStyle/>
          <a:p>
            <a:pPr marL="0" marR="610" lvl="0" indent="0" rtl="0">
              <a:buNone/>
            </a:pPr>
            <a:r>
              <a:rPr lang="zh-CN" altLang="en-US" b="0" i="0" u="none" strike="noStrike" baseline="0" dirty="0">
                <a:solidFill>
                  <a:srgbClr val="000000"/>
                </a:solidFill>
                <a:cs typeface="+mn-ea"/>
                <a:sym typeface="+mn-lt"/>
              </a:rPr>
              <a:t>模式向量不适合于其目标由结构特征</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如符号串</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表示的应用。虽然结构模式在图像处理应用中的应用要比向量少得多，但在对形状感兴趣的应用中，包含各个目标的结构描述的模式很重要。图</a:t>
            </a:r>
            <a:r>
              <a:rPr lang="en-US" altLang="zh-CN" b="0" i="0" u="none" strike="noStrike" baseline="0" dirty="0">
                <a:solidFill>
                  <a:srgbClr val="000000"/>
                </a:solidFill>
                <a:cs typeface="+mn-ea"/>
                <a:sym typeface="+mn-lt"/>
              </a:rPr>
              <a:t>12.8</a:t>
            </a:r>
            <a:r>
              <a:rPr lang="zh-CN" altLang="en-US" b="0" i="0" u="none" strike="noStrike" baseline="0" dirty="0">
                <a:solidFill>
                  <a:srgbClr val="000000"/>
                </a:solidFill>
                <a:cs typeface="+mn-ea"/>
                <a:sym typeface="+mn-lt"/>
              </a:rPr>
              <a:t> 显示了一个例子。</a:t>
            </a:r>
          </a:p>
        </p:txBody>
      </p:sp>
      <p:pic>
        <p:nvPicPr>
          <p:cNvPr id="5" name="图片 4">
            <a:extLst>
              <a:ext uri="{FF2B5EF4-FFF2-40B4-BE49-F238E27FC236}">
                <a16:creationId xmlns:a16="http://schemas.microsoft.com/office/drawing/2014/main" id="{4CBB1F55-592F-1767-54B1-408813A8E515}"/>
              </a:ext>
            </a:extLst>
          </p:cNvPr>
          <p:cNvPicPr>
            <a:picLocks noChangeAspect="1"/>
          </p:cNvPicPr>
          <p:nvPr/>
        </p:nvPicPr>
        <p:blipFill>
          <a:blip r:embed="rId2"/>
          <a:stretch>
            <a:fillRect/>
          </a:stretch>
        </p:blipFill>
        <p:spPr>
          <a:xfrm>
            <a:off x="3830985" y="3948010"/>
            <a:ext cx="4530029" cy="2708430"/>
          </a:xfrm>
          <a:prstGeom prst="rect">
            <a:avLst/>
          </a:prstGeom>
        </p:spPr>
      </p:pic>
      <p:sp>
        <p:nvSpPr>
          <p:cNvPr id="6" name="矩形 5">
            <a:extLst>
              <a:ext uri="{FF2B5EF4-FFF2-40B4-BE49-F238E27FC236}">
                <a16:creationId xmlns:a16="http://schemas.microsoft.com/office/drawing/2014/main" id="{78E0BBB3-0E69-AB15-DA9C-F58E7BA96252}"/>
              </a:ext>
            </a:extLst>
          </p:cNvPr>
          <p:cNvSpPr/>
          <p:nvPr/>
        </p:nvSpPr>
        <p:spPr>
          <a:xfrm>
            <a:off x="801092" y="2446417"/>
            <a:ext cx="10589815" cy="1428901"/>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891167843"/>
      </p:ext>
    </p:extLst>
  </p:cSld>
  <p:clrMapOvr>
    <a:masterClrMapping/>
  </p:clrMapOvr>
  <p:transition spd="slow" advTm="0">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724545" y="2221637"/>
            <a:ext cx="5731905" cy="2414726"/>
            <a:chOff x="5943478" y="2292214"/>
            <a:chExt cx="5731905"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03</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5943478" y="3937499"/>
              <a:ext cx="5731905"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原型匹配模式分类</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02836019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858654-6B54-12BF-2E9A-A6BE944BCB17}"/>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最小距离分类器</a:t>
            </a:r>
          </a:p>
        </p:txBody>
      </p:sp>
      <p:sp>
        <p:nvSpPr>
          <p:cNvPr id="3" name="文本占位符 2">
            <a:extLst>
              <a:ext uri="{FF2B5EF4-FFF2-40B4-BE49-F238E27FC236}">
                <a16:creationId xmlns:a16="http://schemas.microsoft.com/office/drawing/2014/main" id="{616D6352-03DC-A9C4-B499-DAFE16675576}"/>
              </a:ext>
            </a:extLst>
          </p:cNvPr>
          <p:cNvSpPr>
            <a:spLocks noGrp="1"/>
          </p:cNvSpPr>
          <p:nvPr>
            <p:ph sz="quarter" idx="11"/>
          </p:nvPr>
        </p:nvSpPr>
        <p:spPr/>
        <p:txBody>
          <a:bodyPr/>
          <a:lstStyle/>
          <a:p>
            <a:pPr marL="0" marR="610" lvl="0" indent="0" rtl="0">
              <a:buNone/>
            </a:pPr>
            <a:r>
              <a:rPr lang="zh-CN" altLang="en-US" b="0" i="0" u="none" strike="noStrike" baseline="0" dirty="0">
                <a:solidFill>
                  <a:srgbClr val="000000"/>
                </a:solidFill>
                <a:cs typeface="+mn-ea"/>
                <a:sym typeface="+mn-lt"/>
              </a:rPr>
              <a:t>使用最广泛且最简单的原型匹配方法之一是最小距离分类器，顾名思义，它在未知模式向量和每类原型之间计算一个基于距离的测度，然后将未知模式赋予最接近的原型类。最小距离分类器的原型向量通常是各个模式类的平均向量：</a:t>
            </a:r>
            <a:endParaRPr lang="en-US" altLang="zh-CN" b="0" i="0" u="none" strike="noStrike" baseline="0" dirty="0">
              <a:solidFill>
                <a:srgbClr val="000000"/>
              </a:solidFill>
              <a:cs typeface="+mn-ea"/>
              <a:sym typeface="+mn-lt"/>
            </a:endParaRPr>
          </a:p>
          <a:p>
            <a:pPr marL="0" marR="610" lvl="0" indent="0" rtl="0">
              <a:buNone/>
            </a:pPr>
            <a:endParaRPr lang="zh-CN" altLang="en-US" b="0" i="0" u="none" strike="noStrike" baseline="0" dirty="0">
              <a:solidFill>
                <a:srgbClr val="000000"/>
              </a:solidFill>
              <a:cs typeface="+mn-ea"/>
              <a:sym typeface="+mn-lt"/>
            </a:endParaRPr>
          </a:p>
          <a:p>
            <a:pPr marL="0" marR="610" lvl="0" indent="0" rtl="0">
              <a:buNone/>
            </a:pPr>
            <a:r>
              <a:rPr lang="zh-CN" altLang="en-US" b="0" i="0" u="none" strike="noStrike" baseline="0" dirty="0">
                <a:solidFill>
                  <a:srgbClr val="000000"/>
                </a:solidFill>
                <a:cs typeface="+mn-ea"/>
                <a:sym typeface="+mn-lt"/>
              </a:rPr>
              <a:t>式中，</a:t>
            </a:r>
            <a:r>
              <a:rPr lang="en-US" altLang="zh-CN" b="0" i="0" u="none" strike="noStrike" baseline="0" dirty="0" err="1">
                <a:solidFill>
                  <a:srgbClr val="000000"/>
                </a:solidFill>
                <a:cs typeface="+mn-ea"/>
                <a:sym typeface="+mn-lt"/>
              </a:rPr>
              <a:t>n</a:t>
            </a:r>
            <a:r>
              <a:rPr lang="en-US" altLang="zh-CN" sz="1100" b="0" i="0" u="none" strike="noStrike" baseline="0" dirty="0" err="1">
                <a:solidFill>
                  <a:srgbClr val="000000"/>
                </a:solidFill>
                <a:cs typeface="+mn-ea"/>
                <a:sym typeface="+mn-lt"/>
              </a:rPr>
              <a:t>j</a:t>
            </a:r>
            <a:r>
              <a:rPr lang="zh-CN" altLang="en-US" b="0" i="0" u="none" strike="noStrike" baseline="0" dirty="0">
                <a:solidFill>
                  <a:srgbClr val="000000"/>
                </a:solidFill>
                <a:cs typeface="+mn-ea"/>
                <a:sym typeface="+mn-lt"/>
              </a:rPr>
              <a:t>是用于计算第</a:t>
            </a:r>
            <a:r>
              <a:rPr lang="en-US" altLang="zh-CN" b="0" i="0" u="none" strike="noStrike" baseline="0" dirty="0">
                <a:solidFill>
                  <a:srgbClr val="000000"/>
                </a:solidFill>
                <a:cs typeface="+mn-ea"/>
                <a:sym typeface="+mn-lt"/>
              </a:rPr>
              <a:t>j</a:t>
            </a:r>
            <a:r>
              <a:rPr lang="zh-CN" altLang="en-US" b="0" i="0" u="none" strike="noStrike" baseline="0" dirty="0">
                <a:solidFill>
                  <a:srgbClr val="000000"/>
                </a:solidFill>
                <a:cs typeface="+mn-ea"/>
                <a:sym typeface="+mn-lt"/>
              </a:rPr>
              <a:t>个平均向量的模式向量数，</a:t>
            </a:r>
            <a:r>
              <a:rPr lang="en-US" altLang="zh-CN" b="0" i="0" u="none" strike="noStrike" baseline="0" dirty="0" err="1">
                <a:solidFill>
                  <a:srgbClr val="000000"/>
                </a:solidFill>
                <a:cs typeface="+mn-ea"/>
                <a:sym typeface="+mn-lt"/>
              </a:rPr>
              <a:t>c</a:t>
            </a:r>
            <a:r>
              <a:rPr lang="en-US" altLang="zh-CN" sz="1100" b="0" i="0" u="none" strike="noStrike" baseline="0" dirty="0" err="1">
                <a:solidFill>
                  <a:srgbClr val="000000"/>
                </a:solidFill>
                <a:cs typeface="+mn-ea"/>
                <a:sym typeface="+mn-lt"/>
              </a:rPr>
              <a:t>j</a:t>
            </a:r>
            <a:r>
              <a:rPr lang="zh-CN" altLang="en-US" b="0" i="0" u="none" strike="noStrike" baseline="0" dirty="0">
                <a:solidFill>
                  <a:srgbClr val="000000"/>
                </a:solidFill>
                <a:cs typeface="+mn-ea"/>
                <a:sym typeface="+mn-lt"/>
              </a:rPr>
              <a:t>是第</a:t>
            </a:r>
            <a:r>
              <a:rPr lang="en-US" altLang="zh-CN" b="0" i="0" u="none" strike="noStrike" baseline="0" dirty="0">
                <a:solidFill>
                  <a:srgbClr val="000000"/>
                </a:solidFill>
                <a:cs typeface="+mn-ea"/>
                <a:sym typeface="+mn-lt"/>
              </a:rPr>
              <a:t>j</a:t>
            </a:r>
            <a:r>
              <a:rPr lang="zh-CN" altLang="en-US" b="0" i="0" u="none" strike="noStrike" baseline="0" dirty="0">
                <a:solidFill>
                  <a:srgbClr val="000000"/>
                </a:solidFill>
                <a:cs typeface="+mn-ea"/>
                <a:sym typeface="+mn-lt"/>
              </a:rPr>
              <a:t>个模式类，</a:t>
            </a:r>
            <a:r>
              <a:rPr lang="en-US" altLang="zh-CN" b="0" i="0" u="none" strike="noStrike" baseline="0" dirty="0">
                <a:solidFill>
                  <a:srgbClr val="000000"/>
                </a:solidFill>
                <a:cs typeface="+mn-ea"/>
                <a:sym typeface="+mn-lt"/>
              </a:rPr>
              <a:t>N</a:t>
            </a:r>
            <a:r>
              <a:rPr lang="en-US" altLang="zh-CN" sz="1100" b="0" i="0" u="none" strike="noStrike" baseline="0" dirty="0">
                <a:solidFill>
                  <a:srgbClr val="000000"/>
                </a:solidFill>
                <a:cs typeface="+mn-ea"/>
                <a:sym typeface="+mn-lt"/>
              </a:rPr>
              <a:t>C</a:t>
            </a:r>
            <a:r>
              <a:rPr lang="zh-CN" altLang="en-US" b="0" i="0" u="none" strike="noStrike" baseline="0" dirty="0">
                <a:solidFill>
                  <a:srgbClr val="000000"/>
                </a:solidFill>
                <a:cs typeface="+mn-ea"/>
                <a:sym typeface="+mn-lt"/>
              </a:rPr>
              <a:t>是类数。如果使用欧氏 距离来求相似性，则最小距离分类器计算距离</a:t>
            </a:r>
          </a:p>
        </p:txBody>
      </p:sp>
      <p:pic>
        <p:nvPicPr>
          <p:cNvPr id="5" name="图片 4">
            <a:extLst>
              <a:ext uri="{FF2B5EF4-FFF2-40B4-BE49-F238E27FC236}">
                <a16:creationId xmlns:a16="http://schemas.microsoft.com/office/drawing/2014/main" id="{8CC01A68-FD81-EE84-78C2-7143045ED219}"/>
              </a:ext>
            </a:extLst>
          </p:cNvPr>
          <p:cNvPicPr>
            <a:picLocks noChangeAspect="1"/>
          </p:cNvPicPr>
          <p:nvPr/>
        </p:nvPicPr>
        <p:blipFill>
          <a:blip r:embed="rId2"/>
          <a:stretch>
            <a:fillRect/>
          </a:stretch>
        </p:blipFill>
        <p:spPr>
          <a:xfrm>
            <a:off x="4705350" y="3897913"/>
            <a:ext cx="2781300" cy="609600"/>
          </a:xfrm>
          <a:prstGeom prst="rect">
            <a:avLst/>
          </a:prstGeom>
        </p:spPr>
      </p:pic>
      <p:pic>
        <p:nvPicPr>
          <p:cNvPr id="7" name="图片 6">
            <a:extLst>
              <a:ext uri="{FF2B5EF4-FFF2-40B4-BE49-F238E27FC236}">
                <a16:creationId xmlns:a16="http://schemas.microsoft.com/office/drawing/2014/main" id="{27513892-79A4-17ED-8377-4E0EBE32B3F4}"/>
              </a:ext>
            </a:extLst>
          </p:cNvPr>
          <p:cNvPicPr>
            <a:picLocks noChangeAspect="1"/>
          </p:cNvPicPr>
          <p:nvPr/>
        </p:nvPicPr>
        <p:blipFill rotWithShape="1">
          <a:blip r:embed="rId3"/>
          <a:srcRect t="1" b="8136"/>
          <a:stretch/>
        </p:blipFill>
        <p:spPr>
          <a:xfrm>
            <a:off x="4495800" y="5446610"/>
            <a:ext cx="3200400" cy="393751"/>
          </a:xfrm>
          <a:prstGeom prst="rect">
            <a:avLst/>
          </a:prstGeom>
        </p:spPr>
      </p:pic>
      <p:sp>
        <p:nvSpPr>
          <p:cNvPr id="8" name="矩形 7">
            <a:extLst>
              <a:ext uri="{FF2B5EF4-FFF2-40B4-BE49-F238E27FC236}">
                <a16:creationId xmlns:a16="http://schemas.microsoft.com/office/drawing/2014/main" id="{2427A09B-36E9-356C-0897-74582D350334}"/>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330141320"/>
      </p:ext>
    </p:extLst>
  </p:cSld>
  <p:clrMapOvr>
    <a:masterClrMapping/>
  </p:clrMapOvr>
  <p:transition spd="slow" advTm="0">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930901-118D-6C9B-40F3-E5C865AF8E90}"/>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对二维原型匹配使用相关</a:t>
            </a:r>
          </a:p>
        </p:txBody>
      </p:sp>
      <p:sp>
        <p:nvSpPr>
          <p:cNvPr id="3" name="文本占位符 2">
            <a:extLst>
              <a:ext uri="{FF2B5EF4-FFF2-40B4-BE49-F238E27FC236}">
                <a16:creationId xmlns:a16="http://schemas.microsoft.com/office/drawing/2014/main" id="{4272E8EA-CA40-06EB-7E7B-67375B885F11}"/>
              </a:ext>
            </a:extLst>
          </p:cNvPr>
          <p:cNvSpPr>
            <a:spLocks noGrp="1"/>
          </p:cNvSpPr>
          <p:nvPr>
            <p:ph sz="quarter" idx="11"/>
          </p:nvPr>
        </p:nvSpPr>
        <p:spPr/>
        <p:txBody>
          <a:bodyPr>
            <a:noAutofit/>
          </a:bodyPr>
          <a:lstStyle/>
          <a:p>
            <a:pPr marL="0" marR="610" lvl="0" indent="0" rtl="0">
              <a:buNone/>
            </a:pPr>
            <a:r>
              <a:rPr lang="zh-CN" altLang="en-US" b="0" i="0" u="none" strike="noStrike" baseline="0" dirty="0">
                <a:solidFill>
                  <a:srgbClr val="000000"/>
                </a:solidFill>
                <a:cs typeface="+mn-ea"/>
                <a:sym typeface="+mn-lt"/>
              </a:rPr>
              <a:t>由 式</a:t>
            </a:r>
            <a:r>
              <a:rPr lang="en-US" altLang="zh-CN" b="0" i="0" u="none" strike="noStrike" baseline="0" dirty="0">
                <a:solidFill>
                  <a:srgbClr val="000000"/>
                </a:solidFill>
                <a:cs typeface="+mn-ea"/>
                <a:sym typeface="+mn-lt"/>
              </a:rPr>
              <a:t>(3.43)</a:t>
            </a:r>
            <a:r>
              <a:rPr lang="zh-CN" altLang="en-US" b="0" i="0" u="none" strike="noStrike" baseline="0" dirty="0">
                <a:solidFill>
                  <a:srgbClr val="000000"/>
                </a:solidFill>
                <a:cs typeface="+mn-ea"/>
                <a:sym typeface="+mn-lt"/>
              </a:rPr>
              <a:t>可知核</a:t>
            </a:r>
            <a:r>
              <a:rPr lang="en-US" altLang="zh-CN" b="0" i="0" u="none" strike="noStrike" baseline="0" dirty="0">
                <a:solidFill>
                  <a:srgbClr val="000000"/>
                </a:solidFill>
                <a:cs typeface="+mn-ea"/>
                <a:sym typeface="+mn-lt"/>
              </a:rPr>
              <a:t>w</a:t>
            </a:r>
            <a:r>
              <a:rPr lang="zh-CN" altLang="en-US" b="0" i="0" u="none" strike="noStrike" baseline="0" dirty="0">
                <a:solidFill>
                  <a:srgbClr val="000000"/>
                </a:solidFill>
                <a:cs typeface="+mn-ea"/>
                <a:sym typeface="+mn-lt"/>
              </a:rPr>
              <a:t> 与图像</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的相关是</a:t>
            </a:r>
            <a:endParaRPr lang="en-US" altLang="zh-CN" b="0" i="0" u="none" strike="noStrike" baseline="0" dirty="0">
              <a:solidFill>
                <a:srgbClr val="000000"/>
              </a:solidFill>
              <a:cs typeface="+mn-ea"/>
              <a:sym typeface="+mn-lt"/>
            </a:endParaRPr>
          </a:p>
          <a:p>
            <a:pPr marL="0" marR="610" lvl="0" indent="0" rtl="0">
              <a:buNone/>
            </a:pPr>
            <a:endParaRPr lang="zh-CN" altLang="en-US" b="0" i="0" u="none" strike="noStrike" baseline="0" dirty="0">
              <a:solidFill>
                <a:srgbClr val="000000"/>
              </a:solidFill>
              <a:cs typeface="+mn-ea"/>
              <a:sym typeface="+mn-lt"/>
            </a:endParaRPr>
          </a:p>
          <a:p>
            <a:pPr marL="0" marR="610" lvl="0" indent="0" rtl="0">
              <a:buNone/>
            </a:pPr>
            <a:r>
              <a:rPr lang="zh-CN" altLang="en-US" b="0" i="0" u="none" strike="noStrike" baseline="0" dirty="0">
                <a:solidFill>
                  <a:srgbClr val="000000"/>
                </a:solidFill>
                <a:cs typeface="+mn-ea"/>
                <a:sym typeface="+mn-lt"/>
              </a:rPr>
              <a:t>式中，求和的上下限取在</a:t>
            </a:r>
            <a:r>
              <a:rPr lang="en-US" altLang="zh-CN" b="0" i="0" u="none" strike="noStrike" baseline="0" dirty="0">
                <a:solidFill>
                  <a:srgbClr val="000000"/>
                </a:solidFill>
                <a:cs typeface="+mn-ea"/>
                <a:sym typeface="+mn-lt"/>
              </a:rPr>
              <a:t>w</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f</a:t>
            </a:r>
            <a:r>
              <a:rPr lang="zh-CN" altLang="en-US" b="0" i="0" u="none" strike="noStrike" baseline="0" dirty="0">
                <a:solidFill>
                  <a:srgbClr val="000000"/>
                </a:solidFill>
                <a:cs typeface="+mn-ea"/>
                <a:sym typeface="+mn-lt"/>
              </a:rPr>
              <a:t>共有的区域上。上式对位移变量</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y</a:t>
            </a:r>
            <a:r>
              <a:rPr lang="zh-CN" altLang="en-US" b="0" i="0" u="none" strike="noStrike" baseline="0" dirty="0">
                <a:solidFill>
                  <a:srgbClr val="000000"/>
                </a:solidFill>
                <a:cs typeface="+mn-ea"/>
                <a:sym typeface="+mn-lt"/>
              </a:rPr>
              <a:t> 的所有值进行计算，所以</a:t>
            </a:r>
            <a:r>
              <a:rPr lang="en-US" altLang="zh-CN" b="0" i="0" u="none" strike="noStrike" baseline="0" dirty="0">
                <a:solidFill>
                  <a:srgbClr val="000000"/>
                </a:solidFill>
                <a:cs typeface="+mn-ea"/>
                <a:sym typeface="+mn-lt"/>
              </a:rPr>
              <a:t>w</a:t>
            </a:r>
            <a:r>
              <a:rPr lang="zh-CN" altLang="en-US" b="0" i="0" u="none" strike="noStrike" baseline="0" dirty="0">
                <a:solidFill>
                  <a:srgbClr val="000000"/>
                </a:solidFill>
                <a:cs typeface="+mn-ea"/>
                <a:sym typeface="+mn-lt"/>
              </a:rPr>
              <a:t> 的所有元素都会访问</a:t>
            </a:r>
            <a:r>
              <a:rPr lang="en-US" altLang="zh-CN" b="0" i="0" u="none" strike="noStrike" baseline="0" dirty="0">
                <a:solidFill>
                  <a:srgbClr val="000000"/>
                </a:solidFill>
                <a:cs typeface="+mn-ea"/>
                <a:sym typeface="+mn-lt"/>
              </a:rPr>
              <a:t>f</a:t>
            </a:r>
            <a:r>
              <a:rPr lang="zh-CN" altLang="en-US" b="0" i="0" u="none" strike="noStrike" baseline="0" dirty="0">
                <a:solidFill>
                  <a:srgbClr val="000000"/>
                </a:solidFill>
                <a:cs typeface="+mn-ea"/>
                <a:sym typeface="+mn-lt"/>
              </a:rPr>
              <a:t> 的每个像素。我们知道，相关在</a:t>
            </a:r>
            <a:r>
              <a:rPr lang="en-US" altLang="zh-CN" b="0" i="0" u="none" strike="noStrike" baseline="0" dirty="0">
                <a:solidFill>
                  <a:srgbClr val="000000"/>
                </a:solidFill>
                <a:cs typeface="+mn-ea"/>
                <a:sym typeface="+mn-lt"/>
              </a:rPr>
              <a:t>f</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w</a:t>
            </a:r>
            <a:r>
              <a:rPr lang="zh-CN" altLang="en-US" b="0" i="0" u="none" strike="noStrike" baseline="0" dirty="0">
                <a:solidFill>
                  <a:srgbClr val="000000"/>
                </a:solidFill>
                <a:cs typeface="+mn-ea"/>
                <a:sym typeface="+mn-lt"/>
              </a:rPr>
              <a:t>相等或几乎相等的区域中有最大值。换句话说，式</a:t>
            </a:r>
            <a:r>
              <a:rPr lang="en-US" altLang="zh-CN" b="0" i="0" u="none" strike="noStrike" baseline="0" dirty="0">
                <a:solidFill>
                  <a:srgbClr val="000000"/>
                </a:solidFill>
                <a:cs typeface="+mn-ea"/>
                <a:sym typeface="+mn-lt"/>
              </a:rPr>
              <a:t>(12.9)</a:t>
            </a:r>
            <a:r>
              <a:rPr lang="zh-CN" altLang="en-US" b="0" i="0" u="none" strike="noStrike" baseline="0" dirty="0">
                <a:solidFill>
                  <a:srgbClr val="000000"/>
                </a:solidFill>
                <a:cs typeface="+mn-ea"/>
                <a:sym typeface="+mn-lt"/>
              </a:rPr>
              <a:t>查找的是</a:t>
            </a:r>
            <a:r>
              <a:rPr lang="en-US" altLang="zh-CN" b="0" i="0" u="none" strike="noStrike" baseline="0" dirty="0">
                <a:solidFill>
                  <a:srgbClr val="000000"/>
                </a:solidFill>
                <a:cs typeface="+mn-ea"/>
                <a:sym typeface="+mn-lt"/>
              </a:rPr>
              <a:t>w</a:t>
            </a:r>
            <a:r>
              <a:rPr lang="zh-CN" altLang="en-US" b="0" i="0" u="none" strike="noStrike" baseline="0" dirty="0">
                <a:solidFill>
                  <a:srgbClr val="000000"/>
                </a:solidFill>
                <a:cs typeface="+mn-ea"/>
                <a:sym typeface="+mn-lt"/>
              </a:rPr>
              <a:t>与</a:t>
            </a:r>
            <a:r>
              <a:rPr lang="en-US" altLang="zh-CN" b="0" i="0" u="none" strike="noStrike" baseline="0" dirty="0">
                <a:solidFill>
                  <a:srgbClr val="000000"/>
                </a:solidFill>
                <a:cs typeface="+mn-ea"/>
                <a:sym typeface="+mn-lt"/>
              </a:rPr>
              <a:t>f</a:t>
            </a:r>
            <a:r>
              <a:rPr lang="zh-CN" altLang="en-US" b="0" i="0" u="none" strike="noStrike" baseline="0" dirty="0">
                <a:solidFill>
                  <a:srgbClr val="000000"/>
                </a:solidFill>
                <a:cs typeface="+mn-ea"/>
                <a:sym typeface="+mn-lt"/>
              </a:rPr>
              <a:t>中的一个区域匹配时的位置。但这个公式的缺点是，结果对任意一个函数的幅度变化都是敏感的。为了将相关归一化为一个或两个函数中的幅度变化，我们使用相关系数来执行匹配：</a:t>
            </a:r>
          </a:p>
        </p:txBody>
      </p:sp>
      <p:pic>
        <p:nvPicPr>
          <p:cNvPr id="5" name="图片 4">
            <a:extLst>
              <a:ext uri="{FF2B5EF4-FFF2-40B4-BE49-F238E27FC236}">
                <a16:creationId xmlns:a16="http://schemas.microsoft.com/office/drawing/2014/main" id="{877CC825-2A25-94D6-7660-C34B24694510}"/>
              </a:ext>
            </a:extLst>
          </p:cNvPr>
          <p:cNvPicPr>
            <a:picLocks noChangeAspect="1"/>
          </p:cNvPicPr>
          <p:nvPr/>
        </p:nvPicPr>
        <p:blipFill>
          <a:blip r:embed="rId2"/>
          <a:stretch>
            <a:fillRect/>
          </a:stretch>
        </p:blipFill>
        <p:spPr>
          <a:xfrm>
            <a:off x="4476750" y="3137611"/>
            <a:ext cx="3238500" cy="523875"/>
          </a:xfrm>
          <a:prstGeom prst="rect">
            <a:avLst/>
          </a:prstGeom>
        </p:spPr>
      </p:pic>
      <p:pic>
        <p:nvPicPr>
          <p:cNvPr id="7" name="图片 6">
            <a:extLst>
              <a:ext uri="{FF2B5EF4-FFF2-40B4-BE49-F238E27FC236}">
                <a16:creationId xmlns:a16="http://schemas.microsoft.com/office/drawing/2014/main" id="{6218AA79-96CE-6383-2222-FC008D684B81}"/>
              </a:ext>
            </a:extLst>
          </p:cNvPr>
          <p:cNvPicPr>
            <a:picLocks noChangeAspect="1"/>
          </p:cNvPicPr>
          <p:nvPr/>
        </p:nvPicPr>
        <p:blipFill>
          <a:blip r:embed="rId3"/>
          <a:stretch>
            <a:fillRect/>
          </a:stretch>
        </p:blipFill>
        <p:spPr>
          <a:xfrm>
            <a:off x="3591847" y="5521212"/>
            <a:ext cx="4724400" cy="866775"/>
          </a:xfrm>
          <a:prstGeom prst="rect">
            <a:avLst/>
          </a:prstGeom>
        </p:spPr>
      </p:pic>
      <p:sp>
        <p:nvSpPr>
          <p:cNvPr id="8" name="矩形 7">
            <a:extLst>
              <a:ext uri="{FF2B5EF4-FFF2-40B4-BE49-F238E27FC236}">
                <a16:creationId xmlns:a16="http://schemas.microsoft.com/office/drawing/2014/main" id="{654E8FDC-888A-3BAF-98E1-3660FA5DF306}"/>
              </a:ext>
            </a:extLst>
          </p:cNvPr>
          <p:cNvSpPr/>
          <p:nvPr/>
        </p:nvSpPr>
        <p:spPr>
          <a:xfrm>
            <a:off x="801092" y="2446417"/>
            <a:ext cx="10589815" cy="405270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666329867"/>
      </p:ext>
    </p:extLst>
  </p:cSld>
  <p:clrMapOvr>
    <a:masterClrMapping/>
  </p:clrMapOvr>
  <p:transition spd="slow" advTm="0">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16F8C2-33D5-33F9-DFD1-1054F5619D4F}"/>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匹 配 </a:t>
            </a:r>
            <a:r>
              <a:rPr lang="en-US" altLang="zh-CN" b="1" i="0" u="none" strike="noStrike" baseline="0">
                <a:solidFill>
                  <a:srgbClr val="0070C0"/>
                </a:solidFill>
                <a:latin typeface="+mn-lt"/>
                <a:ea typeface="+mn-ea"/>
                <a:cs typeface="+mn-ea"/>
                <a:sym typeface="+mn-lt"/>
              </a:rPr>
              <a:t>SIFT</a:t>
            </a:r>
            <a:r>
              <a:rPr lang="zh-CN" altLang="en-US" b="1" i="0" u="none" strike="noStrike" baseline="0">
                <a:solidFill>
                  <a:srgbClr val="0070C0"/>
                </a:solidFill>
                <a:latin typeface="+mn-lt"/>
                <a:ea typeface="+mn-ea"/>
                <a:cs typeface="+mn-ea"/>
                <a:sym typeface="+mn-lt"/>
              </a:rPr>
              <a:t> 特征</a:t>
            </a:r>
          </a:p>
        </p:txBody>
      </p:sp>
      <p:sp>
        <p:nvSpPr>
          <p:cNvPr id="3" name="文本占位符 2">
            <a:extLst>
              <a:ext uri="{FF2B5EF4-FFF2-40B4-BE49-F238E27FC236}">
                <a16:creationId xmlns:a16="http://schemas.microsoft.com/office/drawing/2014/main" id="{86016C01-7C27-9B62-4A3F-EEBB93DE9944}"/>
              </a:ext>
            </a:extLst>
          </p:cNvPr>
          <p:cNvSpPr>
            <a:spLocks noGrp="1"/>
          </p:cNvSpPr>
          <p:nvPr>
            <p:ph sz="quarter" idx="12"/>
          </p:nvPr>
        </p:nvSpPr>
        <p:spPr/>
        <p:txBody>
          <a:bodyPr/>
          <a:lstStyle/>
          <a:p>
            <a:pPr marL="0" marR="61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12.14</a:t>
            </a:r>
            <a:r>
              <a:rPr lang="zh-CN" altLang="en-US" b="0" i="0" u="none" strike="noStrike" baseline="0" dirty="0">
                <a:solidFill>
                  <a:srgbClr val="000000"/>
                </a:solidFill>
                <a:cs typeface="+mn-ea"/>
                <a:sym typeface="+mn-lt"/>
              </a:rPr>
              <a:t>显示了前面用过多次的电路板图像。 图</a:t>
            </a:r>
            <a:r>
              <a:rPr lang="en-US" altLang="zh-CN" b="0" i="0" u="none" strike="noStrike" baseline="0" dirty="0">
                <a:solidFill>
                  <a:srgbClr val="000000"/>
                </a:solidFill>
                <a:cs typeface="+mn-ea"/>
                <a:sym typeface="+mn-lt"/>
              </a:rPr>
              <a:t>12.15</a:t>
            </a:r>
            <a:r>
              <a:rPr lang="zh-CN" altLang="en-US" b="0" i="0" u="none" strike="noStrike" baseline="0" dirty="0">
                <a:solidFill>
                  <a:srgbClr val="000000"/>
                </a:solidFill>
                <a:cs typeface="+mn-ea"/>
                <a:sym typeface="+mn-lt"/>
              </a:rPr>
              <a:t>显示了</a:t>
            </a:r>
            <a:r>
              <a:rPr lang="en-US" altLang="zh-CN" b="0" i="0" u="none" strike="noStrike" baseline="0" dirty="0">
                <a:solidFill>
                  <a:srgbClr val="000000"/>
                </a:solidFill>
                <a:cs typeface="+mn-ea"/>
                <a:sym typeface="+mn-lt"/>
              </a:rPr>
              <a:t>SIFT</a:t>
            </a:r>
            <a:r>
              <a:rPr lang="zh-CN" altLang="en-US" b="0" i="0" u="none" strike="noStrike" baseline="0" dirty="0">
                <a:solidFill>
                  <a:srgbClr val="000000"/>
                </a:solidFill>
                <a:cs typeface="+mn-ea"/>
                <a:sym typeface="+mn-lt"/>
              </a:rPr>
              <a:t> 找到的关键点，如</a:t>
            </a:r>
            <a:r>
              <a:rPr lang="en-US" altLang="zh-CN" b="0" i="0" u="none" strike="noStrike" baseline="0" dirty="0">
                <a:solidFill>
                  <a:srgbClr val="000000"/>
                </a:solidFill>
                <a:cs typeface="+mn-ea"/>
                <a:sym typeface="+mn-lt"/>
              </a:rPr>
              <a:t>12.7</a:t>
            </a:r>
            <a:r>
              <a:rPr lang="zh-CN" altLang="en-US" b="0" i="0" u="none" strike="noStrike" baseline="0" dirty="0">
                <a:solidFill>
                  <a:srgbClr val="000000"/>
                </a:solidFill>
                <a:cs typeface="+mn-ea"/>
                <a:sym typeface="+mn-lt"/>
              </a:rPr>
              <a:t>节中解释的那样。在两幅图像上，它们都是微弱的线条。 在子图像的放大图中，它们要清晰一些。</a:t>
            </a:r>
          </a:p>
        </p:txBody>
      </p:sp>
      <p:pic>
        <p:nvPicPr>
          <p:cNvPr id="5" name="图片 4">
            <a:extLst>
              <a:ext uri="{FF2B5EF4-FFF2-40B4-BE49-F238E27FC236}">
                <a16:creationId xmlns:a16="http://schemas.microsoft.com/office/drawing/2014/main" id="{D754DF20-02C6-5291-4ED0-DA38E44B3A46}"/>
              </a:ext>
            </a:extLst>
          </p:cNvPr>
          <p:cNvPicPr>
            <a:picLocks noChangeAspect="1"/>
          </p:cNvPicPr>
          <p:nvPr/>
        </p:nvPicPr>
        <p:blipFill>
          <a:blip r:embed="rId2"/>
          <a:stretch>
            <a:fillRect/>
          </a:stretch>
        </p:blipFill>
        <p:spPr>
          <a:xfrm>
            <a:off x="871095" y="4014634"/>
            <a:ext cx="5224904" cy="2232059"/>
          </a:xfrm>
          <a:prstGeom prst="rect">
            <a:avLst/>
          </a:prstGeom>
        </p:spPr>
      </p:pic>
      <p:pic>
        <p:nvPicPr>
          <p:cNvPr id="7" name="图片 6">
            <a:extLst>
              <a:ext uri="{FF2B5EF4-FFF2-40B4-BE49-F238E27FC236}">
                <a16:creationId xmlns:a16="http://schemas.microsoft.com/office/drawing/2014/main" id="{7B6AFD36-B15F-2897-A17A-3ACAE98F3B49}"/>
              </a:ext>
            </a:extLst>
          </p:cNvPr>
          <p:cNvPicPr>
            <a:picLocks noChangeAspect="1"/>
          </p:cNvPicPr>
          <p:nvPr/>
        </p:nvPicPr>
        <p:blipFill>
          <a:blip r:embed="rId3"/>
          <a:stretch>
            <a:fillRect/>
          </a:stretch>
        </p:blipFill>
        <p:spPr>
          <a:xfrm>
            <a:off x="5958656" y="4014634"/>
            <a:ext cx="5303524" cy="2232058"/>
          </a:xfrm>
          <a:prstGeom prst="rect">
            <a:avLst/>
          </a:prstGeom>
        </p:spPr>
      </p:pic>
    </p:spTree>
    <p:extLst>
      <p:ext uri="{BB962C8B-B14F-4D97-AF65-F5344CB8AC3E}">
        <p14:creationId xmlns:p14="http://schemas.microsoft.com/office/powerpoint/2010/main" val="4135754672"/>
      </p:ext>
    </p:extLst>
  </p:cSld>
  <p:clrMapOvr>
    <a:masterClrMapping/>
  </p:clrMapOvr>
  <p:transition spd="slow" advTm="0">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BB0FFB-E3CF-40B5-2DD9-C002E8F2EEB1}"/>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匹配结构原型</a:t>
            </a:r>
          </a:p>
        </p:txBody>
      </p:sp>
      <p:sp>
        <p:nvSpPr>
          <p:cNvPr id="3" name="文本占位符 2">
            <a:extLst>
              <a:ext uri="{FF2B5EF4-FFF2-40B4-BE49-F238E27FC236}">
                <a16:creationId xmlns:a16="http://schemas.microsoft.com/office/drawing/2014/main" id="{33276E8C-E9A2-2347-8508-3E3EBDA73309}"/>
              </a:ext>
            </a:extLst>
          </p:cNvPr>
          <p:cNvSpPr>
            <a:spLocks noGrp="1"/>
          </p:cNvSpPr>
          <p:nvPr>
            <p:ph sz="quarter" idx="12"/>
          </p:nvPr>
        </p:nvSpPr>
        <p:spPr/>
        <p:txBody>
          <a:bodyPr>
            <a:noAutofit/>
          </a:bodyPr>
          <a:lstStyle/>
          <a:p>
            <a:pPr marL="0" marR="61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匹配形状数</a:t>
            </a:r>
          </a:p>
          <a:p>
            <a:pPr marL="0" marR="610" lvl="0" indent="0" rtl="0">
              <a:buNone/>
            </a:pPr>
            <a:r>
              <a:rPr lang="zh-CN" altLang="en-US" b="0" i="0" u="none" strike="noStrike" baseline="0" dirty="0">
                <a:solidFill>
                  <a:srgbClr val="000000"/>
                </a:solidFill>
                <a:cs typeface="+mn-ea"/>
                <a:sym typeface="+mn-lt"/>
              </a:rPr>
              <a:t>使用类似于针对模式向量介绍的最小距离分类器的概念，可以比较由形状数描述的区域边界。参照</a:t>
            </a:r>
            <a:r>
              <a:rPr lang="en-US" altLang="zh-CN" b="0" i="0" u="none" strike="noStrike" baseline="0" dirty="0">
                <a:solidFill>
                  <a:srgbClr val="000000"/>
                </a:solidFill>
                <a:cs typeface="+mn-ea"/>
                <a:sym typeface="+mn-lt"/>
              </a:rPr>
              <a:t>11.3</a:t>
            </a:r>
            <a:r>
              <a:rPr lang="zh-CN" altLang="en-US" b="0" i="0" u="none" strike="noStrike" baseline="0" dirty="0">
                <a:solidFill>
                  <a:srgbClr val="000000"/>
                </a:solidFill>
                <a:cs typeface="+mn-ea"/>
                <a:sym typeface="+mn-lt"/>
              </a:rPr>
              <a:t>节的讨论，两个区域边界之间的相似性 </a:t>
            </a:r>
            <a:r>
              <a:rPr lang="en-US" altLang="zh-CN"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 定义为它们的形状数仍然保持一致的最大阶数。</a:t>
            </a:r>
          </a:p>
          <a:p>
            <a:pPr marL="0" marR="61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串匹配</a:t>
            </a:r>
          </a:p>
          <a:p>
            <a:pPr marL="0" marR="610" lvl="0" indent="0" rtl="0">
              <a:buNone/>
            </a:pPr>
            <a:r>
              <a:rPr lang="zh-CN" altLang="en-US" b="0" i="0" u="none" strike="noStrike" baseline="0" dirty="0">
                <a:solidFill>
                  <a:srgbClr val="000000"/>
                </a:solidFill>
                <a:cs typeface="+mn-ea"/>
                <a:sym typeface="+mn-lt"/>
              </a:rPr>
              <a:t>假设两个区域边界</a:t>
            </a:r>
            <a:r>
              <a:rPr lang="en-US" altLang="zh-CN" b="0" i="0" u="none" strike="noStrike" baseline="0" dirty="0">
                <a:solidFill>
                  <a:srgbClr val="000000"/>
                </a:solidFill>
                <a:cs typeface="+mn-ea"/>
                <a:sym typeface="+mn-lt"/>
              </a:rPr>
              <a:t>a</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b</a:t>
            </a:r>
            <a:r>
              <a:rPr lang="zh-CN" altLang="en-US" b="0" i="0" u="none" strike="noStrike" baseline="0" dirty="0">
                <a:solidFill>
                  <a:srgbClr val="000000"/>
                </a:solidFill>
                <a:cs typeface="+mn-ea"/>
                <a:sym typeface="+mn-lt"/>
              </a:rPr>
              <a:t>已分别编码为符号串</a:t>
            </a:r>
            <a:r>
              <a:rPr lang="en-US" altLang="zh-CN" b="0" i="0" u="none" strike="noStrike" baseline="0" dirty="0">
                <a:solidFill>
                  <a:srgbClr val="000000"/>
                </a:solidFill>
                <a:cs typeface="+mn-ea"/>
                <a:sym typeface="+mn-lt"/>
              </a:rPr>
              <a:t>a</a:t>
            </a:r>
            <a:r>
              <a:rPr lang="en-US" altLang="zh-CN" sz="1100" b="0" i="0" u="none" strike="noStrike" baseline="0" dirty="0">
                <a:solidFill>
                  <a:srgbClr val="000000"/>
                </a:solidFill>
                <a:cs typeface="+mn-ea"/>
                <a:sym typeface="+mn-lt"/>
              </a:rPr>
              <a:t>1</a:t>
            </a:r>
            <a:r>
              <a:rPr lang="en-US" altLang="zh-CN" b="0" i="0" u="none" strike="noStrike" baseline="0" dirty="0">
                <a:solidFill>
                  <a:srgbClr val="000000"/>
                </a:solidFill>
                <a:cs typeface="+mn-ea"/>
                <a:sym typeface="+mn-lt"/>
              </a:rPr>
              <a:t>a</a:t>
            </a:r>
            <a:r>
              <a:rPr lang="en-US" altLang="zh-CN" sz="1100" b="0" i="0" u="none" strike="noStrike" baseline="0" dirty="0">
                <a:solidFill>
                  <a:srgbClr val="000000"/>
                </a:solidFill>
                <a:cs typeface="+mn-ea"/>
                <a:sym typeface="+mn-lt"/>
              </a:rPr>
              <a:t>2</a:t>
            </a:r>
            <a:r>
              <a:rPr lang="en-US" altLang="zh-CN" b="0" i="0" u="none" strike="noStrike" baseline="0" dirty="0">
                <a:solidFill>
                  <a:srgbClr val="000000"/>
                </a:solidFill>
                <a:cs typeface="+mn-ea"/>
                <a:sym typeface="+mn-lt"/>
              </a:rPr>
              <a:t>···a</a:t>
            </a:r>
            <a:r>
              <a:rPr lang="en-US" altLang="zh-CN" sz="1100"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，和 </a:t>
            </a:r>
            <a:r>
              <a:rPr lang="en-US" altLang="zh-CN" b="0" i="0" u="none" strike="noStrike" baseline="0" dirty="0">
                <a:solidFill>
                  <a:srgbClr val="000000"/>
                </a:solidFill>
                <a:cs typeface="+mn-ea"/>
                <a:sym typeface="+mn-lt"/>
              </a:rPr>
              <a:t>b</a:t>
            </a:r>
            <a:r>
              <a:rPr lang="en-US" altLang="zh-CN" sz="1100" b="0" i="0" u="none" strike="noStrike" baseline="0" dirty="0">
                <a:solidFill>
                  <a:srgbClr val="000000"/>
                </a:solidFill>
                <a:cs typeface="+mn-ea"/>
                <a:sym typeface="+mn-lt"/>
              </a:rPr>
              <a:t>1</a:t>
            </a:r>
            <a:r>
              <a:rPr lang="en-US" altLang="zh-CN" b="0" i="0" u="none" strike="noStrike" baseline="0" dirty="0">
                <a:solidFill>
                  <a:srgbClr val="000000"/>
                </a:solidFill>
                <a:cs typeface="+mn-ea"/>
                <a:sym typeface="+mn-lt"/>
              </a:rPr>
              <a:t>b</a:t>
            </a:r>
            <a:r>
              <a:rPr lang="en-US" altLang="zh-CN" sz="1100" b="0" i="0" u="none" strike="noStrike" baseline="0" dirty="0">
                <a:solidFill>
                  <a:srgbClr val="000000"/>
                </a:solidFill>
                <a:cs typeface="+mn-ea"/>
                <a:sym typeface="+mn-lt"/>
              </a:rPr>
              <a:t>2</a:t>
            </a:r>
            <a:r>
              <a:rPr lang="en-US" altLang="zh-CN" dirty="0">
                <a:solidFill>
                  <a:srgbClr val="000000"/>
                </a:solidFill>
                <a:cs typeface="+mn-ea"/>
                <a:sym typeface="+mn-lt"/>
              </a:rPr>
              <a:t>·</a:t>
            </a:r>
            <a:r>
              <a:rPr lang="en-US" altLang="zh-CN" b="0" i="0" u="none" strike="noStrike" baseline="0" dirty="0">
                <a:solidFill>
                  <a:srgbClr val="000000"/>
                </a:solidFill>
                <a:cs typeface="+mn-ea"/>
                <a:sym typeface="+mn-lt"/>
              </a:rPr>
              <a:t>··b</a:t>
            </a:r>
            <a:r>
              <a:rPr lang="en-US" altLang="zh-CN" sz="1100"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a:t>
            </a:r>
          </a:p>
        </p:txBody>
      </p:sp>
    </p:spTree>
    <p:extLst>
      <p:ext uri="{BB962C8B-B14F-4D97-AF65-F5344CB8AC3E}">
        <p14:creationId xmlns:p14="http://schemas.microsoft.com/office/powerpoint/2010/main" val="954211944"/>
      </p:ext>
    </p:extLst>
  </p:cSld>
  <p:clrMapOvr>
    <a:masterClrMapping/>
  </p:clrMapOvr>
  <p:transition spd="slow" advTm="0">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085492" y="2221637"/>
            <a:ext cx="5010011" cy="3091835"/>
            <a:chOff x="6304425" y="2292214"/>
            <a:chExt cx="5010011"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04</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304425" y="3937499"/>
              <a:ext cx="5010011"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最优</a:t>
              </a:r>
              <a:r>
                <a:rPr lang="en-US"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a:t>
              </a: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贝叶斯</a:t>
              </a:r>
              <a:r>
                <a:rPr lang="en-US"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a:t>
              </a: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统计分类器</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69504286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F6953A-FE96-8E6F-9662-584D8801120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贝叶斯分类器的推导</a:t>
            </a:r>
          </a:p>
        </p:txBody>
      </p:sp>
      <p:sp>
        <p:nvSpPr>
          <p:cNvPr id="3" name="文本占位符 2">
            <a:extLst>
              <a:ext uri="{FF2B5EF4-FFF2-40B4-BE49-F238E27FC236}">
                <a16:creationId xmlns:a16="http://schemas.microsoft.com/office/drawing/2014/main" id="{EE9D6869-EF2D-8BC3-C2DC-C9AA5B96C91E}"/>
              </a:ext>
            </a:extLst>
          </p:cNvPr>
          <p:cNvSpPr>
            <a:spLocks noGrp="1"/>
          </p:cNvSpPr>
          <p:nvPr>
            <p:ph sz="quarter" idx="12"/>
          </p:nvPr>
        </p:nvSpPr>
        <p:spPr/>
        <p:txBody>
          <a:bodyPr/>
          <a:lstStyle/>
          <a:p>
            <a:pPr marL="0" marR="610" lvl="0" indent="0" rtl="0">
              <a:buNone/>
            </a:pPr>
            <a:r>
              <a:rPr lang="zh-CN" altLang="en-US" b="0" i="0" u="none" strike="noStrike" baseline="0" dirty="0">
                <a:solidFill>
                  <a:srgbClr val="000000"/>
                </a:solidFill>
                <a:cs typeface="+mn-ea"/>
                <a:sym typeface="+mn-lt"/>
              </a:rPr>
              <a:t>模式向量</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来自类</a:t>
            </a:r>
            <a:r>
              <a:rPr lang="en-US" altLang="zh-CN" b="0" i="0" u="none" strike="noStrike" baseline="0" dirty="0">
                <a:solidFill>
                  <a:srgbClr val="000000"/>
                </a:solidFill>
                <a:cs typeface="+mn-ea"/>
                <a:sym typeface="+mn-lt"/>
              </a:rPr>
              <a:t>c</a:t>
            </a:r>
            <a:r>
              <a:rPr lang="en-US" altLang="zh-CN" sz="1100" b="0" i="0" u="none" strike="noStrike" baseline="0" dirty="0">
                <a:solidFill>
                  <a:srgbClr val="000000"/>
                </a:solidFill>
                <a:cs typeface="+mn-ea"/>
                <a:sym typeface="+mn-lt"/>
              </a:rPr>
              <a:t>i</a:t>
            </a:r>
            <a:r>
              <a:rPr lang="zh-CN" altLang="en-US" b="0" i="0" u="none" strike="noStrike" baseline="0" dirty="0">
                <a:solidFill>
                  <a:srgbClr val="000000"/>
                </a:solidFill>
                <a:cs typeface="+mn-ea"/>
                <a:sym typeface="+mn-lt"/>
              </a:rPr>
              <a:t>的概率用</a:t>
            </a:r>
            <a:r>
              <a:rPr lang="en-US" altLang="zh-CN" b="0" i="0" u="none" strike="noStrike" baseline="0" dirty="0">
                <a:solidFill>
                  <a:srgbClr val="000000"/>
                </a:solidFill>
                <a:cs typeface="+mn-ea"/>
                <a:sym typeface="+mn-lt"/>
              </a:rPr>
              <a:t>p(c/x)</a:t>
            </a:r>
            <a:r>
              <a:rPr lang="zh-CN" altLang="en-US" b="0" i="0" u="none" strike="noStrike" baseline="0" dirty="0">
                <a:solidFill>
                  <a:srgbClr val="000000"/>
                </a:solidFill>
                <a:cs typeface="+mn-ea"/>
                <a:sym typeface="+mn-lt"/>
              </a:rPr>
              <a:t>表示。如果模式分类器确定</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来自类</a:t>
            </a:r>
            <a:r>
              <a:rPr lang="en-US" altLang="zh-CN" b="0" i="0" u="none" strike="noStrike" baseline="0" dirty="0" err="1">
                <a:solidFill>
                  <a:srgbClr val="000000"/>
                </a:solidFill>
                <a:cs typeface="+mn-ea"/>
                <a:sym typeface="+mn-lt"/>
              </a:rPr>
              <a:t>c</a:t>
            </a:r>
            <a:r>
              <a:rPr lang="en-US" altLang="zh-CN" sz="1100" b="0" i="0" u="none" strike="noStrike" baseline="0" dirty="0" err="1">
                <a:solidFill>
                  <a:srgbClr val="000000"/>
                </a:solidFill>
                <a:cs typeface="+mn-ea"/>
                <a:sym typeface="+mn-lt"/>
              </a:rPr>
              <a:t>j</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而它实际上来自 类</a:t>
            </a:r>
            <a:r>
              <a:rPr lang="en-US" altLang="zh-CN" b="0" i="0" u="none" strike="noStrike" baseline="0" dirty="0">
                <a:solidFill>
                  <a:srgbClr val="000000"/>
                </a:solidFill>
                <a:cs typeface="+mn-ea"/>
                <a:sym typeface="+mn-lt"/>
              </a:rPr>
              <a:t>c</a:t>
            </a:r>
            <a:r>
              <a:rPr lang="en-US" altLang="zh-CN" sz="1100" b="0" i="0" u="none" strike="noStrike" baseline="0" dirty="0">
                <a:solidFill>
                  <a:srgbClr val="000000"/>
                </a:solidFill>
                <a:cs typeface="+mn-ea"/>
                <a:sym typeface="+mn-lt"/>
              </a:rPr>
              <a:t>i</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那么会导致一个损失</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后面很快会给出损失的定义</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我们用</a:t>
            </a:r>
            <a:r>
              <a:rPr lang="en-US" altLang="zh-CN" b="0" i="0" u="none" strike="noStrike" baseline="0" dirty="0" err="1">
                <a:solidFill>
                  <a:srgbClr val="000000"/>
                </a:solidFill>
                <a:cs typeface="+mn-ea"/>
                <a:sym typeface="+mn-lt"/>
              </a:rPr>
              <a:t>L</a:t>
            </a:r>
            <a:r>
              <a:rPr lang="en-US" altLang="zh-CN" sz="1100" b="0" i="0" u="none" strike="noStrike" baseline="0" dirty="0" err="1">
                <a:solidFill>
                  <a:srgbClr val="000000"/>
                </a:solidFill>
                <a:cs typeface="+mn-ea"/>
                <a:sym typeface="+mn-lt"/>
              </a:rPr>
              <a:t>ij</a:t>
            </a:r>
            <a:r>
              <a:rPr lang="zh-CN" altLang="en-US" b="0" i="0" u="none" strike="noStrike" baseline="0" dirty="0">
                <a:solidFill>
                  <a:srgbClr val="000000"/>
                </a:solidFill>
                <a:cs typeface="+mn-ea"/>
                <a:sym typeface="+mn-lt"/>
              </a:rPr>
              <a:t>来表示这个损失。由于模式 </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可能属于</a:t>
            </a:r>
            <a:r>
              <a:rPr lang="en-US" altLang="zh-CN" b="0" i="0" u="none" strike="noStrike" baseline="0" dirty="0">
                <a:solidFill>
                  <a:srgbClr val="000000"/>
                </a:solidFill>
                <a:cs typeface="+mn-ea"/>
                <a:sym typeface="+mn-lt"/>
              </a:rPr>
              <a:t>N</a:t>
            </a:r>
            <a:r>
              <a:rPr lang="en-US" altLang="zh-CN" sz="1100" b="0" i="0" u="none" strike="noStrike" baseline="0" dirty="0">
                <a:solidFill>
                  <a:srgbClr val="000000"/>
                </a:solidFill>
                <a:cs typeface="+mn-ea"/>
                <a:sym typeface="+mn-lt"/>
              </a:rPr>
              <a:t>c</a:t>
            </a:r>
            <a:r>
              <a:rPr lang="zh-CN" altLang="en-US" b="0" i="0" u="none" strike="noStrike" baseline="0" dirty="0">
                <a:solidFill>
                  <a:srgbClr val="000000"/>
                </a:solidFill>
                <a:cs typeface="+mn-ea"/>
                <a:sym typeface="+mn-lt"/>
              </a:rPr>
              <a:t>个可能的类之一，因此将</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赋予类</a:t>
            </a:r>
            <a:r>
              <a:rPr lang="en-US" altLang="zh-CN" b="0" i="0" u="none" strike="noStrike" baseline="0" dirty="0" err="1">
                <a:solidFill>
                  <a:srgbClr val="000000"/>
                </a:solidFill>
                <a:cs typeface="+mn-ea"/>
                <a:sym typeface="+mn-lt"/>
              </a:rPr>
              <a:t>c</a:t>
            </a:r>
            <a:r>
              <a:rPr lang="en-US" altLang="zh-CN" sz="1100" b="0" i="0" u="none" strike="noStrike" baseline="0" dirty="0" err="1">
                <a:solidFill>
                  <a:srgbClr val="000000"/>
                </a:solidFill>
                <a:cs typeface="+mn-ea"/>
                <a:sym typeface="+mn-lt"/>
              </a:rPr>
              <a:t>j</a:t>
            </a:r>
            <a:r>
              <a:rPr lang="zh-CN" altLang="en-US" b="0" i="0" u="none" strike="noStrike" baseline="0" dirty="0">
                <a:solidFill>
                  <a:srgbClr val="000000"/>
                </a:solidFill>
                <a:cs typeface="+mn-ea"/>
                <a:sym typeface="+mn-lt"/>
              </a:rPr>
              <a:t>导致的平均损失是</a:t>
            </a:r>
          </a:p>
        </p:txBody>
      </p:sp>
      <p:pic>
        <p:nvPicPr>
          <p:cNvPr id="5" name="图片 4">
            <a:extLst>
              <a:ext uri="{FF2B5EF4-FFF2-40B4-BE49-F238E27FC236}">
                <a16:creationId xmlns:a16="http://schemas.microsoft.com/office/drawing/2014/main" id="{EFF7760D-4F6C-CA0C-E3D4-37F4D2BEB359}"/>
              </a:ext>
            </a:extLst>
          </p:cNvPr>
          <p:cNvPicPr>
            <a:picLocks noChangeAspect="1"/>
          </p:cNvPicPr>
          <p:nvPr/>
        </p:nvPicPr>
        <p:blipFill rotWithShape="1">
          <a:blip r:embed="rId2"/>
          <a:srcRect b="4271"/>
          <a:stretch/>
        </p:blipFill>
        <p:spPr>
          <a:xfrm>
            <a:off x="4354499" y="4112803"/>
            <a:ext cx="3483002" cy="1029468"/>
          </a:xfrm>
          <a:prstGeom prst="rect">
            <a:avLst/>
          </a:prstGeom>
        </p:spPr>
      </p:pic>
    </p:spTree>
    <p:extLst>
      <p:ext uri="{BB962C8B-B14F-4D97-AF65-F5344CB8AC3E}">
        <p14:creationId xmlns:p14="http://schemas.microsoft.com/office/powerpoint/2010/main" val="3929946341"/>
      </p:ext>
    </p:extLst>
  </p:cSld>
  <p:clrMapOvr>
    <a:masterClrMapping/>
  </p:clrMapOvr>
  <p:transition spd="slow" advTm="0">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2B8803-C52E-5DAA-85C9-F35D6482D57A}"/>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高斯模式类的贝叶斯分类器</a:t>
            </a:r>
          </a:p>
        </p:txBody>
      </p:sp>
      <p:sp>
        <p:nvSpPr>
          <p:cNvPr id="3" name="文本占位符 2">
            <a:extLst>
              <a:ext uri="{FF2B5EF4-FFF2-40B4-BE49-F238E27FC236}">
                <a16:creationId xmlns:a16="http://schemas.microsoft.com/office/drawing/2014/main" id="{C787C05D-0A76-825F-8747-79C2E012D029}"/>
              </a:ext>
            </a:extLst>
          </p:cNvPr>
          <p:cNvSpPr>
            <a:spLocks noGrp="1"/>
          </p:cNvSpPr>
          <p:nvPr>
            <p:ph sz="quarter" idx="12"/>
          </p:nvPr>
        </p:nvSpPr>
        <p:spPr/>
        <p:txBody>
          <a:bodyPr>
            <a:normAutofit/>
          </a:bodyPr>
          <a:lstStyle/>
          <a:p>
            <a:pPr marL="0" marR="610" lvl="0" indent="0" rtl="0">
              <a:buNone/>
            </a:pPr>
            <a:r>
              <a:rPr lang="zh-CN" altLang="en-US" b="0" i="0" u="none" strike="noStrike" baseline="0" dirty="0">
                <a:solidFill>
                  <a:srgbClr val="000000"/>
                </a:solidFill>
                <a:cs typeface="+mn-ea"/>
                <a:sym typeface="+mn-lt"/>
              </a:rPr>
              <a:t>首先考虑一个一维问题</a:t>
            </a:r>
            <a:r>
              <a:rPr lang="en-US" altLang="zh-CN" b="0" i="0" u="none" strike="noStrike" baseline="0" dirty="0">
                <a:solidFill>
                  <a:srgbClr val="000000"/>
                </a:solidFill>
                <a:cs typeface="+mn-ea"/>
                <a:sym typeface="+mn-lt"/>
              </a:rPr>
              <a:t>(n=1),</a:t>
            </a:r>
            <a:r>
              <a:rPr lang="zh-CN" altLang="en-US" b="0" i="0" u="none" strike="noStrike" baseline="0" dirty="0">
                <a:solidFill>
                  <a:srgbClr val="000000"/>
                </a:solidFill>
                <a:cs typeface="+mn-ea"/>
                <a:sym typeface="+mn-lt"/>
              </a:rPr>
              <a:t> 这个问题涉及由高斯密度控制的两个模式类</a:t>
            </a:r>
            <a:r>
              <a:rPr lang="en-US" altLang="zh-CN" b="0" i="0" u="none" strike="noStrike" baseline="0" dirty="0">
                <a:solidFill>
                  <a:srgbClr val="000000"/>
                </a:solidFill>
                <a:cs typeface="+mn-ea"/>
                <a:sym typeface="+mn-lt"/>
              </a:rPr>
              <a:t>(N</a:t>
            </a:r>
            <a:r>
              <a:rPr lang="en-US" altLang="zh-CN" sz="1100" b="0" i="0" u="none" strike="noStrike" baseline="0" dirty="0">
                <a:solidFill>
                  <a:srgbClr val="000000"/>
                </a:solidFill>
                <a:cs typeface="+mn-ea"/>
                <a:sym typeface="+mn-lt"/>
              </a:rPr>
              <a:t>c</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 两个模  式类的均值分别为</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₁ 和</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₂</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标准差分别为</a:t>
            </a:r>
            <a:r>
              <a:rPr lang="el-GR" altLang="zh-CN" b="0" i="0" u="none" strike="noStrike" baseline="0" dirty="0">
                <a:solidFill>
                  <a:srgbClr val="000000"/>
                </a:solidFill>
                <a:cs typeface="+mn-ea"/>
                <a:sym typeface="+mn-lt"/>
              </a:rPr>
              <a:t>σ</a:t>
            </a:r>
            <a:r>
              <a:rPr lang="zh-CN" altLang="en-US" b="0" i="0" u="none" strike="noStrike" baseline="0" dirty="0">
                <a:solidFill>
                  <a:srgbClr val="000000"/>
                </a:solidFill>
                <a:cs typeface="+mn-ea"/>
                <a:sym typeface="+mn-lt"/>
              </a:rPr>
              <a:t>₁和</a:t>
            </a:r>
            <a:r>
              <a:rPr lang="el-GR" altLang="zh-CN" b="0" i="0" u="none" strike="noStrike" baseline="0" dirty="0">
                <a:solidFill>
                  <a:srgbClr val="000000"/>
                </a:solidFill>
                <a:cs typeface="+mn-ea"/>
                <a:sym typeface="+mn-lt"/>
              </a:rPr>
              <a:t>σ</a:t>
            </a:r>
            <a:r>
              <a:rPr lang="zh-CN" altLang="en-US" b="0" i="0" u="none" strike="noStrike" baseline="0" dirty="0">
                <a:solidFill>
                  <a:srgbClr val="000000"/>
                </a:solidFill>
                <a:cs typeface="+mn-ea"/>
                <a:sym typeface="+mn-lt"/>
              </a:rPr>
              <a:t>₂。由式</a:t>
            </a:r>
            <a:r>
              <a:rPr lang="en-US" altLang="zh-CN" b="0" i="0" u="none" strike="noStrike" baseline="0" dirty="0">
                <a:solidFill>
                  <a:srgbClr val="000000"/>
                </a:solidFill>
                <a:cs typeface="+mn-ea"/>
                <a:sym typeface="+mn-lt"/>
              </a:rPr>
              <a:t>(12.24)</a:t>
            </a:r>
            <a:r>
              <a:rPr lang="zh-CN" altLang="en-US" b="0" i="0" u="none" strike="noStrike" baseline="0" dirty="0">
                <a:solidFill>
                  <a:srgbClr val="000000"/>
                </a:solidFill>
                <a:cs typeface="+mn-ea"/>
                <a:sym typeface="+mn-lt"/>
              </a:rPr>
              <a:t>可知，贝叶斯决策函数具有如下形式：</a:t>
            </a:r>
          </a:p>
          <a:p>
            <a:pPr marR="610" lvl="0" rtl="0"/>
            <a:endParaRPr lang="en-US" altLang="zh-CN" b="0" i="0" u="none" strike="noStrike" baseline="0" dirty="0">
              <a:solidFill>
                <a:srgbClr val="000000"/>
              </a:solidFill>
              <a:cs typeface="+mn-ea"/>
              <a:sym typeface="+mn-lt"/>
            </a:endParaRPr>
          </a:p>
        </p:txBody>
      </p:sp>
      <p:pic>
        <p:nvPicPr>
          <p:cNvPr id="5" name="图片 4">
            <a:extLst>
              <a:ext uri="{FF2B5EF4-FFF2-40B4-BE49-F238E27FC236}">
                <a16:creationId xmlns:a16="http://schemas.microsoft.com/office/drawing/2014/main" id="{EF4BFCF3-881C-BEF3-36B1-13D75FA27801}"/>
              </a:ext>
            </a:extLst>
          </p:cNvPr>
          <p:cNvPicPr>
            <a:picLocks noChangeAspect="1"/>
          </p:cNvPicPr>
          <p:nvPr/>
        </p:nvPicPr>
        <p:blipFill>
          <a:blip r:embed="rId2"/>
          <a:stretch>
            <a:fillRect/>
          </a:stretch>
        </p:blipFill>
        <p:spPr>
          <a:xfrm>
            <a:off x="3738561" y="3945253"/>
            <a:ext cx="4714875" cy="781050"/>
          </a:xfrm>
          <a:prstGeom prst="rect">
            <a:avLst/>
          </a:prstGeom>
        </p:spPr>
      </p:pic>
    </p:spTree>
    <p:extLst>
      <p:ext uri="{BB962C8B-B14F-4D97-AF65-F5344CB8AC3E}">
        <p14:creationId xmlns:p14="http://schemas.microsoft.com/office/powerpoint/2010/main" val="1515851918"/>
      </p:ext>
    </p:extLst>
  </p:cSld>
  <p:clrMapOvr>
    <a:masterClrMapping/>
  </p:clrMapOvr>
  <p:transition spd="slow" advTm="0">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09BA5F-CD10-1DA9-6E3E-CBB6668CA10D}"/>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多层前馈神经网络</a:t>
            </a:r>
          </a:p>
        </p:txBody>
      </p:sp>
      <p:sp>
        <p:nvSpPr>
          <p:cNvPr id="3" name="文本占位符 2">
            <a:extLst>
              <a:ext uri="{FF2B5EF4-FFF2-40B4-BE49-F238E27FC236}">
                <a16:creationId xmlns:a16="http://schemas.microsoft.com/office/drawing/2014/main" id="{C61F7C9F-262E-986B-8F52-5516CCCBD6C4}"/>
              </a:ext>
            </a:extLst>
          </p:cNvPr>
          <p:cNvSpPr>
            <a:spLocks noGrp="1"/>
          </p:cNvSpPr>
          <p:nvPr>
            <p:ph sz="quarter" idx="11"/>
          </p:nvPr>
        </p:nvSpPr>
        <p:spPr/>
        <p:txBody>
          <a:bodyPr/>
          <a:lstStyle/>
          <a:p>
            <a:pPr marL="0" marR="61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人工神经元模型</a:t>
            </a:r>
          </a:p>
          <a:p>
            <a:pPr marL="0" marR="610" lvl="0" indent="0" rtl="0">
              <a:buNone/>
            </a:pPr>
            <a:r>
              <a:rPr lang="zh-CN" altLang="en-US" b="0" i="0" u="none" strike="noStrike" baseline="0" dirty="0">
                <a:solidFill>
                  <a:srgbClr val="000000"/>
                </a:solidFill>
                <a:cs typeface="+mn-ea"/>
                <a:sym typeface="+mn-lt"/>
              </a:rPr>
              <a:t>神经网络是互连的类感知机计算元素，这些计算元素称为人工神经元。神经元执行的计算与感知 机的相同，但不同之处是后者处理计算结果的方式。如图</a:t>
            </a:r>
            <a:r>
              <a:rPr lang="en-US" altLang="zh-CN" b="0" i="0" u="none" strike="noStrike" baseline="0" dirty="0">
                <a:solidFill>
                  <a:srgbClr val="000000"/>
                </a:solidFill>
                <a:cs typeface="+mn-ea"/>
                <a:sym typeface="+mn-lt"/>
              </a:rPr>
              <a:t>12.23</a:t>
            </a:r>
            <a:r>
              <a:rPr lang="zh-CN" altLang="en-US" b="0" i="0" u="none" strike="noStrike" baseline="0" dirty="0">
                <a:solidFill>
                  <a:srgbClr val="000000"/>
                </a:solidFill>
                <a:cs typeface="+mn-ea"/>
                <a:sym typeface="+mn-lt"/>
              </a:rPr>
              <a:t> 所示，感知机使用一个“硬”阈值处理函数</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它输出两个值，如</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来执行分类。</a:t>
            </a:r>
          </a:p>
        </p:txBody>
      </p:sp>
      <p:pic>
        <p:nvPicPr>
          <p:cNvPr id="5" name="图片 4">
            <a:extLst>
              <a:ext uri="{FF2B5EF4-FFF2-40B4-BE49-F238E27FC236}">
                <a16:creationId xmlns:a16="http://schemas.microsoft.com/office/drawing/2014/main" id="{FAD268BD-61CC-9E7B-601D-30F2B4722B35}"/>
              </a:ext>
            </a:extLst>
          </p:cNvPr>
          <p:cNvPicPr>
            <a:picLocks noChangeAspect="1"/>
          </p:cNvPicPr>
          <p:nvPr/>
        </p:nvPicPr>
        <p:blipFill>
          <a:blip r:embed="rId2"/>
          <a:stretch>
            <a:fillRect/>
          </a:stretch>
        </p:blipFill>
        <p:spPr>
          <a:xfrm>
            <a:off x="4294853" y="4507513"/>
            <a:ext cx="3602294" cy="2242938"/>
          </a:xfrm>
          <a:prstGeom prst="rect">
            <a:avLst/>
          </a:prstGeom>
        </p:spPr>
      </p:pic>
      <p:sp>
        <p:nvSpPr>
          <p:cNvPr id="6" name="矩形 5">
            <a:extLst>
              <a:ext uri="{FF2B5EF4-FFF2-40B4-BE49-F238E27FC236}">
                <a16:creationId xmlns:a16="http://schemas.microsoft.com/office/drawing/2014/main" id="{F2C178F1-A4BA-113C-305D-E6860B330E78}"/>
              </a:ext>
            </a:extLst>
          </p:cNvPr>
          <p:cNvSpPr/>
          <p:nvPr/>
        </p:nvSpPr>
        <p:spPr>
          <a:xfrm>
            <a:off x="801092" y="2446417"/>
            <a:ext cx="10589815" cy="1968267"/>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715680888"/>
      </p:ext>
    </p:extLst>
  </p:cSld>
  <p:clrMapOvr>
    <a:masterClrMapping/>
  </p:clrMapOvr>
  <p:transition spd="slow" advTm="0">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09BA5F-CD10-1DA9-6E3E-CBB6668CA10D}"/>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多层前馈神经网络</a:t>
            </a:r>
          </a:p>
        </p:txBody>
      </p:sp>
      <p:sp>
        <p:nvSpPr>
          <p:cNvPr id="3" name="文本占位符 2">
            <a:extLst>
              <a:ext uri="{FF2B5EF4-FFF2-40B4-BE49-F238E27FC236}">
                <a16:creationId xmlns:a16="http://schemas.microsoft.com/office/drawing/2014/main" id="{C61F7C9F-262E-986B-8F52-5516CCCBD6C4}"/>
              </a:ext>
            </a:extLst>
          </p:cNvPr>
          <p:cNvSpPr>
            <a:spLocks noGrp="1"/>
          </p:cNvSpPr>
          <p:nvPr>
            <p:ph sz="quarter" idx="12"/>
          </p:nvPr>
        </p:nvSpPr>
        <p:spPr/>
        <p:txBody>
          <a:bodyPr/>
          <a:lstStyle/>
          <a:p>
            <a:pPr marL="0" marR="61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互连神经元形成全连接神经网络</a:t>
            </a:r>
          </a:p>
          <a:p>
            <a:pPr marL="0" marR="61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12.31</a:t>
            </a:r>
            <a:r>
              <a:rPr lang="zh-CN" altLang="en-US" b="0" i="0" u="none" strike="noStrike" baseline="0" dirty="0">
                <a:solidFill>
                  <a:srgbClr val="000000"/>
                </a:solidFill>
                <a:cs typeface="+mn-ea"/>
                <a:sym typeface="+mn-lt"/>
              </a:rPr>
              <a:t>是一个多层神经网络的通用框图。网络中的一层是网络中一列的一组节点</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神经元</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。如图</a:t>
            </a:r>
            <a:r>
              <a:rPr lang="en-US" altLang="zh-CN" b="0" i="0" u="none" strike="noStrike" baseline="0" dirty="0">
                <a:solidFill>
                  <a:srgbClr val="000000"/>
                </a:solidFill>
                <a:cs typeface="+mn-ea"/>
                <a:sym typeface="+mn-lt"/>
              </a:rPr>
              <a:t>12.31</a:t>
            </a:r>
            <a:r>
              <a:rPr lang="zh-CN" altLang="en-US" b="0" i="0" u="none" strike="noStrike" baseline="0" dirty="0">
                <a:solidFill>
                  <a:srgbClr val="000000"/>
                </a:solidFill>
                <a:cs typeface="+mn-ea"/>
                <a:sym typeface="+mn-lt"/>
              </a:rPr>
              <a:t>中放大的节点所示，网络中的所有节点都是图</a:t>
            </a:r>
            <a:r>
              <a:rPr lang="en-US" altLang="zh-CN" b="0" i="0" u="none" strike="noStrike" baseline="0" dirty="0">
                <a:solidFill>
                  <a:srgbClr val="000000"/>
                </a:solidFill>
                <a:cs typeface="+mn-ea"/>
                <a:sym typeface="+mn-lt"/>
              </a:rPr>
              <a:t>12.29</a:t>
            </a:r>
            <a:r>
              <a:rPr lang="zh-CN" altLang="en-US" b="0" i="0" u="none" strike="noStrike" baseline="0" dirty="0">
                <a:solidFill>
                  <a:srgbClr val="000000"/>
                </a:solidFill>
                <a:cs typeface="+mn-ea"/>
                <a:sym typeface="+mn-lt"/>
              </a:rPr>
              <a:t>所示形式的人工神经元，但输入层除外， 输入层的节点是输入模式向量</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的各个分量。</a:t>
            </a:r>
          </a:p>
        </p:txBody>
      </p:sp>
      <p:pic>
        <p:nvPicPr>
          <p:cNvPr id="5" name="图片 4">
            <a:extLst>
              <a:ext uri="{FF2B5EF4-FFF2-40B4-BE49-F238E27FC236}">
                <a16:creationId xmlns:a16="http://schemas.microsoft.com/office/drawing/2014/main" id="{5B3F4076-3B4F-A0B2-9DA9-BDD5731491AD}"/>
              </a:ext>
            </a:extLst>
          </p:cNvPr>
          <p:cNvPicPr>
            <a:picLocks noChangeAspect="1"/>
          </p:cNvPicPr>
          <p:nvPr/>
        </p:nvPicPr>
        <p:blipFill>
          <a:blip r:embed="rId2"/>
          <a:stretch>
            <a:fillRect/>
          </a:stretch>
        </p:blipFill>
        <p:spPr>
          <a:xfrm>
            <a:off x="1798535" y="4431123"/>
            <a:ext cx="4583369" cy="1896336"/>
          </a:xfrm>
          <a:prstGeom prst="rect">
            <a:avLst/>
          </a:prstGeom>
        </p:spPr>
      </p:pic>
      <p:pic>
        <p:nvPicPr>
          <p:cNvPr id="7" name="图片 6">
            <a:extLst>
              <a:ext uri="{FF2B5EF4-FFF2-40B4-BE49-F238E27FC236}">
                <a16:creationId xmlns:a16="http://schemas.microsoft.com/office/drawing/2014/main" id="{D58DB591-79B1-8FC6-A575-C11C996D6D9E}"/>
              </a:ext>
            </a:extLst>
          </p:cNvPr>
          <p:cNvPicPr>
            <a:picLocks noChangeAspect="1"/>
          </p:cNvPicPr>
          <p:nvPr/>
        </p:nvPicPr>
        <p:blipFill>
          <a:blip r:embed="rId3"/>
          <a:stretch>
            <a:fillRect/>
          </a:stretch>
        </p:blipFill>
        <p:spPr>
          <a:xfrm>
            <a:off x="7492949" y="4055105"/>
            <a:ext cx="2467128" cy="2272354"/>
          </a:xfrm>
          <a:prstGeom prst="rect">
            <a:avLst/>
          </a:prstGeom>
        </p:spPr>
      </p:pic>
    </p:spTree>
    <p:extLst>
      <p:ext uri="{BB962C8B-B14F-4D97-AF65-F5344CB8AC3E}">
        <p14:creationId xmlns:p14="http://schemas.microsoft.com/office/powerpoint/2010/main" val="2448841663"/>
      </p:ext>
    </p:extLst>
  </p:cSld>
  <p:clrMapOvr>
    <a:masterClrMapping/>
  </p:clrMapOvr>
  <p:transition spd="slow" advTm="0">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05</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神经网络与深度学习</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422940028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A82B87-3B5E-842C-604E-58158B9ADA98}"/>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正向传播前馈神经网络</a:t>
            </a:r>
          </a:p>
        </p:txBody>
      </p:sp>
      <p:sp>
        <p:nvSpPr>
          <p:cNvPr id="3" name="文本占位符 2">
            <a:extLst>
              <a:ext uri="{FF2B5EF4-FFF2-40B4-BE49-F238E27FC236}">
                <a16:creationId xmlns:a16="http://schemas.microsoft.com/office/drawing/2014/main" id="{77656955-D782-CE3A-4EAB-5DC6125BF20D}"/>
              </a:ext>
            </a:extLst>
          </p:cNvPr>
          <p:cNvSpPr>
            <a:spLocks noGrp="1"/>
          </p:cNvSpPr>
          <p:nvPr>
            <p:ph sz="quarter" idx="11"/>
          </p:nvPr>
        </p:nvSpPr>
        <p:spPr/>
        <p:txBody>
          <a:bodyPr>
            <a:noAutofit/>
          </a:bodyPr>
          <a:lstStyle/>
          <a:p>
            <a:pPr marL="0" marR="61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正向传播方程</a:t>
            </a:r>
          </a:p>
          <a:p>
            <a:pPr marL="0" marR="610" lvl="0" indent="0" rtl="0">
              <a:buNone/>
            </a:pPr>
            <a:r>
              <a:rPr lang="zh-CN" altLang="en-US" b="0" i="0" u="none" strike="noStrike" baseline="0" dirty="0">
                <a:solidFill>
                  <a:srgbClr val="000000"/>
                </a:solidFill>
                <a:cs typeface="+mn-ea"/>
                <a:sym typeface="+mn-lt"/>
              </a:rPr>
              <a:t>第</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层的输出是输入向量</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的各个分量：</a:t>
            </a:r>
          </a:p>
          <a:p>
            <a:pPr marL="0" marR="610" lvl="0" indent="0" rtl="0">
              <a:buNone/>
            </a:pPr>
            <a:r>
              <a:rPr lang="zh-CN" altLang="en-US" b="0" i="0" u="none" strike="noStrike" baseline="0" dirty="0">
                <a:solidFill>
                  <a:srgbClr val="000000"/>
                </a:solidFill>
                <a:cs typeface="+mn-ea"/>
                <a:sym typeface="+mn-lt"/>
              </a:rPr>
              <a:t>式中，</a:t>
            </a:r>
            <a:r>
              <a:rPr lang="en-US" altLang="zh-CN" b="0" i="0" u="none" strike="noStrike" baseline="0" dirty="0" err="1">
                <a:solidFill>
                  <a:srgbClr val="000000"/>
                </a:solidFill>
                <a:cs typeface="+mn-ea"/>
                <a:sym typeface="+mn-lt"/>
              </a:rPr>
              <a:t>n</a:t>
            </a:r>
            <a:r>
              <a:rPr lang="en-US" altLang="zh-CN" sz="1100" b="0" i="0" u="none" strike="noStrike" baseline="0" dirty="0" err="1">
                <a:solidFill>
                  <a:srgbClr val="000000"/>
                </a:solidFill>
                <a:cs typeface="+mn-ea"/>
                <a:sym typeface="+mn-lt"/>
              </a:rPr>
              <a:t>i</a:t>
            </a:r>
            <a:r>
              <a:rPr lang="en-US" altLang="zh-CN"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是</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的维数。</a:t>
            </a:r>
            <a:endParaRPr lang="en-US" altLang="zh-CN" b="0" i="0" u="none" strike="noStrike" baseline="0" dirty="0">
              <a:solidFill>
                <a:srgbClr val="000000"/>
              </a:solidFill>
              <a:cs typeface="+mn-ea"/>
              <a:sym typeface="+mn-lt"/>
            </a:endParaRPr>
          </a:p>
          <a:p>
            <a:pPr marL="0" marR="61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矩阵公式</a:t>
            </a:r>
          </a:p>
          <a:p>
            <a:pPr marL="0" marR="610" lvl="0" indent="0" rtl="0">
              <a:buNone/>
            </a:pPr>
            <a:r>
              <a:rPr lang="zh-CN" altLang="en-US" b="0" i="0" u="none" strike="noStrike" baseline="0" dirty="0">
                <a:solidFill>
                  <a:srgbClr val="000000"/>
                </a:solidFill>
                <a:cs typeface="+mn-ea"/>
                <a:sym typeface="+mn-lt"/>
              </a:rPr>
              <a:t>上例的细节表明，在通过一个神经网络的过程中，会涉及大量单独的计算。如果编写一个计算机 程序来自动执行刚才讨论过的步骤，那么我们会发现代码的效率很低，因此都要求循环计算，而这需要大量的节点和层索引。使用矩阵运算可以开发出更简捷</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计算速度更快</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的实现。</a:t>
            </a:r>
          </a:p>
        </p:txBody>
      </p:sp>
      <p:pic>
        <p:nvPicPr>
          <p:cNvPr id="5" name="图片 4">
            <a:extLst>
              <a:ext uri="{FF2B5EF4-FFF2-40B4-BE49-F238E27FC236}">
                <a16:creationId xmlns:a16="http://schemas.microsoft.com/office/drawing/2014/main" id="{7CE85938-D71D-4A56-3A08-0E1963FF9A03}"/>
              </a:ext>
            </a:extLst>
          </p:cNvPr>
          <p:cNvPicPr>
            <a:picLocks noChangeAspect="1"/>
          </p:cNvPicPr>
          <p:nvPr/>
        </p:nvPicPr>
        <p:blipFill rotWithShape="1">
          <a:blip r:embed="rId2"/>
          <a:srcRect b="12716"/>
          <a:stretch/>
        </p:blipFill>
        <p:spPr>
          <a:xfrm>
            <a:off x="5247813" y="3105150"/>
            <a:ext cx="2824698" cy="404966"/>
          </a:xfrm>
          <a:prstGeom prst="rect">
            <a:avLst/>
          </a:prstGeom>
        </p:spPr>
      </p:pic>
      <p:sp>
        <p:nvSpPr>
          <p:cNvPr id="8" name="矩形 7">
            <a:extLst>
              <a:ext uri="{FF2B5EF4-FFF2-40B4-BE49-F238E27FC236}">
                <a16:creationId xmlns:a16="http://schemas.microsoft.com/office/drawing/2014/main" id="{5891E96B-1CC9-6B7B-485A-C071003A5877}"/>
              </a:ext>
            </a:extLst>
          </p:cNvPr>
          <p:cNvSpPr/>
          <p:nvPr/>
        </p:nvSpPr>
        <p:spPr>
          <a:xfrm>
            <a:off x="801092" y="2446417"/>
            <a:ext cx="10589815" cy="3826564"/>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676288241"/>
      </p:ext>
    </p:extLst>
  </p:cSld>
  <p:clrMapOvr>
    <a:masterClrMapping/>
  </p:clrMapOvr>
  <p:transition spd="slow" advTm="0">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7AA983-69D0-D56F-199D-974DFCB56B8F}"/>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使用反向传播训练深层神经网络</a:t>
            </a:r>
          </a:p>
        </p:txBody>
      </p:sp>
      <p:sp>
        <p:nvSpPr>
          <p:cNvPr id="3" name="文本占位符 2">
            <a:extLst>
              <a:ext uri="{FF2B5EF4-FFF2-40B4-BE49-F238E27FC236}">
                <a16:creationId xmlns:a16="http://schemas.microsoft.com/office/drawing/2014/main" id="{439B1B6F-CA7A-D25E-9E85-FCB70DDEC5CB}"/>
              </a:ext>
            </a:extLst>
          </p:cNvPr>
          <p:cNvSpPr>
            <a:spLocks noGrp="1"/>
          </p:cNvSpPr>
          <p:nvPr>
            <p:ph sz="quarter" idx="11"/>
          </p:nvPr>
        </p:nvSpPr>
        <p:spPr/>
        <p:txBody>
          <a:bodyPr>
            <a:noAutofit/>
          </a:bodyPr>
          <a:lstStyle/>
          <a:p>
            <a:pPr marL="0" marR="61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反向传播方程</a:t>
            </a:r>
          </a:p>
          <a:p>
            <a:pPr marL="0" marR="610" lvl="0" indent="0" rtl="0">
              <a:buNone/>
            </a:pPr>
            <a:r>
              <a:rPr lang="zh-CN" altLang="en-US" b="0" i="0" u="none" strike="noStrike" baseline="0" dirty="0">
                <a:solidFill>
                  <a:srgbClr val="000000"/>
                </a:solidFill>
                <a:cs typeface="+mn-ea"/>
                <a:sym typeface="+mn-lt"/>
              </a:rPr>
              <a:t>已知一组训练模式和一个多层前馈神经网络结构，下面讨论的方法是求使得误差</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也称代价或目 标</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函数最小的网络参数。我们的兴趣是分类性能，因此将一个神经网络的误差函数定义为期望响应和实际响应之差的平均值。</a:t>
            </a:r>
            <a:endParaRPr lang="en-US" altLang="zh-CN" b="0" i="0" u="none" strike="noStrike" baseline="0" dirty="0">
              <a:solidFill>
                <a:srgbClr val="000000"/>
              </a:solidFill>
              <a:cs typeface="+mn-ea"/>
              <a:sym typeface="+mn-lt"/>
            </a:endParaRPr>
          </a:p>
          <a:p>
            <a:pPr marL="0" marR="61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矩阵公式</a:t>
            </a:r>
          </a:p>
          <a:p>
            <a:pPr marL="0" marR="610" lvl="0" indent="0" rtl="0">
              <a:buNone/>
            </a:pPr>
            <a:r>
              <a:rPr lang="zh-CN" altLang="en-US" b="0" i="0" u="none" strike="noStrike" baseline="0" dirty="0">
                <a:solidFill>
                  <a:srgbClr val="000000"/>
                </a:solidFill>
                <a:cs typeface="+mn-ea"/>
                <a:sym typeface="+mn-lt"/>
              </a:rPr>
              <a:t>如同描述正向传播神经网络的方程那样，前述讨论中开发的反向传播方程很好地描述了这种方法 的基本工作原理，但要实现这些方程却很困难。本节采用正向传播中所用的类似过程，推导反向传播的矩阵公式。</a:t>
            </a:r>
          </a:p>
        </p:txBody>
      </p:sp>
      <p:sp>
        <p:nvSpPr>
          <p:cNvPr id="4" name="矩形 3">
            <a:extLst>
              <a:ext uri="{FF2B5EF4-FFF2-40B4-BE49-F238E27FC236}">
                <a16:creationId xmlns:a16="http://schemas.microsoft.com/office/drawing/2014/main" id="{E89D31CC-19C1-9B1E-87CD-EC7BFA20E39C}"/>
              </a:ext>
            </a:extLst>
          </p:cNvPr>
          <p:cNvSpPr/>
          <p:nvPr/>
        </p:nvSpPr>
        <p:spPr>
          <a:xfrm>
            <a:off x="801092" y="2446416"/>
            <a:ext cx="10589815" cy="4092035"/>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874555098"/>
      </p:ext>
    </p:extLst>
  </p:cSld>
  <p:clrMapOvr>
    <a:masterClrMapping/>
  </p:clrMapOvr>
  <p:transition spd="slow" advTm="0">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06</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深度卷积神经网络</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00748186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0F8D4C-6AF8-5796-400F-7CC4DBC25A19}"/>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一种基本的 </a:t>
            </a:r>
            <a:r>
              <a:rPr lang="en-US" altLang="zh-CN" b="1" i="0" u="none" strike="noStrike" baseline="0">
                <a:solidFill>
                  <a:srgbClr val="0070C0"/>
                </a:solidFill>
                <a:latin typeface="+mn-lt"/>
                <a:ea typeface="+mn-ea"/>
                <a:cs typeface="+mn-ea"/>
                <a:sym typeface="+mn-lt"/>
              </a:rPr>
              <a:t>CNN</a:t>
            </a:r>
            <a:r>
              <a:rPr lang="zh-CN" altLang="en-US" b="1" i="0" u="none" strike="noStrike" baseline="0">
                <a:solidFill>
                  <a:srgbClr val="0070C0"/>
                </a:solidFill>
                <a:latin typeface="+mn-lt"/>
                <a:ea typeface="+mn-ea"/>
                <a:cs typeface="+mn-ea"/>
                <a:sym typeface="+mn-lt"/>
              </a:rPr>
              <a:t> 结构</a:t>
            </a:r>
          </a:p>
        </p:txBody>
      </p:sp>
      <p:sp>
        <p:nvSpPr>
          <p:cNvPr id="3" name="文本占位符 2">
            <a:extLst>
              <a:ext uri="{FF2B5EF4-FFF2-40B4-BE49-F238E27FC236}">
                <a16:creationId xmlns:a16="http://schemas.microsoft.com/office/drawing/2014/main" id="{DA3DAF3D-1E19-2BED-EB36-8A6DCDA4E52C}"/>
              </a:ext>
            </a:extLst>
          </p:cNvPr>
          <p:cNvSpPr>
            <a:spLocks noGrp="1"/>
          </p:cNvSpPr>
          <p:nvPr>
            <p:ph sz="quarter" idx="11"/>
          </p:nvPr>
        </p:nvSpPr>
        <p:spPr/>
        <p:txBody>
          <a:bodyPr>
            <a:noAutofit/>
          </a:bodyPr>
          <a:lstStyle/>
          <a:p>
            <a:pPr marL="0" marR="610" lvl="0" indent="0" rtl="0">
              <a:buNone/>
            </a:pPr>
            <a:r>
              <a:rPr lang="en-US" altLang="zh-CN" b="1" i="0" u="none" strike="noStrike" baseline="0" dirty="0">
                <a:solidFill>
                  <a:srgbClr val="000000"/>
                </a:solidFill>
                <a:cs typeface="+mn-ea"/>
                <a:sym typeface="+mn-lt"/>
              </a:rPr>
              <a:t>1.CNN</a:t>
            </a:r>
            <a:r>
              <a:rPr lang="zh-CN" altLang="en-US" b="1" i="0" u="none" strike="noStrike" baseline="0" dirty="0">
                <a:solidFill>
                  <a:srgbClr val="000000"/>
                </a:solidFill>
                <a:cs typeface="+mn-ea"/>
                <a:sym typeface="+mn-lt"/>
              </a:rPr>
              <a:t>的操作基础</a:t>
            </a:r>
          </a:p>
          <a:p>
            <a:pPr marL="0" marR="610" lvl="0" indent="0" rtl="0">
              <a:buNone/>
            </a:pPr>
            <a:r>
              <a:rPr lang="zh-CN" altLang="en-US" b="0" i="0" u="none" strike="noStrike" baseline="0" dirty="0">
                <a:solidFill>
                  <a:srgbClr val="000000"/>
                </a:solidFill>
                <a:cs typeface="+mn-ea"/>
                <a:sym typeface="+mn-lt"/>
              </a:rPr>
              <a:t>如上所述，</a:t>
            </a:r>
            <a:r>
              <a:rPr lang="en-US" altLang="zh-CN" b="0" i="0" u="none" strike="noStrike" baseline="0" dirty="0">
                <a:solidFill>
                  <a:srgbClr val="000000"/>
                </a:solidFill>
                <a:cs typeface="+mn-ea"/>
                <a:sym typeface="+mn-lt"/>
              </a:rPr>
              <a:t>CNN</a:t>
            </a:r>
            <a:r>
              <a:rPr lang="zh-CN" altLang="en-US" b="0" i="0" u="none" strike="noStrike" baseline="0" dirty="0">
                <a:solidFill>
                  <a:srgbClr val="000000"/>
                </a:solidFill>
                <a:cs typeface="+mn-ea"/>
                <a:sym typeface="+mn-lt"/>
              </a:rPr>
              <a:t>中邻域处理的类型是空间卷积。图</a:t>
            </a:r>
            <a:r>
              <a:rPr lang="en-US" altLang="zh-CN" b="0" i="0" u="none" strike="noStrike" baseline="0" dirty="0">
                <a:solidFill>
                  <a:srgbClr val="000000"/>
                </a:solidFill>
                <a:cs typeface="+mn-ea"/>
                <a:sym typeface="+mn-lt"/>
              </a:rPr>
              <a:t>3.21</a:t>
            </a:r>
            <a:r>
              <a:rPr lang="zh-CN" altLang="en-US" b="0" i="0" u="none" strike="noStrike" baseline="0" dirty="0">
                <a:solidFill>
                  <a:srgbClr val="000000"/>
                </a:solidFill>
                <a:cs typeface="+mn-ea"/>
                <a:sym typeface="+mn-lt"/>
              </a:rPr>
              <a:t>中说明了空间卷积的原理，并在式</a:t>
            </a:r>
            <a:r>
              <a:rPr lang="en-US" altLang="zh-CN" b="0" i="0" u="none" strike="noStrike" baseline="0" dirty="0">
                <a:solidFill>
                  <a:srgbClr val="000000"/>
                </a:solidFill>
                <a:cs typeface="+mn-ea"/>
                <a:sym typeface="+mn-lt"/>
              </a:rPr>
              <a:t>(3.35)</a:t>
            </a:r>
            <a:r>
              <a:rPr lang="zh-CN" altLang="en-US" b="0" i="0" u="none" strike="noStrike" baseline="0" dirty="0">
                <a:solidFill>
                  <a:srgbClr val="000000"/>
                </a:solidFill>
                <a:cs typeface="+mn-ea"/>
                <a:sym typeface="+mn-lt"/>
              </a:rPr>
              <a:t>中以数学公式加以表示。</a:t>
            </a:r>
          </a:p>
        </p:txBody>
      </p:sp>
      <p:pic>
        <p:nvPicPr>
          <p:cNvPr id="5" name="图片 4">
            <a:extLst>
              <a:ext uri="{FF2B5EF4-FFF2-40B4-BE49-F238E27FC236}">
                <a16:creationId xmlns:a16="http://schemas.microsoft.com/office/drawing/2014/main" id="{A822D71F-3430-03C8-1E44-CDE49FBF7B3D}"/>
              </a:ext>
            </a:extLst>
          </p:cNvPr>
          <p:cNvPicPr>
            <a:picLocks noChangeAspect="1"/>
          </p:cNvPicPr>
          <p:nvPr/>
        </p:nvPicPr>
        <p:blipFill>
          <a:blip r:embed="rId2"/>
          <a:stretch>
            <a:fillRect/>
          </a:stretch>
        </p:blipFill>
        <p:spPr>
          <a:xfrm>
            <a:off x="3215070" y="4012124"/>
            <a:ext cx="5761857" cy="2691967"/>
          </a:xfrm>
          <a:prstGeom prst="rect">
            <a:avLst/>
          </a:prstGeom>
        </p:spPr>
      </p:pic>
      <p:sp>
        <p:nvSpPr>
          <p:cNvPr id="6" name="矩形 5">
            <a:extLst>
              <a:ext uri="{FF2B5EF4-FFF2-40B4-BE49-F238E27FC236}">
                <a16:creationId xmlns:a16="http://schemas.microsoft.com/office/drawing/2014/main" id="{284A583F-4F25-7FA0-FC4B-C91642F36F55}"/>
              </a:ext>
            </a:extLst>
          </p:cNvPr>
          <p:cNvSpPr/>
          <p:nvPr/>
        </p:nvSpPr>
        <p:spPr>
          <a:xfrm>
            <a:off x="801092" y="2446416"/>
            <a:ext cx="10652971" cy="1509825"/>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963506255"/>
      </p:ext>
    </p:extLst>
  </p:cSld>
  <p:clrMapOvr>
    <a:masterClrMapping/>
  </p:clrMapOvr>
  <p:transition spd="slow" advTm="0">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0F8D4C-6AF8-5796-400F-7CC4DBC25A19}"/>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一种基本的</a:t>
            </a:r>
            <a:r>
              <a:rPr lang="en-US" altLang="zh-CN" b="1" i="0" u="none" strike="noStrike" baseline="0" dirty="0">
                <a:solidFill>
                  <a:srgbClr val="0070C0"/>
                </a:solidFill>
                <a:latin typeface="+mn-lt"/>
                <a:ea typeface="+mn-ea"/>
                <a:cs typeface="+mn-ea"/>
                <a:sym typeface="+mn-lt"/>
              </a:rPr>
              <a:t>CNN</a:t>
            </a:r>
            <a:r>
              <a:rPr lang="zh-CN" altLang="en-US" b="1" i="0" u="none" strike="noStrike" baseline="0" dirty="0">
                <a:solidFill>
                  <a:srgbClr val="0070C0"/>
                </a:solidFill>
                <a:latin typeface="+mn-lt"/>
                <a:ea typeface="+mn-ea"/>
                <a:cs typeface="+mn-ea"/>
                <a:sym typeface="+mn-lt"/>
              </a:rPr>
              <a:t>结构</a:t>
            </a:r>
          </a:p>
        </p:txBody>
      </p:sp>
      <p:sp>
        <p:nvSpPr>
          <p:cNvPr id="3" name="文本占位符 2">
            <a:extLst>
              <a:ext uri="{FF2B5EF4-FFF2-40B4-BE49-F238E27FC236}">
                <a16:creationId xmlns:a16="http://schemas.microsoft.com/office/drawing/2014/main" id="{DA3DAF3D-1E19-2BED-EB36-8A6DCDA4E52C}"/>
              </a:ext>
            </a:extLst>
          </p:cNvPr>
          <p:cNvSpPr>
            <a:spLocks noGrp="1"/>
          </p:cNvSpPr>
          <p:nvPr>
            <p:ph sz="quarter" idx="11"/>
          </p:nvPr>
        </p:nvSpPr>
        <p:spPr/>
        <p:txBody>
          <a:bodyPr>
            <a:noAutofit/>
          </a:bodyPr>
          <a:lstStyle/>
          <a:p>
            <a:pPr marL="0" marR="610" lvl="0" indent="0" rtl="0">
              <a:buNone/>
            </a:pPr>
            <a:r>
              <a:rPr lang="en-US" altLang="zh-CN" b="1" i="0" u="none" strike="noStrike" baseline="0" dirty="0">
                <a:solidFill>
                  <a:srgbClr val="000000"/>
                </a:solidFill>
                <a:cs typeface="+mn-ea"/>
                <a:sym typeface="+mn-lt"/>
              </a:rPr>
              <a:t>2.CNN</a:t>
            </a:r>
            <a:r>
              <a:rPr lang="zh-CN" altLang="en-US" b="1" i="0" u="none" strike="noStrike" baseline="0" dirty="0">
                <a:solidFill>
                  <a:srgbClr val="000000"/>
                </a:solidFill>
                <a:cs typeface="+mn-ea"/>
                <a:sym typeface="+mn-lt"/>
              </a:rPr>
              <a:t>中的神经计算</a:t>
            </a:r>
          </a:p>
          <a:p>
            <a:pPr marL="0" marR="610" lvl="0" indent="0" rtl="0">
              <a:buNone/>
            </a:pPr>
            <a:r>
              <a:rPr lang="zh-CN" altLang="en-US" b="0" i="0" u="none" strike="noStrike" baseline="0" dirty="0">
                <a:solidFill>
                  <a:srgbClr val="000000"/>
                </a:solidFill>
                <a:cs typeface="+mn-ea"/>
                <a:sym typeface="+mn-lt"/>
              </a:rPr>
              <a:t>回顾图</a:t>
            </a:r>
            <a:r>
              <a:rPr lang="en-US" altLang="zh-CN" b="0" i="0" u="none" strike="noStrike" baseline="0" dirty="0">
                <a:solidFill>
                  <a:srgbClr val="000000"/>
                </a:solidFill>
                <a:cs typeface="+mn-ea"/>
                <a:sym typeface="+mn-lt"/>
              </a:rPr>
              <a:t>12.29</a:t>
            </a:r>
            <a:r>
              <a:rPr lang="zh-CN" altLang="en-US" b="0" i="0" u="none" strike="noStrike" baseline="0" dirty="0">
                <a:solidFill>
                  <a:srgbClr val="000000"/>
                </a:solidFill>
                <a:cs typeface="+mn-ea"/>
                <a:sym typeface="+mn-lt"/>
              </a:rPr>
              <a:t>可知</a:t>
            </a:r>
            <a:r>
              <a:rPr lang="zh-CN" altLang="en-US" dirty="0">
                <a:solidFill>
                  <a:srgbClr val="000000"/>
                </a:solidFill>
                <a:cs typeface="+mn-ea"/>
                <a:sym typeface="+mn-lt"/>
              </a:rPr>
              <a:t>，</a:t>
            </a:r>
            <a:r>
              <a:rPr lang="zh-CN" altLang="en-US" b="0" i="0" u="none" strike="noStrike" baseline="0" dirty="0">
                <a:solidFill>
                  <a:srgbClr val="000000"/>
                </a:solidFill>
                <a:cs typeface="+mn-ea"/>
                <a:sym typeface="+mn-lt"/>
              </a:rPr>
              <a:t>人工神经元执行的基本计算是权重与前一层的值的乘积之和。对此，我们加 上一个偏置，并将结果称为神经元的净</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总</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输入，净输入用</a:t>
            </a:r>
            <a:r>
              <a:rPr lang="en-US" altLang="zh-CN" b="0" i="0" u="none" strike="noStrike" baseline="0" dirty="0" err="1">
                <a:solidFill>
                  <a:srgbClr val="000000"/>
                </a:solidFill>
                <a:cs typeface="+mn-ea"/>
                <a:sym typeface="+mn-lt"/>
              </a:rPr>
              <a:t>z</a:t>
            </a:r>
            <a:r>
              <a:rPr lang="en-US" altLang="zh-CN" sz="1100" b="0" i="0" u="none" strike="noStrike" baseline="0" dirty="0" err="1">
                <a:solidFill>
                  <a:srgbClr val="000000"/>
                </a:solidFill>
                <a:cs typeface="+mn-ea"/>
                <a:sym typeface="+mn-lt"/>
              </a:rPr>
              <a:t>j</a:t>
            </a:r>
            <a:r>
              <a:rPr lang="zh-CN" altLang="en-US" sz="1100" b="0" i="0" u="none" strike="noStrike" baseline="0" dirty="0">
                <a:solidFill>
                  <a:srgbClr val="000000"/>
                </a:solidFill>
                <a:cs typeface="+mn-ea"/>
                <a:sym typeface="+mn-lt"/>
              </a:rPr>
              <a:t> </a:t>
            </a:r>
            <a:r>
              <a:rPr lang="zh-CN" altLang="en-US" b="0" i="0" u="none" strike="noStrike" baseline="0" dirty="0">
                <a:solidFill>
                  <a:srgbClr val="000000"/>
                </a:solidFill>
                <a:cs typeface="+mn-ea"/>
                <a:sym typeface="+mn-lt"/>
              </a:rPr>
              <a:t>表示。</a:t>
            </a:r>
          </a:p>
        </p:txBody>
      </p:sp>
      <p:pic>
        <p:nvPicPr>
          <p:cNvPr id="5" name="图片 4">
            <a:extLst>
              <a:ext uri="{FF2B5EF4-FFF2-40B4-BE49-F238E27FC236}">
                <a16:creationId xmlns:a16="http://schemas.microsoft.com/office/drawing/2014/main" id="{12D11576-59AC-3BA2-350A-8910F1954219}"/>
              </a:ext>
            </a:extLst>
          </p:cNvPr>
          <p:cNvPicPr>
            <a:picLocks noChangeAspect="1"/>
          </p:cNvPicPr>
          <p:nvPr/>
        </p:nvPicPr>
        <p:blipFill>
          <a:blip r:embed="rId2"/>
          <a:stretch>
            <a:fillRect/>
          </a:stretch>
        </p:blipFill>
        <p:spPr>
          <a:xfrm>
            <a:off x="3249599" y="4103150"/>
            <a:ext cx="5692802" cy="2398149"/>
          </a:xfrm>
          <a:prstGeom prst="rect">
            <a:avLst/>
          </a:prstGeom>
        </p:spPr>
      </p:pic>
      <p:sp>
        <p:nvSpPr>
          <p:cNvPr id="6" name="矩形 5">
            <a:extLst>
              <a:ext uri="{FF2B5EF4-FFF2-40B4-BE49-F238E27FC236}">
                <a16:creationId xmlns:a16="http://schemas.microsoft.com/office/drawing/2014/main" id="{304312A4-84F8-26A0-7DE3-DADE02BAFF90}"/>
              </a:ext>
            </a:extLst>
          </p:cNvPr>
          <p:cNvSpPr/>
          <p:nvPr/>
        </p:nvSpPr>
        <p:spPr>
          <a:xfrm>
            <a:off x="801092" y="2446416"/>
            <a:ext cx="10589815" cy="1545481"/>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159275215"/>
      </p:ext>
    </p:extLst>
  </p:cSld>
  <p:clrMapOvr>
    <a:masterClrMapping/>
  </p:clrMapOvr>
  <p:transition spd="slow" advTm="0">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0F8D4C-6AF8-5796-400F-7CC4DBC25A19}"/>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一种基本的 </a:t>
            </a:r>
            <a:r>
              <a:rPr lang="en-US" altLang="zh-CN" b="1" i="0" u="none" strike="noStrike" baseline="0">
                <a:solidFill>
                  <a:srgbClr val="0070C0"/>
                </a:solidFill>
                <a:latin typeface="+mn-lt"/>
                <a:ea typeface="+mn-ea"/>
                <a:cs typeface="+mn-ea"/>
                <a:sym typeface="+mn-lt"/>
              </a:rPr>
              <a:t>CNN</a:t>
            </a:r>
            <a:r>
              <a:rPr lang="zh-CN" altLang="en-US" b="1" i="0" u="none" strike="noStrike" baseline="0">
                <a:solidFill>
                  <a:srgbClr val="0070C0"/>
                </a:solidFill>
                <a:latin typeface="+mn-lt"/>
                <a:ea typeface="+mn-ea"/>
                <a:cs typeface="+mn-ea"/>
                <a:sym typeface="+mn-lt"/>
              </a:rPr>
              <a:t> 结构</a:t>
            </a:r>
          </a:p>
        </p:txBody>
      </p:sp>
      <p:sp>
        <p:nvSpPr>
          <p:cNvPr id="3" name="文本占位符 2">
            <a:extLst>
              <a:ext uri="{FF2B5EF4-FFF2-40B4-BE49-F238E27FC236}">
                <a16:creationId xmlns:a16="http://schemas.microsoft.com/office/drawing/2014/main" id="{DA3DAF3D-1E19-2BED-EB36-8A6DCDA4E52C}"/>
              </a:ext>
            </a:extLst>
          </p:cNvPr>
          <p:cNvSpPr>
            <a:spLocks noGrp="1"/>
          </p:cNvSpPr>
          <p:nvPr>
            <p:ph sz="quarter" idx="11"/>
          </p:nvPr>
        </p:nvSpPr>
        <p:spPr/>
        <p:txBody>
          <a:bodyPr>
            <a:noAutofit/>
          </a:bodyPr>
          <a:lstStyle/>
          <a:p>
            <a:pPr marL="0" marR="610" lvl="0" indent="0" rtl="0">
              <a:buNone/>
            </a:pPr>
            <a:r>
              <a:rPr lang="en-US" altLang="zh-CN" b="1" i="0" u="none" strike="noStrike" baseline="0" dirty="0">
                <a:solidFill>
                  <a:srgbClr val="000000"/>
                </a:solidFill>
                <a:cs typeface="+mn-ea"/>
                <a:sym typeface="+mn-lt"/>
              </a:rPr>
              <a:t>3.</a:t>
            </a:r>
            <a:r>
              <a:rPr lang="zh-CN" altLang="en-US" b="1" i="0" u="none" strike="noStrike" baseline="0" dirty="0">
                <a:solidFill>
                  <a:srgbClr val="000000"/>
                </a:solidFill>
                <a:cs typeface="+mn-ea"/>
                <a:sym typeface="+mn-lt"/>
              </a:rPr>
              <a:t>多幅输入图像</a:t>
            </a:r>
          </a:p>
          <a:p>
            <a:pPr marL="0" marR="610" lvl="0" indent="0" rtl="0">
              <a:buNone/>
            </a:pPr>
            <a:r>
              <a:rPr lang="zh-CN" altLang="en-US" b="0" i="0" u="none" strike="noStrike" baseline="0" dirty="0">
                <a:solidFill>
                  <a:srgbClr val="000000"/>
                </a:solidFill>
                <a:cs typeface="+mn-ea"/>
                <a:sym typeface="+mn-lt"/>
              </a:rPr>
              <a:t>刚才讨论的</a:t>
            </a:r>
            <a:r>
              <a:rPr lang="en-US" altLang="zh-CN" b="0" i="0" u="none" strike="noStrike" baseline="0" dirty="0" err="1">
                <a:solidFill>
                  <a:srgbClr val="000000"/>
                </a:solidFill>
                <a:cs typeface="+mn-ea"/>
                <a:sym typeface="+mn-lt"/>
              </a:rPr>
              <a:t>a</a:t>
            </a:r>
            <a:r>
              <a:rPr lang="en-US" altLang="zh-CN" sz="1100" b="0" i="0" u="none" strike="noStrike" baseline="0" dirty="0" err="1">
                <a:solidFill>
                  <a:srgbClr val="000000"/>
                </a:solidFill>
                <a:cs typeface="+mn-ea"/>
                <a:sym typeface="+mn-lt"/>
              </a:rPr>
              <a:t>x,y</a:t>
            </a:r>
            <a:r>
              <a:rPr lang="zh-CN" altLang="en-US" b="0" i="0" u="none" strike="noStrike" baseline="0" dirty="0">
                <a:solidFill>
                  <a:srgbClr val="000000"/>
                </a:solidFill>
                <a:cs typeface="+mn-ea"/>
                <a:sym typeface="+mn-lt"/>
              </a:rPr>
              <a:t>值是第一层中的像素值，但在第一层之后的各层中，</a:t>
            </a:r>
            <a:r>
              <a:rPr lang="en-US" altLang="zh-CN" b="0" i="0" u="none" strike="noStrike" baseline="0" dirty="0">
                <a:solidFill>
                  <a:srgbClr val="000000"/>
                </a:solidFill>
                <a:cs typeface="+mn-ea"/>
                <a:sym typeface="+mn-lt"/>
              </a:rPr>
              <a:t> </a:t>
            </a:r>
            <a:r>
              <a:rPr lang="en-US" altLang="zh-CN" b="0" i="0" u="none" strike="noStrike" baseline="0" dirty="0" err="1">
                <a:solidFill>
                  <a:srgbClr val="000000"/>
                </a:solidFill>
                <a:cs typeface="+mn-ea"/>
                <a:sym typeface="+mn-lt"/>
              </a:rPr>
              <a:t>a</a:t>
            </a:r>
            <a:r>
              <a:rPr lang="en-US" altLang="zh-CN" sz="1100" b="0" i="0" u="none" strike="noStrike" baseline="0" dirty="0" err="1">
                <a:solidFill>
                  <a:srgbClr val="000000"/>
                </a:solidFill>
                <a:cs typeface="+mn-ea"/>
                <a:sym typeface="+mn-lt"/>
              </a:rPr>
              <a:t>x,y</a:t>
            </a:r>
            <a:r>
              <a:rPr lang="zh-CN" altLang="en-US" b="0" i="0" u="none" strike="noStrike" baseline="0" dirty="0">
                <a:solidFill>
                  <a:srgbClr val="000000"/>
                </a:solidFill>
                <a:cs typeface="+mn-ea"/>
                <a:sym typeface="+mn-lt"/>
              </a:rPr>
              <a:t>表示池化特征的值。然 而，我们的公式并不根据这些变量实际代表什么来区分。例如，假设我们将图</a:t>
            </a:r>
            <a:r>
              <a:rPr lang="en-US" altLang="zh-CN" b="0" i="0" u="none" strike="noStrike" baseline="0" dirty="0">
                <a:solidFill>
                  <a:srgbClr val="000000"/>
                </a:solidFill>
                <a:cs typeface="+mn-ea"/>
                <a:sym typeface="+mn-lt"/>
              </a:rPr>
              <a:t>12.40</a:t>
            </a:r>
            <a:r>
              <a:rPr lang="zh-CN" altLang="en-US" b="0" i="0" u="none" strike="noStrike" baseline="0" dirty="0">
                <a:solidFill>
                  <a:srgbClr val="000000"/>
                </a:solidFill>
                <a:cs typeface="+mn-ea"/>
                <a:sym typeface="+mn-lt"/>
              </a:rPr>
              <a:t>的输入替换为</a:t>
            </a: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幅图像，如一幅</a:t>
            </a:r>
            <a:r>
              <a:rPr lang="en-US" altLang="zh-CN" b="0" i="0" u="none" strike="noStrike" baseline="0" dirty="0">
                <a:solidFill>
                  <a:srgbClr val="000000"/>
                </a:solidFill>
                <a:cs typeface="+mn-ea"/>
                <a:sym typeface="+mn-lt"/>
              </a:rPr>
              <a:t>RGB</a:t>
            </a:r>
            <a:r>
              <a:rPr lang="zh-CN" altLang="en-US" b="0" i="0" u="none" strike="noStrike" baseline="0" dirty="0">
                <a:solidFill>
                  <a:srgbClr val="000000"/>
                </a:solidFill>
                <a:cs typeface="+mn-ea"/>
                <a:sym typeface="+mn-lt"/>
              </a:rPr>
              <a:t>图像的</a:t>
            </a: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个分量。</a:t>
            </a:r>
          </a:p>
        </p:txBody>
      </p:sp>
      <p:pic>
        <p:nvPicPr>
          <p:cNvPr id="5" name="图片 4">
            <a:extLst>
              <a:ext uri="{FF2B5EF4-FFF2-40B4-BE49-F238E27FC236}">
                <a16:creationId xmlns:a16="http://schemas.microsoft.com/office/drawing/2014/main" id="{07323FDC-DE24-0AA4-6B0A-06C57EF98253}"/>
              </a:ext>
            </a:extLst>
          </p:cNvPr>
          <p:cNvPicPr>
            <a:picLocks noChangeAspect="1"/>
          </p:cNvPicPr>
          <p:nvPr/>
        </p:nvPicPr>
        <p:blipFill>
          <a:blip r:embed="rId2"/>
          <a:stretch>
            <a:fillRect/>
          </a:stretch>
        </p:blipFill>
        <p:spPr>
          <a:xfrm>
            <a:off x="3321338" y="4555099"/>
            <a:ext cx="5549323" cy="2189828"/>
          </a:xfrm>
          <a:prstGeom prst="rect">
            <a:avLst/>
          </a:prstGeom>
        </p:spPr>
      </p:pic>
      <p:sp>
        <p:nvSpPr>
          <p:cNvPr id="6" name="矩形 5">
            <a:extLst>
              <a:ext uri="{FF2B5EF4-FFF2-40B4-BE49-F238E27FC236}">
                <a16:creationId xmlns:a16="http://schemas.microsoft.com/office/drawing/2014/main" id="{5981C0DE-F88C-FEB8-04F5-15E1ADB5FDB0}"/>
              </a:ext>
            </a:extLst>
          </p:cNvPr>
          <p:cNvSpPr/>
          <p:nvPr/>
        </p:nvSpPr>
        <p:spPr>
          <a:xfrm>
            <a:off x="801092" y="2446416"/>
            <a:ext cx="10589815" cy="2039859"/>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204888235"/>
      </p:ext>
    </p:extLst>
  </p:cSld>
  <p:clrMapOvr>
    <a:masterClrMapping/>
  </p:clrMapOvr>
  <p:transition spd="slow" advTm="0">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768720-D126-6FA2-F6CD-96E092C1DD5C}"/>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正向通过</a:t>
            </a:r>
            <a:r>
              <a:rPr lang="en-US" altLang="zh-CN" b="1" i="0" u="none" strike="noStrike" baseline="0" dirty="0">
                <a:solidFill>
                  <a:srgbClr val="0070C0"/>
                </a:solidFill>
                <a:latin typeface="+mn-lt"/>
                <a:ea typeface="+mn-ea"/>
                <a:cs typeface="+mn-ea"/>
                <a:sym typeface="+mn-lt"/>
              </a:rPr>
              <a:t>CNN</a:t>
            </a:r>
            <a:r>
              <a:rPr lang="zh-CN" altLang="en-US" b="1" i="0" u="none" strike="noStrike" baseline="0" dirty="0">
                <a:solidFill>
                  <a:srgbClr val="0070C0"/>
                </a:solidFill>
                <a:latin typeface="+mn-lt"/>
                <a:ea typeface="+mn-ea"/>
                <a:cs typeface="+mn-ea"/>
                <a:sym typeface="+mn-lt"/>
              </a:rPr>
              <a:t>的传递公式</a:t>
            </a:r>
          </a:p>
        </p:txBody>
      </p:sp>
      <p:sp>
        <p:nvSpPr>
          <p:cNvPr id="3" name="文本占位符 2">
            <a:extLst>
              <a:ext uri="{FF2B5EF4-FFF2-40B4-BE49-F238E27FC236}">
                <a16:creationId xmlns:a16="http://schemas.microsoft.com/office/drawing/2014/main" id="{1C4073BF-37C2-CBEE-57E8-3FD956944B65}"/>
              </a:ext>
            </a:extLst>
          </p:cNvPr>
          <p:cNvSpPr>
            <a:spLocks noGrp="1"/>
          </p:cNvSpPr>
          <p:nvPr>
            <p:ph sz="quarter" idx="12"/>
          </p:nvPr>
        </p:nvSpPr>
        <p:spPr/>
        <p:txBody>
          <a:bodyPr/>
          <a:lstStyle/>
          <a:p>
            <a:pPr marL="0" marR="610" lvl="0" indent="0" rtl="0">
              <a:buNone/>
            </a:pPr>
            <a:r>
              <a:rPr lang="zh-CN" altLang="en-US" b="0" i="0" u="none" strike="noStrike" baseline="0" dirty="0">
                <a:solidFill>
                  <a:srgbClr val="000000"/>
                </a:solidFill>
                <a:cs typeface="+mn-ea"/>
                <a:sym typeface="+mn-lt"/>
              </a:rPr>
              <a:t>前述讨论的结论是，我们可以将核</a:t>
            </a:r>
            <a:r>
              <a:rPr lang="en-US" altLang="zh-CN" b="0" i="0" u="none" strike="noStrike" baseline="0" dirty="0">
                <a:solidFill>
                  <a:srgbClr val="000000"/>
                </a:solidFill>
                <a:cs typeface="+mn-ea"/>
                <a:sym typeface="+mn-lt"/>
              </a:rPr>
              <a:t>w</a:t>
            </a:r>
            <a:r>
              <a:rPr lang="zh-CN" altLang="en-US" b="0" i="0" u="none" strike="noStrike" baseline="0" dirty="0">
                <a:solidFill>
                  <a:srgbClr val="000000"/>
                </a:solidFill>
                <a:cs typeface="+mn-ea"/>
                <a:sym typeface="+mn-lt"/>
              </a:rPr>
              <a:t>和值为</a:t>
            </a:r>
            <a:r>
              <a:rPr lang="en-US" altLang="zh-CN" b="0" i="0" u="none" strike="noStrike" baseline="0" dirty="0" err="1">
                <a:solidFill>
                  <a:srgbClr val="000000"/>
                </a:solidFill>
                <a:cs typeface="+mn-ea"/>
                <a:sym typeface="+mn-lt"/>
              </a:rPr>
              <a:t>a</a:t>
            </a:r>
            <a:r>
              <a:rPr lang="en-US" altLang="zh-CN" sz="1100" b="0" i="0" u="none" strike="noStrike" baseline="0" dirty="0" err="1">
                <a:solidFill>
                  <a:srgbClr val="000000"/>
                </a:solidFill>
                <a:cs typeface="+mn-ea"/>
                <a:sym typeface="+mn-lt"/>
              </a:rPr>
              <a:t>x,y</a:t>
            </a:r>
            <a:r>
              <a:rPr lang="zh-CN" altLang="en-US" b="0" i="0" u="none" strike="noStrike" baseline="0" dirty="0">
                <a:solidFill>
                  <a:srgbClr val="000000"/>
                </a:solidFill>
                <a:cs typeface="+mn-ea"/>
                <a:sym typeface="+mn-lt"/>
              </a:rPr>
              <a:t>的一个输入阵列的卷积表示为</a:t>
            </a:r>
            <a:endParaRPr lang="en-US" altLang="zh-CN" b="0" i="0" u="none" strike="noStrike" baseline="0" dirty="0">
              <a:solidFill>
                <a:srgbClr val="000000"/>
              </a:solidFill>
              <a:cs typeface="+mn-ea"/>
              <a:sym typeface="+mn-lt"/>
            </a:endParaRPr>
          </a:p>
          <a:p>
            <a:pPr marL="0" marR="610" lvl="0" indent="0" rtl="0">
              <a:buNone/>
            </a:pPr>
            <a:endParaRPr lang="zh-CN" altLang="en-US" b="0" i="0" u="none" strike="noStrike" baseline="0" dirty="0">
              <a:solidFill>
                <a:srgbClr val="000000"/>
              </a:solidFill>
              <a:cs typeface="+mn-ea"/>
              <a:sym typeface="+mn-lt"/>
            </a:endParaRPr>
          </a:p>
          <a:p>
            <a:pPr marL="0" marR="610" lvl="0" indent="0" rtl="0">
              <a:buNone/>
            </a:pPr>
            <a:r>
              <a:rPr lang="zh-CN" altLang="en-US" b="0" i="0" u="none" strike="noStrike" baseline="0" dirty="0">
                <a:solidFill>
                  <a:srgbClr val="000000"/>
                </a:solidFill>
                <a:cs typeface="+mn-ea"/>
                <a:sym typeface="+mn-lt"/>
              </a:rPr>
              <a:t>式中，</a:t>
            </a:r>
            <a:r>
              <a:rPr lang="en-US" altLang="zh-CN" b="0" i="0" u="none" strike="noStrike" baseline="0" dirty="0">
                <a:solidFill>
                  <a:srgbClr val="000000"/>
                </a:solidFill>
                <a:cs typeface="+mn-ea"/>
                <a:sym typeface="+mn-lt"/>
              </a:rPr>
              <a:t>l</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的取值范围是核的大小，</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y</a:t>
            </a:r>
            <a:r>
              <a:rPr lang="zh-CN" altLang="en-US" b="0" i="0" u="none" strike="noStrike" baseline="0" dirty="0">
                <a:solidFill>
                  <a:srgbClr val="000000"/>
                </a:solidFill>
                <a:cs typeface="+mn-ea"/>
                <a:sym typeface="+mn-lt"/>
              </a:rPr>
              <a:t> 的取值范围是输入的大小，</a:t>
            </a:r>
            <a:r>
              <a:rPr lang="en-US" altLang="zh-CN" b="0" i="0" u="none" strike="noStrike" baseline="0" dirty="0">
                <a:solidFill>
                  <a:srgbClr val="000000"/>
                </a:solidFill>
                <a:cs typeface="+mn-ea"/>
                <a:sym typeface="+mn-lt"/>
              </a:rPr>
              <a:t>b</a:t>
            </a:r>
            <a:r>
              <a:rPr lang="zh-CN" altLang="en-US" b="0" i="0" u="none" strike="noStrike" baseline="0" dirty="0">
                <a:solidFill>
                  <a:srgbClr val="000000"/>
                </a:solidFill>
                <a:cs typeface="+mn-ea"/>
                <a:sym typeface="+mn-lt"/>
              </a:rPr>
              <a:t>是一个偏置。对应的</a:t>
            </a:r>
            <a:r>
              <a:rPr lang="en-US" altLang="zh-CN" b="0" i="0" u="none" strike="noStrike" baseline="0" dirty="0" err="1">
                <a:solidFill>
                  <a:srgbClr val="000000"/>
                </a:solidFill>
                <a:cs typeface="+mn-ea"/>
                <a:sym typeface="+mn-lt"/>
              </a:rPr>
              <a:t>a</a:t>
            </a:r>
            <a:r>
              <a:rPr lang="en-US" altLang="zh-CN" sz="1100" b="0" i="0" u="none" strike="noStrike" baseline="0" dirty="0" err="1">
                <a:solidFill>
                  <a:srgbClr val="000000"/>
                </a:solidFill>
                <a:cs typeface="+mn-ea"/>
                <a:sym typeface="+mn-lt"/>
              </a:rPr>
              <a:t>x,y</a:t>
            </a:r>
            <a:r>
              <a:rPr lang="zh-CN" altLang="en-US" b="0" i="0" u="none" strike="noStrike" baseline="0" dirty="0">
                <a:solidFill>
                  <a:srgbClr val="000000"/>
                </a:solidFill>
                <a:cs typeface="+mn-ea"/>
                <a:sym typeface="+mn-lt"/>
              </a:rPr>
              <a:t>值是</a:t>
            </a:r>
          </a:p>
        </p:txBody>
      </p:sp>
      <p:pic>
        <p:nvPicPr>
          <p:cNvPr id="5" name="图片 4">
            <a:extLst>
              <a:ext uri="{FF2B5EF4-FFF2-40B4-BE49-F238E27FC236}">
                <a16:creationId xmlns:a16="http://schemas.microsoft.com/office/drawing/2014/main" id="{AD9B51F4-45F1-D2D1-A813-472125BA2835}"/>
              </a:ext>
            </a:extLst>
          </p:cNvPr>
          <p:cNvPicPr>
            <a:picLocks noChangeAspect="1"/>
          </p:cNvPicPr>
          <p:nvPr/>
        </p:nvPicPr>
        <p:blipFill rotWithShape="1">
          <a:blip r:embed="rId2"/>
          <a:srcRect b="7237"/>
          <a:stretch/>
        </p:blipFill>
        <p:spPr>
          <a:xfrm>
            <a:off x="4259594" y="3126006"/>
            <a:ext cx="3672810" cy="605988"/>
          </a:xfrm>
          <a:prstGeom prst="rect">
            <a:avLst/>
          </a:prstGeom>
        </p:spPr>
      </p:pic>
      <p:pic>
        <p:nvPicPr>
          <p:cNvPr id="7" name="图片 6">
            <a:extLst>
              <a:ext uri="{FF2B5EF4-FFF2-40B4-BE49-F238E27FC236}">
                <a16:creationId xmlns:a16="http://schemas.microsoft.com/office/drawing/2014/main" id="{CB0E4481-5819-D621-9A75-70A9B7B9ADBC}"/>
              </a:ext>
            </a:extLst>
          </p:cNvPr>
          <p:cNvPicPr>
            <a:picLocks noChangeAspect="1"/>
          </p:cNvPicPr>
          <p:nvPr/>
        </p:nvPicPr>
        <p:blipFill>
          <a:blip r:embed="rId3"/>
          <a:stretch>
            <a:fillRect/>
          </a:stretch>
        </p:blipFill>
        <p:spPr>
          <a:xfrm>
            <a:off x="4999472" y="4874963"/>
            <a:ext cx="2193055" cy="586677"/>
          </a:xfrm>
          <a:prstGeom prst="rect">
            <a:avLst/>
          </a:prstGeom>
        </p:spPr>
      </p:pic>
    </p:spTree>
    <p:extLst>
      <p:ext uri="{BB962C8B-B14F-4D97-AF65-F5344CB8AC3E}">
        <p14:creationId xmlns:p14="http://schemas.microsoft.com/office/powerpoint/2010/main" val="417151475"/>
      </p:ext>
    </p:extLst>
  </p:cSld>
  <p:clrMapOvr>
    <a:masterClrMapping/>
  </p:clrMapOvr>
  <p:transition spd="slow" advTm="0">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C90DA1-C4AC-AA9E-290C-585A38064B14}"/>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用于训练</a:t>
            </a:r>
            <a:r>
              <a:rPr lang="en-US" altLang="zh-CN" b="1" i="0" u="none" strike="noStrike" baseline="0" dirty="0">
                <a:solidFill>
                  <a:srgbClr val="0070C0"/>
                </a:solidFill>
                <a:latin typeface="+mn-lt"/>
                <a:ea typeface="+mn-ea"/>
                <a:cs typeface="+mn-ea"/>
                <a:sym typeface="+mn-lt"/>
              </a:rPr>
              <a:t>CNN</a:t>
            </a:r>
            <a:r>
              <a:rPr lang="zh-CN" altLang="en-US" b="1" i="0" u="none" strike="noStrike" baseline="0" dirty="0">
                <a:solidFill>
                  <a:srgbClr val="0070C0"/>
                </a:solidFill>
                <a:latin typeface="+mn-lt"/>
                <a:ea typeface="+mn-ea"/>
                <a:cs typeface="+mn-ea"/>
                <a:sym typeface="+mn-lt"/>
              </a:rPr>
              <a:t>的反向传播方程</a:t>
            </a:r>
          </a:p>
        </p:txBody>
      </p:sp>
      <p:sp>
        <p:nvSpPr>
          <p:cNvPr id="3" name="文本占位符 2">
            <a:extLst>
              <a:ext uri="{FF2B5EF4-FFF2-40B4-BE49-F238E27FC236}">
                <a16:creationId xmlns:a16="http://schemas.microsoft.com/office/drawing/2014/main" id="{66ECF60A-84AF-9CEC-37D3-5ACC1F9C7FAF}"/>
              </a:ext>
            </a:extLst>
          </p:cNvPr>
          <p:cNvSpPr>
            <a:spLocks noGrp="1"/>
          </p:cNvSpPr>
          <p:nvPr>
            <p:ph sz="quarter" idx="12"/>
          </p:nvPr>
        </p:nvSpPr>
        <p:spPr/>
        <p:txBody>
          <a:bodyPr/>
          <a:lstStyle/>
          <a:p>
            <a:pPr marR="610" lvl="0" rtl="0"/>
            <a:r>
              <a:rPr lang="zh-CN" altLang="en-US" b="0" i="0" u="none" strike="noStrike" baseline="0" dirty="0">
                <a:solidFill>
                  <a:srgbClr val="000000"/>
                </a:solidFill>
                <a:cs typeface="+mn-ea"/>
                <a:sym typeface="+mn-lt"/>
              </a:rPr>
              <a:t>上一节中讲到，</a:t>
            </a:r>
            <a:r>
              <a:rPr lang="en-US" altLang="zh-CN" b="0" i="0" u="none" strike="noStrike" baseline="0" dirty="0">
                <a:solidFill>
                  <a:srgbClr val="000000"/>
                </a:solidFill>
                <a:cs typeface="+mn-ea"/>
                <a:sym typeface="+mn-lt"/>
              </a:rPr>
              <a:t>CNN</a:t>
            </a:r>
            <a:r>
              <a:rPr lang="zh-CN" altLang="en-US" b="0" i="0" u="none" strike="noStrike" baseline="0" dirty="0">
                <a:solidFill>
                  <a:srgbClr val="000000"/>
                </a:solidFill>
                <a:cs typeface="+mn-ea"/>
                <a:sym typeface="+mn-lt"/>
              </a:rPr>
              <a:t> 的前馈方程类似于全连接神经网络的前馈方程，只是乘法被卷积代替，且表示法表明</a:t>
            </a:r>
            <a:r>
              <a:rPr lang="en-US" altLang="zh-CN" b="0" i="0" u="none" strike="noStrike" baseline="0" dirty="0">
                <a:solidFill>
                  <a:srgbClr val="000000"/>
                </a:solidFill>
                <a:cs typeface="+mn-ea"/>
                <a:sym typeface="+mn-lt"/>
              </a:rPr>
              <a:t>CNN</a:t>
            </a:r>
            <a:r>
              <a:rPr lang="zh-CN" altLang="en-US" b="0" i="0" u="none" strike="noStrike" baseline="0" dirty="0">
                <a:solidFill>
                  <a:srgbClr val="000000"/>
                </a:solidFill>
                <a:cs typeface="+mn-ea"/>
                <a:sym typeface="+mn-lt"/>
              </a:rPr>
              <a:t>不是</a:t>
            </a:r>
            <a:r>
              <a:rPr lang="en-US" altLang="zh-CN" b="0" i="0" u="none" strike="noStrike" baseline="0" dirty="0">
                <a:solidFill>
                  <a:srgbClr val="000000"/>
                </a:solidFill>
                <a:cs typeface="+mn-ea"/>
                <a:sym typeface="+mn-lt"/>
              </a:rPr>
              <a:t>12.5</a:t>
            </a:r>
            <a:r>
              <a:rPr lang="zh-CN" altLang="en-US" b="0" i="0" u="none" strike="noStrike" baseline="0" dirty="0">
                <a:solidFill>
                  <a:srgbClr val="000000"/>
                </a:solidFill>
                <a:cs typeface="+mn-ea"/>
                <a:sym typeface="+mn-lt"/>
              </a:rPr>
              <a:t>节中定义的全连接。如我们在本节中看到的那样，反向传播方程在许多方面也与全连接神经网络中的方程相似。</a:t>
            </a:r>
          </a:p>
          <a:p>
            <a:pPr marR="610" lvl="0" rtl="0"/>
            <a:r>
              <a:rPr lang="zh-CN" altLang="en-US" b="0" i="0" u="none" strike="noStrike" baseline="0" dirty="0">
                <a:solidFill>
                  <a:srgbClr val="000000"/>
                </a:solidFill>
                <a:cs typeface="+mn-ea"/>
                <a:sym typeface="+mn-lt"/>
              </a:rPr>
              <a:t>像在</a:t>
            </a:r>
            <a:r>
              <a:rPr lang="en-US" altLang="zh-CN" b="0" i="0" u="none" strike="noStrike" baseline="0" dirty="0">
                <a:solidFill>
                  <a:srgbClr val="000000"/>
                </a:solidFill>
                <a:cs typeface="+mn-ea"/>
                <a:sym typeface="+mn-lt"/>
              </a:rPr>
              <a:t>12.5</a:t>
            </a:r>
            <a:r>
              <a:rPr lang="zh-CN" altLang="en-US" b="0" i="0" u="none" strike="noStrike" baseline="0" dirty="0">
                <a:solidFill>
                  <a:srgbClr val="000000"/>
                </a:solidFill>
                <a:cs typeface="+mn-ea"/>
                <a:sym typeface="+mn-lt"/>
              </a:rPr>
              <a:t>节中推导反向传播方程那样，我们首先定义</a:t>
            </a:r>
            <a:r>
              <a:rPr lang="en-US" altLang="zh-CN" b="0" i="0" u="none" strike="noStrike" baseline="0" dirty="0">
                <a:solidFill>
                  <a:srgbClr val="000000"/>
                </a:solidFill>
                <a:cs typeface="+mn-ea"/>
                <a:sym typeface="+mn-lt"/>
              </a:rPr>
              <a:t>CNN</a:t>
            </a:r>
            <a:r>
              <a:rPr lang="zh-CN" altLang="en-US" b="0" i="0" u="none" strike="noStrike" baseline="0" dirty="0">
                <a:solidFill>
                  <a:srgbClr val="000000"/>
                </a:solidFill>
                <a:cs typeface="+mn-ea"/>
                <a:sym typeface="+mn-lt"/>
              </a:rPr>
              <a:t>的输出误差相对于网络中每个神经元的变化。误差的形式与全连接神经网络的相同，但现在它是</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y</a:t>
            </a:r>
            <a:r>
              <a:rPr lang="zh-CN" altLang="en-US" b="0" i="0" u="none" strike="noStrike" baseline="0" dirty="0">
                <a:solidFill>
                  <a:srgbClr val="000000"/>
                </a:solidFill>
                <a:cs typeface="+mn-ea"/>
                <a:sym typeface="+mn-lt"/>
              </a:rPr>
              <a:t>而不是</a:t>
            </a:r>
            <a:r>
              <a:rPr lang="en-US" altLang="zh-CN" b="0" i="0" u="none" strike="noStrike" baseline="0" dirty="0">
                <a:solidFill>
                  <a:srgbClr val="000000"/>
                </a:solidFill>
                <a:cs typeface="+mn-ea"/>
                <a:sym typeface="+mn-lt"/>
              </a:rPr>
              <a:t>j</a:t>
            </a:r>
            <a:r>
              <a:rPr lang="zh-CN" altLang="en-US" b="0" i="0" u="none" strike="noStrike" baseline="0" dirty="0">
                <a:solidFill>
                  <a:srgbClr val="000000"/>
                </a:solidFill>
                <a:cs typeface="+mn-ea"/>
                <a:sym typeface="+mn-lt"/>
              </a:rPr>
              <a:t>的函数：</a:t>
            </a:r>
          </a:p>
        </p:txBody>
      </p:sp>
      <p:pic>
        <p:nvPicPr>
          <p:cNvPr id="5" name="图片 4">
            <a:extLst>
              <a:ext uri="{FF2B5EF4-FFF2-40B4-BE49-F238E27FC236}">
                <a16:creationId xmlns:a16="http://schemas.microsoft.com/office/drawing/2014/main" id="{5F51DECA-9CAB-3D5F-8EBD-C189357D8479}"/>
              </a:ext>
            </a:extLst>
          </p:cNvPr>
          <p:cNvPicPr>
            <a:picLocks noChangeAspect="1"/>
          </p:cNvPicPr>
          <p:nvPr/>
        </p:nvPicPr>
        <p:blipFill>
          <a:blip r:embed="rId2"/>
          <a:stretch>
            <a:fillRect/>
          </a:stretch>
        </p:blipFill>
        <p:spPr>
          <a:xfrm>
            <a:off x="5081586" y="5080575"/>
            <a:ext cx="2028825" cy="666750"/>
          </a:xfrm>
          <a:prstGeom prst="rect">
            <a:avLst/>
          </a:prstGeom>
        </p:spPr>
      </p:pic>
    </p:spTree>
    <p:extLst>
      <p:ext uri="{BB962C8B-B14F-4D97-AF65-F5344CB8AC3E}">
        <p14:creationId xmlns:p14="http://schemas.microsoft.com/office/powerpoint/2010/main" val="3723497521"/>
      </p:ext>
    </p:extLst>
  </p:cSld>
  <p:clrMapOvr>
    <a:masterClrMapping/>
  </p:clrMapOvr>
  <p:transition spd="slow" advTm="0">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07</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实现的一些附加细节</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2900083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C90DA1-C4AC-AA9E-290C-585A38064B14}"/>
              </a:ext>
            </a:extLst>
          </p:cNvPr>
          <p:cNvSpPr>
            <a:spLocks noGrp="1"/>
          </p:cNvSpPr>
          <p:nvPr>
            <p:ph type="title"/>
          </p:nvPr>
        </p:nvSpPr>
        <p:spPr/>
        <p:txBody>
          <a:bodyPr>
            <a:normAutofit/>
          </a:bodyPr>
          <a:lstStyle/>
          <a:p>
            <a:r>
              <a:rPr lang="zh-CN" altLang="zh-CN" b="1" dirty="0">
                <a:solidFill>
                  <a:srgbClr val="0070C0"/>
                </a:solidFill>
                <a:latin typeface="+mn-lt"/>
                <a:ea typeface="+mn-ea"/>
                <a:cs typeface="+mn-ea"/>
                <a:sym typeface="+mn-lt"/>
              </a:rPr>
              <a:t>附加细节</a:t>
            </a:r>
            <a:endParaRPr lang="zh-CN" altLang="en-US" b="1" dirty="0">
              <a:solidFill>
                <a:srgbClr val="0070C0"/>
              </a:solidFill>
              <a:latin typeface="+mn-lt"/>
              <a:ea typeface="+mn-ea"/>
              <a:cs typeface="+mn-ea"/>
              <a:sym typeface="+mn-lt"/>
            </a:endParaRPr>
          </a:p>
        </p:txBody>
      </p:sp>
      <p:sp>
        <p:nvSpPr>
          <p:cNvPr id="3" name="文本占位符 2">
            <a:extLst>
              <a:ext uri="{FF2B5EF4-FFF2-40B4-BE49-F238E27FC236}">
                <a16:creationId xmlns:a16="http://schemas.microsoft.com/office/drawing/2014/main" id="{66ECF60A-84AF-9CEC-37D3-5ACC1F9C7FAF}"/>
              </a:ext>
            </a:extLst>
          </p:cNvPr>
          <p:cNvSpPr>
            <a:spLocks noGrp="1"/>
          </p:cNvSpPr>
          <p:nvPr>
            <p:ph sz="quarter" idx="11"/>
          </p:nvPr>
        </p:nvSpPr>
        <p:spPr/>
        <p:txBody>
          <a:bodyPr>
            <a:normAutofit fontScale="92500" lnSpcReduction="20000"/>
          </a:bodyPr>
          <a:lstStyle/>
          <a:p>
            <a:pPr marR="610">
              <a:lnSpc>
                <a:spcPct val="170000"/>
              </a:lnSpc>
            </a:pPr>
            <a:r>
              <a:rPr lang="zh-CN" altLang="zh-CN" sz="2200" dirty="0">
                <a:solidFill>
                  <a:srgbClr val="000000"/>
                </a:solidFill>
                <a:cs typeface="+mn-ea"/>
                <a:sym typeface="+mn-lt"/>
              </a:rPr>
              <a:t>设计神经网络结构的首要问题之一是为网络规定层数。理论上，普适逼近定</a:t>
            </a:r>
            <a:r>
              <a:rPr lang="en-US" altLang="zh-CN" sz="2200" dirty="0">
                <a:solidFill>
                  <a:srgbClr val="000000"/>
                </a:solidFill>
                <a:cs typeface="+mn-ea"/>
                <a:sym typeface="+mn-lt"/>
              </a:rPr>
              <a:t>(</a:t>
            </a:r>
            <a:r>
              <a:rPr lang="en-US" altLang="zh-CN" sz="2200" dirty="0" err="1">
                <a:solidFill>
                  <a:srgbClr val="000000"/>
                </a:solidFill>
                <a:cs typeface="+mn-ea"/>
                <a:sym typeface="+mn-lt"/>
              </a:rPr>
              <a:t>Cybenco</a:t>
            </a:r>
            <a:r>
              <a:rPr lang="en-US" altLang="zh-CN" sz="2200" dirty="0">
                <a:solidFill>
                  <a:srgbClr val="000000"/>
                </a:solidFill>
                <a:cs typeface="+mn-ea"/>
                <a:sym typeface="+mn-lt"/>
              </a:rPr>
              <a:t>[1989])</a:t>
            </a:r>
            <a:r>
              <a:rPr lang="zh-CN" altLang="zh-CN" sz="2200" dirty="0">
                <a:solidFill>
                  <a:srgbClr val="000000"/>
                </a:solidFill>
                <a:cs typeface="+mn-ea"/>
                <a:sym typeface="+mn-lt"/>
              </a:rPr>
              <a:t>告诉我们，在温和的条件下，任意复杂的决策函数可由具有单个隐藏层的连续前馈神经网络来近似。虽然这个定理未告诉我们如何计算单个隐藏层的参数，但它确实表明结构简单的神经网络非常强大。</a:t>
            </a:r>
            <a:endParaRPr lang="en-US" altLang="zh-CN" sz="2200" dirty="0">
              <a:solidFill>
                <a:srgbClr val="000000"/>
              </a:solidFill>
              <a:cs typeface="+mn-ea"/>
              <a:sym typeface="+mn-lt"/>
            </a:endParaRPr>
          </a:p>
          <a:p>
            <a:pPr marR="610">
              <a:lnSpc>
                <a:spcPct val="170000"/>
              </a:lnSpc>
            </a:pPr>
            <a:r>
              <a:rPr lang="zh-CN" altLang="zh-CN" sz="2200" dirty="0">
                <a:solidFill>
                  <a:srgbClr val="000000"/>
                </a:solidFill>
                <a:cs typeface="+mn-ea"/>
                <a:sym typeface="+mn-lt"/>
              </a:rPr>
              <a:t>实验结果表明，深度神经网络</a:t>
            </a:r>
            <a:r>
              <a:rPr lang="en-US" altLang="zh-CN" sz="2200" dirty="0">
                <a:solidFill>
                  <a:srgbClr val="000000"/>
                </a:solidFill>
                <a:cs typeface="+mn-ea"/>
                <a:sym typeface="+mn-lt"/>
              </a:rPr>
              <a:t>(</a:t>
            </a:r>
            <a:r>
              <a:rPr lang="zh-CN" altLang="zh-CN" sz="2200" dirty="0">
                <a:solidFill>
                  <a:srgbClr val="000000"/>
                </a:solidFill>
                <a:cs typeface="+mn-ea"/>
                <a:sym typeface="+mn-lt"/>
              </a:rPr>
              <a:t>即有两个或多个隐藏层的网络</a:t>
            </a:r>
            <a:r>
              <a:rPr lang="en-US" altLang="zh-CN" sz="2200" dirty="0">
                <a:solidFill>
                  <a:srgbClr val="000000"/>
                </a:solidFill>
                <a:cs typeface="+mn-ea"/>
                <a:sym typeface="+mn-lt"/>
              </a:rPr>
              <a:t>)</a:t>
            </a:r>
            <a:r>
              <a:rPr lang="zh-CN" altLang="zh-CN" sz="2200" dirty="0">
                <a:solidFill>
                  <a:srgbClr val="000000"/>
                </a:solidFill>
                <a:cs typeface="+mn-ea"/>
                <a:sym typeface="+mn-lt"/>
              </a:rPr>
              <a:t>在学习抽象表示方面要优于单个隐含层的网络，而抽象表示通常是学习的重点。不存在确定神经网络所用的最优</a:t>
            </a:r>
            <a:r>
              <a:rPr lang="en-US" altLang="zh-CN" sz="2200" dirty="0">
                <a:solidFill>
                  <a:srgbClr val="000000"/>
                </a:solidFill>
                <a:cs typeface="+mn-ea"/>
                <a:sym typeface="+mn-lt"/>
              </a:rPr>
              <a:t>“</a:t>
            </a:r>
            <a:r>
              <a:rPr lang="zh-CN" altLang="zh-CN" sz="2200" dirty="0">
                <a:solidFill>
                  <a:srgbClr val="000000"/>
                </a:solidFill>
                <a:cs typeface="+mn-ea"/>
                <a:sym typeface="+mn-lt"/>
              </a:rPr>
              <a:t>层数</a:t>
            </a:r>
            <a:r>
              <a:rPr lang="en-US" altLang="zh-CN" sz="2200" dirty="0">
                <a:solidFill>
                  <a:srgbClr val="000000"/>
                </a:solidFill>
                <a:cs typeface="+mn-ea"/>
                <a:sym typeface="+mn-lt"/>
              </a:rPr>
              <a:t>”</a:t>
            </a:r>
            <a:r>
              <a:rPr lang="zh-CN" altLang="zh-CN" sz="2200" dirty="0">
                <a:solidFill>
                  <a:srgbClr val="000000"/>
                </a:solidFill>
                <a:cs typeface="+mn-ea"/>
                <a:sym typeface="+mn-lt"/>
              </a:rPr>
              <a:t>的算法。</a:t>
            </a:r>
            <a:endParaRPr lang="zh-CN" altLang="en-US" b="0" i="0" u="none" strike="noStrike" baseline="0" dirty="0">
              <a:solidFill>
                <a:srgbClr val="000000"/>
              </a:solidFill>
              <a:cs typeface="+mn-ea"/>
              <a:sym typeface="+mn-lt"/>
            </a:endParaRPr>
          </a:p>
        </p:txBody>
      </p:sp>
      <p:sp>
        <p:nvSpPr>
          <p:cNvPr id="4" name="矩形 3">
            <a:extLst>
              <a:ext uri="{FF2B5EF4-FFF2-40B4-BE49-F238E27FC236}">
                <a16:creationId xmlns:a16="http://schemas.microsoft.com/office/drawing/2014/main" id="{EA952581-79CA-5A56-1B51-DE00EB3A2FF4}"/>
              </a:ext>
            </a:extLst>
          </p:cNvPr>
          <p:cNvSpPr/>
          <p:nvPr/>
        </p:nvSpPr>
        <p:spPr>
          <a:xfrm>
            <a:off x="801092" y="2446417"/>
            <a:ext cx="10589815" cy="3433274"/>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681765182"/>
      </p:ext>
    </p:extLst>
  </p:cSld>
  <p:clrMapOvr>
    <a:masterClrMapping/>
  </p:clrMapOvr>
  <p:transition spd="slow" advTm="0">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2" name="组合 301"/>
          <p:cNvGrpSpPr/>
          <p:nvPr/>
        </p:nvGrpSpPr>
        <p:grpSpPr>
          <a:xfrm>
            <a:off x="951918" y="2003875"/>
            <a:ext cx="4621778" cy="1257438"/>
            <a:chOff x="951918" y="1752810"/>
            <a:chExt cx="4621778" cy="1257438"/>
          </a:xfrm>
        </p:grpSpPr>
        <p:sp>
          <p:nvSpPr>
            <p:cNvPr id="295" name="椭圆 294"/>
            <p:cNvSpPr/>
            <p:nvPr/>
          </p:nvSpPr>
          <p:spPr>
            <a:xfrm>
              <a:off x="3440154" y="1752810"/>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5" name="文本框 284"/>
            <p:cNvSpPr txBox="1"/>
            <p:nvPr/>
          </p:nvSpPr>
          <p:spPr>
            <a:xfrm>
              <a:off x="951918" y="2240807"/>
              <a:ext cx="4621778"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prstClr val="black">
                      <a:lumMod val="85000"/>
                      <a:lumOff val="15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感谢观看，再见！</a:t>
              </a:r>
            </a:p>
          </p:txBody>
        </p:sp>
      </p:grpSp>
      <p:grpSp>
        <p:nvGrpSpPr>
          <p:cNvPr id="2" name="组合 1">
            <a:extLst>
              <a:ext uri="{FF2B5EF4-FFF2-40B4-BE49-F238E27FC236}">
                <a16:creationId xmlns:a16="http://schemas.microsoft.com/office/drawing/2014/main" id="{4BE357EE-D036-5636-DC77-B48D4D7055E5}"/>
              </a:ext>
            </a:extLst>
          </p:cNvPr>
          <p:cNvGrpSpPr/>
          <p:nvPr/>
        </p:nvGrpSpPr>
        <p:grpSpPr>
          <a:xfrm>
            <a:off x="951918" y="4412946"/>
            <a:ext cx="4142910" cy="479114"/>
            <a:chOff x="5646962" y="4937787"/>
            <a:chExt cx="1453481" cy="482463"/>
          </a:xfrm>
          <a:effectLst/>
        </p:grpSpPr>
        <p:sp>
          <p:nvSpPr>
            <p:cNvPr id="3" name="任意多边形: 形状 12">
              <a:extLst>
                <a:ext uri="{FF2B5EF4-FFF2-40B4-BE49-F238E27FC236}">
                  <a16:creationId xmlns:a16="http://schemas.microsoft.com/office/drawing/2014/main" id="{B8825F78-788B-5888-4DE8-08CDF7B2BB1A}"/>
                </a:ext>
              </a:extLst>
            </p:cNvPr>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4" name="文本框 3">
              <a:extLst>
                <a:ext uri="{FF2B5EF4-FFF2-40B4-BE49-F238E27FC236}">
                  <a16:creationId xmlns:a16="http://schemas.microsoft.com/office/drawing/2014/main" id="{95D6DFA9-4BAC-CC65-293E-89A0FE6CFA72}"/>
                </a:ext>
              </a:extLst>
            </p:cNvPr>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sp>
        <p:nvSpPr>
          <p:cNvPr id="5" name="Freeform 24">
            <a:extLst>
              <a:ext uri="{FF2B5EF4-FFF2-40B4-BE49-F238E27FC236}">
                <a16:creationId xmlns:a16="http://schemas.microsoft.com/office/drawing/2014/main" id="{CA6C89E0-1294-29F9-32FC-0C6AE93501E4}"/>
              </a:ext>
            </a:extLst>
          </p:cNvPr>
          <p:cNvSpPr>
            <a:spLocks/>
          </p:cNvSpPr>
          <p:nvPr/>
        </p:nvSpPr>
        <p:spPr bwMode="auto">
          <a:xfrm>
            <a:off x="951918" y="3660494"/>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6" name="Inhaltsplatzhalter 4">
            <a:extLst>
              <a:ext uri="{FF2B5EF4-FFF2-40B4-BE49-F238E27FC236}">
                <a16:creationId xmlns:a16="http://schemas.microsoft.com/office/drawing/2014/main" id="{FAA5296B-124B-0722-3B9F-18899F4AC0A1}"/>
              </a:ext>
            </a:extLst>
          </p:cNvPr>
          <p:cNvSpPr txBox="1">
            <a:spLocks/>
          </p:cNvSpPr>
          <p:nvPr/>
        </p:nvSpPr>
        <p:spPr>
          <a:xfrm>
            <a:off x="1254141" y="3736766"/>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p>
        </p:txBody>
      </p:sp>
    </p:spTree>
    <p:extLst>
      <p:ext uri="{BB962C8B-B14F-4D97-AF65-F5344CB8AC3E}">
        <p14:creationId xmlns:p14="http://schemas.microsoft.com/office/powerpoint/2010/main" val="1029066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i5s21vq">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【ch02】数字图像基础</Template>
  <TotalTime>53</TotalTime>
  <Words>1831</Words>
  <Application>Microsoft Office PowerPoint</Application>
  <PresentationFormat>宽屏</PresentationFormat>
  <Paragraphs>83</Paragraphs>
  <Slides>28</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28</vt:i4>
      </vt:variant>
    </vt:vector>
  </HeadingPairs>
  <TitlesOfParts>
    <vt:vector size="32" baseType="lpstr">
      <vt:lpstr>阿里巴巴普惠体</vt:lpstr>
      <vt:lpstr>Arial</vt:lpstr>
      <vt:lpstr>Wingdings</vt:lpstr>
      <vt:lpstr>Office 主题</vt:lpstr>
      <vt:lpstr>PowerPoint 演示文稿</vt:lpstr>
      <vt:lpstr>PowerPoint 演示文稿</vt:lpstr>
      <vt:lpstr>概述</vt:lpstr>
      <vt:lpstr>PowerPoint 演示文稿</vt:lpstr>
      <vt:lpstr>模式向量</vt:lpstr>
      <vt:lpstr>结构模式</vt:lpstr>
      <vt:lpstr>PowerPoint 演示文稿</vt:lpstr>
      <vt:lpstr>最小距离分类器</vt:lpstr>
      <vt:lpstr>对二维原型匹配使用相关</vt:lpstr>
      <vt:lpstr>匹 配 SIFT 特征</vt:lpstr>
      <vt:lpstr>匹配结构原型</vt:lpstr>
      <vt:lpstr>PowerPoint 演示文稿</vt:lpstr>
      <vt:lpstr>贝叶斯分类器的推导</vt:lpstr>
      <vt:lpstr>高斯模式类的贝叶斯分类器</vt:lpstr>
      <vt:lpstr>多层前馈神经网络</vt:lpstr>
      <vt:lpstr>多层前馈神经网络</vt:lpstr>
      <vt:lpstr>PowerPoint 演示文稿</vt:lpstr>
      <vt:lpstr>正向传播前馈神经网络</vt:lpstr>
      <vt:lpstr>使用反向传播训练深层神经网络</vt:lpstr>
      <vt:lpstr>PowerPoint 演示文稿</vt:lpstr>
      <vt:lpstr>一种基本的 CNN 结构</vt:lpstr>
      <vt:lpstr>一种基本的CNN结构</vt:lpstr>
      <vt:lpstr>一种基本的 CNN 结构</vt:lpstr>
      <vt:lpstr>正向通过CNN的传递公式</vt:lpstr>
      <vt:lpstr>用于训练CNN的反向传播方程</vt:lpstr>
      <vt:lpstr>PowerPoint 演示文稿</vt:lpstr>
      <vt:lpstr>附加细节</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第12章 图像模式分类</dc:title>
  <dc:creator>娜 王</dc:creator>
  <cp:lastModifiedBy>Administrator</cp:lastModifiedBy>
  <cp:revision>4</cp:revision>
  <dcterms:created xsi:type="dcterms:W3CDTF">2023-10-17T03:06:53Z</dcterms:created>
  <dcterms:modified xsi:type="dcterms:W3CDTF">2023-10-20T01:19:36Z</dcterms:modified>
</cp:coreProperties>
</file>