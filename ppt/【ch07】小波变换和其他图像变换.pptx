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74" r:id="rId2"/>
    <p:sldId id="275" r:id="rId3"/>
    <p:sldId id="257" r:id="rId4"/>
    <p:sldId id="276" r:id="rId5"/>
    <p:sldId id="258" r:id="rId6"/>
    <p:sldId id="277" r:id="rId7"/>
    <p:sldId id="259" r:id="rId8"/>
    <p:sldId id="278" r:id="rId9"/>
    <p:sldId id="260" r:id="rId10"/>
    <p:sldId id="279" r:id="rId11"/>
    <p:sldId id="285" r:id="rId12"/>
    <p:sldId id="261" r:id="rId13"/>
    <p:sldId id="262" r:id="rId14"/>
    <p:sldId id="263" r:id="rId15"/>
    <p:sldId id="280" r:id="rId16"/>
    <p:sldId id="264" r:id="rId17"/>
    <p:sldId id="281" r:id="rId18"/>
    <p:sldId id="265" r:id="rId19"/>
    <p:sldId id="282" r:id="rId20"/>
    <p:sldId id="266" r:id="rId21"/>
    <p:sldId id="283" r:id="rId22"/>
    <p:sldId id="268" r:id="rId23"/>
    <p:sldId id="269" r:id="rId24"/>
    <p:sldId id="270" r:id="rId25"/>
    <p:sldId id="271" r:id="rId26"/>
    <p:sldId id="272" r:id="rId27"/>
    <p:sldId id="273" r:id="rId28"/>
    <p:sldId id="284"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autoAdjust="0"/>
    <p:restoredTop sz="94660"/>
  </p:normalViewPr>
  <p:slideViewPr>
    <p:cSldViewPr snapToGrid="0">
      <p:cViewPr varScale="1">
        <p:scale>
          <a:sx n="66" d="100"/>
          <a:sy n="66" d="100"/>
        </p:scale>
        <p:origin x="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2491201779"/>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1628522171"/>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102713665"/>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dirty="0">
              <a:solidFill>
                <a:srgbClr val="0091D9"/>
              </a:solidFill>
            </a:endParaRPr>
          </a:p>
        </p:txBody>
      </p:sp>
    </p:spTree>
    <p:extLst>
      <p:ext uri="{BB962C8B-B14F-4D97-AF65-F5344CB8AC3E}">
        <p14:creationId xmlns:p14="http://schemas.microsoft.com/office/powerpoint/2010/main" val="2919251715"/>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基于矩阵的变换</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451267866"/>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基于矩阵的变换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119750181"/>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相关</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039451901"/>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相关</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358424411"/>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时间</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频率平面的基函数</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180422948"/>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时间</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频率平面的基函数</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506438051"/>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基图像</a:t>
            </a:r>
          </a:p>
        </p:txBody>
      </p:sp>
      <p:sp>
        <p:nvSpPr>
          <p:cNvPr id="5" name="内容占位符 13">
            <a:extLst>
              <a:ext uri="{FF2B5EF4-FFF2-40B4-BE49-F238E27FC236}">
                <a16:creationId xmlns:a16="http://schemas.microsoft.com/office/drawing/2014/main" id="{ECF35717-0C28-8B39-218E-61C8F345C8DB}"/>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310839088"/>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基图像</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64243222"/>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傅里叶相关的变换</a:t>
            </a:r>
          </a:p>
        </p:txBody>
      </p:sp>
      <p:sp>
        <p:nvSpPr>
          <p:cNvPr id="5" name="内容占位符 13">
            <a:extLst>
              <a:ext uri="{FF2B5EF4-FFF2-40B4-BE49-F238E27FC236}">
                <a16:creationId xmlns:a16="http://schemas.microsoft.com/office/drawing/2014/main" id="{57660D9B-4CAC-16C4-1CBD-8BE6CC66DF80}"/>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703089220"/>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傅里叶相关的变换</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60252159"/>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沃尔什</a:t>
            </a:r>
            <a:r>
              <a:rPr lang="en-US" altLang="zh-CN" sz="2800" dirty="0">
                <a:solidFill>
                  <a:srgbClr val="0091D9"/>
                </a:solidFill>
              </a:rPr>
              <a:t>-</a:t>
            </a:r>
            <a:r>
              <a:rPr lang="zh-CN" altLang="en-US" sz="2800" dirty="0">
                <a:solidFill>
                  <a:srgbClr val="0091D9"/>
                </a:solidFill>
              </a:rPr>
              <a:t>哈达玛变换</a:t>
            </a:r>
          </a:p>
        </p:txBody>
      </p:sp>
      <p:sp>
        <p:nvSpPr>
          <p:cNvPr id="5" name="内容占位符 13">
            <a:extLst>
              <a:ext uri="{FF2B5EF4-FFF2-40B4-BE49-F238E27FC236}">
                <a16:creationId xmlns:a16="http://schemas.microsoft.com/office/drawing/2014/main" id="{2A08D5CC-E14B-74B7-01D1-864336D418D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16098655"/>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沃尔什</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哈达玛变换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042846378"/>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斜变换</a:t>
            </a:r>
          </a:p>
        </p:txBody>
      </p:sp>
      <p:sp>
        <p:nvSpPr>
          <p:cNvPr id="5" name="内容占位符 13">
            <a:extLst>
              <a:ext uri="{FF2B5EF4-FFF2-40B4-BE49-F238E27FC236}">
                <a16:creationId xmlns:a16="http://schemas.microsoft.com/office/drawing/2014/main" id="{F75A4F52-3DE1-A510-ABD3-3E05BB2944E8}"/>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962642807"/>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斜变换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99915294"/>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哈尔变换</a:t>
            </a:r>
          </a:p>
        </p:txBody>
      </p:sp>
      <p:sp>
        <p:nvSpPr>
          <p:cNvPr id="5" name="内容占位符 13">
            <a:extLst>
              <a:ext uri="{FF2B5EF4-FFF2-40B4-BE49-F238E27FC236}">
                <a16:creationId xmlns:a16="http://schemas.microsoft.com/office/drawing/2014/main" id="{BC2124D0-82B5-88A0-B371-E856B3589D08}"/>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024024370"/>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哈尔变换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542969037"/>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小波变换</a:t>
            </a:r>
          </a:p>
        </p:txBody>
      </p:sp>
      <p:sp>
        <p:nvSpPr>
          <p:cNvPr id="5" name="内容占位符 13">
            <a:extLst>
              <a:ext uri="{FF2B5EF4-FFF2-40B4-BE49-F238E27FC236}">
                <a16:creationId xmlns:a16="http://schemas.microsoft.com/office/drawing/2014/main" id="{7A89EEA1-BF98-3AC3-045C-9B52ED38E997}"/>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179906425"/>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小波变换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10790767"/>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会议纪要</a:t>
            </a:r>
          </a:p>
        </p:txBody>
      </p:sp>
      <p:sp>
        <p:nvSpPr>
          <p:cNvPr id="5" name="内容占位符 13">
            <a:extLst>
              <a:ext uri="{FF2B5EF4-FFF2-40B4-BE49-F238E27FC236}">
                <a16:creationId xmlns:a16="http://schemas.microsoft.com/office/drawing/2014/main" id="{AF465112-058F-E03F-BD55-373B149A5C2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411708785"/>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878743456"/>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2228448353"/>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92492974"/>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ED20C7BF-482B-4091-84EC-82D84133850C}" type="datetimeFigureOut">
              <a:rPr lang="zh-CN" altLang="en-US" smtClean="0"/>
              <a:t>2023/10/19</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12157D1E-EB38-44CB-A839-1ACA2BCAD12C}" type="slidenum">
              <a:rPr lang="zh-CN" altLang="en-US" smtClean="0"/>
              <a:t>‹#›</a:t>
            </a:fld>
            <a:endParaRPr lang="zh-CN" altLang="en-US"/>
          </a:p>
        </p:txBody>
      </p:sp>
    </p:spTree>
    <p:extLst>
      <p:ext uri="{BB962C8B-B14F-4D97-AF65-F5344CB8AC3E}">
        <p14:creationId xmlns:p14="http://schemas.microsoft.com/office/powerpoint/2010/main" val="63451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9712100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9.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1.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1.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920889" y="5111747"/>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cs typeface="+mn-ea"/>
                <a:sym typeface="+mn-lt"/>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cs typeface="+mn-ea"/>
                  <a:sym typeface="+mn-lt"/>
                </a:rPr>
                <a:t>数字图像处理（第四版）</a:t>
              </a:r>
            </a:p>
          </p:txBody>
        </p:sp>
      </p:grpSp>
      <p:grpSp>
        <p:nvGrpSpPr>
          <p:cNvPr id="302" name="组合 301"/>
          <p:cNvGrpSpPr/>
          <p:nvPr/>
        </p:nvGrpSpPr>
        <p:grpSpPr>
          <a:xfrm>
            <a:off x="805984" y="1310600"/>
            <a:ext cx="4953600" cy="3017035"/>
            <a:chOff x="951801" y="1752810"/>
            <a:chExt cx="4953600" cy="3017035"/>
          </a:xfrm>
        </p:grpSpPr>
        <p:sp>
          <p:nvSpPr>
            <p:cNvPr id="285" name="文本框 284"/>
            <p:cNvSpPr txBox="1"/>
            <p:nvPr/>
          </p:nvSpPr>
          <p:spPr>
            <a:xfrm>
              <a:off x="951801" y="3015519"/>
              <a:ext cx="4953600" cy="175432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5400" b="1" dirty="0">
                  <a:solidFill>
                    <a:prstClr val="black">
                      <a:lumMod val="85000"/>
                      <a:lumOff val="15000"/>
                    </a:prstClr>
                  </a:solidFill>
                  <a:cs typeface="+mn-ea"/>
                  <a:sym typeface="+mn-lt"/>
                </a:rPr>
                <a:t>小波变换和其他</a:t>
              </a:r>
              <a:endParaRPr lang="en-US" altLang="zh-CN" sz="5400" b="1" dirty="0">
                <a:solidFill>
                  <a:prstClr val="black">
                    <a:lumMod val="85000"/>
                    <a:lumOff val="15000"/>
                  </a:prstClr>
                </a:solidFill>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5400" b="1" dirty="0">
                  <a:solidFill>
                    <a:prstClr val="black">
                      <a:lumMod val="85000"/>
                      <a:lumOff val="15000"/>
                    </a:prstClr>
                  </a:solidFill>
                  <a:cs typeface="+mn-ea"/>
                  <a:sym typeface="+mn-lt"/>
                </a:rPr>
                <a:t>图像变换</a:t>
              </a: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22849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cs typeface="+mn-ea"/>
                    <a:sym typeface="+mn-lt"/>
                  </a:rPr>
                  <a:t>第七章</a:t>
                </a:r>
                <a:endParaRPr kumimoji="0" lang="en-US" altLang="zh-CN" sz="5400" b="1" i="0" u="none" strike="noStrike" kern="1200" cap="none" spc="0" normalizeH="0" baseline="0" noProof="0" dirty="0">
                  <a:ln>
                    <a:noFill/>
                  </a:ln>
                  <a:solidFill>
                    <a:srgbClr val="0065C4"/>
                  </a:solidFill>
                  <a:effectLst/>
                  <a:uLnTx/>
                  <a:uFillTx/>
                  <a:cs typeface="+mn-ea"/>
                  <a:sym typeface="+mn-lt"/>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920889" y="4359295"/>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cs typeface="+mn-ea"/>
              <a:sym typeface="+mn-lt"/>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223112" y="4435567"/>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mn-lt"/>
                <a:cs typeface="+mn-ea"/>
                <a:sym typeface="+mn-lt"/>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mn-lt"/>
              <a:cs typeface="+mn-ea"/>
              <a:sym typeface="+mn-lt"/>
            </a:endParaRPr>
          </a:p>
        </p:txBody>
      </p:sp>
    </p:spTree>
    <p:extLst>
      <p:ext uri="{BB962C8B-B14F-4D97-AF65-F5344CB8AC3E}">
        <p14:creationId xmlns:p14="http://schemas.microsoft.com/office/powerpoint/2010/main" val="17766377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01</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cs typeface="+mn-ea"/>
                  <a:sym typeface="+mn-lt"/>
                </a:rPr>
                <a:t>背景</a:t>
              </a:r>
            </a:p>
          </p:txBody>
        </p:sp>
      </p:grpSp>
    </p:spTree>
    <p:extLst>
      <p:ext uri="{BB962C8B-B14F-4D97-AF65-F5344CB8AC3E}">
        <p14:creationId xmlns:p14="http://schemas.microsoft.com/office/powerpoint/2010/main" val="84214650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B4211130-AFA8-3229-D071-4EAF0C0AA8DB}"/>
                  </a:ext>
                </a:extLst>
              </p:cNvPr>
              <p:cNvSpPr>
                <a:spLocks noGrp="1"/>
              </p:cNvSpPr>
              <p:nvPr>
                <p:ph sz="quarter" idx="12"/>
              </p:nvPr>
            </p:nvSpPr>
            <p:spPr/>
            <p:txBody>
              <a:bodyPr>
                <a:normAutofit fontScale="92500" lnSpcReduction="10000"/>
              </a:bodyPr>
              <a:lstStyle/>
              <a:p>
                <a:pPr marL="0" marR="0" lvl="0" indent="0" rtl="0">
                  <a:buNone/>
                </a:pPr>
                <a:r>
                  <a:rPr lang="zh-CN" altLang="en-US" dirty="0">
                    <a:cs typeface="+mn-ea"/>
                    <a:sym typeface="+mn-lt"/>
                  </a:rPr>
                  <a:t>本章重点关注三个内积空间：                                 </a:t>
                </a:r>
              </a:p>
              <a:p>
                <a:pPr marL="0" lvl="0" indent="0">
                  <a:buNone/>
                </a:pPr>
                <a:r>
                  <a:rPr lang="en-US" altLang="zh-CN" dirty="0">
                    <a:cs typeface="+mn-ea"/>
                    <a:sym typeface="+mn-lt"/>
                  </a:rPr>
                  <a:t>1.</a:t>
                </a:r>
                <a:r>
                  <a:rPr lang="zh-CN" altLang="en-US" dirty="0">
                    <a:cs typeface="+mn-ea"/>
                    <a:sym typeface="+mn-lt"/>
                  </a:rPr>
                  <a:t> 具有如下点内积或标量内积的实数域</a:t>
                </a:r>
                <a:r>
                  <a:rPr lang="en-US" altLang="zh-CN" dirty="0">
                    <a:cs typeface="+mn-ea"/>
                    <a:sym typeface="+mn-lt"/>
                  </a:rPr>
                  <a:t>R</a:t>
                </a:r>
                <a:r>
                  <a:rPr lang="zh-CN" altLang="en-US" dirty="0">
                    <a:cs typeface="+mn-ea"/>
                    <a:sym typeface="+mn-lt"/>
                  </a:rPr>
                  <a:t> 上的欧氏空间</a:t>
                </a:r>
                <a14:m>
                  <m:oMath xmlns:m="http://schemas.openxmlformats.org/officeDocument/2006/math">
                    <m:sSup>
                      <m:sSupPr>
                        <m:ctrlPr>
                          <a:rPr lang="en-US" altLang="zh-CN" i="1">
                            <a:latin typeface="Cambria Math" panose="02040503050406030204" pitchFamily="18" charset="0"/>
                            <a:cs typeface="+mn-ea"/>
                            <a:sym typeface="+mn-lt"/>
                          </a:rPr>
                        </m:ctrlPr>
                      </m:sSupPr>
                      <m:e>
                        <m:r>
                          <a:rPr lang="en-US" altLang="zh-CN" i="1">
                            <a:latin typeface="Cambria Math" panose="02040503050406030204" pitchFamily="18" charset="0"/>
                            <a:cs typeface="+mn-ea"/>
                            <a:sym typeface="+mn-lt"/>
                          </a:rPr>
                          <m:t>𝑅</m:t>
                        </m:r>
                      </m:e>
                      <m:sup>
                        <m:r>
                          <a:rPr lang="en-US" altLang="zh-CN" i="1">
                            <a:latin typeface="Cambria Math" panose="02040503050406030204" pitchFamily="18" charset="0"/>
                            <a:cs typeface="+mn-ea"/>
                            <a:sym typeface="+mn-lt"/>
                          </a:rPr>
                          <m:t>𝑁</m:t>
                        </m:r>
                      </m:sup>
                    </m:sSup>
                  </m:oMath>
                </a14:m>
                <a:r>
                  <a:rPr lang="en-US" altLang="zh-CN" dirty="0">
                    <a:cs typeface="+mn-ea"/>
                    <a:sym typeface="+mn-lt"/>
                  </a:rPr>
                  <a:t>:</a:t>
                </a:r>
                <a:r>
                  <a:rPr lang="zh-CN" altLang="en-US" dirty="0">
                    <a:cs typeface="+mn-ea"/>
                    <a:sym typeface="+mn-lt"/>
                  </a:rPr>
                  <a:t>      </a:t>
                </a:r>
              </a:p>
              <a:p>
                <a:pPr marL="0" marR="0" lvl="0" indent="0" rtl="0">
                  <a:buNone/>
                </a:pPr>
                <a:endParaRPr lang="en-US" altLang="zh-CN" dirty="0">
                  <a:cs typeface="+mn-ea"/>
                  <a:sym typeface="+mn-lt"/>
                </a:endParaRPr>
              </a:p>
              <a:p>
                <a:pPr marL="0" marR="0" lvl="0" indent="0" rtl="0">
                  <a:buNone/>
                </a:pPr>
                <a:r>
                  <a:rPr lang="en-US" altLang="zh-CN" dirty="0">
                    <a:cs typeface="+mn-ea"/>
                    <a:sym typeface="+mn-lt"/>
                  </a:rPr>
                  <a:t>2.</a:t>
                </a:r>
                <a:r>
                  <a:rPr lang="zh-CN" altLang="en-US" dirty="0">
                    <a:cs typeface="+mn-ea"/>
                    <a:sym typeface="+mn-lt"/>
                  </a:rPr>
                  <a:t> 具有如下内积函数的复数域</a:t>
                </a:r>
                <a:r>
                  <a:rPr lang="en-US" altLang="zh-CN" dirty="0">
                    <a:cs typeface="+mn-ea"/>
                    <a:sym typeface="+mn-lt"/>
                  </a:rPr>
                  <a:t>C</a:t>
                </a:r>
                <a:r>
                  <a:rPr lang="zh-CN" altLang="en-US" dirty="0">
                    <a:cs typeface="+mn-ea"/>
                    <a:sym typeface="+mn-lt"/>
                  </a:rPr>
                  <a:t> 上的酉空间</a:t>
                </a:r>
                <a14:m>
                  <m:oMath xmlns:m="http://schemas.openxmlformats.org/officeDocument/2006/math">
                    <m:sSup>
                      <m:sSupPr>
                        <m:ctrlPr>
                          <a:rPr lang="en-US" altLang="zh-CN" i="1" smtClean="0">
                            <a:latin typeface="Cambria Math" panose="02040503050406030204" pitchFamily="18" charset="0"/>
                            <a:cs typeface="+mn-ea"/>
                            <a:sym typeface="+mn-lt"/>
                          </a:rPr>
                        </m:ctrlPr>
                      </m:sSupPr>
                      <m:e>
                        <m:r>
                          <a:rPr lang="en-US" altLang="zh-CN" b="0" i="1" smtClean="0">
                            <a:latin typeface="Cambria Math" panose="02040503050406030204" pitchFamily="18" charset="0"/>
                            <a:cs typeface="+mn-ea"/>
                            <a:sym typeface="+mn-lt"/>
                          </a:rPr>
                          <m:t>𝐶</m:t>
                        </m:r>
                      </m:e>
                      <m:sup>
                        <m:r>
                          <a:rPr lang="en-US" altLang="zh-CN" b="0" i="1" smtClean="0">
                            <a:latin typeface="Cambria Math" panose="02040503050406030204" pitchFamily="18" charset="0"/>
                            <a:cs typeface="+mn-ea"/>
                            <a:sym typeface="+mn-lt"/>
                          </a:rPr>
                          <m:t>𝑁</m:t>
                        </m:r>
                      </m:sup>
                    </m:sSup>
                  </m:oMath>
                </a14:m>
                <a:r>
                  <a:rPr lang="en-US" altLang="zh-CN" dirty="0">
                    <a:cs typeface="+mn-ea"/>
                    <a:sym typeface="+mn-lt"/>
                  </a:rPr>
                  <a:t>:</a:t>
                </a:r>
              </a:p>
              <a:p>
                <a:pPr marL="0" marR="0" lvl="0" indent="0" rtl="0">
                  <a:buNone/>
                </a:pPr>
                <a:endParaRPr lang="en-US" altLang="zh-CN" dirty="0">
                  <a:cs typeface="+mn-ea"/>
                  <a:sym typeface="+mn-lt"/>
                </a:endParaRPr>
              </a:p>
              <a:p>
                <a:pPr marL="0" marR="0" lvl="0" indent="0" rtl="0">
                  <a:buNone/>
                </a:pPr>
                <a:r>
                  <a:rPr lang="en-US" altLang="zh-CN" dirty="0">
                    <a:cs typeface="+mn-ea"/>
                    <a:sym typeface="+mn-lt"/>
                  </a:rPr>
                  <a:t>3.</a:t>
                </a:r>
                <a:r>
                  <a:rPr lang="zh-CN" altLang="en-US" dirty="0">
                    <a:cs typeface="+mn-ea"/>
                    <a:sym typeface="+mn-lt"/>
                  </a:rPr>
                  <a:t> 内积空间</a:t>
                </a:r>
                <a:r>
                  <a:rPr lang="en-US" altLang="zh-CN" dirty="0">
                    <a:cs typeface="+mn-ea"/>
                    <a:sym typeface="+mn-lt"/>
                  </a:rPr>
                  <a:t>C([</a:t>
                </a:r>
                <a:r>
                  <a:rPr lang="en-US" altLang="zh-CN" dirty="0" err="1">
                    <a:cs typeface="+mn-ea"/>
                    <a:sym typeface="+mn-lt"/>
                  </a:rPr>
                  <a:t>a,b</a:t>
                </a:r>
                <a:r>
                  <a:rPr lang="en-US" altLang="zh-CN" dirty="0">
                    <a:cs typeface="+mn-ea"/>
                    <a:sym typeface="+mn-lt"/>
                  </a:rPr>
                  <a:t>]),</a:t>
                </a:r>
                <a:r>
                  <a:rPr lang="zh-CN" altLang="en-US" dirty="0">
                    <a:cs typeface="+mn-ea"/>
                    <a:sym typeface="+mn-lt"/>
                  </a:rPr>
                  <a:t>其中向量是区间</a:t>
                </a:r>
                <a:r>
                  <a:rPr lang="en-US" altLang="zh-CN" dirty="0">
                    <a:cs typeface="+mn-ea"/>
                    <a:sym typeface="+mn-lt"/>
                  </a:rPr>
                  <a:t>a</a:t>
                </a:r>
                <a:r>
                  <a:rPr lang="zh-CN" altLang="en-US" dirty="0">
                    <a:cs typeface="+mn-ea"/>
                    <a:sym typeface="+mn-lt"/>
                  </a:rPr>
                  <a:t>≤</a:t>
                </a:r>
                <a:r>
                  <a:rPr lang="en-US" altLang="zh-CN" dirty="0">
                    <a:cs typeface="+mn-ea"/>
                    <a:sym typeface="+mn-lt"/>
                  </a:rPr>
                  <a:t>x</a:t>
                </a:r>
                <a:r>
                  <a:rPr lang="zh-CN" altLang="en-US" dirty="0">
                    <a:cs typeface="+mn-ea"/>
                    <a:sym typeface="+mn-lt"/>
                  </a:rPr>
                  <a:t>≤</a:t>
                </a:r>
                <a:r>
                  <a:rPr lang="en-US" altLang="zh-CN" dirty="0">
                    <a:cs typeface="+mn-ea"/>
                    <a:sym typeface="+mn-lt"/>
                  </a:rPr>
                  <a:t>b</a:t>
                </a:r>
                <a:r>
                  <a:rPr lang="zh-CN" altLang="en-US" dirty="0">
                    <a:cs typeface="+mn-ea"/>
                    <a:sym typeface="+mn-lt"/>
                  </a:rPr>
                  <a:t>上的连续函数， 内积函数是积分内积</a:t>
                </a:r>
              </a:p>
            </p:txBody>
          </p:sp>
        </mc:Choice>
        <mc:Fallback>
          <p:sp>
            <p:nvSpPr>
              <p:cNvPr id="3" name="文本占位符 2">
                <a:extLst>
                  <a:ext uri="{FF2B5EF4-FFF2-40B4-BE49-F238E27FC236}">
                    <a16:creationId xmlns:a16="http://schemas.microsoft.com/office/drawing/2014/main" id="{B4211130-AFA8-3229-D071-4EAF0C0AA8DB}"/>
                  </a:ext>
                </a:extLst>
              </p:cNvPr>
              <p:cNvSpPr>
                <a:spLocks noGrp="1" noRot="1" noChangeAspect="1" noMove="1" noResize="1" noEditPoints="1" noAdjustHandles="1" noChangeArrowheads="1" noChangeShapeType="1" noTextEdit="1"/>
              </p:cNvSpPr>
              <p:nvPr>
                <p:ph sz="quarter" idx="12"/>
              </p:nvPr>
            </p:nvSpPr>
            <p:spPr>
              <a:blipFill>
                <a:blip r:embed="rId2"/>
                <a:stretch>
                  <a:fillRect l="-541"/>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151FB033-6FE6-53BD-ADB6-AE2EAE33BE0C}"/>
              </a:ext>
            </a:extLst>
          </p:cNvPr>
          <p:cNvSpPr>
            <a:spLocks noGrp="1"/>
          </p:cNvSpPr>
          <p:nvPr>
            <p:ph type="title"/>
          </p:nvPr>
        </p:nvSpPr>
        <p:spPr/>
        <p:txBody>
          <a:bodyPr/>
          <a:lstStyle/>
          <a:p>
            <a:pPr marR="0" rtl="0"/>
            <a:r>
              <a:rPr lang="zh-CN" altLang="en-US" b="1" i="0" u="none" strike="noStrike" baseline="0" dirty="0">
                <a:solidFill>
                  <a:srgbClr val="0064BD"/>
                </a:solidFill>
                <a:latin typeface="+mn-lt"/>
                <a:ea typeface="+mn-ea"/>
                <a:cs typeface="+mn-ea"/>
                <a:sym typeface="+mn-lt"/>
              </a:rPr>
              <a:t>背景</a:t>
            </a:r>
          </a:p>
        </p:txBody>
      </p:sp>
      <p:pic>
        <p:nvPicPr>
          <p:cNvPr id="5" name="图片 4">
            <a:extLst>
              <a:ext uri="{FF2B5EF4-FFF2-40B4-BE49-F238E27FC236}">
                <a16:creationId xmlns:a16="http://schemas.microsoft.com/office/drawing/2014/main" id="{EDBC31F3-7594-BBEF-B487-44F6ADE37246}"/>
              </a:ext>
            </a:extLst>
          </p:cNvPr>
          <p:cNvPicPr>
            <a:picLocks noChangeAspect="1"/>
          </p:cNvPicPr>
          <p:nvPr/>
        </p:nvPicPr>
        <p:blipFill>
          <a:blip r:embed="rId3"/>
          <a:stretch>
            <a:fillRect/>
          </a:stretch>
        </p:blipFill>
        <p:spPr>
          <a:xfrm>
            <a:off x="3881435" y="3429000"/>
            <a:ext cx="4429125" cy="742950"/>
          </a:xfrm>
          <a:prstGeom prst="rect">
            <a:avLst/>
          </a:prstGeom>
        </p:spPr>
      </p:pic>
      <p:pic>
        <p:nvPicPr>
          <p:cNvPr id="7" name="图片 6">
            <a:extLst>
              <a:ext uri="{FF2B5EF4-FFF2-40B4-BE49-F238E27FC236}">
                <a16:creationId xmlns:a16="http://schemas.microsoft.com/office/drawing/2014/main" id="{A51FEEBD-212D-35EE-2429-3ED93474A4B0}"/>
              </a:ext>
            </a:extLst>
          </p:cNvPr>
          <p:cNvPicPr>
            <a:picLocks noChangeAspect="1"/>
          </p:cNvPicPr>
          <p:nvPr/>
        </p:nvPicPr>
        <p:blipFill>
          <a:blip r:embed="rId4"/>
          <a:stretch>
            <a:fillRect/>
          </a:stretch>
        </p:blipFill>
        <p:spPr>
          <a:xfrm>
            <a:off x="4374356" y="4528071"/>
            <a:ext cx="3443288" cy="653587"/>
          </a:xfrm>
          <a:prstGeom prst="rect">
            <a:avLst/>
          </a:prstGeom>
        </p:spPr>
      </p:pic>
      <p:pic>
        <p:nvPicPr>
          <p:cNvPr id="9" name="图片 8">
            <a:extLst>
              <a:ext uri="{FF2B5EF4-FFF2-40B4-BE49-F238E27FC236}">
                <a16:creationId xmlns:a16="http://schemas.microsoft.com/office/drawing/2014/main" id="{AA91D0AE-C51E-08F1-6942-76BFEADFC610}"/>
              </a:ext>
            </a:extLst>
          </p:cNvPr>
          <p:cNvPicPr>
            <a:picLocks noChangeAspect="1"/>
          </p:cNvPicPr>
          <p:nvPr/>
        </p:nvPicPr>
        <p:blipFill>
          <a:blip r:embed="rId5"/>
          <a:stretch>
            <a:fillRect/>
          </a:stretch>
        </p:blipFill>
        <p:spPr>
          <a:xfrm>
            <a:off x="4733271" y="5596384"/>
            <a:ext cx="2725458" cy="507062"/>
          </a:xfrm>
          <a:prstGeom prst="rect">
            <a:avLst/>
          </a:prstGeom>
        </p:spPr>
      </p:pic>
    </p:spTree>
    <p:extLst>
      <p:ext uri="{BB962C8B-B14F-4D97-AF65-F5344CB8AC3E}">
        <p14:creationId xmlns:p14="http://schemas.microsoft.com/office/powerpoint/2010/main" val="1422712089"/>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02</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cs typeface="+mn-ea"/>
                  <a:sym typeface="+mn-lt"/>
                </a:rPr>
                <a:t>基于矩阵的变换</a:t>
              </a:r>
            </a:p>
          </p:txBody>
        </p:sp>
      </p:grpSp>
    </p:spTree>
    <p:extLst>
      <p:ext uri="{BB962C8B-B14F-4D97-AF65-F5344CB8AC3E}">
        <p14:creationId xmlns:p14="http://schemas.microsoft.com/office/powerpoint/2010/main" val="360708956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D9699A-1E06-D316-29A6-14E87AAEFA15}"/>
              </a:ext>
            </a:extLst>
          </p:cNvPr>
          <p:cNvSpPr>
            <a:spLocks noGrp="1"/>
          </p:cNvSpPr>
          <p:nvPr>
            <p:ph type="title"/>
          </p:nvPr>
        </p:nvSpPr>
        <p:spPr/>
        <p:txBody>
          <a:bodyPr/>
          <a:lstStyle/>
          <a:p>
            <a:pPr marR="0" rtl="0"/>
            <a:r>
              <a:rPr lang="zh-CN" altLang="en-US" b="1" i="0" u="none" strike="noStrike" baseline="0" dirty="0">
                <a:solidFill>
                  <a:srgbClr val="0064BD"/>
                </a:solidFill>
                <a:latin typeface="+mn-lt"/>
                <a:ea typeface="+mn-ea"/>
                <a:cs typeface="+mn-ea"/>
                <a:sym typeface="+mn-lt"/>
              </a:rPr>
              <a:t>变换</a:t>
            </a:r>
          </a:p>
        </p:txBody>
      </p:sp>
      <p:sp>
        <p:nvSpPr>
          <p:cNvPr id="3" name="文本占位符 2">
            <a:extLst>
              <a:ext uri="{FF2B5EF4-FFF2-40B4-BE49-F238E27FC236}">
                <a16:creationId xmlns:a16="http://schemas.microsoft.com/office/drawing/2014/main" id="{94BDA8A2-CF61-ED4B-BABC-8A22039BA210}"/>
              </a:ext>
            </a:extLst>
          </p:cNvPr>
          <p:cNvSpPr>
            <a:spLocks noGrp="1"/>
          </p:cNvSpPr>
          <p:nvPr>
            <p:ph sz="quarter" idx="12"/>
          </p:nvPr>
        </p:nvSpPr>
        <p:spPr/>
        <p:txBody>
          <a:bodyPr>
            <a:normAutofit lnSpcReduction="10000"/>
          </a:bodyPr>
          <a:lstStyle/>
          <a:p>
            <a:pPr marL="0" marR="0" lvl="0" indent="0" rtl="0">
              <a:buNone/>
            </a:pPr>
            <a:r>
              <a:rPr lang="en-US" altLang="zh-CN" sz="1900" b="1" dirty="0">
                <a:cs typeface="+mn-ea"/>
                <a:sym typeface="+mn-lt"/>
              </a:rPr>
              <a:t>1.</a:t>
            </a:r>
            <a:r>
              <a:rPr lang="zh-CN" altLang="en-US" sz="1900" b="1" dirty="0">
                <a:cs typeface="+mn-ea"/>
                <a:sym typeface="+mn-lt"/>
              </a:rPr>
              <a:t> 矩形阵列</a:t>
            </a:r>
          </a:p>
          <a:p>
            <a:pPr marL="0" marR="0" lvl="0" indent="0" rtl="0">
              <a:buNone/>
            </a:pPr>
            <a:r>
              <a:rPr lang="zh-CN" altLang="en-US" sz="1900" dirty="0">
                <a:cs typeface="+mn-ea"/>
                <a:sym typeface="+mn-lt"/>
              </a:rPr>
              <a:t>待变换阵列是矩形阵列</a:t>
            </a:r>
            <a:r>
              <a:rPr lang="en-US" altLang="zh-CN" sz="1900" dirty="0">
                <a:cs typeface="+mn-ea"/>
                <a:sym typeface="+mn-lt"/>
              </a:rPr>
              <a:t>(</a:t>
            </a:r>
            <a:r>
              <a:rPr lang="zh-CN" altLang="en-US" sz="1900" dirty="0">
                <a:cs typeface="+mn-ea"/>
                <a:sym typeface="+mn-lt"/>
              </a:rPr>
              <a:t>相对于方形阵列</a:t>
            </a:r>
            <a:r>
              <a:rPr lang="en-US" altLang="zh-CN" sz="1900" dirty="0">
                <a:cs typeface="+mn-ea"/>
                <a:sym typeface="+mn-lt"/>
              </a:rPr>
              <a:t>)</a:t>
            </a:r>
            <a:r>
              <a:rPr lang="zh-CN" altLang="en-US" sz="1900" dirty="0">
                <a:cs typeface="+mn-ea"/>
                <a:sym typeface="+mn-lt"/>
              </a:rPr>
              <a:t>时，式</a:t>
            </a:r>
            <a:r>
              <a:rPr lang="en-US" altLang="zh-CN" sz="1900" dirty="0">
                <a:cs typeface="+mn-ea"/>
                <a:sym typeface="+mn-lt"/>
              </a:rPr>
              <a:t>(7.35)</a:t>
            </a:r>
            <a:r>
              <a:rPr lang="zh-CN" altLang="en-US" sz="1900" dirty="0">
                <a:cs typeface="+mn-ea"/>
                <a:sym typeface="+mn-lt"/>
              </a:rPr>
              <a:t>和式</a:t>
            </a:r>
            <a:r>
              <a:rPr lang="en-US" altLang="zh-CN" sz="1900" dirty="0">
                <a:cs typeface="+mn-ea"/>
                <a:sym typeface="+mn-lt"/>
              </a:rPr>
              <a:t>(7.36)</a:t>
            </a:r>
            <a:r>
              <a:rPr lang="zh-CN" altLang="en-US" sz="1900" dirty="0">
                <a:cs typeface="+mn-ea"/>
                <a:sym typeface="+mn-lt"/>
              </a:rPr>
              <a:t>变为</a:t>
            </a:r>
          </a:p>
          <a:p>
            <a:pPr marL="0" marR="0" lvl="0" indent="0" rtl="0">
              <a:buNone/>
            </a:pPr>
            <a:r>
              <a:rPr lang="en-US" altLang="zh-CN" sz="1900" b="1" dirty="0">
                <a:cs typeface="+mn-ea"/>
                <a:sym typeface="+mn-lt"/>
              </a:rPr>
              <a:t>2.</a:t>
            </a:r>
            <a:r>
              <a:rPr lang="zh-CN" altLang="en-US" sz="1900" b="1" dirty="0">
                <a:cs typeface="+mn-ea"/>
                <a:sym typeface="+mn-lt"/>
              </a:rPr>
              <a:t> 复规范正交基向量</a:t>
            </a:r>
          </a:p>
          <a:p>
            <a:pPr marL="0" marR="0" lvl="0" indent="0" rtl="0">
              <a:buNone/>
            </a:pPr>
            <a:r>
              <a:rPr lang="zh-CN" altLang="en-US" sz="1900" dirty="0">
                <a:cs typeface="+mn-ea"/>
                <a:sym typeface="+mn-lt"/>
              </a:rPr>
              <a:t>复值基向量是规范正交的，当且仅当</a:t>
            </a:r>
          </a:p>
          <a:p>
            <a:pPr marL="0" marR="0" lvl="0" indent="0" rtl="0">
              <a:buNone/>
            </a:pPr>
            <a:r>
              <a:rPr lang="en-US" altLang="zh-CN" sz="1900" b="1" dirty="0">
                <a:cs typeface="+mn-ea"/>
                <a:sym typeface="+mn-lt"/>
              </a:rPr>
              <a:t>3.</a:t>
            </a:r>
            <a:r>
              <a:rPr lang="zh-CN" altLang="en-US" sz="1900" b="1" dirty="0">
                <a:cs typeface="+mn-ea"/>
                <a:sym typeface="+mn-lt"/>
              </a:rPr>
              <a:t> 双规范正交基向量</a:t>
            </a:r>
          </a:p>
          <a:p>
            <a:pPr marL="0" marR="0" lvl="0" indent="0" rtl="0">
              <a:buNone/>
            </a:pPr>
            <a:r>
              <a:rPr lang="zh-CN" altLang="en-US" sz="1900" dirty="0">
                <a:cs typeface="+mn-ea"/>
                <a:sym typeface="+mn-lt"/>
              </a:rPr>
              <a:t>在式</a:t>
            </a:r>
            <a:r>
              <a:rPr lang="en-US" altLang="zh-CN" sz="1900" dirty="0">
                <a:cs typeface="+mn-ea"/>
                <a:sym typeface="+mn-lt"/>
              </a:rPr>
              <a:t>(7.24)</a:t>
            </a:r>
            <a:r>
              <a:rPr lang="zh-CN" altLang="en-US" sz="1900" dirty="0">
                <a:cs typeface="+mn-ea"/>
                <a:sym typeface="+mn-lt"/>
              </a:rPr>
              <a:t>中，如果存在一组对偶展开函数                使得</a:t>
            </a:r>
          </a:p>
        </p:txBody>
      </p:sp>
      <p:pic>
        <p:nvPicPr>
          <p:cNvPr id="5" name="图片 4">
            <a:extLst>
              <a:ext uri="{FF2B5EF4-FFF2-40B4-BE49-F238E27FC236}">
                <a16:creationId xmlns:a16="http://schemas.microsoft.com/office/drawing/2014/main" id="{032FCDC1-59ED-6705-8C9C-CA3597868483}"/>
              </a:ext>
            </a:extLst>
          </p:cNvPr>
          <p:cNvPicPr>
            <a:picLocks noChangeAspect="1"/>
          </p:cNvPicPr>
          <p:nvPr/>
        </p:nvPicPr>
        <p:blipFill rotWithShape="1">
          <a:blip r:embed="rId2"/>
          <a:srcRect b="16216"/>
          <a:stretch/>
        </p:blipFill>
        <p:spPr>
          <a:xfrm>
            <a:off x="8393329" y="2981029"/>
            <a:ext cx="1549567" cy="609196"/>
          </a:xfrm>
          <a:prstGeom prst="rect">
            <a:avLst/>
          </a:prstGeom>
        </p:spPr>
      </p:pic>
      <p:pic>
        <p:nvPicPr>
          <p:cNvPr id="7" name="图片 6">
            <a:extLst>
              <a:ext uri="{FF2B5EF4-FFF2-40B4-BE49-F238E27FC236}">
                <a16:creationId xmlns:a16="http://schemas.microsoft.com/office/drawing/2014/main" id="{8E9BCB43-A9E2-F9E5-A1BF-943C70601EF3}"/>
              </a:ext>
            </a:extLst>
          </p:cNvPr>
          <p:cNvPicPr>
            <a:picLocks noChangeAspect="1"/>
          </p:cNvPicPr>
          <p:nvPr/>
        </p:nvPicPr>
        <p:blipFill>
          <a:blip r:embed="rId3"/>
          <a:stretch>
            <a:fillRect/>
          </a:stretch>
        </p:blipFill>
        <p:spPr>
          <a:xfrm>
            <a:off x="4899359" y="4132066"/>
            <a:ext cx="3067050" cy="514350"/>
          </a:xfrm>
          <a:prstGeom prst="rect">
            <a:avLst/>
          </a:prstGeom>
        </p:spPr>
      </p:pic>
      <p:pic>
        <p:nvPicPr>
          <p:cNvPr id="9" name="图片 8">
            <a:extLst>
              <a:ext uri="{FF2B5EF4-FFF2-40B4-BE49-F238E27FC236}">
                <a16:creationId xmlns:a16="http://schemas.microsoft.com/office/drawing/2014/main" id="{26EAEE3A-0758-C30D-5B8B-E63FAF872AA9}"/>
              </a:ext>
            </a:extLst>
          </p:cNvPr>
          <p:cNvPicPr>
            <a:picLocks noChangeAspect="1"/>
          </p:cNvPicPr>
          <p:nvPr/>
        </p:nvPicPr>
        <p:blipFill>
          <a:blip r:embed="rId4"/>
          <a:stretch>
            <a:fillRect/>
          </a:stretch>
        </p:blipFill>
        <p:spPr>
          <a:xfrm>
            <a:off x="5233986" y="5754854"/>
            <a:ext cx="1724025" cy="542925"/>
          </a:xfrm>
          <a:prstGeom prst="rect">
            <a:avLst/>
          </a:prstGeom>
        </p:spPr>
      </p:pic>
      <p:pic>
        <p:nvPicPr>
          <p:cNvPr id="11" name="图片 10">
            <a:extLst>
              <a:ext uri="{FF2B5EF4-FFF2-40B4-BE49-F238E27FC236}">
                <a16:creationId xmlns:a16="http://schemas.microsoft.com/office/drawing/2014/main" id="{0272CC7F-5279-0776-C1CD-486F008A2424}"/>
              </a:ext>
            </a:extLst>
          </p:cNvPr>
          <p:cNvPicPr>
            <a:picLocks noChangeAspect="1"/>
          </p:cNvPicPr>
          <p:nvPr/>
        </p:nvPicPr>
        <p:blipFill>
          <a:blip r:embed="rId5"/>
          <a:stretch>
            <a:fillRect/>
          </a:stretch>
        </p:blipFill>
        <p:spPr>
          <a:xfrm>
            <a:off x="5667373" y="5256505"/>
            <a:ext cx="857250" cy="266700"/>
          </a:xfrm>
          <a:prstGeom prst="rect">
            <a:avLst/>
          </a:prstGeom>
        </p:spPr>
      </p:pic>
    </p:spTree>
    <p:extLst>
      <p:ext uri="{BB962C8B-B14F-4D97-AF65-F5344CB8AC3E}">
        <p14:creationId xmlns:p14="http://schemas.microsoft.com/office/powerpoint/2010/main" val="3786004594"/>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24545" y="2221637"/>
            <a:ext cx="5731905" cy="2414726"/>
            <a:chOff x="5943478" y="2292214"/>
            <a:chExt cx="5731905"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03</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5943478" y="3937499"/>
              <a:ext cx="573190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cs typeface="+mn-ea"/>
                  <a:sym typeface="+mn-lt"/>
                </a:rPr>
                <a:t>相关</a:t>
              </a:r>
            </a:p>
          </p:txBody>
        </p:sp>
      </p:grpSp>
    </p:spTree>
    <p:extLst>
      <p:ext uri="{BB962C8B-B14F-4D97-AF65-F5344CB8AC3E}">
        <p14:creationId xmlns:p14="http://schemas.microsoft.com/office/powerpoint/2010/main" val="276538802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D1C-DF9F-7AA7-C754-E064FB04969D}"/>
              </a:ext>
            </a:extLst>
          </p:cNvPr>
          <p:cNvSpPr>
            <a:spLocks noGrp="1"/>
          </p:cNvSpPr>
          <p:nvPr>
            <p:ph type="title"/>
          </p:nvPr>
        </p:nvSpPr>
        <p:spPr/>
        <p:txBody>
          <a:bodyPr/>
          <a:lstStyle/>
          <a:p>
            <a:pPr marR="0" rtl="0"/>
            <a:r>
              <a:rPr lang="zh-CN" altLang="en-US" b="1" i="0" u="none" strike="noStrike" baseline="0" dirty="0">
                <a:solidFill>
                  <a:srgbClr val="0064BD"/>
                </a:solidFill>
                <a:latin typeface="+mn-lt"/>
                <a:ea typeface="+mn-ea"/>
                <a:cs typeface="+mn-ea"/>
                <a:sym typeface="+mn-lt"/>
              </a:rPr>
              <a:t>概述</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82D31D4E-2CB8-8259-50A6-26F9332D5EC9}"/>
                  </a:ext>
                </a:extLst>
              </p:cNvPr>
              <p:cNvSpPr>
                <a:spLocks noGrp="1"/>
              </p:cNvSpPr>
              <p:nvPr>
                <p:ph sz="quarter" idx="11"/>
              </p:nvPr>
            </p:nvSpPr>
            <p:spPr/>
            <p:txBody>
              <a:bodyPr/>
              <a:lstStyle/>
              <a:p>
                <a:pPr marL="0" marR="0" lvl="0" indent="0" rtl="0">
                  <a:buNone/>
                </a:pPr>
                <a:r>
                  <a:rPr lang="zh-CN" altLang="en-US" sz="1900" dirty="0">
                    <a:cs typeface="+mn-ea"/>
                    <a:sym typeface="+mn-lt"/>
                  </a:rPr>
                  <a:t>在计算正交变换系数时，例</a:t>
                </a:r>
                <a:r>
                  <a:rPr lang="en-US" altLang="zh-CN" sz="1900" dirty="0">
                    <a:cs typeface="+mn-ea"/>
                    <a:sym typeface="+mn-lt"/>
                  </a:rPr>
                  <a:t>7.6</a:t>
                </a:r>
                <a:r>
                  <a:rPr lang="zh-CN" altLang="en-US" sz="1900" dirty="0">
                    <a:cs typeface="+mn-ea"/>
                    <a:sym typeface="+mn-lt"/>
                  </a:rPr>
                  <a:t>强调了内积的作用。本节介绍这些系数与相关之间的关系。</a:t>
                </a:r>
              </a:p>
              <a:p>
                <a:pPr marL="0" marR="0" lvl="0" indent="0" rtl="0">
                  <a:buNone/>
                </a:pPr>
                <a:r>
                  <a:rPr lang="zh-CN" altLang="en-US" sz="1900" dirty="0">
                    <a:cs typeface="+mn-ea"/>
                    <a:sym typeface="+mn-lt"/>
                  </a:rPr>
                  <a:t>已知两个连续函数</a:t>
                </a:r>
                <a:r>
                  <a:rPr lang="en-US" altLang="zh-CN" sz="1900" dirty="0">
                    <a:cs typeface="+mn-ea"/>
                    <a:sym typeface="+mn-lt"/>
                  </a:rPr>
                  <a:t>f(x)</a:t>
                </a:r>
                <a:r>
                  <a:rPr lang="zh-CN" altLang="en-US" sz="1900" dirty="0">
                    <a:cs typeface="+mn-ea"/>
                    <a:sym typeface="+mn-lt"/>
                  </a:rPr>
                  <a:t> 和</a:t>
                </a:r>
                <a:r>
                  <a:rPr lang="en-US" altLang="zh-CN" sz="1900" dirty="0">
                    <a:cs typeface="+mn-ea"/>
                    <a:sym typeface="+mn-lt"/>
                  </a:rPr>
                  <a:t>g(x),f</a:t>
                </a:r>
                <a:r>
                  <a:rPr lang="zh-CN" altLang="en-US" sz="1900" dirty="0">
                    <a:cs typeface="+mn-ea"/>
                    <a:sym typeface="+mn-lt"/>
                  </a:rPr>
                  <a:t>和</a:t>
                </a:r>
                <a:r>
                  <a:rPr lang="en-US" altLang="zh-CN" sz="1900" dirty="0">
                    <a:cs typeface="+mn-ea"/>
                    <a:sym typeface="+mn-lt"/>
                  </a:rPr>
                  <a:t>g</a:t>
                </a:r>
                <a:r>
                  <a:rPr lang="zh-CN" altLang="en-US" sz="1900" dirty="0">
                    <a:cs typeface="+mn-ea"/>
                    <a:sym typeface="+mn-lt"/>
                  </a:rPr>
                  <a:t>的相关</a:t>
                </a:r>
                <a:r>
                  <a:rPr lang="en-US" altLang="zh-CN" sz="1900" dirty="0">
                    <a:cs typeface="+mn-ea"/>
                    <a:sym typeface="+mn-lt"/>
                  </a:rPr>
                  <a:t>f*g(</a:t>
                </a:r>
                <a:r>
                  <a:rPr lang="zh-CN" altLang="en-US" sz="1900" dirty="0">
                    <a:cs typeface="+mn-ea"/>
                    <a:sym typeface="+mn-lt"/>
                  </a:rPr>
                  <a:t>△</a:t>
                </a:r>
                <a:r>
                  <a:rPr lang="en-US" altLang="zh-CN" sz="1900" dirty="0">
                    <a:cs typeface="+mn-ea"/>
                    <a:sym typeface="+mn-lt"/>
                  </a:rPr>
                  <a:t>x)</a:t>
                </a:r>
                <a:r>
                  <a:rPr lang="zh-CN" altLang="en-US" sz="1900" dirty="0">
                    <a:cs typeface="+mn-ea"/>
                    <a:sym typeface="+mn-lt"/>
                  </a:rPr>
                  <a:t> 定义为</a:t>
                </a:r>
                <a:endParaRPr lang="en-US" altLang="zh-CN" sz="1900" dirty="0">
                  <a:cs typeface="+mn-ea"/>
                  <a:sym typeface="+mn-lt"/>
                </a:endParaRPr>
              </a:p>
              <a:p>
                <a:pPr marL="0" marR="0" lvl="0" indent="0" rtl="0">
                  <a:buNone/>
                </a:pPr>
                <a:endParaRPr lang="en-US" altLang="zh-CN" sz="1900" dirty="0">
                  <a:cs typeface="+mn-ea"/>
                  <a:sym typeface="+mn-lt"/>
                </a:endParaRPr>
              </a:p>
              <a:p>
                <a:pPr marL="0" marR="0" lvl="0" indent="0" rtl="0">
                  <a:buNone/>
                </a:pPr>
                <a:r>
                  <a:rPr lang="zh-CN" altLang="en-US" sz="1900" dirty="0">
                    <a:cs typeface="+mn-ea"/>
                    <a:sym typeface="+mn-lt"/>
                  </a:rPr>
                  <a:t>式中，最后一步是通过在式</a:t>
                </a:r>
                <a:r>
                  <a:rPr lang="en-US" altLang="zh-CN" sz="1900" dirty="0">
                    <a:cs typeface="+mn-ea"/>
                    <a:sym typeface="+mn-lt"/>
                  </a:rPr>
                  <a:t>(7.3)</a:t>
                </a:r>
                <a:r>
                  <a:rPr lang="zh-CN" altLang="en-US" sz="1900" dirty="0">
                    <a:cs typeface="+mn-ea"/>
                    <a:sym typeface="+mn-lt"/>
                  </a:rPr>
                  <a:t>中令</a:t>
                </a:r>
                <a:r>
                  <a:rPr lang="en-US" altLang="zh-CN" sz="1900" dirty="0">
                    <a:cs typeface="+mn-ea"/>
                    <a:sym typeface="+mn-lt"/>
                  </a:rPr>
                  <a:t>a=-</a:t>
                </a:r>
                <a14:m>
                  <m:oMath xmlns:m="http://schemas.openxmlformats.org/officeDocument/2006/math">
                    <m:r>
                      <a:rPr lang="en-US" altLang="zh-CN" sz="1900" i="1" dirty="0" smtClean="0">
                        <a:latin typeface="Cambria Math" panose="02040503050406030204" pitchFamily="18" charset="0"/>
                        <a:ea typeface="Cambria Math" panose="02040503050406030204" pitchFamily="18" charset="0"/>
                        <a:cs typeface="+mn-ea"/>
                        <a:sym typeface="+mn-lt"/>
                      </a:rPr>
                      <m:t>∞</m:t>
                    </m:r>
                  </m:oMath>
                </a14:m>
                <a:r>
                  <a:rPr lang="en-US" altLang="zh-CN" sz="1900" dirty="0">
                    <a:cs typeface="+mn-ea"/>
                    <a:sym typeface="+mn-lt"/>
                  </a:rPr>
                  <a:t> </a:t>
                </a:r>
                <a:r>
                  <a:rPr lang="zh-CN" altLang="en-US" sz="1900" dirty="0">
                    <a:cs typeface="+mn-ea"/>
                    <a:sym typeface="+mn-lt"/>
                  </a:rPr>
                  <a:t>和</a:t>
                </a:r>
                <a:r>
                  <a:rPr lang="en-US" altLang="zh-CN" sz="1900" dirty="0">
                    <a:cs typeface="+mn-ea"/>
                    <a:sym typeface="+mn-lt"/>
                  </a:rPr>
                  <a:t>b=</a:t>
                </a:r>
                <a14:m>
                  <m:oMath xmlns:m="http://schemas.openxmlformats.org/officeDocument/2006/math">
                    <m:r>
                      <a:rPr lang="en-US" altLang="zh-CN" sz="1900" i="1" smtClean="0">
                        <a:latin typeface="Cambria Math" panose="02040503050406030204" pitchFamily="18" charset="0"/>
                        <a:ea typeface="Cambria Math" panose="02040503050406030204" pitchFamily="18" charset="0"/>
                        <a:cs typeface="+mn-ea"/>
                        <a:sym typeface="+mn-lt"/>
                      </a:rPr>
                      <m:t>∞</m:t>
                    </m:r>
                  </m:oMath>
                </a14:m>
                <a:r>
                  <a:rPr lang="zh-CN" altLang="en-US" sz="1900" dirty="0">
                    <a:cs typeface="+mn-ea"/>
                    <a:sym typeface="+mn-lt"/>
                  </a:rPr>
                  <a:t>得到的。相关有时为和</a:t>
                </a:r>
                <a:r>
                  <a:rPr lang="en-US" altLang="zh-CN" sz="1900" dirty="0">
                    <a:cs typeface="+mn-ea"/>
                    <a:sym typeface="+mn-lt"/>
                  </a:rPr>
                  <a:t>g</a:t>
                </a:r>
                <a:r>
                  <a:rPr lang="zh-CN" altLang="en-US" sz="1900" dirty="0">
                    <a:cs typeface="+mn-ea"/>
                    <a:sym typeface="+mn-lt"/>
                  </a:rPr>
                  <a:t>的滑动内积，度量的是 </a:t>
                </a:r>
                <a:r>
                  <a:rPr lang="en-US" altLang="zh-CN" sz="1900" dirty="0">
                    <a:cs typeface="+mn-ea"/>
                    <a:sym typeface="+mn-lt"/>
                  </a:rPr>
                  <a:t>f(x)</a:t>
                </a:r>
                <a:r>
                  <a:rPr lang="zh-CN" altLang="en-US" sz="1900" dirty="0">
                    <a:cs typeface="+mn-ea"/>
                    <a:sym typeface="+mn-lt"/>
                  </a:rPr>
                  <a:t>和</a:t>
                </a:r>
                <a:r>
                  <a:rPr lang="en-US" altLang="zh-CN" sz="1900" dirty="0">
                    <a:cs typeface="+mn-ea"/>
                    <a:sym typeface="+mn-lt"/>
                  </a:rPr>
                  <a:t>g(x)</a:t>
                </a:r>
                <a:r>
                  <a:rPr lang="zh-CN" altLang="en-US" sz="1900" dirty="0">
                    <a:cs typeface="+mn-ea"/>
                    <a:sym typeface="+mn-lt"/>
                  </a:rPr>
                  <a:t>的相似性，是它们的相对位移</a:t>
                </a:r>
                <a:r>
                  <a:rPr lang="en-US" altLang="zh-CN" sz="1900" dirty="0">
                    <a:cs typeface="+mn-ea"/>
                    <a:sym typeface="+mn-lt"/>
                  </a:rPr>
                  <a:t>Ax </a:t>
                </a:r>
                <a:r>
                  <a:rPr lang="zh-CN" altLang="en-US" sz="1900" dirty="0">
                    <a:cs typeface="+mn-ea"/>
                    <a:sym typeface="+mn-lt"/>
                  </a:rPr>
                  <a:t>的函数。若</a:t>
                </a:r>
                <a:r>
                  <a:rPr lang="en-US" altLang="zh-CN" sz="1900" dirty="0">
                    <a:cs typeface="+mn-ea"/>
                    <a:sym typeface="+mn-lt"/>
                  </a:rPr>
                  <a:t>A =0</a:t>
                </a:r>
                <a:r>
                  <a:rPr lang="zh-CN" altLang="en-US" sz="1900" dirty="0">
                    <a:cs typeface="+mn-ea"/>
                    <a:sym typeface="+mn-lt"/>
                  </a:rPr>
                  <a:t>，则有</a:t>
                </a:r>
              </a:p>
            </p:txBody>
          </p:sp>
        </mc:Choice>
        <mc:Fallback>
          <p:sp>
            <p:nvSpPr>
              <p:cNvPr id="3" name="文本占位符 2">
                <a:extLst>
                  <a:ext uri="{FF2B5EF4-FFF2-40B4-BE49-F238E27FC236}">
                    <a16:creationId xmlns:a16="http://schemas.microsoft.com/office/drawing/2014/main" id="{82D31D4E-2CB8-8259-50A6-26F9332D5EC9}"/>
                  </a:ext>
                </a:extLst>
              </p:cNvPr>
              <p:cNvSpPr>
                <a:spLocks noGrp="1" noRot="1" noChangeAspect="1" noMove="1" noResize="1" noEditPoints="1" noAdjustHandles="1" noChangeArrowheads="1" noChangeShapeType="1" noTextEdit="1"/>
              </p:cNvSpPr>
              <p:nvPr>
                <p:ph sz="quarter" idx="11"/>
              </p:nvPr>
            </p:nvSpPr>
            <p:spPr>
              <a:blipFill>
                <a:blip r:embed="rId2"/>
                <a:stretch>
                  <a:fillRect l="-515"/>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E0FF193D-2511-DD83-21C1-82A4A0BFCB94}"/>
              </a:ext>
            </a:extLst>
          </p:cNvPr>
          <p:cNvPicPr>
            <a:picLocks noChangeAspect="1"/>
          </p:cNvPicPr>
          <p:nvPr/>
        </p:nvPicPr>
        <p:blipFill>
          <a:blip r:embed="rId3"/>
          <a:stretch>
            <a:fillRect/>
          </a:stretch>
        </p:blipFill>
        <p:spPr>
          <a:xfrm>
            <a:off x="4298778" y="3609223"/>
            <a:ext cx="3657600" cy="409575"/>
          </a:xfrm>
          <a:prstGeom prst="rect">
            <a:avLst/>
          </a:prstGeom>
        </p:spPr>
      </p:pic>
      <p:pic>
        <p:nvPicPr>
          <p:cNvPr id="7" name="图片 6">
            <a:extLst>
              <a:ext uri="{FF2B5EF4-FFF2-40B4-BE49-F238E27FC236}">
                <a16:creationId xmlns:a16="http://schemas.microsoft.com/office/drawing/2014/main" id="{0957D17D-FAFA-ABEE-AC77-FC78315D328B}"/>
              </a:ext>
            </a:extLst>
          </p:cNvPr>
          <p:cNvPicPr>
            <a:picLocks noChangeAspect="1"/>
          </p:cNvPicPr>
          <p:nvPr/>
        </p:nvPicPr>
        <p:blipFill>
          <a:blip r:embed="rId4"/>
          <a:stretch>
            <a:fillRect/>
          </a:stretch>
        </p:blipFill>
        <p:spPr>
          <a:xfrm>
            <a:off x="4920123" y="5154587"/>
            <a:ext cx="2351753" cy="409575"/>
          </a:xfrm>
          <a:prstGeom prst="rect">
            <a:avLst/>
          </a:prstGeom>
        </p:spPr>
      </p:pic>
      <p:sp>
        <p:nvSpPr>
          <p:cNvPr id="8" name="矩形 7">
            <a:extLst>
              <a:ext uri="{FF2B5EF4-FFF2-40B4-BE49-F238E27FC236}">
                <a16:creationId xmlns:a16="http://schemas.microsoft.com/office/drawing/2014/main" id="{51678C29-5C55-94E8-4576-1CBA9625A679}"/>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51632062"/>
      </p:ext>
    </p:extLst>
  </p:cSld>
  <p:clrMapOvr>
    <a:masterClrMapping/>
  </p:clrMapOvr>
  <p:transition spd="slow" advTm="0">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196183" y="2221637"/>
            <a:ext cx="4788630" cy="3091835"/>
            <a:chOff x="6415116" y="2292214"/>
            <a:chExt cx="4788630"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04</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6415116" y="3937499"/>
              <a:ext cx="4788630"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cs typeface="+mn-ea"/>
                  <a:sym typeface="+mn-lt"/>
                </a:rPr>
                <a:t>时间</a:t>
              </a:r>
              <a:r>
                <a:rPr lang="en-US" altLang="zh-CN" sz="4400" b="1" dirty="0">
                  <a:solidFill>
                    <a:srgbClr val="0065C4"/>
                  </a:solidFill>
                  <a:cs typeface="+mn-ea"/>
                  <a:sym typeface="+mn-lt"/>
                </a:rPr>
                <a:t>-</a:t>
              </a:r>
              <a:r>
                <a:rPr lang="zh-CN" altLang="en-US" sz="4400" b="1" dirty="0">
                  <a:solidFill>
                    <a:srgbClr val="0065C4"/>
                  </a:solidFill>
                  <a:cs typeface="+mn-ea"/>
                  <a:sym typeface="+mn-lt"/>
                </a:rPr>
                <a:t>频率平面的基函数</a:t>
              </a:r>
            </a:p>
          </p:txBody>
        </p:sp>
      </p:grpSp>
    </p:spTree>
    <p:extLst>
      <p:ext uri="{BB962C8B-B14F-4D97-AF65-F5344CB8AC3E}">
        <p14:creationId xmlns:p14="http://schemas.microsoft.com/office/powerpoint/2010/main" val="376191275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9AC0F1-0782-6015-80E3-878F397AE661}"/>
              </a:ext>
            </a:extLst>
          </p:cNvPr>
          <p:cNvSpPr>
            <a:spLocks noGrp="1"/>
          </p:cNvSpPr>
          <p:nvPr>
            <p:ph type="title"/>
          </p:nvPr>
        </p:nvSpPr>
        <p:spPr/>
        <p:txBody>
          <a:bodyPr/>
          <a:lstStyle/>
          <a:p>
            <a:pPr marR="0" rtl="0"/>
            <a:r>
              <a:rPr lang="zh-CN" altLang="en-US" b="1" i="0" u="none" strike="noStrike" baseline="0" dirty="0">
                <a:solidFill>
                  <a:srgbClr val="0064BD"/>
                </a:solidFill>
                <a:latin typeface="+mn-lt"/>
                <a:ea typeface="+mn-ea"/>
                <a:cs typeface="+mn-ea"/>
                <a:sym typeface="+mn-lt"/>
              </a:rPr>
              <a:t>基函数</a:t>
            </a:r>
          </a:p>
        </p:txBody>
      </p:sp>
      <p:sp>
        <p:nvSpPr>
          <p:cNvPr id="3" name="文本占位符 2">
            <a:extLst>
              <a:ext uri="{FF2B5EF4-FFF2-40B4-BE49-F238E27FC236}">
                <a16:creationId xmlns:a16="http://schemas.microsoft.com/office/drawing/2014/main" id="{2FA64C17-08DD-1547-902A-689B80CF4FE5}"/>
              </a:ext>
            </a:extLst>
          </p:cNvPr>
          <p:cNvSpPr>
            <a:spLocks noGrp="1"/>
          </p:cNvSpPr>
          <p:nvPr>
            <p:ph sz="quarter" idx="11"/>
          </p:nvPr>
        </p:nvSpPr>
        <p:spPr/>
        <p:txBody>
          <a:bodyPr/>
          <a:lstStyle/>
          <a:p>
            <a:pPr marL="0" indent="0">
              <a:buNone/>
            </a:pPr>
            <a:r>
              <a:rPr lang="zh-CN" altLang="en-US" sz="1900" dirty="0">
                <a:cs typeface="+mn-ea"/>
                <a:sym typeface="+mn-lt"/>
              </a:rPr>
              <a:t>图</a:t>
            </a:r>
            <a:r>
              <a:rPr lang="en-US" altLang="zh-CN" sz="1900" dirty="0">
                <a:cs typeface="+mn-ea"/>
                <a:sym typeface="+mn-lt"/>
              </a:rPr>
              <a:t>7.3</a:t>
            </a:r>
            <a:r>
              <a:rPr lang="zh-CN" altLang="en-US" sz="1900" dirty="0">
                <a:cs typeface="+mn-ea"/>
                <a:sym typeface="+mn-lt"/>
              </a:rPr>
              <a:t>中描述了一些常见变换的基向量，大多数正交基数学上是相关的正弦波、方波、斜坡波和小波集合。若</a:t>
            </a:r>
            <a:r>
              <a:rPr lang="en-US" altLang="zh-CN" sz="1900" dirty="0">
                <a:cs typeface="+mn-ea"/>
                <a:sym typeface="+mn-lt"/>
              </a:rPr>
              <a:t>h(t)</a:t>
            </a:r>
            <a:r>
              <a:rPr lang="zh-CN" altLang="en-US" sz="1900" dirty="0">
                <a:cs typeface="+mn-ea"/>
                <a:sym typeface="+mn-lt"/>
              </a:rPr>
              <a:t>是一个基向量，</a:t>
            </a:r>
            <a:r>
              <a:rPr lang="en-US" altLang="zh-CN" sz="1900" dirty="0">
                <a:cs typeface="+mn-ea"/>
                <a:sym typeface="+mn-lt"/>
              </a:rPr>
              <a:t>g(t)</a:t>
            </a:r>
            <a:r>
              <a:rPr lang="zh-CN" altLang="en-US" sz="1900" dirty="0">
                <a:cs typeface="+mn-ea"/>
                <a:sym typeface="+mn-lt"/>
              </a:rPr>
              <a:t>是正被变换的函数，则前节给出的变换系数</a:t>
            </a:r>
            <a:r>
              <a:rPr lang="en-US" altLang="zh-CN" sz="1900" dirty="0">
                <a:cs typeface="+mn-ea"/>
                <a:sym typeface="+mn-lt"/>
              </a:rPr>
              <a:t>g*h(0)</a:t>
            </a:r>
            <a:r>
              <a:rPr lang="zh-CN" altLang="en-US" sz="1900" dirty="0">
                <a:cs typeface="+mn-ea"/>
                <a:sym typeface="+mn-lt"/>
              </a:rPr>
              <a:t>是</a:t>
            </a:r>
            <a:r>
              <a:rPr lang="en-US" altLang="zh-CN" sz="1900" dirty="0">
                <a:cs typeface="+mn-ea"/>
                <a:sym typeface="+mn-lt"/>
              </a:rPr>
              <a:t>g</a:t>
            </a:r>
            <a:r>
              <a:rPr lang="zh-CN" altLang="en-US" sz="1900" dirty="0">
                <a:cs typeface="+mn-ea"/>
                <a:sym typeface="+mn-lt"/>
              </a:rPr>
              <a:t>和</a:t>
            </a:r>
            <a:r>
              <a:rPr lang="en-US" altLang="zh-CN" sz="1900" dirty="0">
                <a:cs typeface="+mn-ea"/>
                <a:sym typeface="+mn-lt"/>
              </a:rPr>
              <a:t>h</a:t>
            </a:r>
            <a:r>
              <a:rPr lang="zh-CN" altLang="en-US" sz="1900" dirty="0">
                <a:cs typeface="+mn-ea"/>
                <a:sym typeface="+mn-lt"/>
              </a:rPr>
              <a:t>的相似性的测度。</a:t>
            </a:r>
          </a:p>
        </p:txBody>
      </p:sp>
      <p:pic>
        <p:nvPicPr>
          <p:cNvPr id="5" name="图片 4">
            <a:extLst>
              <a:ext uri="{FF2B5EF4-FFF2-40B4-BE49-F238E27FC236}">
                <a16:creationId xmlns:a16="http://schemas.microsoft.com/office/drawing/2014/main" id="{A0DB02C1-366F-DC7F-71B7-EA7AF73756F6}"/>
              </a:ext>
            </a:extLst>
          </p:cNvPr>
          <p:cNvPicPr>
            <a:picLocks noChangeAspect="1"/>
          </p:cNvPicPr>
          <p:nvPr/>
        </p:nvPicPr>
        <p:blipFill>
          <a:blip r:embed="rId2"/>
          <a:stretch>
            <a:fillRect/>
          </a:stretch>
        </p:blipFill>
        <p:spPr>
          <a:xfrm>
            <a:off x="1479812" y="3943883"/>
            <a:ext cx="4504660" cy="2716683"/>
          </a:xfrm>
          <a:prstGeom prst="rect">
            <a:avLst/>
          </a:prstGeom>
        </p:spPr>
      </p:pic>
      <p:pic>
        <p:nvPicPr>
          <p:cNvPr id="7" name="图片 6">
            <a:extLst>
              <a:ext uri="{FF2B5EF4-FFF2-40B4-BE49-F238E27FC236}">
                <a16:creationId xmlns:a16="http://schemas.microsoft.com/office/drawing/2014/main" id="{BB046D02-9CB8-FB34-D66F-155D507FB67F}"/>
              </a:ext>
            </a:extLst>
          </p:cNvPr>
          <p:cNvPicPr>
            <a:picLocks noChangeAspect="1"/>
          </p:cNvPicPr>
          <p:nvPr/>
        </p:nvPicPr>
        <p:blipFill>
          <a:blip r:embed="rId3"/>
          <a:stretch>
            <a:fillRect/>
          </a:stretch>
        </p:blipFill>
        <p:spPr>
          <a:xfrm>
            <a:off x="6695187" y="3961791"/>
            <a:ext cx="4048162" cy="2698775"/>
          </a:xfrm>
          <a:prstGeom prst="rect">
            <a:avLst/>
          </a:prstGeom>
        </p:spPr>
      </p:pic>
      <p:sp>
        <p:nvSpPr>
          <p:cNvPr id="8" name="矩形 7">
            <a:extLst>
              <a:ext uri="{FF2B5EF4-FFF2-40B4-BE49-F238E27FC236}">
                <a16:creationId xmlns:a16="http://schemas.microsoft.com/office/drawing/2014/main" id="{BB303404-D11F-4C0C-3815-0AB1FB68A382}"/>
              </a:ext>
            </a:extLst>
          </p:cNvPr>
          <p:cNvSpPr/>
          <p:nvPr/>
        </p:nvSpPr>
        <p:spPr>
          <a:xfrm>
            <a:off x="801092" y="2446417"/>
            <a:ext cx="10589815" cy="143168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375358660"/>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05</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cs typeface="+mn-ea"/>
                  <a:sym typeface="+mn-lt"/>
                </a:rPr>
                <a:t>基图像</a:t>
              </a:r>
            </a:p>
          </p:txBody>
        </p:sp>
      </p:grpSp>
    </p:spTree>
    <p:extLst>
      <p:ext uri="{BB962C8B-B14F-4D97-AF65-F5344CB8AC3E}">
        <p14:creationId xmlns:p14="http://schemas.microsoft.com/office/powerpoint/2010/main" val="406614731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06</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cap="none" normalizeH="0" baseline="0" dirty="0">
                  <a:ln>
                    <a:noFill/>
                  </a:ln>
                  <a:solidFill>
                    <a:srgbClr val="0064BD"/>
                  </a:solidFill>
                  <a:effectLst/>
                  <a:cs typeface="+mn-ea"/>
                  <a:sym typeface="+mn-lt"/>
                </a:rPr>
                <a:t>傅里叶相关的变换</a:t>
              </a:r>
              <a:endParaRPr lang="zh-CN" altLang="en-US" sz="4400" b="1" dirty="0">
                <a:solidFill>
                  <a:srgbClr val="0065C4"/>
                </a:solidFill>
                <a:cs typeface="+mn-ea"/>
                <a:sym typeface="+mn-lt"/>
              </a:endParaRPr>
            </a:p>
          </p:txBody>
        </p:sp>
      </p:grpSp>
    </p:spTree>
    <p:extLst>
      <p:ext uri="{BB962C8B-B14F-4D97-AF65-F5344CB8AC3E}">
        <p14:creationId xmlns:p14="http://schemas.microsoft.com/office/powerpoint/2010/main" val="7658178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D54C8A-5D08-58F5-C845-E8619A39E294}"/>
              </a:ext>
            </a:extLst>
          </p:cNvPr>
          <p:cNvSpPr>
            <a:spLocks noGrp="1"/>
          </p:cNvSpPr>
          <p:nvPr>
            <p:ph type="title"/>
          </p:nvPr>
        </p:nvSpPr>
        <p:spPr>
          <a:xfrm>
            <a:off x="1670572" y="1555775"/>
            <a:ext cx="10127342" cy="461665"/>
          </a:xfrm>
        </p:spPr>
        <p:txBody>
          <a:bodyPr/>
          <a:lstStyle/>
          <a:p>
            <a:r>
              <a:rPr lang="zh-CN" altLang="en-US" dirty="0">
                <a:solidFill>
                  <a:srgbClr val="0064BD"/>
                </a:solidFill>
                <a:latin typeface="+mn-lt"/>
                <a:ea typeface="+mn-ea"/>
                <a:cs typeface="+mn-ea"/>
                <a:sym typeface="+mn-lt"/>
              </a:rPr>
              <a:t>变换</a:t>
            </a:r>
          </a:p>
        </p:txBody>
      </p:sp>
      <p:sp>
        <p:nvSpPr>
          <p:cNvPr id="3" name="文本占位符 2">
            <a:extLst>
              <a:ext uri="{FF2B5EF4-FFF2-40B4-BE49-F238E27FC236}">
                <a16:creationId xmlns:a16="http://schemas.microsoft.com/office/drawing/2014/main" id="{B81EAC18-EE4C-A330-8A6B-A4EE85D79527}"/>
              </a:ext>
            </a:extLst>
          </p:cNvPr>
          <p:cNvSpPr>
            <a:spLocks noGrp="1"/>
          </p:cNvSpPr>
          <p:nvPr>
            <p:ph sz="quarter" idx="11"/>
          </p:nvPr>
        </p:nvSpPr>
        <p:spPr/>
        <p:txBody>
          <a:bodyPr>
            <a:normAutofit/>
          </a:bodyPr>
          <a:lstStyle/>
          <a:p>
            <a:pPr marL="0" indent="0">
              <a:buNone/>
            </a:pPr>
            <a:r>
              <a:rPr lang="zh-CN" altLang="en-US" sz="1900" dirty="0">
                <a:cs typeface="+mn-ea"/>
                <a:sym typeface="+mn-lt"/>
              </a:rPr>
              <a:t>离散哈特利变换</a:t>
            </a:r>
            <a:r>
              <a:rPr lang="en-US" altLang="zh-CN" sz="1900" dirty="0">
                <a:cs typeface="+mn-ea"/>
                <a:sym typeface="+mn-lt"/>
              </a:rPr>
              <a:t>(DHT)</a:t>
            </a:r>
            <a:r>
              <a:rPr lang="zh-CN" altLang="en-US" sz="1900" dirty="0">
                <a:cs typeface="+mn-ea"/>
                <a:sym typeface="+mn-lt"/>
              </a:rPr>
              <a:t> 的变换矩阵是将如下反变换核代人式</a:t>
            </a:r>
            <a:r>
              <a:rPr lang="en-US" altLang="zh-CN" sz="1900" dirty="0">
                <a:cs typeface="+mn-ea"/>
                <a:sym typeface="+mn-lt"/>
              </a:rPr>
              <a:t>(7.22)</a:t>
            </a:r>
            <a:r>
              <a:rPr lang="zh-CN" altLang="en-US" sz="1900" dirty="0">
                <a:cs typeface="+mn-ea"/>
                <a:sym typeface="+mn-lt"/>
              </a:rPr>
              <a:t>和式</a:t>
            </a:r>
            <a:r>
              <a:rPr lang="en-US" altLang="zh-CN" sz="1900" dirty="0">
                <a:cs typeface="+mn-ea"/>
                <a:sym typeface="+mn-lt"/>
              </a:rPr>
              <a:t>(7.24)</a:t>
            </a:r>
            <a:r>
              <a:rPr lang="zh-CN" altLang="en-US" sz="1900" dirty="0">
                <a:cs typeface="+mn-ea"/>
                <a:sym typeface="+mn-lt"/>
              </a:rPr>
              <a:t>得到的：</a:t>
            </a:r>
            <a:endParaRPr lang="en-US" altLang="zh-CN" sz="1900" dirty="0">
              <a:cs typeface="+mn-ea"/>
              <a:sym typeface="+mn-lt"/>
            </a:endParaRPr>
          </a:p>
          <a:p>
            <a:pPr marL="0" indent="0">
              <a:buNone/>
            </a:pPr>
            <a:r>
              <a:rPr lang="zh-CN" altLang="en-US" sz="1900" dirty="0">
                <a:cs typeface="+mn-ea"/>
                <a:sym typeface="+mn-lt"/>
              </a:rPr>
              <a:t>其可分离的二维公式是</a:t>
            </a:r>
            <a:endParaRPr lang="en-US" altLang="zh-CN" sz="1900" dirty="0">
              <a:cs typeface="+mn-ea"/>
              <a:sym typeface="+mn-lt"/>
            </a:endParaRPr>
          </a:p>
          <a:p>
            <a:pPr marL="0" indent="0">
              <a:buNone/>
            </a:pPr>
            <a:endParaRPr lang="zh-CN" altLang="en-US" sz="1900" dirty="0">
              <a:cs typeface="+mn-ea"/>
              <a:sym typeface="+mn-lt"/>
            </a:endParaRPr>
          </a:p>
          <a:p>
            <a:pPr marL="0" indent="0">
              <a:buNone/>
            </a:pPr>
            <a:r>
              <a:rPr lang="zh-CN" altLang="en-US" sz="1900" dirty="0">
                <a:cs typeface="+mn-ea"/>
                <a:sym typeface="+mn-lt"/>
              </a:rPr>
              <a:t>因为得到的</a:t>
            </a:r>
            <a:r>
              <a:rPr lang="en-US" altLang="zh-CN" sz="1900" dirty="0">
                <a:cs typeface="+mn-ea"/>
                <a:sym typeface="+mn-lt"/>
              </a:rPr>
              <a:t>DHT</a:t>
            </a:r>
            <a:r>
              <a:rPr lang="zh-CN" altLang="en-US" sz="1900" dirty="0">
                <a:cs typeface="+mn-ea"/>
                <a:sym typeface="+mn-lt"/>
              </a:rPr>
              <a:t> 变换矩阵</a:t>
            </a:r>
            <a:r>
              <a:rPr lang="en-US" altLang="zh-CN" sz="1900" dirty="0">
                <a:cs typeface="+mn-ea"/>
                <a:sym typeface="+mn-lt"/>
              </a:rPr>
              <a:t>A</a:t>
            </a:r>
            <a:r>
              <a:rPr lang="en-US" altLang="zh-CN" sz="1100" dirty="0">
                <a:cs typeface="+mn-ea"/>
                <a:sym typeface="+mn-lt"/>
              </a:rPr>
              <a:t>my</a:t>
            </a:r>
            <a:r>
              <a:rPr lang="zh-CN" altLang="en-US" sz="1900" dirty="0">
                <a:cs typeface="+mn-ea"/>
                <a:sym typeface="+mn-lt"/>
              </a:rPr>
              <a:t> </a:t>
            </a:r>
            <a:r>
              <a:rPr lang="en-US" altLang="zh-CN" sz="1900" dirty="0">
                <a:cs typeface="+mn-ea"/>
                <a:sym typeface="+mn-lt"/>
              </a:rPr>
              <a:t>(</a:t>
            </a:r>
            <a:r>
              <a:rPr lang="zh-CN" altLang="en-US" sz="1900" dirty="0">
                <a:cs typeface="+mn-ea"/>
                <a:sym typeface="+mn-lt"/>
              </a:rPr>
              <a:t>见图</a:t>
            </a:r>
            <a:r>
              <a:rPr lang="en-US" altLang="zh-CN" sz="1900" dirty="0">
                <a:cs typeface="+mn-ea"/>
                <a:sym typeface="+mn-lt"/>
              </a:rPr>
              <a:t>7.8)</a:t>
            </a:r>
            <a:r>
              <a:rPr lang="zh-CN" altLang="en-US" sz="1900" dirty="0">
                <a:cs typeface="+mn-ea"/>
                <a:sym typeface="+mn-lt"/>
              </a:rPr>
              <a:t>是实的、正交的和对称的， 因此 </a:t>
            </a:r>
            <a:r>
              <a:rPr lang="en-US" altLang="zh-CN" sz="1900" dirty="0">
                <a:cs typeface="+mn-ea"/>
                <a:sym typeface="+mn-lt"/>
              </a:rPr>
              <a:t>,</a:t>
            </a:r>
            <a:r>
              <a:rPr lang="zh-CN" altLang="en-US" sz="1900" dirty="0">
                <a:cs typeface="+mn-ea"/>
                <a:sym typeface="+mn-lt"/>
              </a:rPr>
              <a:t> 并且</a:t>
            </a:r>
            <a:r>
              <a:rPr lang="en-US" altLang="zh-CN" sz="1900" dirty="0">
                <a:cs typeface="+mn-ea"/>
                <a:sym typeface="+mn-lt"/>
              </a:rPr>
              <a:t>A</a:t>
            </a:r>
            <a:r>
              <a:rPr lang="en-US" altLang="zh-CN" sz="1100" dirty="0">
                <a:cs typeface="+mn-ea"/>
                <a:sym typeface="+mn-lt"/>
              </a:rPr>
              <a:t>my</a:t>
            </a:r>
            <a:r>
              <a:rPr lang="zh-CN" altLang="en-US" sz="1900" dirty="0">
                <a:cs typeface="+mn-ea"/>
                <a:sym typeface="+mn-lt"/>
              </a:rPr>
              <a:t>可用于计算正、反变换。</a:t>
            </a:r>
          </a:p>
        </p:txBody>
      </p:sp>
      <p:sp>
        <p:nvSpPr>
          <p:cNvPr id="5" name="Rectangle 5">
            <a:extLst>
              <a:ext uri="{FF2B5EF4-FFF2-40B4-BE49-F238E27FC236}">
                <a16:creationId xmlns:a16="http://schemas.microsoft.com/office/drawing/2014/main" id="{76924954-C736-E81D-CFF0-F136C0E33BB1}"/>
              </a:ext>
            </a:extLst>
          </p:cNvPr>
          <p:cNvSpPr>
            <a:spLocks noChangeArrowheads="1"/>
          </p:cNvSpPr>
          <p:nvPr/>
        </p:nvSpPr>
        <p:spPr bwMode="auto">
          <a:xfrm>
            <a:off x="0" y="35768"/>
            <a:ext cx="106820" cy="38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4283" tIns="61893" rIns="91440" bIns="45720" numCol="1" anchor="ctr" anchorCtr="0" compatLnSpc="1">
            <a:prstTxWarp prst="textNoShape">
              <a:avLst/>
            </a:prstTxWarp>
            <a:spAutoFit/>
          </a:bodyPr>
          <a:lstStyle/>
          <a:p>
            <a:endParaRPr lang="zh-CN" altLang="en-US">
              <a:cs typeface="+mn-ea"/>
              <a:sym typeface="+mn-lt"/>
            </a:endParaRPr>
          </a:p>
        </p:txBody>
      </p:sp>
      <p:sp>
        <p:nvSpPr>
          <p:cNvPr id="6" name="Rectangle 6">
            <a:extLst>
              <a:ext uri="{FF2B5EF4-FFF2-40B4-BE49-F238E27FC236}">
                <a16:creationId xmlns:a16="http://schemas.microsoft.com/office/drawing/2014/main" id="{34D366A3-06A7-DB05-821D-8E9C7F6E6DF3}"/>
              </a:ext>
            </a:extLst>
          </p:cNvPr>
          <p:cNvSpPr>
            <a:spLocks noChangeArrowheads="1"/>
          </p:cNvSpPr>
          <p:nvPr/>
        </p:nvSpPr>
        <p:spPr bwMode="auto">
          <a:xfrm>
            <a:off x="0" y="148953"/>
            <a:ext cx="106820" cy="61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4283" tIns="61893"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500" b="1" i="0" u="none" strike="noStrike" cap="none" normalizeH="0" baseline="0" dirty="0">
              <a:ln>
                <a:noFill/>
              </a:ln>
              <a:solidFill>
                <a:srgbClr val="0064BD"/>
              </a:solidFill>
              <a:effectLst/>
              <a:cs typeface="+mn-ea"/>
              <a:sym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cs typeface="+mn-ea"/>
              <a:sym typeface="+mn-lt"/>
            </a:endParaRPr>
          </a:p>
        </p:txBody>
      </p:sp>
      <p:pic>
        <p:nvPicPr>
          <p:cNvPr id="7" name="图片 6">
            <a:extLst>
              <a:ext uri="{FF2B5EF4-FFF2-40B4-BE49-F238E27FC236}">
                <a16:creationId xmlns:a16="http://schemas.microsoft.com/office/drawing/2014/main" id="{8E1D7679-6A75-3ED0-9595-865BC83DEFCB}"/>
              </a:ext>
            </a:extLst>
          </p:cNvPr>
          <p:cNvPicPr>
            <a:picLocks noChangeAspect="1"/>
          </p:cNvPicPr>
          <p:nvPr/>
        </p:nvPicPr>
        <p:blipFill rotWithShape="1">
          <a:blip r:embed="rId2"/>
          <a:srcRect b="12500"/>
          <a:stretch/>
        </p:blipFill>
        <p:spPr>
          <a:xfrm>
            <a:off x="4146533" y="2908842"/>
            <a:ext cx="3898933" cy="438434"/>
          </a:xfrm>
          <a:prstGeom prst="rect">
            <a:avLst/>
          </a:prstGeom>
        </p:spPr>
      </p:pic>
      <p:pic>
        <p:nvPicPr>
          <p:cNvPr id="9" name="图片 8">
            <a:extLst>
              <a:ext uri="{FF2B5EF4-FFF2-40B4-BE49-F238E27FC236}">
                <a16:creationId xmlns:a16="http://schemas.microsoft.com/office/drawing/2014/main" id="{99CDB30D-3072-F0C9-FF4F-B7AC03CD1E96}"/>
              </a:ext>
            </a:extLst>
          </p:cNvPr>
          <p:cNvPicPr>
            <a:picLocks noChangeAspect="1"/>
          </p:cNvPicPr>
          <p:nvPr/>
        </p:nvPicPr>
        <p:blipFill>
          <a:blip r:embed="rId3"/>
          <a:stretch>
            <a:fillRect/>
          </a:stretch>
        </p:blipFill>
        <p:spPr>
          <a:xfrm>
            <a:off x="4508142" y="3545810"/>
            <a:ext cx="3175714" cy="433052"/>
          </a:xfrm>
          <a:prstGeom prst="rect">
            <a:avLst/>
          </a:prstGeom>
        </p:spPr>
      </p:pic>
      <p:pic>
        <p:nvPicPr>
          <p:cNvPr id="11" name="图片 10">
            <a:extLst>
              <a:ext uri="{FF2B5EF4-FFF2-40B4-BE49-F238E27FC236}">
                <a16:creationId xmlns:a16="http://schemas.microsoft.com/office/drawing/2014/main" id="{34153881-976A-B0D4-64A7-F7D65DEC0935}"/>
              </a:ext>
            </a:extLst>
          </p:cNvPr>
          <p:cNvPicPr>
            <a:picLocks noChangeAspect="1"/>
          </p:cNvPicPr>
          <p:nvPr/>
        </p:nvPicPr>
        <p:blipFill>
          <a:blip r:embed="rId4"/>
          <a:stretch>
            <a:fillRect/>
          </a:stretch>
        </p:blipFill>
        <p:spPr>
          <a:xfrm>
            <a:off x="3741280" y="4601949"/>
            <a:ext cx="4709439" cy="1994276"/>
          </a:xfrm>
          <a:prstGeom prst="rect">
            <a:avLst/>
          </a:prstGeom>
        </p:spPr>
      </p:pic>
      <p:sp>
        <p:nvSpPr>
          <p:cNvPr id="12" name="矩形 11">
            <a:extLst>
              <a:ext uri="{FF2B5EF4-FFF2-40B4-BE49-F238E27FC236}">
                <a16:creationId xmlns:a16="http://schemas.microsoft.com/office/drawing/2014/main" id="{4C3A5E48-8E59-858B-4F25-8E766427FD62}"/>
              </a:ext>
            </a:extLst>
          </p:cNvPr>
          <p:cNvSpPr/>
          <p:nvPr/>
        </p:nvSpPr>
        <p:spPr>
          <a:xfrm>
            <a:off x="801092" y="2446416"/>
            <a:ext cx="10589815" cy="4243141"/>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547587857"/>
      </p:ext>
    </p:extLst>
  </p:cSld>
  <p:clrMapOvr>
    <a:masterClrMapping/>
  </p:clrMapOvr>
  <p:transition spd="slow" advTm="0">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D9FC76-E80A-A740-E049-168486AA78E3}"/>
              </a:ext>
            </a:extLst>
          </p:cNvPr>
          <p:cNvSpPr>
            <a:spLocks noGrp="1"/>
          </p:cNvSpPr>
          <p:nvPr>
            <p:ph type="title"/>
          </p:nvPr>
        </p:nvSpPr>
        <p:spPr/>
        <p:txBody>
          <a:bodyPr/>
          <a:lstStyle/>
          <a:p>
            <a:pPr marR="0" rtl="0"/>
            <a:r>
              <a:rPr lang="zh-CN" altLang="en-US" b="1" i="0" u="none" strike="noStrike" baseline="0">
                <a:solidFill>
                  <a:srgbClr val="0064BD"/>
                </a:solidFill>
                <a:latin typeface="+mn-lt"/>
                <a:ea typeface="+mn-ea"/>
                <a:cs typeface="+mn-ea"/>
                <a:sym typeface="+mn-lt"/>
              </a:rPr>
              <a:t>离散余弦变换</a:t>
            </a:r>
          </a:p>
        </p:txBody>
      </p:sp>
      <p:sp>
        <p:nvSpPr>
          <p:cNvPr id="3" name="文本占位符 2">
            <a:extLst>
              <a:ext uri="{FF2B5EF4-FFF2-40B4-BE49-F238E27FC236}">
                <a16:creationId xmlns:a16="http://schemas.microsoft.com/office/drawing/2014/main" id="{1D24CF96-7A53-4E0C-B55A-3617DC27B72F}"/>
              </a:ext>
            </a:extLst>
          </p:cNvPr>
          <p:cNvSpPr>
            <a:spLocks noGrp="1"/>
          </p:cNvSpPr>
          <p:nvPr>
            <p:ph sz="quarter" idx="12"/>
          </p:nvPr>
        </p:nvSpPr>
        <p:spPr/>
        <p:txBody>
          <a:bodyPr>
            <a:normAutofit/>
          </a:bodyPr>
          <a:lstStyle/>
          <a:p>
            <a:pPr marL="0" indent="0">
              <a:buNone/>
            </a:pPr>
            <a:r>
              <a:rPr lang="zh-CN" altLang="en-US" sz="1900" dirty="0">
                <a:cs typeface="+mn-ea"/>
                <a:sym typeface="+mn-lt"/>
              </a:rPr>
              <a:t>最常见离散余弦变换</a:t>
            </a:r>
            <a:r>
              <a:rPr lang="en-US" altLang="zh-CN" sz="1900" dirty="0">
                <a:cs typeface="+mn-ea"/>
                <a:sym typeface="+mn-lt"/>
              </a:rPr>
              <a:t>(DCT)</a:t>
            </a:r>
            <a:r>
              <a:rPr lang="zh-CN" altLang="en-US" sz="1900" dirty="0">
                <a:cs typeface="+mn-ea"/>
                <a:sym typeface="+mn-lt"/>
              </a:rPr>
              <a:t>的变换矩阵，是通过将如下反变换核代入式</a:t>
            </a:r>
            <a:r>
              <a:rPr lang="en-US" altLang="zh-CN" sz="1900" dirty="0">
                <a:cs typeface="+mn-ea"/>
                <a:sym typeface="+mn-lt"/>
              </a:rPr>
              <a:t>(7.22)</a:t>
            </a:r>
            <a:r>
              <a:rPr lang="zh-CN" altLang="en-US" sz="1900" dirty="0">
                <a:cs typeface="+mn-ea"/>
                <a:sym typeface="+mn-lt"/>
              </a:rPr>
              <a:t>和式</a:t>
            </a:r>
            <a:r>
              <a:rPr lang="en-US" altLang="zh-CN" sz="1900" dirty="0">
                <a:cs typeface="+mn-ea"/>
                <a:sym typeface="+mn-lt"/>
              </a:rPr>
              <a:t>(7.24)</a:t>
            </a:r>
            <a:r>
              <a:rPr lang="zh-CN" altLang="en-US" sz="1900" dirty="0">
                <a:cs typeface="+mn-ea"/>
                <a:sym typeface="+mn-lt"/>
              </a:rPr>
              <a:t>得到的：</a:t>
            </a:r>
          </a:p>
          <a:p>
            <a:pPr marL="0" indent="0">
              <a:buNone/>
            </a:pPr>
            <a:endParaRPr lang="en-US" altLang="zh-CN" sz="1900" dirty="0">
              <a:cs typeface="+mn-ea"/>
              <a:sym typeface="+mn-lt"/>
            </a:endParaRPr>
          </a:p>
          <a:p>
            <a:pPr marL="0" indent="0">
              <a:buNone/>
            </a:pPr>
            <a:endParaRPr lang="en-US" altLang="zh-CN" sz="1900" dirty="0">
              <a:cs typeface="+mn-ea"/>
              <a:sym typeface="+mn-lt"/>
            </a:endParaRPr>
          </a:p>
          <a:p>
            <a:pPr marL="0" indent="0">
              <a:buNone/>
            </a:pPr>
            <a:r>
              <a:rPr lang="zh-CN" altLang="en-US" sz="1900" dirty="0">
                <a:cs typeface="+mn-ea"/>
                <a:sym typeface="+mn-lt"/>
              </a:rPr>
              <a:t>式中</a:t>
            </a:r>
          </a:p>
        </p:txBody>
      </p:sp>
      <p:pic>
        <p:nvPicPr>
          <p:cNvPr id="5" name="图片 4">
            <a:extLst>
              <a:ext uri="{FF2B5EF4-FFF2-40B4-BE49-F238E27FC236}">
                <a16:creationId xmlns:a16="http://schemas.microsoft.com/office/drawing/2014/main" id="{59BFD31C-A911-755A-85C8-2B40152A4E6F}"/>
              </a:ext>
            </a:extLst>
          </p:cNvPr>
          <p:cNvPicPr>
            <a:picLocks noChangeAspect="1"/>
          </p:cNvPicPr>
          <p:nvPr/>
        </p:nvPicPr>
        <p:blipFill>
          <a:blip r:embed="rId2"/>
          <a:stretch>
            <a:fillRect/>
          </a:stretch>
        </p:blipFill>
        <p:spPr>
          <a:xfrm>
            <a:off x="4316202" y="3086099"/>
            <a:ext cx="3559595" cy="956309"/>
          </a:xfrm>
          <a:prstGeom prst="rect">
            <a:avLst/>
          </a:prstGeom>
        </p:spPr>
      </p:pic>
      <p:pic>
        <p:nvPicPr>
          <p:cNvPr id="7" name="图片 6">
            <a:extLst>
              <a:ext uri="{FF2B5EF4-FFF2-40B4-BE49-F238E27FC236}">
                <a16:creationId xmlns:a16="http://schemas.microsoft.com/office/drawing/2014/main" id="{5480EE74-F27B-D314-3DAA-9E60FACC000F}"/>
              </a:ext>
            </a:extLst>
          </p:cNvPr>
          <p:cNvPicPr>
            <a:picLocks noChangeAspect="1"/>
          </p:cNvPicPr>
          <p:nvPr/>
        </p:nvPicPr>
        <p:blipFill>
          <a:blip r:embed="rId3"/>
          <a:stretch>
            <a:fillRect/>
          </a:stretch>
        </p:blipFill>
        <p:spPr>
          <a:xfrm>
            <a:off x="4164506" y="4824070"/>
            <a:ext cx="3862985" cy="956309"/>
          </a:xfrm>
          <a:prstGeom prst="rect">
            <a:avLst/>
          </a:prstGeom>
        </p:spPr>
      </p:pic>
    </p:spTree>
    <p:extLst>
      <p:ext uri="{BB962C8B-B14F-4D97-AF65-F5344CB8AC3E}">
        <p14:creationId xmlns:p14="http://schemas.microsoft.com/office/powerpoint/2010/main" val="270439434"/>
      </p:ext>
    </p:extLst>
  </p:cSld>
  <p:clrMapOvr>
    <a:masterClrMapping/>
  </p:clrMapOvr>
  <p:transition spd="slow" advTm="0">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2267CD-09BA-056A-E4AA-522FE96B2386}"/>
              </a:ext>
            </a:extLst>
          </p:cNvPr>
          <p:cNvSpPr>
            <a:spLocks noGrp="1"/>
          </p:cNvSpPr>
          <p:nvPr>
            <p:ph type="title"/>
          </p:nvPr>
        </p:nvSpPr>
        <p:spPr/>
        <p:txBody>
          <a:bodyPr/>
          <a:lstStyle/>
          <a:p>
            <a:pPr marR="0" rtl="0"/>
            <a:r>
              <a:rPr lang="zh-CN" altLang="en-US" b="1" i="0" u="none" strike="noStrike" baseline="0">
                <a:solidFill>
                  <a:srgbClr val="0064BD"/>
                </a:solidFill>
                <a:latin typeface="+mn-lt"/>
                <a:ea typeface="+mn-ea"/>
                <a:cs typeface="+mn-ea"/>
                <a:sym typeface="+mn-lt"/>
              </a:rPr>
              <a:t>离散正弦变换</a:t>
            </a:r>
          </a:p>
        </p:txBody>
      </p:sp>
      <p:sp>
        <p:nvSpPr>
          <p:cNvPr id="3" name="文本占位符 2">
            <a:extLst>
              <a:ext uri="{FF2B5EF4-FFF2-40B4-BE49-F238E27FC236}">
                <a16:creationId xmlns:a16="http://schemas.microsoft.com/office/drawing/2014/main" id="{B0FAB2B6-1278-6824-BD36-B19084EA9C69}"/>
              </a:ext>
            </a:extLst>
          </p:cNvPr>
          <p:cNvSpPr>
            <a:spLocks noGrp="1"/>
          </p:cNvSpPr>
          <p:nvPr>
            <p:ph sz="quarter" idx="11"/>
          </p:nvPr>
        </p:nvSpPr>
        <p:spPr/>
        <p:txBody>
          <a:bodyPr>
            <a:normAutofit/>
          </a:bodyPr>
          <a:lstStyle/>
          <a:p>
            <a:pPr marL="0" indent="0">
              <a:buNone/>
            </a:pPr>
            <a:r>
              <a:rPr lang="zh-CN" altLang="en-US" sz="1900" dirty="0">
                <a:cs typeface="+mn-ea"/>
                <a:sym typeface="+mn-lt"/>
              </a:rPr>
              <a:t>离散正弦变换 </a:t>
            </a:r>
            <a:r>
              <a:rPr lang="en-US" altLang="zh-CN" sz="1900" dirty="0">
                <a:cs typeface="+mn-ea"/>
                <a:sym typeface="+mn-lt"/>
              </a:rPr>
              <a:t>(DST)</a:t>
            </a:r>
            <a:r>
              <a:rPr lang="zh-CN" altLang="en-US" sz="1900" dirty="0">
                <a:cs typeface="+mn-ea"/>
                <a:sym typeface="+mn-lt"/>
              </a:rPr>
              <a:t> 的变换矩阵是通过将如下反变换核代入式</a:t>
            </a:r>
            <a:r>
              <a:rPr lang="en-US" altLang="zh-CN" sz="1900" dirty="0">
                <a:cs typeface="+mn-ea"/>
                <a:sym typeface="+mn-lt"/>
              </a:rPr>
              <a:t>(7.22)</a:t>
            </a:r>
            <a:r>
              <a:rPr lang="zh-CN" altLang="en-US" sz="1900" dirty="0">
                <a:cs typeface="+mn-ea"/>
                <a:sym typeface="+mn-lt"/>
              </a:rPr>
              <a:t>和式</a:t>
            </a:r>
            <a:r>
              <a:rPr lang="en-US" altLang="zh-CN" sz="1900" dirty="0">
                <a:cs typeface="+mn-ea"/>
                <a:sym typeface="+mn-lt"/>
              </a:rPr>
              <a:t>(7.24)</a:t>
            </a:r>
            <a:r>
              <a:rPr lang="zh-CN" altLang="en-US" sz="1900" dirty="0">
                <a:cs typeface="+mn-ea"/>
                <a:sym typeface="+mn-lt"/>
              </a:rPr>
              <a:t>得到的：</a:t>
            </a:r>
          </a:p>
          <a:p>
            <a:pPr marL="0" indent="0">
              <a:buNone/>
            </a:pPr>
            <a:endParaRPr lang="en-US" altLang="zh-CN" sz="1900" dirty="0">
              <a:cs typeface="+mn-ea"/>
              <a:sym typeface="+mn-lt"/>
            </a:endParaRPr>
          </a:p>
          <a:p>
            <a:pPr marL="0" indent="0">
              <a:buNone/>
            </a:pPr>
            <a:r>
              <a:rPr lang="zh-CN" altLang="en-US" sz="1900" dirty="0">
                <a:cs typeface="+mn-ea"/>
                <a:sym typeface="+mn-lt"/>
              </a:rPr>
              <a:t>其可分离的二维公式是</a:t>
            </a:r>
          </a:p>
          <a:p>
            <a:pPr marL="0" indent="0">
              <a:buNone/>
            </a:pPr>
            <a:r>
              <a:rPr lang="zh-CN" altLang="en-US" sz="1900" dirty="0">
                <a:cs typeface="+mn-ea"/>
                <a:sym typeface="+mn-lt"/>
              </a:rPr>
              <a:t>图</a:t>
            </a:r>
            <a:r>
              <a:rPr lang="en-US" altLang="zh-CN" sz="1900" dirty="0">
                <a:cs typeface="+mn-ea"/>
                <a:sym typeface="+mn-lt"/>
              </a:rPr>
              <a:t>7.13</a:t>
            </a:r>
            <a:r>
              <a:rPr lang="zh-CN" altLang="en-US" sz="1900" dirty="0">
                <a:cs typeface="+mn-ea"/>
                <a:sym typeface="+mn-lt"/>
              </a:rPr>
              <a:t> 中以</a:t>
            </a:r>
            <a:r>
              <a:rPr lang="en-US" altLang="zh-CN" sz="1900" dirty="0">
                <a:cs typeface="+mn-ea"/>
                <a:sym typeface="+mn-lt"/>
              </a:rPr>
              <a:t>A,</a:t>
            </a:r>
            <a:r>
              <a:rPr lang="zh-CN" altLang="en-US" sz="1900" dirty="0">
                <a:cs typeface="+mn-ea"/>
                <a:sym typeface="+mn-lt"/>
              </a:rPr>
              <a:t>表示的变换矩阵是实的、正交的和对称的。</a:t>
            </a:r>
          </a:p>
        </p:txBody>
      </p:sp>
      <p:pic>
        <p:nvPicPr>
          <p:cNvPr id="5" name="图片 4">
            <a:extLst>
              <a:ext uri="{FF2B5EF4-FFF2-40B4-BE49-F238E27FC236}">
                <a16:creationId xmlns:a16="http://schemas.microsoft.com/office/drawing/2014/main" id="{B8814CC2-0BC6-25DD-3DE4-5914CDB1A97C}"/>
              </a:ext>
            </a:extLst>
          </p:cNvPr>
          <p:cNvPicPr>
            <a:picLocks noChangeAspect="1"/>
          </p:cNvPicPr>
          <p:nvPr/>
        </p:nvPicPr>
        <p:blipFill>
          <a:blip r:embed="rId2"/>
          <a:stretch>
            <a:fillRect/>
          </a:stretch>
        </p:blipFill>
        <p:spPr>
          <a:xfrm>
            <a:off x="4716448" y="2958184"/>
            <a:ext cx="2759104" cy="550226"/>
          </a:xfrm>
          <a:prstGeom prst="rect">
            <a:avLst/>
          </a:prstGeom>
        </p:spPr>
      </p:pic>
      <p:pic>
        <p:nvPicPr>
          <p:cNvPr id="7" name="图片 6">
            <a:extLst>
              <a:ext uri="{FF2B5EF4-FFF2-40B4-BE49-F238E27FC236}">
                <a16:creationId xmlns:a16="http://schemas.microsoft.com/office/drawing/2014/main" id="{74BB4CCB-001A-3F21-A303-191B7379BDBC}"/>
              </a:ext>
            </a:extLst>
          </p:cNvPr>
          <p:cNvPicPr>
            <a:picLocks noChangeAspect="1"/>
          </p:cNvPicPr>
          <p:nvPr/>
        </p:nvPicPr>
        <p:blipFill>
          <a:blip r:embed="rId3"/>
          <a:stretch>
            <a:fillRect/>
          </a:stretch>
        </p:blipFill>
        <p:spPr>
          <a:xfrm>
            <a:off x="3333599" y="3598452"/>
            <a:ext cx="4251109" cy="503770"/>
          </a:xfrm>
          <a:prstGeom prst="rect">
            <a:avLst/>
          </a:prstGeom>
        </p:spPr>
      </p:pic>
      <p:pic>
        <p:nvPicPr>
          <p:cNvPr id="9" name="图片 8">
            <a:extLst>
              <a:ext uri="{FF2B5EF4-FFF2-40B4-BE49-F238E27FC236}">
                <a16:creationId xmlns:a16="http://schemas.microsoft.com/office/drawing/2014/main" id="{E64C23DB-82A8-B0AA-A160-7377BB81679E}"/>
              </a:ext>
            </a:extLst>
          </p:cNvPr>
          <p:cNvPicPr>
            <a:picLocks noChangeAspect="1"/>
          </p:cNvPicPr>
          <p:nvPr/>
        </p:nvPicPr>
        <p:blipFill>
          <a:blip r:embed="rId4"/>
          <a:stretch>
            <a:fillRect/>
          </a:stretch>
        </p:blipFill>
        <p:spPr>
          <a:xfrm>
            <a:off x="3740090" y="4660445"/>
            <a:ext cx="4711818" cy="2038561"/>
          </a:xfrm>
          <a:prstGeom prst="rect">
            <a:avLst/>
          </a:prstGeom>
        </p:spPr>
      </p:pic>
      <p:sp>
        <p:nvSpPr>
          <p:cNvPr id="10" name="矩形 9">
            <a:extLst>
              <a:ext uri="{FF2B5EF4-FFF2-40B4-BE49-F238E27FC236}">
                <a16:creationId xmlns:a16="http://schemas.microsoft.com/office/drawing/2014/main" id="{4173D98C-AEF6-F66E-EA71-FAA855C3BA2F}"/>
              </a:ext>
            </a:extLst>
          </p:cNvPr>
          <p:cNvSpPr/>
          <p:nvPr/>
        </p:nvSpPr>
        <p:spPr>
          <a:xfrm>
            <a:off x="801092" y="2446417"/>
            <a:ext cx="10589815" cy="2148642"/>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254746645"/>
      </p:ext>
    </p:extLst>
  </p:cSld>
  <p:clrMapOvr>
    <a:masterClrMapping/>
  </p:clrMapOvr>
  <p:transition spd="slow" advTm="0">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07</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cs typeface="+mn-ea"/>
                  <a:sym typeface="+mn-lt"/>
                </a:rPr>
                <a:t>沃尔什</a:t>
              </a:r>
              <a:r>
                <a:rPr lang="en-US" altLang="zh-CN" sz="4400" b="1" dirty="0">
                  <a:solidFill>
                    <a:srgbClr val="0065C4"/>
                  </a:solidFill>
                  <a:cs typeface="+mn-ea"/>
                  <a:sym typeface="+mn-lt"/>
                </a:rPr>
                <a:t>-</a:t>
              </a:r>
              <a:r>
                <a:rPr lang="zh-CN" altLang="en-US" sz="4400" b="1" dirty="0">
                  <a:solidFill>
                    <a:srgbClr val="0065C4"/>
                  </a:solidFill>
                  <a:cs typeface="+mn-ea"/>
                  <a:sym typeface="+mn-lt"/>
                </a:rPr>
                <a:t>哈达玛变换</a:t>
              </a:r>
            </a:p>
          </p:txBody>
        </p:sp>
      </p:grpSp>
    </p:spTree>
    <p:extLst>
      <p:ext uri="{BB962C8B-B14F-4D97-AF65-F5344CB8AC3E}">
        <p14:creationId xmlns:p14="http://schemas.microsoft.com/office/powerpoint/2010/main" val="270389422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655305-1B0D-6B03-E718-809B00EF44FE}"/>
              </a:ext>
            </a:extLst>
          </p:cNvPr>
          <p:cNvSpPr>
            <a:spLocks noGrp="1"/>
          </p:cNvSpPr>
          <p:nvPr>
            <p:ph type="title"/>
          </p:nvPr>
        </p:nvSpPr>
        <p:spPr/>
        <p:txBody>
          <a:bodyPr/>
          <a:lstStyle/>
          <a:p>
            <a:pPr marR="0" rtl="0"/>
            <a:r>
              <a:rPr lang="zh-CN" altLang="en-US" b="1" i="0" u="none" strike="noStrike" baseline="0" dirty="0">
                <a:solidFill>
                  <a:srgbClr val="0064BD"/>
                </a:solidFill>
                <a:latin typeface="+mn-lt"/>
                <a:ea typeface="+mn-ea"/>
                <a:cs typeface="+mn-ea"/>
                <a:sym typeface="+mn-lt"/>
              </a:rPr>
              <a:t>变换</a:t>
            </a:r>
          </a:p>
        </p:txBody>
      </p:sp>
      <p:sp>
        <p:nvSpPr>
          <p:cNvPr id="3" name="文本占位符 2">
            <a:extLst>
              <a:ext uri="{FF2B5EF4-FFF2-40B4-BE49-F238E27FC236}">
                <a16:creationId xmlns:a16="http://schemas.microsoft.com/office/drawing/2014/main" id="{76C3E9B5-4086-1D78-4F8B-3312DAA36391}"/>
              </a:ext>
            </a:extLst>
          </p:cNvPr>
          <p:cNvSpPr>
            <a:spLocks noGrp="1"/>
          </p:cNvSpPr>
          <p:nvPr>
            <p:ph sz="quarter" idx="12"/>
          </p:nvPr>
        </p:nvSpPr>
        <p:spPr/>
        <p:txBody>
          <a:bodyPr/>
          <a:lstStyle/>
          <a:p>
            <a:pPr marL="0" indent="0">
              <a:buNone/>
            </a:pPr>
            <a:r>
              <a:rPr lang="zh-CN" altLang="en-US" sz="1900" dirty="0">
                <a:cs typeface="+mn-ea"/>
                <a:sym typeface="+mn-lt"/>
              </a:rPr>
              <a:t>沃尔什</a:t>
            </a:r>
            <a:r>
              <a:rPr lang="en-US" altLang="zh-CN" sz="1900" dirty="0">
                <a:cs typeface="+mn-ea"/>
                <a:sym typeface="+mn-lt"/>
              </a:rPr>
              <a:t>-</a:t>
            </a:r>
            <a:r>
              <a:rPr lang="zh-CN" altLang="en-US" sz="1900" dirty="0">
                <a:cs typeface="+mn-ea"/>
                <a:sym typeface="+mn-lt"/>
              </a:rPr>
              <a:t>哈达玛变换</a:t>
            </a:r>
            <a:r>
              <a:rPr lang="en-US" altLang="zh-CN" sz="1900" dirty="0">
                <a:cs typeface="+mn-ea"/>
                <a:sym typeface="+mn-lt"/>
              </a:rPr>
              <a:t>(WHT)</a:t>
            </a:r>
            <a:r>
              <a:rPr lang="zh-CN" altLang="en-US" sz="1900" dirty="0">
                <a:cs typeface="+mn-ea"/>
                <a:sym typeface="+mn-lt"/>
              </a:rPr>
              <a:t>  是非正弦变换，它将函数分解为矩形基函数</a:t>
            </a:r>
            <a:r>
              <a:rPr lang="en-US" altLang="zh-CN" sz="1900" dirty="0">
                <a:cs typeface="+mn-ea"/>
                <a:sym typeface="+mn-lt"/>
              </a:rPr>
              <a:t>(</a:t>
            </a:r>
            <a:r>
              <a:rPr lang="zh-CN" altLang="en-US" sz="1900" dirty="0">
                <a:cs typeface="+mn-ea"/>
                <a:sym typeface="+mn-lt"/>
              </a:rPr>
              <a:t>值为</a:t>
            </a:r>
            <a:r>
              <a:rPr lang="en-US" altLang="zh-CN" sz="1900" dirty="0">
                <a:cs typeface="+mn-ea"/>
                <a:sym typeface="+mn-lt"/>
              </a:rPr>
              <a:t>+1</a:t>
            </a:r>
            <a:r>
              <a:rPr lang="zh-CN" altLang="en-US" sz="1900" dirty="0">
                <a:cs typeface="+mn-ea"/>
                <a:sym typeface="+mn-lt"/>
              </a:rPr>
              <a:t>和</a:t>
            </a:r>
            <a:r>
              <a:rPr lang="en-US" altLang="zh-CN" sz="1900" dirty="0">
                <a:cs typeface="+mn-ea"/>
                <a:sym typeface="+mn-lt"/>
              </a:rPr>
              <a:t>-1,</a:t>
            </a:r>
            <a:r>
              <a:rPr lang="zh-CN" altLang="en-US" sz="1900" dirty="0">
                <a:cs typeface="+mn-ea"/>
                <a:sym typeface="+mn-lt"/>
              </a:rPr>
              <a:t>称为沃尔什函数</a:t>
            </a:r>
            <a:r>
              <a:rPr lang="en-US" altLang="zh-CN" sz="1900" dirty="0">
                <a:cs typeface="+mn-ea"/>
                <a:sym typeface="+mn-lt"/>
              </a:rPr>
              <a:t>)</a:t>
            </a:r>
            <a:r>
              <a:rPr lang="zh-CN" altLang="en-US" sz="1900" dirty="0">
                <a:cs typeface="+mn-ea"/>
                <a:sym typeface="+mn-lt"/>
              </a:rPr>
              <a:t>的线性组合。沃尔什</a:t>
            </a:r>
            <a:r>
              <a:rPr lang="en-US" altLang="zh-CN" sz="1900" dirty="0">
                <a:cs typeface="+mn-ea"/>
                <a:sym typeface="+mn-lt"/>
              </a:rPr>
              <a:t>-</a:t>
            </a:r>
            <a:r>
              <a:rPr lang="zh-CN" altLang="en-US" sz="1900" dirty="0">
                <a:cs typeface="+mn-ea"/>
                <a:sym typeface="+mn-lt"/>
              </a:rPr>
              <a:t>哈达玛变换矩阵中基函数的排序决定正在计算的变换的变体。对于哈达玛排序 </a:t>
            </a:r>
            <a:r>
              <a:rPr lang="en-US" altLang="zh-CN" sz="1900" dirty="0">
                <a:cs typeface="+mn-ea"/>
                <a:sym typeface="+mn-lt"/>
              </a:rPr>
              <a:t>(</a:t>
            </a:r>
            <a:r>
              <a:rPr lang="zh-CN" altLang="en-US" sz="1900" dirty="0">
                <a:cs typeface="+mn-ea"/>
                <a:sym typeface="+mn-lt"/>
              </a:rPr>
              <a:t>也称自然排序</a:t>
            </a:r>
            <a:r>
              <a:rPr lang="en-US" altLang="zh-CN" sz="1900" dirty="0">
                <a:cs typeface="+mn-ea"/>
                <a:sym typeface="+mn-lt"/>
              </a:rPr>
              <a:t>),</a:t>
            </a:r>
            <a:r>
              <a:rPr lang="zh-CN" altLang="en-US" sz="1900" dirty="0">
                <a:cs typeface="+mn-ea"/>
                <a:sym typeface="+mn-lt"/>
              </a:rPr>
              <a:t>变换矩阵是将如下反变换核代入式</a:t>
            </a:r>
            <a:r>
              <a:rPr lang="en-US" altLang="zh-CN" sz="1900" dirty="0">
                <a:cs typeface="+mn-ea"/>
                <a:sym typeface="+mn-lt"/>
              </a:rPr>
              <a:t>(7.22)</a:t>
            </a:r>
            <a:r>
              <a:rPr lang="zh-CN" altLang="en-US" sz="1900" dirty="0">
                <a:cs typeface="+mn-ea"/>
                <a:sym typeface="+mn-lt"/>
              </a:rPr>
              <a:t>和式</a:t>
            </a:r>
            <a:r>
              <a:rPr lang="en-US" altLang="zh-CN" sz="1900" dirty="0">
                <a:cs typeface="+mn-ea"/>
                <a:sym typeface="+mn-lt"/>
              </a:rPr>
              <a:t>(7.24)</a:t>
            </a:r>
            <a:r>
              <a:rPr lang="zh-CN" altLang="en-US" sz="1900" dirty="0">
                <a:cs typeface="+mn-ea"/>
                <a:sym typeface="+mn-lt"/>
              </a:rPr>
              <a:t> 得到的：</a:t>
            </a:r>
          </a:p>
        </p:txBody>
      </p:sp>
      <p:pic>
        <p:nvPicPr>
          <p:cNvPr id="5" name="图片 4">
            <a:extLst>
              <a:ext uri="{FF2B5EF4-FFF2-40B4-BE49-F238E27FC236}">
                <a16:creationId xmlns:a16="http://schemas.microsoft.com/office/drawing/2014/main" id="{062C8140-FB7D-CE81-FFBF-BE415FD14F21}"/>
              </a:ext>
            </a:extLst>
          </p:cNvPr>
          <p:cNvPicPr>
            <a:picLocks noChangeAspect="1"/>
          </p:cNvPicPr>
          <p:nvPr/>
        </p:nvPicPr>
        <p:blipFill>
          <a:blip r:embed="rId2"/>
          <a:stretch>
            <a:fillRect/>
          </a:stretch>
        </p:blipFill>
        <p:spPr>
          <a:xfrm>
            <a:off x="4748211" y="4045439"/>
            <a:ext cx="2695575" cy="800100"/>
          </a:xfrm>
          <a:prstGeom prst="rect">
            <a:avLst/>
          </a:prstGeom>
        </p:spPr>
      </p:pic>
    </p:spTree>
    <p:extLst>
      <p:ext uri="{BB962C8B-B14F-4D97-AF65-F5344CB8AC3E}">
        <p14:creationId xmlns:p14="http://schemas.microsoft.com/office/powerpoint/2010/main" val="3081274972"/>
      </p:ext>
    </p:extLst>
  </p:cSld>
  <p:clrMapOvr>
    <a:masterClrMapping/>
  </p:clrMapOvr>
  <p:transition spd="slow" advTm="0">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08</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cs typeface="+mn-ea"/>
                  <a:sym typeface="+mn-lt"/>
                </a:rPr>
                <a:t>斜变换</a:t>
              </a:r>
            </a:p>
          </p:txBody>
        </p:sp>
      </p:grpSp>
    </p:spTree>
    <p:extLst>
      <p:ext uri="{BB962C8B-B14F-4D97-AF65-F5344CB8AC3E}">
        <p14:creationId xmlns:p14="http://schemas.microsoft.com/office/powerpoint/2010/main" val="60841105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D1A26-00DA-0ADA-A3D8-2E12BBEB4A30}"/>
              </a:ext>
            </a:extLst>
          </p:cNvPr>
          <p:cNvSpPr>
            <a:spLocks noGrp="1"/>
          </p:cNvSpPr>
          <p:nvPr>
            <p:ph type="title"/>
          </p:nvPr>
        </p:nvSpPr>
        <p:spPr/>
        <p:txBody>
          <a:bodyPr/>
          <a:lstStyle/>
          <a:p>
            <a:pPr marR="0" rtl="0"/>
            <a:r>
              <a:rPr lang="zh-CN" altLang="en-US" b="1" dirty="0">
                <a:solidFill>
                  <a:srgbClr val="0064BD"/>
                </a:solidFill>
                <a:latin typeface="+mn-lt"/>
                <a:ea typeface="+mn-ea"/>
                <a:cs typeface="+mn-ea"/>
                <a:sym typeface="+mn-lt"/>
              </a:rPr>
              <a:t>概述</a:t>
            </a:r>
            <a:endParaRPr lang="zh-CN" altLang="en-US" b="1" i="0" u="none" strike="noStrike" baseline="0" dirty="0">
              <a:solidFill>
                <a:srgbClr val="0064BD"/>
              </a:solidFill>
              <a:latin typeface="+mn-lt"/>
              <a:ea typeface="+mn-ea"/>
              <a:cs typeface="+mn-ea"/>
              <a:sym typeface="+mn-lt"/>
            </a:endParaRPr>
          </a:p>
        </p:txBody>
      </p:sp>
      <p:sp>
        <p:nvSpPr>
          <p:cNvPr id="3" name="文本占位符 2">
            <a:extLst>
              <a:ext uri="{FF2B5EF4-FFF2-40B4-BE49-F238E27FC236}">
                <a16:creationId xmlns:a16="http://schemas.microsoft.com/office/drawing/2014/main" id="{7AD9C96B-E835-485E-1A8B-0CE6E972D3A7}"/>
              </a:ext>
            </a:extLst>
          </p:cNvPr>
          <p:cNvSpPr>
            <a:spLocks noGrp="1"/>
          </p:cNvSpPr>
          <p:nvPr>
            <p:ph sz="quarter" idx="12"/>
          </p:nvPr>
        </p:nvSpPr>
        <p:spPr/>
        <p:txBody>
          <a:bodyPr/>
          <a:lstStyle/>
          <a:p>
            <a:pPr marL="0" indent="0">
              <a:buNone/>
            </a:pPr>
            <a:r>
              <a:rPr lang="zh-CN" altLang="en-US" sz="1900" dirty="0">
                <a:cs typeface="+mn-ea"/>
                <a:sym typeface="+mn-lt"/>
              </a:rPr>
              <a:t>许多单色图像具有大面积灰度均匀的区域和灰度线性增大或减小的区域。除离散正弦变换外，我们给出的所有变换都包含一个基向量</a:t>
            </a:r>
            <a:r>
              <a:rPr lang="en-US" altLang="zh-CN" sz="1900" dirty="0">
                <a:cs typeface="+mn-ea"/>
                <a:sym typeface="+mn-lt"/>
              </a:rPr>
              <a:t>(</a:t>
            </a:r>
            <a:r>
              <a:rPr lang="zh-CN" altLang="en-US" sz="1900" dirty="0">
                <a:cs typeface="+mn-ea"/>
                <a:sym typeface="+mn-lt"/>
              </a:rPr>
              <a:t>在频率或列率</a:t>
            </a:r>
            <a:r>
              <a:rPr lang="en-US" altLang="zh-CN" sz="1900" dirty="0">
                <a:cs typeface="+mn-ea"/>
                <a:sym typeface="+mn-lt"/>
              </a:rPr>
              <a:t>u=0</a:t>
            </a:r>
            <a:r>
              <a:rPr lang="zh-CN" altLang="en-US" sz="1900" dirty="0">
                <a:cs typeface="+mn-ea"/>
                <a:sym typeface="+mn-lt"/>
              </a:rPr>
              <a:t> 处</a:t>
            </a:r>
            <a:r>
              <a:rPr lang="en-US" altLang="zh-CN" sz="1900" dirty="0">
                <a:cs typeface="+mn-ea"/>
                <a:sym typeface="+mn-lt"/>
              </a:rPr>
              <a:t>),</a:t>
            </a:r>
            <a:r>
              <a:rPr lang="zh-CN" altLang="en-US" sz="1900" dirty="0">
                <a:cs typeface="+mn-ea"/>
                <a:sym typeface="+mn-lt"/>
              </a:rPr>
              <a:t>用于有效地表示恒定灰度区域，但没有一个基函数专门用于表示线性增大或减小的灰度值。本节考虑的变换称为斜变换，它包括这样的一个基函数。</a:t>
            </a:r>
            <a:r>
              <a:rPr lang="en-US" altLang="zh-CN" sz="1900" dirty="0" err="1">
                <a:cs typeface="+mn-ea"/>
                <a:sym typeface="+mn-lt"/>
              </a:rPr>
              <a:t>NxN</a:t>
            </a:r>
            <a:r>
              <a:rPr lang="zh-CN" altLang="en-US" sz="1900" dirty="0">
                <a:cs typeface="+mn-ea"/>
                <a:sym typeface="+mn-lt"/>
              </a:rPr>
              <a:t> 阶斜变换的变换矩阵</a:t>
            </a:r>
            <a:r>
              <a:rPr lang="en-US" altLang="zh-CN" sz="1900" dirty="0">
                <a:cs typeface="+mn-ea"/>
                <a:sym typeface="+mn-lt"/>
              </a:rPr>
              <a:t>(</a:t>
            </a:r>
            <a:r>
              <a:rPr lang="zh-CN" altLang="en-US" sz="1900" dirty="0">
                <a:cs typeface="+mn-ea"/>
                <a:sym typeface="+mn-lt"/>
              </a:rPr>
              <a:t>其中</a:t>
            </a:r>
            <a:r>
              <a:rPr lang="en-US" altLang="zh-CN" sz="1900" dirty="0">
                <a:cs typeface="+mn-ea"/>
                <a:sym typeface="+mn-lt"/>
              </a:rPr>
              <a:t>N=2")</a:t>
            </a:r>
            <a:r>
              <a:rPr lang="zh-CN" altLang="en-US" sz="1900" dirty="0">
                <a:cs typeface="+mn-ea"/>
                <a:sym typeface="+mn-lt"/>
              </a:rPr>
              <a:t>是用下式递归生成的：</a:t>
            </a:r>
          </a:p>
        </p:txBody>
      </p:sp>
      <p:pic>
        <p:nvPicPr>
          <p:cNvPr id="5" name="图片 4">
            <a:extLst>
              <a:ext uri="{FF2B5EF4-FFF2-40B4-BE49-F238E27FC236}">
                <a16:creationId xmlns:a16="http://schemas.microsoft.com/office/drawing/2014/main" id="{D14FFB2C-F7AC-B83C-30F5-E16B63C72C33}"/>
              </a:ext>
            </a:extLst>
          </p:cNvPr>
          <p:cNvPicPr>
            <a:picLocks noChangeAspect="1"/>
          </p:cNvPicPr>
          <p:nvPr/>
        </p:nvPicPr>
        <p:blipFill>
          <a:blip r:embed="rId2"/>
          <a:stretch>
            <a:fillRect/>
          </a:stretch>
        </p:blipFill>
        <p:spPr>
          <a:xfrm>
            <a:off x="3942521" y="4320376"/>
            <a:ext cx="4306955" cy="1926317"/>
          </a:xfrm>
          <a:prstGeom prst="rect">
            <a:avLst/>
          </a:prstGeom>
        </p:spPr>
      </p:pic>
    </p:spTree>
    <p:extLst>
      <p:ext uri="{BB962C8B-B14F-4D97-AF65-F5344CB8AC3E}">
        <p14:creationId xmlns:p14="http://schemas.microsoft.com/office/powerpoint/2010/main" val="3606103414"/>
      </p:ext>
    </p:extLst>
  </p:cSld>
  <p:clrMapOvr>
    <a:masterClrMapping/>
  </p:clrMapOvr>
  <p:transition spd="slow" advTm="0">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09</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cs typeface="+mn-ea"/>
                  <a:sym typeface="+mn-lt"/>
                </a:rPr>
                <a:t>哈尔变换</a:t>
              </a:r>
            </a:p>
          </p:txBody>
        </p:sp>
      </p:grpSp>
    </p:spTree>
    <p:extLst>
      <p:ext uri="{BB962C8B-B14F-4D97-AF65-F5344CB8AC3E}">
        <p14:creationId xmlns:p14="http://schemas.microsoft.com/office/powerpoint/2010/main" val="65156707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C50DB5-2F0E-93D9-8D91-9B806414AF1B}"/>
              </a:ext>
            </a:extLst>
          </p:cNvPr>
          <p:cNvSpPr>
            <a:spLocks noGrp="1"/>
          </p:cNvSpPr>
          <p:nvPr>
            <p:ph type="title"/>
          </p:nvPr>
        </p:nvSpPr>
        <p:spPr/>
        <p:txBody>
          <a:bodyPr/>
          <a:lstStyle/>
          <a:p>
            <a:pPr marR="0" rtl="0"/>
            <a:r>
              <a:rPr lang="zh-CN" altLang="en-US" b="1" i="0" u="none" strike="noStrike" baseline="0" dirty="0">
                <a:solidFill>
                  <a:srgbClr val="0064BD"/>
                </a:solidFill>
                <a:latin typeface="+mn-lt"/>
                <a:ea typeface="+mn-ea"/>
                <a:cs typeface="+mn-ea"/>
                <a:sym typeface="+mn-lt"/>
              </a:rPr>
              <a:t>概述</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34D4D015-64F1-4E7A-C2BE-24549E239970}"/>
                  </a:ext>
                </a:extLst>
              </p:cNvPr>
              <p:cNvSpPr>
                <a:spLocks noGrp="1"/>
              </p:cNvSpPr>
              <p:nvPr>
                <p:ph sz="quarter" idx="11"/>
              </p:nvPr>
            </p:nvSpPr>
            <p:spPr/>
            <p:txBody>
              <a:bodyPr/>
              <a:lstStyle/>
              <a:p>
                <a:pPr marL="0" indent="0">
                  <a:buNone/>
                </a:pPr>
                <a:r>
                  <a:rPr lang="en-US" altLang="zh-CN" sz="1900" dirty="0">
                    <a:cs typeface="+mn-ea"/>
                    <a:sym typeface="+mn-lt"/>
                  </a:rPr>
                  <a:t>1910</a:t>
                </a:r>
                <a:r>
                  <a:rPr lang="zh-CN" altLang="en-US" sz="1900" dirty="0">
                    <a:cs typeface="+mn-ea"/>
                    <a:sym typeface="+mn-lt"/>
                  </a:rPr>
                  <a:t>年发现的哈尔变换的基函数</a:t>
                </a:r>
                <a:r>
                  <a:rPr lang="en-US" altLang="zh-CN" sz="1900" dirty="0">
                    <a:cs typeface="+mn-ea"/>
                    <a:sym typeface="+mn-lt"/>
                  </a:rPr>
                  <a:t>(</a:t>
                </a:r>
                <a:r>
                  <a:rPr lang="en-US" altLang="zh-CN" sz="1900" dirty="0" err="1">
                    <a:cs typeface="+mn-ea"/>
                    <a:sym typeface="+mn-lt"/>
                  </a:rPr>
                  <a:t>Haar</a:t>
                </a:r>
                <a:r>
                  <a:rPr lang="en-US" altLang="zh-CN" sz="1900" dirty="0">
                    <a:cs typeface="+mn-ea"/>
                    <a:sym typeface="+mn-lt"/>
                  </a:rPr>
                  <a:t>[1910])</a:t>
                </a:r>
                <a:r>
                  <a:rPr lang="zh-CN" altLang="en-US" sz="1900" dirty="0">
                    <a:cs typeface="+mn-ea"/>
                    <a:sym typeface="+mn-lt"/>
                  </a:rPr>
                  <a:t> 后来被人们视为最古老、最简单的正交小波。我们将在下一节中讨论小波背景下的哈尔函数。本节将哈尔变换近似为另一种基于矩阵的变换，它采用一组矩形基函数。哈尔变换基于哈尔函数</a:t>
                </a:r>
                <a:r>
                  <a:rPr lang="en-US" altLang="zh-CN" sz="1900" dirty="0">
                    <a:cs typeface="+mn-ea"/>
                    <a:sym typeface="+mn-lt"/>
                  </a:rPr>
                  <a:t>h,(x),</a:t>
                </a:r>
                <a:r>
                  <a:rPr lang="zh-CN" altLang="en-US" sz="1900" dirty="0">
                    <a:cs typeface="+mn-ea"/>
                    <a:sym typeface="+mn-lt"/>
                  </a:rPr>
                  <a:t>这些哈尔函数定义在连续的半开区间</a:t>
                </a:r>
                <a:r>
                  <a:rPr lang="en-US" altLang="zh-CN" sz="1900" dirty="0">
                    <a:cs typeface="+mn-ea"/>
                    <a:sym typeface="+mn-lt"/>
                  </a:rPr>
                  <a:t>x</a:t>
                </a:r>
                <a:r>
                  <a:rPr lang="zh-CN" altLang="en-US" sz="1900" dirty="0">
                    <a:cs typeface="+mn-ea"/>
                    <a:sym typeface="+mn-lt"/>
                  </a:rPr>
                  <a:t>∈</a:t>
                </a:r>
                <a:r>
                  <a:rPr lang="en-US" altLang="zh-CN" sz="1900" dirty="0">
                    <a:cs typeface="+mn-ea"/>
                    <a:sym typeface="+mn-lt"/>
                  </a:rPr>
                  <a:t>(0,1)</a:t>
                </a:r>
                <a:r>
                  <a:rPr lang="zh-CN" altLang="en-US" sz="1900" dirty="0">
                    <a:cs typeface="+mn-ea"/>
                    <a:sym typeface="+mn-lt"/>
                  </a:rPr>
                  <a:t>上。变量</a:t>
                </a:r>
                <a:r>
                  <a:rPr lang="en-US" altLang="zh-CN" sz="1900" dirty="0">
                    <a:cs typeface="+mn-ea"/>
                    <a:sym typeface="+mn-lt"/>
                  </a:rPr>
                  <a:t>u</a:t>
                </a:r>
                <a:r>
                  <a:rPr lang="zh-CN" altLang="en-US" sz="1900" dirty="0">
                    <a:cs typeface="+mn-ea"/>
                    <a:sym typeface="+mn-lt"/>
                  </a:rPr>
                  <a:t>是一个整数，对于</a:t>
                </a:r>
                <a:r>
                  <a:rPr lang="en-US" altLang="zh-CN" sz="1900" dirty="0">
                    <a:cs typeface="+mn-ea"/>
                    <a:sym typeface="+mn-lt"/>
                  </a:rPr>
                  <a:t>u&gt;0,</a:t>
                </a:r>
                <a:r>
                  <a:rPr lang="zh-CN" altLang="en-US" sz="1900" dirty="0">
                    <a:cs typeface="+mn-ea"/>
                    <a:sym typeface="+mn-lt"/>
                  </a:rPr>
                  <a:t>    它可唯一地分解为</a:t>
                </a:r>
              </a:p>
              <a:p>
                <a:pPr marL="0" indent="0">
                  <a:buNone/>
                </a:pPr>
                <a:r>
                  <a:rPr lang="zh-CN" altLang="en-US" sz="1900" dirty="0">
                    <a:cs typeface="+mn-ea"/>
                    <a:sym typeface="+mn-lt"/>
                  </a:rPr>
                  <a:t>式中，</a:t>
                </a:r>
                <a:r>
                  <a:rPr lang="en-US" altLang="zh-CN" sz="1900" dirty="0">
                    <a:cs typeface="+mn-ea"/>
                    <a:sym typeface="+mn-lt"/>
                  </a:rPr>
                  <a:t>p</a:t>
                </a:r>
                <a:r>
                  <a:rPr lang="zh-CN" altLang="en-US" sz="1900" dirty="0">
                    <a:cs typeface="+mn-ea"/>
                    <a:sym typeface="+mn-lt"/>
                  </a:rPr>
                  <a:t> 是</a:t>
                </a:r>
                <a:r>
                  <a:rPr lang="en-US" altLang="zh-CN" sz="1900" dirty="0">
                    <a:cs typeface="+mn-ea"/>
                    <a:sym typeface="+mn-lt"/>
                  </a:rPr>
                  <a:t>u</a:t>
                </a:r>
                <a:r>
                  <a:rPr lang="zh-CN" altLang="en-US" sz="1900" dirty="0">
                    <a:cs typeface="+mn-ea"/>
                    <a:sym typeface="+mn-lt"/>
                  </a:rPr>
                  <a:t>中包含的</a:t>
                </a:r>
                <a:r>
                  <a:rPr lang="en-US" altLang="zh-CN" sz="1900" dirty="0">
                    <a:cs typeface="+mn-ea"/>
                    <a:sym typeface="+mn-lt"/>
                  </a:rPr>
                  <a:t>2</a:t>
                </a:r>
                <a:r>
                  <a:rPr lang="zh-CN" altLang="en-US" sz="1900" dirty="0">
                    <a:cs typeface="+mn-ea"/>
                    <a:sym typeface="+mn-lt"/>
                  </a:rPr>
                  <a:t>的最大次幂， </a:t>
                </a:r>
                <a:r>
                  <a:rPr lang="en-US" altLang="zh-CN" sz="1900" dirty="0">
                    <a:cs typeface="+mn-ea"/>
                    <a:sym typeface="+mn-lt"/>
                  </a:rPr>
                  <a:t>q</a:t>
                </a:r>
                <a:r>
                  <a:rPr lang="zh-CN" altLang="en-US" sz="1900" dirty="0">
                    <a:cs typeface="+mn-ea"/>
                    <a:sym typeface="+mn-lt"/>
                  </a:rPr>
                  <a:t>是余数，即</a:t>
                </a:r>
                <a:r>
                  <a:rPr lang="en-US" altLang="zh-CN" sz="1900" dirty="0">
                    <a:cs typeface="+mn-ea"/>
                    <a:sym typeface="+mn-lt"/>
                  </a:rPr>
                  <a:t>q=</a:t>
                </a:r>
                <a14:m>
                  <m:oMath xmlns:m="http://schemas.openxmlformats.org/officeDocument/2006/math">
                    <m:sSup>
                      <m:sSupPr>
                        <m:ctrlPr>
                          <a:rPr lang="en-US" altLang="zh-CN" sz="1900" i="1" smtClean="0">
                            <a:latin typeface="Cambria Math" panose="02040503050406030204" pitchFamily="18" charset="0"/>
                            <a:cs typeface="+mn-ea"/>
                            <a:sym typeface="+mn-lt"/>
                          </a:rPr>
                        </m:ctrlPr>
                      </m:sSupPr>
                      <m:e>
                        <m:r>
                          <a:rPr lang="en-US" altLang="zh-CN" sz="1900" b="0" i="1" smtClean="0">
                            <a:latin typeface="Cambria Math" panose="02040503050406030204" pitchFamily="18" charset="0"/>
                            <a:cs typeface="+mn-ea"/>
                            <a:sym typeface="+mn-lt"/>
                          </a:rPr>
                          <m:t>2</m:t>
                        </m:r>
                      </m:e>
                      <m:sup>
                        <m:r>
                          <a:rPr lang="en-US" altLang="zh-CN" sz="1900" b="0" i="1" smtClean="0">
                            <a:latin typeface="Cambria Math" panose="02040503050406030204" pitchFamily="18" charset="0"/>
                            <a:cs typeface="+mn-ea"/>
                            <a:sym typeface="+mn-lt"/>
                          </a:rPr>
                          <m:t>𝑃</m:t>
                        </m:r>
                      </m:sup>
                    </m:sSup>
                  </m:oMath>
                </a14:m>
                <a:r>
                  <a:rPr lang="en-US" altLang="zh-CN" sz="1900" dirty="0">
                    <a:cs typeface="+mn-ea"/>
                    <a:sym typeface="+mn-lt"/>
                  </a:rPr>
                  <a:t>-u</a:t>
                </a:r>
                <a:r>
                  <a:rPr lang="zh-CN" altLang="en-US" sz="1900" dirty="0">
                    <a:cs typeface="+mn-ea"/>
                    <a:sym typeface="+mn-lt"/>
                  </a:rPr>
                  <a:t>。 于是，哈尔基函数是</a:t>
                </a:r>
              </a:p>
            </p:txBody>
          </p:sp>
        </mc:Choice>
        <mc:Fallback>
          <p:sp>
            <p:nvSpPr>
              <p:cNvPr id="3" name="文本占位符 2">
                <a:extLst>
                  <a:ext uri="{FF2B5EF4-FFF2-40B4-BE49-F238E27FC236}">
                    <a16:creationId xmlns:a16="http://schemas.microsoft.com/office/drawing/2014/main" id="{34D4D015-64F1-4E7A-C2BE-24549E239970}"/>
                  </a:ext>
                </a:extLst>
              </p:cNvPr>
              <p:cNvSpPr>
                <a:spLocks noGrp="1" noRot="1" noChangeAspect="1" noMove="1" noResize="1" noEditPoints="1" noAdjustHandles="1" noChangeArrowheads="1" noChangeShapeType="1" noTextEdit="1"/>
              </p:cNvSpPr>
              <p:nvPr>
                <p:ph sz="quarter" idx="11"/>
              </p:nvPr>
            </p:nvSpPr>
            <p:spPr>
              <a:blipFill>
                <a:blip r:embed="rId2"/>
                <a:stretch>
                  <a:fillRect l="-515"/>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F1A0E561-3377-E21C-0B36-5BA74FB03F51}"/>
              </a:ext>
            </a:extLst>
          </p:cNvPr>
          <p:cNvPicPr>
            <a:picLocks noChangeAspect="1"/>
          </p:cNvPicPr>
          <p:nvPr/>
        </p:nvPicPr>
        <p:blipFill>
          <a:blip r:embed="rId3"/>
          <a:stretch>
            <a:fillRect/>
          </a:stretch>
        </p:blipFill>
        <p:spPr>
          <a:xfrm>
            <a:off x="5494165" y="3805470"/>
            <a:ext cx="1266825" cy="438150"/>
          </a:xfrm>
          <a:prstGeom prst="rect">
            <a:avLst/>
          </a:prstGeom>
        </p:spPr>
      </p:pic>
      <p:pic>
        <p:nvPicPr>
          <p:cNvPr id="7" name="图片 6">
            <a:extLst>
              <a:ext uri="{FF2B5EF4-FFF2-40B4-BE49-F238E27FC236}">
                <a16:creationId xmlns:a16="http://schemas.microsoft.com/office/drawing/2014/main" id="{8A1E0C65-8B46-95A6-D8A3-33265342FC8D}"/>
              </a:ext>
            </a:extLst>
          </p:cNvPr>
          <p:cNvPicPr>
            <a:picLocks noChangeAspect="1"/>
          </p:cNvPicPr>
          <p:nvPr/>
        </p:nvPicPr>
        <p:blipFill>
          <a:blip r:embed="rId4"/>
          <a:stretch>
            <a:fillRect/>
          </a:stretch>
        </p:blipFill>
        <p:spPr>
          <a:xfrm>
            <a:off x="3819525" y="4893594"/>
            <a:ext cx="4552950" cy="1209675"/>
          </a:xfrm>
          <a:prstGeom prst="rect">
            <a:avLst/>
          </a:prstGeom>
        </p:spPr>
      </p:pic>
      <p:sp>
        <p:nvSpPr>
          <p:cNvPr id="8" name="矩形 7">
            <a:extLst>
              <a:ext uri="{FF2B5EF4-FFF2-40B4-BE49-F238E27FC236}">
                <a16:creationId xmlns:a16="http://schemas.microsoft.com/office/drawing/2014/main" id="{A34D152C-F152-48F2-C729-BBBC1C01C7AB}"/>
              </a:ext>
            </a:extLst>
          </p:cNvPr>
          <p:cNvSpPr/>
          <p:nvPr/>
        </p:nvSpPr>
        <p:spPr>
          <a:xfrm>
            <a:off x="801092" y="2446417"/>
            <a:ext cx="10589815" cy="376187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200283951"/>
      </p:ext>
    </p:extLst>
  </p:cSld>
  <p:clrMapOvr>
    <a:masterClrMapping/>
  </p:clrMapOvr>
  <p:transition spd="slow" advTm="0">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cs typeface="+mn-ea"/>
                  <a:sym typeface="+mn-lt"/>
                </a:rPr>
                <a:t>10</a:t>
              </a:r>
              <a:endParaRPr kumimoji="0" lang="zh-CN" altLang="en-US" sz="66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cs typeface="+mn-ea"/>
                  <a:sym typeface="+mn-lt"/>
                </a:rPr>
                <a:t>小波变换</a:t>
              </a:r>
            </a:p>
          </p:txBody>
        </p:sp>
      </p:grpSp>
    </p:spTree>
    <p:extLst>
      <p:ext uri="{BB962C8B-B14F-4D97-AF65-F5344CB8AC3E}">
        <p14:creationId xmlns:p14="http://schemas.microsoft.com/office/powerpoint/2010/main" val="309710291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BB466F-986C-4458-7A6A-1FB835CB5015}"/>
              </a:ext>
            </a:extLst>
          </p:cNvPr>
          <p:cNvSpPr>
            <a:spLocks noGrp="1"/>
          </p:cNvSpPr>
          <p:nvPr>
            <p:ph type="title"/>
          </p:nvPr>
        </p:nvSpPr>
        <p:spPr/>
        <p:txBody>
          <a:bodyPr/>
          <a:lstStyle/>
          <a:p>
            <a:pPr marR="0" rtl="0"/>
            <a:r>
              <a:rPr lang="zh-CN" altLang="en-US" b="1" i="0" u="none" strike="noStrike" baseline="0">
                <a:solidFill>
                  <a:srgbClr val="0064BD"/>
                </a:solidFill>
                <a:latin typeface="+mn-lt"/>
                <a:ea typeface="+mn-ea"/>
                <a:cs typeface="+mn-ea"/>
                <a:sym typeface="+mn-lt"/>
              </a:rPr>
              <a:t>尺度函数</a:t>
            </a:r>
          </a:p>
        </p:txBody>
      </p:sp>
      <p:sp>
        <p:nvSpPr>
          <p:cNvPr id="3" name="文本占位符 2">
            <a:extLst>
              <a:ext uri="{FF2B5EF4-FFF2-40B4-BE49-F238E27FC236}">
                <a16:creationId xmlns:a16="http://schemas.microsoft.com/office/drawing/2014/main" id="{67C1662D-634D-4803-2A80-A0F0836EDA4D}"/>
              </a:ext>
            </a:extLst>
          </p:cNvPr>
          <p:cNvSpPr>
            <a:spLocks noGrp="1"/>
          </p:cNvSpPr>
          <p:nvPr>
            <p:ph sz="quarter" idx="12"/>
          </p:nvPr>
        </p:nvSpPr>
        <p:spPr/>
        <p:txBody>
          <a:bodyPr>
            <a:noAutofit/>
          </a:bodyPr>
          <a:lstStyle/>
          <a:p>
            <a:pPr marL="0" indent="0">
              <a:buNone/>
            </a:pPr>
            <a:r>
              <a:rPr lang="zh-CN" altLang="en-US" dirty="0">
                <a:cs typeface="+mn-ea"/>
                <a:sym typeface="+mn-lt"/>
              </a:rPr>
              <a:t>考虑由实的、平方可积的父尺度函数</a:t>
            </a:r>
            <a:r>
              <a:rPr lang="el-GR" altLang="zh-CN" dirty="0">
                <a:cs typeface="+mn-ea"/>
                <a:sym typeface="+mn-lt"/>
              </a:rPr>
              <a:t>φ(</a:t>
            </a:r>
            <a:r>
              <a:rPr lang="en-US" altLang="zh-CN" dirty="0">
                <a:cs typeface="+mn-ea"/>
                <a:sym typeface="+mn-lt"/>
              </a:rPr>
              <a:t>x)</a:t>
            </a:r>
            <a:r>
              <a:rPr lang="zh-CN" altLang="en-US" dirty="0">
                <a:cs typeface="+mn-ea"/>
                <a:sym typeface="+mn-lt"/>
              </a:rPr>
              <a:t>的所有整数平移和二元缩放组成的基函数集合，即缩放和平移后的函数集</a:t>
            </a:r>
            <a:r>
              <a:rPr lang="en-US" altLang="zh-CN" dirty="0">
                <a:cs typeface="+mn-ea"/>
                <a:sym typeface="+mn-lt"/>
              </a:rPr>
              <a:t>{</a:t>
            </a:r>
            <a:r>
              <a:rPr lang="el-GR" altLang="zh-CN" dirty="0">
                <a:cs typeface="+mn-ea"/>
                <a:sym typeface="+mn-lt"/>
              </a:rPr>
              <a:t>φ</a:t>
            </a:r>
            <a:r>
              <a:rPr lang="en-US" altLang="zh-CN" sz="1100" dirty="0" err="1">
                <a:cs typeface="+mn-ea"/>
                <a:sym typeface="+mn-lt"/>
              </a:rPr>
              <a:t>jk</a:t>
            </a:r>
            <a:r>
              <a:rPr lang="en-US" altLang="zh-CN" dirty="0">
                <a:cs typeface="+mn-ea"/>
                <a:sym typeface="+mn-lt"/>
              </a:rPr>
              <a:t>,(x)</a:t>
            </a:r>
            <a:r>
              <a:rPr lang="zh-CN" altLang="en-US" dirty="0">
                <a:cs typeface="+mn-ea"/>
                <a:sym typeface="+mn-lt"/>
              </a:rPr>
              <a:t> </a:t>
            </a:r>
            <a:r>
              <a:rPr lang="en-US" altLang="zh-CN" dirty="0">
                <a:cs typeface="+mn-ea"/>
                <a:sym typeface="+mn-lt"/>
              </a:rPr>
              <a:t>| </a:t>
            </a:r>
            <a:r>
              <a:rPr lang="en-US" altLang="zh-CN" dirty="0" err="1">
                <a:cs typeface="+mn-ea"/>
                <a:sym typeface="+mn-lt"/>
              </a:rPr>
              <a:t>j,k</a:t>
            </a:r>
            <a:r>
              <a:rPr lang="zh-CN" altLang="en-US" dirty="0">
                <a:cs typeface="+mn-ea"/>
                <a:sym typeface="+mn-lt"/>
              </a:rPr>
              <a:t>∈</a:t>
            </a:r>
            <a:r>
              <a:rPr lang="en-US" altLang="zh-CN" dirty="0">
                <a:cs typeface="+mn-ea"/>
                <a:sym typeface="+mn-lt"/>
              </a:rPr>
              <a:t>Z},</a:t>
            </a:r>
            <a:r>
              <a:rPr lang="zh-CN" altLang="en-US" dirty="0">
                <a:cs typeface="+mn-ea"/>
                <a:sym typeface="+mn-lt"/>
              </a:rPr>
              <a:t> 其中</a:t>
            </a:r>
            <a:endParaRPr lang="en-US" altLang="zh-CN" dirty="0">
              <a:cs typeface="+mn-ea"/>
              <a:sym typeface="+mn-lt"/>
            </a:endParaRPr>
          </a:p>
          <a:p>
            <a:pPr marL="0" indent="0">
              <a:buNone/>
            </a:pPr>
            <a:endParaRPr lang="zh-CN" altLang="en-US" dirty="0">
              <a:cs typeface="+mn-ea"/>
              <a:sym typeface="+mn-lt"/>
            </a:endParaRPr>
          </a:p>
          <a:p>
            <a:pPr marL="0" indent="0">
              <a:buNone/>
            </a:pPr>
            <a:r>
              <a:rPr lang="zh-CN" altLang="en-US" dirty="0">
                <a:cs typeface="+mn-ea"/>
                <a:sym typeface="+mn-lt"/>
              </a:rPr>
              <a:t>式中，整数平移</a:t>
            </a:r>
            <a:r>
              <a:rPr lang="en-US" altLang="zh-CN" dirty="0">
                <a:cs typeface="+mn-ea"/>
                <a:sym typeface="+mn-lt"/>
              </a:rPr>
              <a:t>k</a:t>
            </a:r>
            <a:r>
              <a:rPr lang="zh-CN" altLang="en-US" dirty="0">
                <a:cs typeface="+mn-ea"/>
                <a:sym typeface="+mn-lt"/>
              </a:rPr>
              <a:t> 决定</a:t>
            </a:r>
            <a:r>
              <a:rPr lang="el-GR" altLang="zh-CN" dirty="0">
                <a:cs typeface="+mn-ea"/>
                <a:sym typeface="+mn-lt"/>
              </a:rPr>
              <a:t>φ</a:t>
            </a:r>
            <a:r>
              <a:rPr lang="en-US" altLang="zh-CN" sz="1100" dirty="0" err="1">
                <a:cs typeface="+mn-ea"/>
                <a:sym typeface="+mn-lt"/>
              </a:rPr>
              <a:t>jk</a:t>
            </a:r>
            <a:r>
              <a:rPr lang="en-US" altLang="zh-CN" dirty="0">
                <a:cs typeface="+mn-ea"/>
                <a:sym typeface="+mn-lt"/>
              </a:rPr>
              <a:t>,(x)</a:t>
            </a:r>
            <a:r>
              <a:rPr lang="zh-CN" altLang="en-US" dirty="0">
                <a:cs typeface="+mn-ea"/>
                <a:sym typeface="+mn-lt"/>
              </a:rPr>
              <a:t>沿 </a:t>
            </a:r>
            <a:r>
              <a:rPr lang="en-US" altLang="zh-CN" dirty="0">
                <a:cs typeface="+mn-ea"/>
                <a:sym typeface="+mn-lt"/>
              </a:rPr>
              <a:t>x</a:t>
            </a:r>
            <a:r>
              <a:rPr lang="zh-CN" altLang="en-US" dirty="0">
                <a:cs typeface="+mn-ea"/>
                <a:sym typeface="+mn-lt"/>
              </a:rPr>
              <a:t> 轴的位置，尺度</a:t>
            </a:r>
            <a:r>
              <a:rPr lang="en-US" altLang="zh-CN" dirty="0">
                <a:cs typeface="+mn-ea"/>
                <a:sym typeface="+mn-lt"/>
              </a:rPr>
              <a:t>j</a:t>
            </a:r>
            <a:r>
              <a:rPr lang="zh-CN" altLang="en-US" dirty="0">
                <a:cs typeface="+mn-ea"/>
                <a:sym typeface="+mn-lt"/>
              </a:rPr>
              <a:t>决定</a:t>
            </a:r>
            <a:r>
              <a:rPr lang="el-GR" altLang="zh-CN" dirty="0">
                <a:cs typeface="+mn-ea"/>
                <a:sym typeface="+mn-lt"/>
              </a:rPr>
              <a:t>φ</a:t>
            </a:r>
            <a:r>
              <a:rPr lang="en-US" altLang="zh-CN" sz="1100" dirty="0" err="1">
                <a:cs typeface="+mn-ea"/>
                <a:sym typeface="+mn-lt"/>
              </a:rPr>
              <a:t>jk</a:t>
            </a:r>
            <a:r>
              <a:rPr lang="en-US" altLang="zh-CN" dirty="0">
                <a:cs typeface="+mn-ea"/>
                <a:sym typeface="+mn-lt"/>
              </a:rPr>
              <a:t>,(x)</a:t>
            </a:r>
            <a:r>
              <a:rPr lang="zh-CN" altLang="en-US" dirty="0">
                <a:cs typeface="+mn-ea"/>
                <a:sym typeface="+mn-lt"/>
              </a:rPr>
              <a:t>的形状，即其宽度和幅度。</a:t>
            </a:r>
          </a:p>
        </p:txBody>
      </p:sp>
      <p:pic>
        <p:nvPicPr>
          <p:cNvPr id="5" name="图片 4">
            <a:extLst>
              <a:ext uri="{FF2B5EF4-FFF2-40B4-BE49-F238E27FC236}">
                <a16:creationId xmlns:a16="http://schemas.microsoft.com/office/drawing/2014/main" id="{289FC9C0-1A04-00D0-C16E-7703D2815731}"/>
              </a:ext>
            </a:extLst>
          </p:cNvPr>
          <p:cNvPicPr>
            <a:picLocks noChangeAspect="1"/>
          </p:cNvPicPr>
          <p:nvPr/>
        </p:nvPicPr>
        <p:blipFill>
          <a:blip r:embed="rId2"/>
          <a:stretch>
            <a:fillRect/>
          </a:stretch>
        </p:blipFill>
        <p:spPr>
          <a:xfrm>
            <a:off x="5048249" y="3640756"/>
            <a:ext cx="2095500" cy="409575"/>
          </a:xfrm>
          <a:prstGeom prst="rect">
            <a:avLst/>
          </a:prstGeom>
        </p:spPr>
      </p:pic>
    </p:spTree>
    <p:extLst>
      <p:ext uri="{BB962C8B-B14F-4D97-AF65-F5344CB8AC3E}">
        <p14:creationId xmlns:p14="http://schemas.microsoft.com/office/powerpoint/2010/main" val="3444423696"/>
      </p:ext>
    </p:extLst>
  </p:cSld>
  <p:clrMapOvr>
    <a:masterClrMapping/>
  </p:clrMapOvr>
  <p:transition spd="slow" advTm="0">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FB7576-11F1-A7B7-2170-2C24D6524A2D}"/>
              </a:ext>
            </a:extLst>
          </p:cNvPr>
          <p:cNvSpPr>
            <a:spLocks noGrp="1"/>
          </p:cNvSpPr>
          <p:nvPr>
            <p:ph type="title"/>
          </p:nvPr>
        </p:nvSpPr>
        <p:spPr/>
        <p:txBody>
          <a:bodyPr/>
          <a:lstStyle/>
          <a:p>
            <a:pPr marR="0" rtl="0"/>
            <a:r>
              <a:rPr lang="zh-CN" altLang="en-US" b="1" i="0" u="none" strike="noStrike" baseline="0">
                <a:solidFill>
                  <a:srgbClr val="0064BD"/>
                </a:solidFill>
                <a:latin typeface="+mn-lt"/>
                <a:ea typeface="+mn-ea"/>
                <a:cs typeface="+mn-ea"/>
                <a:sym typeface="+mn-lt"/>
              </a:rPr>
              <a:t>小波函数</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AEAA7035-CF39-62E8-F878-6632FF867E2B}"/>
                  </a:ext>
                </a:extLst>
              </p:cNvPr>
              <p:cNvSpPr>
                <a:spLocks noGrp="1"/>
              </p:cNvSpPr>
              <p:nvPr>
                <p:ph sz="quarter" idx="12"/>
              </p:nvPr>
            </p:nvSpPr>
            <p:spPr/>
            <p:txBody>
              <a:bodyPr>
                <a:normAutofit/>
              </a:bodyPr>
              <a:lstStyle/>
              <a:p>
                <a:pPr marL="0" indent="0">
                  <a:buNone/>
                </a:pPr>
                <a:r>
                  <a:rPr lang="zh-CN" altLang="en-US" dirty="0">
                    <a:cs typeface="+mn-ea"/>
                    <a:sym typeface="+mn-lt"/>
                  </a:rPr>
                  <a:t>满足前一节中</a:t>
                </a:r>
                <a:r>
                  <a:rPr lang="en-US" altLang="zh-CN" dirty="0">
                    <a:cs typeface="+mn-ea"/>
                    <a:sym typeface="+mn-lt"/>
                  </a:rPr>
                  <a:t>MRA</a:t>
                </a:r>
                <a:r>
                  <a:rPr lang="zh-CN" altLang="en-US" dirty="0">
                    <a:cs typeface="+mn-ea"/>
                    <a:sym typeface="+mn-lt"/>
                  </a:rPr>
                  <a:t>需求的一个父尺度函数已知时，对所有</a:t>
                </a:r>
                <a:r>
                  <a:rPr lang="en-US" altLang="zh-CN" dirty="0" err="1">
                    <a:cs typeface="+mn-ea"/>
                    <a:sym typeface="+mn-lt"/>
                  </a:rPr>
                  <a:t>j,k</a:t>
                </a:r>
                <a:r>
                  <a:rPr lang="zh-CN" altLang="en-US" dirty="0">
                    <a:cs typeface="+mn-ea"/>
                    <a:sym typeface="+mn-lt"/>
                  </a:rPr>
                  <a:t> ∈</a:t>
                </a:r>
                <a:r>
                  <a:rPr lang="en-US" altLang="zh-CN" dirty="0">
                    <a:cs typeface="+mn-ea"/>
                    <a:sym typeface="+mn-lt"/>
                  </a:rPr>
                  <a:t>Z,</a:t>
                </a:r>
                <a:r>
                  <a:rPr lang="zh-CN" altLang="en-US" dirty="0">
                    <a:cs typeface="+mn-ea"/>
                    <a:sym typeface="+mn-lt"/>
                  </a:rPr>
                  <a:t> 存在一个其整数平移和二值缩放的母小波函数</a:t>
                </a:r>
                <a14:m>
                  <m:oMath xmlns:m="http://schemas.openxmlformats.org/officeDocument/2006/math">
                    <m:r>
                      <a:rPr lang="zh-CN" altLang="en-US">
                        <a:cs typeface="+mn-ea"/>
                        <a:sym typeface="+mn-lt"/>
                      </a:rPr>
                      <m:t>𝜑</m:t>
                    </m:r>
                  </m:oMath>
                </a14:m>
                <a:r>
                  <a:rPr lang="en-US" altLang="zh-CN" dirty="0">
                    <a:cs typeface="+mn-ea"/>
                    <a:sym typeface="+mn-lt"/>
                  </a:rPr>
                  <a:t>(x),</a:t>
                </a:r>
              </a:p>
              <a:p>
                <a:pPr marL="0" indent="0">
                  <a:buNone/>
                </a:pPr>
                <a:r>
                  <a:rPr lang="zh-CN" altLang="en-US" dirty="0">
                    <a:cs typeface="+mn-ea"/>
                    <a:sym typeface="+mn-lt"/>
                  </a:rPr>
                  <a:t>它跨越任意两个相邻尺度空间之间的差。若令</a:t>
                </a:r>
                <a:r>
                  <a:rPr lang="en-US" altLang="zh-CN" dirty="0" err="1">
                    <a:cs typeface="+mn-ea"/>
                    <a:sym typeface="+mn-lt"/>
                  </a:rPr>
                  <a:t>W</a:t>
                </a:r>
                <a:r>
                  <a:rPr lang="en-US" altLang="zh-CN" sz="1100" dirty="0" err="1">
                    <a:cs typeface="+mn-ea"/>
                    <a:sym typeface="+mn-lt"/>
                  </a:rPr>
                  <a:t>j</a:t>
                </a:r>
                <a:r>
                  <a:rPr lang="zh-CN" altLang="en-US" dirty="0">
                    <a:cs typeface="+mn-ea"/>
                    <a:sym typeface="+mn-lt"/>
                  </a:rPr>
                  <a:t>。表示由小波函数</a:t>
                </a:r>
                <a:r>
                  <a:rPr lang="en-US" altLang="zh-CN" dirty="0">
                    <a:cs typeface="+mn-ea"/>
                    <a:sym typeface="+mn-lt"/>
                  </a:rPr>
                  <a:t>{</a:t>
                </a:r>
                <a14:m>
                  <m:oMath xmlns:m="http://schemas.openxmlformats.org/officeDocument/2006/math">
                    <m:r>
                      <a:rPr lang="zh-CN" altLang="en-US">
                        <a:cs typeface="+mn-ea"/>
                        <a:sym typeface="+mn-lt"/>
                      </a:rPr>
                      <m:t>𝜑</m:t>
                    </m:r>
                  </m:oMath>
                </a14:m>
                <a:r>
                  <a:rPr lang="en-US" altLang="zh-CN" dirty="0">
                    <a:cs typeface="+mn-ea"/>
                    <a:sym typeface="+mn-lt"/>
                  </a:rPr>
                  <a:t>(x)</a:t>
                </a:r>
                <a:r>
                  <a:rPr lang="zh-CN" altLang="en-US" dirty="0">
                    <a:cs typeface="+mn-ea"/>
                    <a:sym typeface="+mn-lt"/>
                  </a:rPr>
                  <a:t> </a:t>
                </a:r>
                <a:r>
                  <a:rPr lang="en-US" altLang="zh-CN" dirty="0">
                    <a:cs typeface="+mn-ea"/>
                    <a:sym typeface="+mn-lt"/>
                  </a:rPr>
                  <a:t>|k</a:t>
                </a:r>
                <a:r>
                  <a:rPr lang="zh-CN" altLang="en-US" dirty="0">
                    <a:cs typeface="+mn-ea"/>
                    <a:sym typeface="+mn-lt"/>
                  </a:rPr>
                  <a:t>∈</a:t>
                </a:r>
                <a:r>
                  <a:rPr lang="en-US" altLang="zh-CN" dirty="0">
                    <a:cs typeface="+mn-ea"/>
                    <a:sym typeface="+mn-lt"/>
                  </a:rPr>
                  <a:t>Z}</a:t>
                </a:r>
                <a:r>
                  <a:rPr lang="zh-CN" altLang="en-US" dirty="0">
                    <a:cs typeface="+mn-ea"/>
                    <a:sym typeface="+mn-lt"/>
                  </a:rPr>
                  <a:t>张成的函数空间，图</a:t>
                </a:r>
                <a:r>
                  <a:rPr lang="en-US" altLang="zh-CN" dirty="0">
                    <a:cs typeface="+mn-ea"/>
                    <a:sym typeface="+mn-lt"/>
                  </a:rPr>
                  <a:t>7.20</a:t>
                </a:r>
                <a:r>
                  <a:rPr lang="zh-CN" altLang="en-US" dirty="0">
                    <a:cs typeface="+mn-ea"/>
                    <a:sym typeface="+mn-lt"/>
                  </a:rPr>
                  <a:t>以图形方式说明了尺度和小波空间的关系。</a:t>
                </a:r>
              </a:p>
            </p:txBody>
          </p:sp>
        </mc:Choice>
        <mc:Fallback>
          <p:sp>
            <p:nvSpPr>
              <p:cNvPr id="3" name="文本占位符 2">
                <a:extLst>
                  <a:ext uri="{FF2B5EF4-FFF2-40B4-BE49-F238E27FC236}">
                    <a16:creationId xmlns:a16="http://schemas.microsoft.com/office/drawing/2014/main" id="{AEAA7035-CF39-62E8-F878-6632FF867E2B}"/>
                  </a:ext>
                </a:extLst>
              </p:cNvPr>
              <p:cNvSpPr>
                <a:spLocks noGrp="1" noRot="1" noChangeAspect="1" noMove="1" noResize="1" noEditPoints="1" noAdjustHandles="1" noChangeArrowheads="1" noChangeShapeType="1" noTextEdit="1"/>
              </p:cNvSpPr>
              <p:nvPr>
                <p:ph sz="quarter" idx="12"/>
              </p:nvPr>
            </p:nvSpPr>
            <p:spPr>
              <a:blipFill>
                <a:blip r:embed="rId2"/>
                <a:stretch>
                  <a:fillRect l="-601" r="-66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46178D30-7572-972C-CCCC-BF1130DF2633}"/>
              </a:ext>
            </a:extLst>
          </p:cNvPr>
          <p:cNvPicPr>
            <a:picLocks noChangeAspect="1"/>
          </p:cNvPicPr>
          <p:nvPr/>
        </p:nvPicPr>
        <p:blipFill>
          <a:blip r:embed="rId3"/>
          <a:stretch>
            <a:fillRect/>
          </a:stretch>
        </p:blipFill>
        <p:spPr>
          <a:xfrm>
            <a:off x="4128586" y="2962275"/>
            <a:ext cx="2609098" cy="605904"/>
          </a:xfrm>
          <a:prstGeom prst="rect">
            <a:avLst/>
          </a:prstGeom>
        </p:spPr>
      </p:pic>
      <p:pic>
        <p:nvPicPr>
          <p:cNvPr id="7" name="图片 6">
            <a:extLst>
              <a:ext uri="{FF2B5EF4-FFF2-40B4-BE49-F238E27FC236}">
                <a16:creationId xmlns:a16="http://schemas.microsoft.com/office/drawing/2014/main" id="{F1EDC94D-7DB2-0FF7-DE78-39F31798C75A}"/>
              </a:ext>
            </a:extLst>
          </p:cNvPr>
          <p:cNvPicPr>
            <a:picLocks noChangeAspect="1"/>
          </p:cNvPicPr>
          <p:nvPr/>
        </p:nvPicPr>
        <p:blipFill>
          <a:blip r:embed="rId4"/>
          <a:stretch>
            <a:fillRect/>
          </a:stretch>
        </p:blipFill>
        <p:spPr>
          <a:xfrm>
            <a:off x="4716603" y="4476398"/>
            <a:ext cx="2758792" cy="1876275"/>
          </a:xfrm>
          <a:prstGeom prst="rect">
            <a:avLst/>
          </a:prstGeom>
        </p:spPr>
      </p:pic>
    </p:spTree>
    <p:extLst>
      <p:ext uri="{BB962C8B-B14F-4D97-AF65-F5344CB8AC3E}">
        <p14:creationId xmlns:p14="http://schemas.microsoft.com/office/powerpoint/2010/main" val="1541434120"/>
      </p:ext>
    </p:extLst>
  </p:cSld>
  <p:clrMapOvr>
    <a:masterClrMapping/>
  </p:clrMapOvr>
  <p:transition spd="slow" advTm="0">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93FEE-F5CA-4F55-FA00-08367C34B3CA}"/>
              </a:ext>
            </a:extLst>
          </p:cNvPr>
          <p:cNvSpPr>
            <a:spLocks noGrp="1"/>
          </p:cNvSpPr>
          <p:nvPr>
            <p:ph type="title"/>
          </p:nvPr>
        </p:nvSpPr>
        <p:spPr/>
        <p:txBody>
          <a:bodyPr/>
          <a:lstStyle/>
          <a:p>
            <a:pPr marR="0" rtl="0"/>
            <a:r>
              <a:rPr lang="zh-CN" altLang="en-US" b="1" i="0" u="none" strike="noStrike" baseline="0">
                <a:solidFill>
                  <a:srgbClr val="0064BD"/>
                </a:solidFill>
                <a:latin typeface="+mn-lt"/>
                <a:ea typeface="+mn-ea"/>
                <a:cs typeface="+mn-ea"/>
                <a:sym typeface="+mn-lt"/>
              </a:rPr>
              <a:t>小波级数展开</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C56BC6FF-FAF5-7C3C-750A-CA22F7256EFA}"/>
                  </a:ext>
                </a:extLst>
              </p:cNvPr>
              <p:cNvSpPr>
                <a:spLocks noGrp="1"/>
              </p:cNvSpPr>
              <p:nvPr>
                <p:ph sz="quarter" idx="11"/>
              </p:nvPr>
            </p:nvSpPr>
            <p:spPr/>
            <p:txBody>
              <a:bodyPr>
                <a:normAutofit/>
              </a:bodyPr>
              <a:lstStyle/>
              <a:p>
                <a:pPr marL="0" indent="0">
                  <a:buNone/>
                </a:pPr>
                <a:r>
                  <a:rPr lang="zh-CN" altLang="en-US" sz="1900" dirty="0">
                    <a:cs typeface="+mn-ea"/>
                    <a:sym typeface="+mn-lt"/>
                  </a:rPr>
                  <a:t>结合式</a:t>
                </a:r>
                <a:r>
                  <a:rPr lang="en-US" altLang="zh-CN" sz="1900" dirty="0">
                    <a:cs typeface="+mn-ea"/>
                    <a:sym typeface="+mn-lt"/>
                  </a:rPr>
                  <a:t>(7.124)</a:t>
                </a:r>
                <a:r>
                  <a:rPr lang="zh-CN" altLang="en-US" sz="1900" dirty="0">
                    <a:cs typeface="+mn-ea"/>
                    <a:sym typeface="+mn-lt"/>
                  </a:rPr>
                  <a:t>和式</a:t>
                </a:r>
                <a:r>
                  <a:rPr lang="en-US" altLang="zh-CN" sz="1900" dirty="0">
                    <a:cs typeface="+mn-ea"/>
                    <a:sym typeface="+mn-lt"/>
                  </a:rPr>
                  <a:t>(7.128),</a:t>
                </a:r>
                <a:r>
                  <a:rPr lang="zh-CN" altLang="en-US" sz="1900" dirty="0">
                    <a:cs typeface="+mn-ea"/>
                    <a:sym typeface="+mn-lt"/>
                  </a:rPr>
                  <a:t>所有可度量的、平方可积的函数的空间可以定义为</a:t>
                </a:r>
                <a:r>
                  <a:rPr lang="en-US" altLang="zh-CN" sz="1900" dirty="0">
                    <a:cs typeface="+mn-ea"/>
                    <a:sym typeface="+mn-lt"/>
                  </a:rPr>
                  <a:t>I²(R)=V</a:t>
                </a:r>
                <a:r>
                  <a:rPr lang="zh-CN" altLang="en-US" sz="1100" dirty="0">
                    <a:cs typeface="+mn-ea"/>
                    <a:sym typeface="+mn-lt"/>
                  </a:rPr>
                  <a:t> </a:t>
                </a:r>
                <a:r>
                  <a:rPr lang="en-US" altLang="zh-CN" sz="1100" dirty="0">
                    <a:cs typeface="+mn-ea"/>
                    <a:sym typeface="+mn-lt"/>
                  </a:rPr>
                  <a:t>o</a:t>
                </a:r>
                <a:r>
                  <a:rPr lang="zh-CN" altLang="en-US" sz="1100" dirty="0">
                    <a:cs typeface="+mn-ea"/>
                    <a:sym typeface="+mn-lt"/>
                  </a:rPr>
                  <a:t>，</a:t>
                </a:r>
                <a:r>
                  <a:rPr lang="en-US" altLang="zh-CN" dirty="0">
                    <a:cs typeface="+mn-ea"/>
                    <a:sym typeface="+mn-lt"/>
                  </a:rPr>
                  <a:t>j</a:t>
                </a:r>
                <a:r>
                  <a:rPr lang="zh-CN" altLang="en-US" sz="1900" dirty="0">
                    <a:cs typeface="+mn-ea"/>
                    <a:sym typeface="+mn-lt"/>
                  </a:rPr>
                  <a:t>。是一个任意的初始尺度。然后，我们可以将函数</a:t>
                </a:r>
                <a:r>
                  <a:rPr lang="en-US" altLang="zh-CN" sz="1900" dirty="0">
                    <a:cs typeface="+mn-ea"/>
                    <a:sym typeface="+mn-lt"/>
                  </a:rPr>
                  <a:t>f(x)</a:t>
                </a:r>
                <a:r>
                  <a:rPr lang="zh-CN" altLang="en-US" sz="1900" dirty="0">
                    <a:cs typeface="+mn-ea"/>
                    <a:sym typeface="+mn-lt"/>
                  </a:rPr>
                  <a:t>∈</a:t>
                </a:r>
                <a:r>
                  <a:rPr lang="en-US" altLang="zh-CN" sz="1900" dirty="0">
                    <a:cs typeface="+mn-ea"/>
                    <a:sym typeface="+mn-lt"/>
                  </a:rPr>
                  <a:t>L²(R)</a:t>
                </a:r>
                <a:r>
                  <a:rPr lang="zh-CN" altLang="en-US" sz="1900" dirty="0">
                    <a:cs typeface="+mn-ea"/>
                    <a:sym typeface="+mn-lt"/>
                  </a:rPr>
                  <a:t>相对于小波</a:t>
                </a:r>
                <a14:m>
                  <m:oMath xmlns:m="http://schemas.openxmlformats.org/officeDocument/2006/math">
                    <m:r>
                      <a:rPr lang="zh-CN" altLang="en-US" sz="1900" i="1" dirty="0" smtClean="0">
                        <a:latin typeface="Cambria Math" panose="02040503050406030204" pitchFamily="18" charset="0"/>
                        <a:cs typeface="+mn-ea"/>
                        <a:sym typeface="+mn-lt"/>
                      </a:rPr>
                      <m:t>𝜑</m:t>
                    </m:r>
                  </m:oMath>
                </a14:m>
                <a:r>
                  <a:rPr lang="en-US" altLang="zh-CN" sz="1900" dirty="0">
                    <a:cs typeface="+mn-ea"/>
                    <a:sym typeface="+mn-lt"/>
                  </a:rPr>
                  <a:t>(x)</a:t>
                </a:r>
                <a:r>
                  <a:rPr lang="zh-CN" altLang="en-US" sz="1900" dirty="0">
                    <a:cs typeface="+mn-ea"/>
                    <a:sym typeface="+mn-lt"/>
                  </a:rPr>
                  <a:t>和 尺度函数</a:t>
                </a:r>
                <a:r>
                  <a:rPr lang="el-GR" altLang="zh-CN" sz="1900" dirty="0">
                    <a:cs typeface="+mn-ea"/>
                    <a:sym typeface="+mn-lt"/>
                  </a:rPr>
                  <a:t>φ(</a:t>
                </a:r>
                <a:r>
                  <a:rPr lang="en-US" altLang="zh-CN" sz="1900" dirty="0">
                    <a:cs typeface="+mn-ea"/>
                    <a:sym typeface="+mn-lt"/>
                  </a:rPr>
                  <a:t>x)</a:t>
                </a:r>
                <a:r>
                  <a:rPr lang="zh-CN" altLang="en-US" sz="1900" dirty="0">
                    <a:cs typeface="+mn-ea"/>
                    <a:sym typeface="+mn-lt"/>
                  </a:rPr>
                  <a:t>的小波级数展开定义为</a:t>
                </a:r>
              </a:p>
              <a:p>
                <a:pPr marL="0" indent="0">
                  <a:buNone/>
                </a:pPr>
                <a:endParaRPr lang="en-US" altLang="zh-CN" sz="1900" dirty="0">
                  <a:cs typeface="+mn-ea"/>
                  <a:sym typeface="+mn-lt"/>
                </a:endParaRPr>
              </a:p>
              <a:p>
                <a:pPr marL="0" indent="0">
                  <a:buNone/>
                </a:pPr>
                <a:r>
                  <a:rPr lang="zh-CN" altLang="en-US" sz="1900" dirty="0">
                    <a:cs typeface="+mn-ea"/>
                    <a:sym typeface="+mn-lt"/>
                  </a:rPr>
                  <a:t>在式</a:t>
                </a:r>
                <a:r>
                  <a:rPr lang="en-US" altLang="zh-CN" sz="1900" dirty="0">
                    <a:cs typeface="+mn-ea"/>
                    <a:sym typeface="+mn-lt"/>
                  </a:rPr>
                  <a:t>(7.133)</a:t>
                </a:r>
                <a:r>
                  <a:rPr lang="zh-CN" altLang="en-US" sz="1900" dirty="0">
                    <a:cs typeface="+mn-ea"/>
                    <a:sym typeface="+mn-lt"/>
                  </a:rPr>
                  <a:t>中，第一个求和由</a:t>
                </a:r>
                <a:r>
                  <a:rPr lang="en-US" altLang="zh-CN" sz="1900" dirty="0">
                    <a:cs typeface="+mn-ea"/>
                    <a:sym typeface="+mn-lt"/>
                  </a:rPr>
                  <a:t>J</a:t>
                </a:r>
                <a:r>
                  <a:rPr lang="zh-CN" altLang="en-US" sz="1900" dirty="0">
                    <a:cs typeface="+mn-ea"/>
                    <a:sym typeface="+mn-lt"/>
                  </a:rPr>
                  <a:t>。尺度函数产生</a:t>
                </a:r>
                <a:r>
                  <a:rPr lang="en-US" altLang="zh-CN" sz="1900" dirty="0">
                    <a:cs typeface="+mn-ea"/>
                    <a:sym typeface="+mn-lt"/>
                  </a:rPr>
                  <a:t>f(x)</a:t>
                </a:r>
                <a:r>
                  <a:rPr lang="zh-CN" altLang="en-US" sz="1900" dirty="0">
                    <a:cs typeface="+mn-ea"/>
                    <a:sym typeface="+mn-lt"/>
                  </a:rPr>
                  <a:t>的一个近似，第二个求和的每个连续尺度提供增加的细节作为高分辨率小波的和。若尺度和小波函数是规范正交的，则有</a:t>
                </a:r>
              </a:p>
            </p:txBody>
          </p:sp>
        </mc:Choice>
        <mc:Fallback>
          <p:sp>
            <p:nvSpPr>
              <p:cNvPr id="3" name="文本占位符 2">
                <a:extLst>
                  <a:ext uri="{FF2B5EF4-FFF2-40B4-BE49-F238E27FC236}">
                    <a16:creationId xmlns:a16="http://schemas.microsoft.com/office/drawing/2014/main" id="{C56BC6FF-FAF5-7C3C-750A-CA22F7256EFA}"/>
                  </a:ext>
                </a:extLst>
              </p:cNvPr>
              <p:cNvSpPr>
                <a:spLocks noGrp="1" noRot="1" noChangeAspect="1" noMove="1" noResize="1" noEditPoints="1" noAdjustHandles="1" noChangeArrowheads="1" noChangeShapeType="1" noTextEdit="1"/>
              </p:cNvSpPr>
              <p:nvPr>
                <p:ph sz="quarter" idx="11"/>
              </p:nvPr>
            </p:nvSpPr>
            <p:spPr>
              <a:blipFill>
                <a:blip r:embed="rId2"/>
                <a:stretch>
                  <a:fillRect l="-515" r="-229"/>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3121F23A-E94E-F4FA-A284-FDD726D98ADE}"/>
              </a:ext>
            </a:extLst>
          </p:cNvPr>
          <p:cNvPicPr>
            <a:picLocks noChangeAspect="1"/>
          </p:cNvPicPr>
          <p:nvPr/>
        </p:nvPicPr>
        <p:blipFill>
          <a:blip r:embed="rId3"/>
          <a:stretch>
            <a:fillRect/>
          </a:stretch>
        </p:blipFill>
        <p:spPr>
          <a:xfrm>
            <a:off x="4238625" y="3795544"/>
            <a:ext cx="3714750" cy="638175"/>
          </a:xfrm>
          <a:prstGeom prst="rect">
            <a:avLst/>
          </a:prstGeom>
        </p:spPr>
      </p:pic>
      <p:pic>
        <p:nvPicPr>
          <p:cNvPr id="7" name="图片 6">
            <a:extLst>
              <a:ext uri="{FF2B5EF4-FFF2-40B4-BE49-F238E27FC236}">
                <a16:creationId xmlns:a16="http://schemas.microsoft.com/office/drawing/2014/main" id="{4E83935B-4031-FC38-C5D4-E0736370E2CE}"/>
              </a:ext>
            </a:extLst>
          </p:cNvPr>
          <p:cNvPicPr>
            <a:picLocks noChangeAspect="1"/>
          </p:cNvPicPr>
          <p:nvPr/>
        </p:nvPicPr>
        <p:blipFill rotWithShape="1">
          <a:blip r:embed="rId4"/>
          <a:srcRect l="55139"/>
          <a:stretch/>
        </p:blipFill>
        <p:spPr>
          <a:xfrm>
            <a:off x="4933748" y="5468102"/>
            <a:ext cx="2324501" cy="1009650"/>
          </a:xfrm>
          <a:prstGeom prst="rect">
            <a:avLst/>
          </a:prstGeom>
        </p:spPr>
      </p:pic>
      <p:sp>
        <p:nvSpPr>
          <p:cNvPr id="8" name="矩形 7">
            <a:extLst>
              <a:ext uri="{FF2B5EF4-FFF2-40B4-BE49-F238E27FC236}">
                <a16:creationId xmlns:a16="http://schemas.microsoft.com/office/drawing/2014/main" id="{A68A1BDC-FEDF-FC61-2256-1DC06CF40F14}"/>
              </a:ext>
            </a:extLst>
          </p:cNvPr>
          <p:cNvSpPr/>
          <p:nvPr/>
        </p:nvSpPr>
        <p:spPr>
          <a:xfrm>
            <a:off x="801092" y="2446417"/>
            <a:ext cx="10589815" cy="412763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865394867"/>
      </p:ext>
    </p:extLst>
  </p:cSld>
  <p:clrMapOvr>
    <a:masterClrMapping/>
  </p:clrMapOvr>
  <p:transition spd="slow" advTm="0">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CD697D-71CE-3E93-E555-B263CD0B2B19}"/>
              </a:ext>
            </a:extLst>
          </p:cNvPr>
          <p:cNvSpPr>
            <a:spLocks noGrp="1"/>
          </p:cNvSpPr>
          <p:nvPr>
            <p:ph type="title"/>
          </p:nvPr>
        </p:nvSpPr>
        <p:spPr/>
        <p:txBody>
          <a:bodyPr/>
          <a:lstStyle/>
          <a:p>
            <a:pPr marR="0" rtl="0"/>
            <a:r>
              <a:rPr lang="zh-CN" altLang="en-US" b="1" i="0" u="none" strike="noStrike" baseline="0">
                <a:solidFill>
                  <a:srgbClr val="0064BD"/>
                </a:solidFill>
                <a:latin typeface="+mn-lt"/>
                <a:ea typeface="+mn-ea"/>
                <a:cs typeface="+mn-ea"/>
                <a:sym typeface="+mn-lt"/>
              </a:rPr>
              <a:t>一 维离散小波变换</a:t>
            </a:r>
          </a:p>
        </p:txBody>
      </p:sp>
      <p:sp>
        <p:nvSpPr>
          <p:cNvPr id="3" name="文本占位符 2">
            <a:extLst>
              <a:ext uri="{FF2B5EF4-FFF2-40B4-BE49-F238E27FC236}">
                <a16:creationId xmlns:a16="http://schemas.microsoft.com/office/drawing/2014/main" id="{CB075D8D-4C9C-8F96-D69B-261E7EBC6D54}"/>
              </a:ext>
            </a:extLst>
          </p:cNvPr>
          <p:cNvSpPr>
            <a:spLocks noGrp="1"/>
          </p:cNvSpPr>
          <p:nvPr>
            <p:ph sz="quarter" idx="11"/>
          </p:nvPr>
        </p:nvSpPr>
        <p:spPr>
          <a:xfrm>
            <a:off x="801093" y="2432500"/>
            <a:ext cx="5748959" cy="3540427"/>
          </a:xfrm>
        </p:spPr>
        <p:txBody>
          <a:bodyPr>
            <a:noAutofit/>
          </a:bodyPr>
          <a:lstStyle/>
          <a:p>
            <a:pPr marL="0" indent="0">
              <a:buNone/>
            </a:pPr>
            <a:r>
              <a:rPr lang="en-US" altLang="zh-CN" b="1" dirty="0">
                <a:cs typeface="+mn-ea"/>
                <a:sym typeface="+mn-lt"/>
              </a:rPr>
              <a:t>1.</a:t>
            </a:r>
            <a:r>
              <a:rPr lang="zh-CN" altLang="en-US" b="1" dirty="0">
                <a:cs typeface="+mn-ea"/>
                <a:sym typeface="+mn-lt"/>
              </a:rPr>
              <a:t> 快速小波变换</a:t>
            </a:r>
          </a:p>
          <a:p>
            <a:pPr marL="0" indent="0">
              <a:buNone/>
            </a:pPr>
            <a:r>
              <a:rPr lang="zh-CN" altLang="en-US" dirty="0">
                <a:cs typeface="+mn-ea"/>
                <a:sym typeface="+mn-lt"/>
              </a:rPr>
              <a:t>多分辨率细化方程及其小波对应公式</a:t>
            </a:r>
            <a:r>
              <a:rPr lang="en-US" altLang="zh-CN" dirty="0">
                <a:cs typeface="+mn-ea"/>
                <a:sym typeface="+mn-lt"/>
              </a:rPr>
              <a:t>(7.125)</a:t>
            </a:r>
            <a:r>
              <a:rPr lang="zh-CN" altLang="en-US" dirty="0">
                <a:cs typeface="+mn-ea"/>
                <a:sym typeface="+mn-lt"/>
              </a:rPr>
              <a:t>和式</a:t>
            </a:r>
            <a:r>
              <a:rPr lang="en-US" altLang="zh-CN" dirty="0">
                <a:cs typeface="+mn-ea"/>
                <a:sym typeface="+mn-lt"/>
              </a:rPr>
              <a:t>(7.130)</a:t>
            </a:r>
            <a:r>
              <a:rPr lang="zh-CN" altLang="en-US" dirty="0">
                <a:cs typeface="+mn-ea"/>
                <a:sym typeface="+mn-lt"/>
              </a:rPr>
              <a:t>。</a:t>
            </a:r>
            <a:endParaRPr lang="en-US" altLang="zh-CN" dirty="0">
              <a:cs typeface="+mn-ea"/>
              <a:sym typeface="+mn-lt"/>
            </a:endParaRPr>
          </a:p>
          <a:p>
            <a:pPr marL="0" indent="0">
              <a:buNone/>
            </a:pPr>
            <a:r>
              <a:rPr lang="en-US" altLang="zh-CN" b="1" dirty="0">
                <a:cs typeface="+mn-ea"/>
                <a:sym typeface="+mn-lt"/>
              </a:rPr>
              <a:t>2.</a:t>
            </a:r>
            <a:r>
              <a:rPr lang="zh-CN" altLang="en-US" b="1" dirty="0">
                <a:cs typeface="+mn-ea"/>
                <a:sym typeface="+mn-lt"/>
              </a:rPr>
              <a:t>快速小波反变换</a:t>
            </a:r>
          </a:p>
          <a:p>
            <a:pPr marL="0" indent="0">
              <a:buNone/>
            </a:pPr>
            <a:r>
              <a:rPr lang="zh-CN" altLang="en-US" dirty="0">
                <a:cs typeface="+mn-ea"/>
                <a:sym typeface="+mn-lt"/>
              </a:rPr>
              <a:t>图</a:t>
            </a:r>
            <a:r>
              <a:rPr lang="en-US" altLang="zh-CN" dirty="0">
                <a:cs typeface="+mn-ea"/>
                <a:sym typeface="+mn-lt"/>
              </a:rPr>
              <a:t>7.24(a)</a:t>
            </a:r>
            <a:r>
              <a:rPr lang="zh-CN" altLang="en-US" dirty="0">
                <a:cs typeface="+mn-ea"/>
                <a:sym typeface="+mn-lt"/>
              </a:rPr>
              <a:t>显示了一个三尺度滤波器组，其中图</a:t>
            </a:r>
            <a:r>
              <a:rPr lang="en-US" altLang="zh-CN" dirty="0">
                <a:cs typeface="+mn-ea"/>
                <a:sym typeface="+mn-lt"/>
              </a:rPr>
              <a:t>7.23</a:t>
            </a:r>
            <a:r>
              <a:rPr lang="zh-CN" altLang="en-US" dirty="0">
                <a:cs typeface="+mn-ea"/>
                <a:sym typeface="+mn-lt"/>
              </a:rPr>
              <a:t>的 </a:t>
            </a:r>
            <a:r>
              <a:rPr lang="en-US" altLang="zh-CN" dirty="0">
                <a:cs typeface="+mn-ea"/>
                <a:sym typeface="+mn-lt"/>
              </a:rPr>
              <a:t>FWT</a:t>
            </a:r>
            <a:r>
              <a:rPr lang="zh-CN" altLang="en-US" dirty="0">
                <a:cs typeface="+mn-ea"/>
                <a:sym typeface="+mn-lt"/>
              </a:rPr>
              <a:t> 分析 滤波器为创建一个三级结构被“迭代”了三次。</a:t>
            </a:r>
          </a:p>
        </p:txBody>
      </p:sp>
      <p:pic>
        <p:nvPicPr>
          <p:cNvPr id="5" name="图片 4">
            <a:extLst>
              <a:ext uri="{FF2B5EF4-FFF2-40B4-BE49-F238E27FC236}">
                <a16:creationId xmlns:a16="http://schemas.microsoft.com/office/drawing/2014/main" id="{2D61E330-4027-0281-6421-CF16F07AC831}"/>
              </a:ext>
            </a:extLst>
          </p:cNvPr>
          <p:cNvPicPr>
            <a:picLocks noChangeAspect="1"/>
          </p:cNvPicPr>
          <p:nvPr/>
        </p:nvPicPr>
        <p:blipFill>
          <a:blip r:embed="rId2"/>
          <a:stretch>
            <a:fillRect/>
          </a:stretch>
        </p:blipFill>
        <p:spPr>
          <a:xfrm>
            <a:off x="6550054" y="2432500"/>
            <a:ext cx="4840852" cy="3540427"/>
          </a:xfrm>
          <a:prstGeom prst="rect">
            <a:avLst/>
          </a:prstGeom>
        </p:spPr>
      </p:pic>
      <p:sp>
        <p:nvSpPr>
          <p:cNvPr id="6" name="矩形 5">
            <a:extLst>
              <a:ext uri="{FF2B5EF4-FFF2-40B4-BE49-F238E27FC236}">
                <a16:creationId xmlns:a16="http://schemas.microsoft.com/office/drawing/2014/main" id="{810C83C6-D3D9-5BAC-F36A-8BC37EB1E544}"/>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pic>
        <p:nvPicPr>
          <p:cNvPr id="8" name="图片 7">
            <a:extLst>
              <a:ext uri="{FF2B5EF4-FFF2-40B4-BE49-F238E27FC236}">
                <a16:creationId xmlns:a16="http://schemas.microsoft.com/office/drawing/2014/main" id="{BCCFAF0D-2572-D049-7DF0-25D364F8C4B2}"/>
              </a:ext>
            </a:extLst>
          </p:cNvPr>
          <p:cNvPicPr>
            <a:picLocks noChangeAspect="1"/>
          </p:cNvPicPr>
          <p:nvPr/>
        </p:nvPicPr>
        <p:blipFill>
          <a:blip r:embed="rId3"/>
          <a:stretch>
            <a:fillRect/>
          </a:stretch>
        </p:blipFill>
        <p:spPr>
          <a:xfrm>
            <a:off x="1945456" y="3576086"/>
            <a:ext cx="2352675" cy="514350"/>
          </a:xfrm>
          <a:prstGeom prst="rect">
            <a:avLst/>
          </a:prstGeom>
        </p:spPr>
      </p:pic>
      <p:pic>
        <p:nvPicPr>
          <p:cNvPr id="10" name="图片 9">
            <a:extLst>
              <a:ext uri="{FF2B5EF4-FFF2-40B4-BE49-F238E27FC236}">
                <a16:creationId xmlns:a16="http://schemas.microsoft.com/office/drawing/2014/main" id="{B6C7C1DC-BFED-D712-F335-BEFDAFA65CC6}"/>
              </a:ext>
            </a:extLst>
          </p:cNvPr>
          <p:cNvPicPr>
            <a:picLocks noChangeAspect="1"/>
          </p:cNvPicPr>
          <p:nvPr/>
        </p:nvPicPr>
        <p:blipFill>
          <a:blip r:embed="rId4"/>
          <a:stretch>
            <a:fillRect/>
          </a:stretch>
        </p:blipFill>
        <p:spPr>
          <a:xfrm>
            <a:off x="4105343" y="3614186"/>
            <a:ext cx="2628900" cy="438150"/>
          </a:xfrm>
          <a:prstGeom prst="rect">
            <a:avLst/>
          </a:prstGeom>
        </p:spPr>
      </p:pic>
    </p:spTree>
    <p:extLst>
      <p:ext uri="{BB962C8B-B14F-4D97-AF65-F5344CB8AC3E}">
        <p14:creationId xmlns:p14="http://schemas.microsoft.com/office/powerpoint/2010/main" val="3838211325"/>
      </p:ext>
    </p:extLst>
  </p:cSld>
  <p:clrMapOvr>
    <a:masterClrMapping/>
  </p:clrMapOvr>
  <p:transition spd="slow" advTm="0">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C9F20D-FFF9-547A-5937-0A4A29D92952}"/>
              </a:ext>
            </a:extLst>
          </p:cNvPr>
          <p:cNvSpPr>
            <a:spLocks noGrp="1"/>
          </p:cNvSpPr>
          <p:nvPr>
            <p:ph type="title"/>
          </p:nvPr>
        </p:nvSpPr>
        <p:spPr/>
        <p:txBody>
          <a:bodyPr/>
          <a:lstStyle/>
          <a:p>
            <a:pPr marR="0" rtl="0"/>
            <a:r>
              <a:rPr lang="zh-CN" altLang="en-US" b="1" i="0" u="none" strike="noStrike" baseline="0" dirty="0">
                <a:solidFill>
                  <a:srgbClr val="0064BD"/>
                </a:solidFill>
                <a:latin typeface="+mn-lt"/>
                <a:ea typeface="+mn-ea"/>
                <a:cs typeface="+mn-ea"/>
                <a:sym typeface="+mn-lt"/>
              </a:rPr>
              <a:t>二维小波变换</a:t>
            </a:r>
          </a:p>
        </p:txBody>
      </p:sp>
      <p:sp>
        <p:nvSpPr>
          <p:cNvPr id="3" name="文本占位符 2">
            <a:extLst>
              <a:ext uri="{FF2B5EF4-FFF2-40B4-BE49-F238E27FC236}">
                <a16:creationId xmlns:a16="http://schemas.microsoft.com/office/drawing/2014/main" id="{6C274994-F2F9-10CE-58F5-DFF5F8802C0D}"/>
              </a:ext>
            </a:extLst>
          </p:cNvPr>
          <p:cNvSpPr>
            <a:spLocks noGrp="1"/>
          </p:cNvSpPr>
          <p:nvPr>
            <p:ph sz="quarter" idx="12"/>
          </p:nvPr>
        </p:nvSpPr>
        <p:spPr/>
        <p:txBody>
          <a:bodyPr>
            <a:normAutofit/>
          </a:bodyPr>
          <a:lstStyle/>
          <a:p>
            <a:pPr marL="0" indent="0">
              <a:buNone/>
            </a:pPr>
            <a:r>
              <a:rPr lang="zh-CN" altLang="en-US" sz="1900" dirty="0">
                <a:cs typeface="+mn-ea"/>
                <a:sym typeface="+mn-lt"/>
              </a:rPr>
              <a:t>图</a:t>
            </a:r>
            <a:r>
              <a:rPr lang="en-US" altLang="zh-CN" sz="1900" dirty="0">
                <a:cs typeface="+mn-ea"/>
                <a:sym typeface="+mn-lt"/>
              </a:rPr>
              <a:t>7.29(a)</a:t>
            </a:r>
            <a:r>
              <a:rPr lang="zh-CN" altLang="en-US" sz="1900" dirty="0">
                <a:cs typeface="+mn-ea"/>
                <a:sym typeface="+mn-lt"/>
              </a:rPr>
              <a:t>中的单尺度滤波器组可以迭代地</a:t>
            </a:r>
            <a:r>
              <a:rPr lang="en-US" altLang="zh-CN" sz="1900" dirty="0">
                <a:cs typeface="+mn-ea"/>
                <a:sym typeface="+mn-lt"/>
              </a:rPr>
              <a:t>(</a:t>
            </a:r>
            <a:r>
              <a:rPr lang="zh-CN" altLang="en-US" sz="1900" dirty="0">
                <a:cs typeface="+mn-ea"/>
                <a:sym typeface="+mn-lt"/>
              </a:rPr>
              <a:t>通过将近似输出与另一个滤波器组的输入关联起来</a:t>
            </a:r>
            <a:r>
              <a:rPr lang="en-US" altLang="zh-CN" sz="1900" dirty="0">
                <a:cs typeface="+mn-ea"/>
                <a:sym typeface="+mn-lt"/>
              </a:rPr>
              <a:t>)</a:t>
            </a:r>
          </a:p>
          <a:p>
            <a:pPr marL="0" indent="0">
              <a:buNone/>
            </a:pPr>
            <a:r>
              <a:rPr lang="zh-CN" altLang="en-US" sz="1900" dirty="0">
                <a:cs typeface="+mn-ea"/>
                <a:sym typeface="+mn-lt"/>
              </a:rPr>
              <a:t>产生一个</a:t>
            </a:r>
            <a:r>
              <a:rPr lang="en-US" altLang="zh-CN" sz="1900" dirty="0">
                <a:cs typeface="+mn-ea"/>
                <a:sym typeface="+mn-lt"/>
              </a:rPr>
              <a:t>P</a:t>
            </a:r>
            <a:r>
              <a:rPr lang="zh-CN" altLang="en-US" sz="1900" dirty="0">
                <a:cs typeface="+mn-ea"/>
                <a:sym typeface="+mn-lt"/>
              </a:rPr>
              <a:t>≤</a:t>
            </a:r>
            <a:r>
              <a:rPr lang="en-US" altLang="zh-CN" sz="1900" dirty="0">
                <a:cs typeface="+mn-ea"/>
                <a:sym typeface="+mn-lt"/>
              </a:rPr>
              <a:t>J</a:t>
            </a:r>
            <a:r>
              <a:rPr lang="zh-CN" altLang="en-US" sz="1900" dirty="0">
                <a:cs typeface="+mn-ea"/>
                <a:sym typeface="+mn-lt"/>
              </a:rPr>
              <a:t> 尺度变换，其中尺度</a:t>
            </a:r>
            <a:r>
              <a:rPr lang="en-US" altLang="zh-CN" sz="1900" dirty="0">
                <a:cs typeface="+mn-ea"/>
                <a:sym typeface="+mn-lt"/>
              </a:rPr>
              <a:t>j=J-1,J-2,…,J-P</a:t>
            </a:r>
            <a:r>
              <a:rPr lang="zh-CN" altLang="en-US" sz="1900" dirty="0">
                <a:cs typeface="+mn-ea"/>
                <a:sym typeface="+mn-lt"/>
              </a:rPr>
              <a:t>。</a:t>
            </a:r>
          </a:p>
        </p:txBody>
      </p:sp>
      <p:pic>
        <p:nvPicPr>
          <p:cNvPr id="5" name="图片 4">
            <a:extLst>
              <a:ext uri="{FF2B5EF4-FFF2-40B4-BE49-F238E27FC236}">
                <a16:creationId xmlns:a16="http://schemas.microsoft.com/office/drawing/2014/main" id="{4B16561A-6E13-F735-E4F0-AD239498272C}"/>
              </a:ext>
            </a:extLst>
          </p:cNvPr>
          <p:cNvPicPr>
            <a:picLocks noChangeAspect="1"/>
          </p:cNvPicPr>
          <p:nvPr/>
        </p:nvPicPr>
        <p:blipFill>
          <a:blip r:embed="rId2"/>
          <a:stretch>
            <a:fillRect/>
          </a:stretch>
        </p:blipFill>
        <p:spPr>
          <a:xfrm>
            <a:off x="1848091" y="3748895"/>
            <a:ext cx="4441357" cy="2613404"/>
          </a:xfrm>
          <a:prstGeom prst="rect">
            <a:avLst/>
          </a:prstGeom>
        </p:spPr>
      </p:pic>
      <p:pic>
        <p:nvPicPr>
          <p:cNvPr id="7" name="图片 6">
            <a:extLst>
              <a:ext uri="{FF2B5EF4-FFF2-40B4-BE49-F238E27FC236}">
                <a16:creationId xmlns:a16="http://schemas.microsoft.com/office/drawing/2014/main" id="{777E2C41-B38B-B072-B641-C4ABB51FF522}"/>
              </a:ext>
            </a:extLst>
          </p:cNvPr>
          <p:cNvPicPr>
            <a:picLocks noChangeAspect="1"/>
          </p:cNvPicPr>
          <p:nvPr/>
        </p:nvPicPr>
        <p:blipFill>
          <a:blip r:embed="rId3"/>
          <a:stretch>
            <a:fillRect/>
          </a:stretch>
        </p:blipFill>
        <p:spPr>
          <a:xfrm>
            <a:off x="7023234" y="3633303"/>
            <a:ext cx="3410248" cy="2728996"/>
          </a:xfrm>
          <a:prstGeom prst="rect">
            <a:avLst/>
          </a:prstGeom>
        </p:spPr>
      </p:pic>
    </p:spTree>
    <p:extLst>
      <p:ext uri="{BB962C8B-B14F-4D97-AF65-F5344CB8AC3E}">
        <p14:creationId xmlns:p14="http://schemas.microsoft.com/office/powerpoint/2010/main" val="4026727399"/>
      </p:ext>
    </p:extLst>
  </p:cSld>
  <p:clrMapOvr>
    <a:masterClrMapping/>
  </p:clrMapOvr>
  <p:transition spd="slow" advTm="0">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08939-A836-7EE7-2989-DFF002F72FB0}"/>
              </a:ext>
            </a:extLst>
          </p:cNvPr>
          <p:cNvSpPr>
            <a:spLocks noGrp="1"/>
          </p:cNvSpPr>
          <p:nvPr>
            <p:ph type="title"/>
          </p:nvPr>
        </p:nvSpPr>
        <p:spPr/>
        <p:txBody>
          <a:bodyPr>
            <a:normAutofit/>
          </a:bodyPr>
          <a:lstStyle/>
          <a:p>
            <a:r>
              <a:rPr lang="zh-CN" altLang="en-US" b="1" dirty="0">
                <a:solidFill>
                  <a:srgbClr val="0064BD"/>
                </a:solidFill>
                <a:latin typeface="+mn-lt"/>
                <a:ea typeface="+mn-ea"/>
                <a:cs typeface="+mn-ea"/>
                <a:sym typeface="+mn-lt"/>
              </a:rPr>
              <a:t>小波包</a:t>
            </a:r>
          </a:p>
        </p:txBody>
      </p:sp>
      <p:sp>
        <p:nvSpPr>
          <p:cNvPr id="3" name="文本占位符 2">
            <a:extLst>
              <a:ext uri="{FF2B5EF4-FFF2-40B4-BE49-F238E27FC236}">
                <a16:creationId xmlns:a16="http://schemas.microsoft.com/office/drawing/2014/main" id="{2D2FB7FB-255E-2F7A-FC39-FC3DDACB7557}"/>
              </a:ext>
            </a:extLst>
          </p:cNvPr>
          <p:cNvSpPr>
            <a:spLocks noGrp="1"/>
          </p:cNvSpPr>
          <p:nvPr>
            <p:ph sz="quarter" idx="11"/>
          </p:nvPr>
        </p:nvSpPr>
        <p:spPr/>
        <p:txBody>
          <a:bodyPr>
            <a:normAutofit/>
          </a:bodyPr>
          <a:lstStyle/>
          <a:p>
            <a:r>
              <a:rPr lang="zh-CN" altLang="en-US" dirty="0">
                <a:cs typeface="+mn-ea"/>
                <a:sym typeface="+mn-lt"/>
              </a:rPr>
              <a:t>快速小波变换将函数分解为尺度和小波函数之和，其中尺度和小波函数的带宽呈对数关系。也就是说，函数的低频内容用窄带宽的尺度和小波函数表示，高频内容用宽带宽的函数表示，如图 </a:t>
            </a:r>
            <a:r>
              <a:rPr lang="en-US" altLang="zh-CN" dirty="0">
                <a:cs typeface="+mn-ea"/>
                <a:sym typeface="+mn-lt"/>
              </a:rPr>
              <a:t>7.5</a:t>
            </a:r>
            <a:r>
              <a:rPr lang="zh-CN" altLang="en-US" dirty="0">
                <a:cs typeface="+mn-ea"/>
                <a:sym typeface="+mn-lt"/>
              </a:rPr>
              <a:t>所示。</a:t>
            </a:r>
            <a:endParaRPr lang="en-US" altLang="zh-CN" dirty="0">
              <a:cs typeface="+mn-ea"/>
              <a:sym typeface="+mn-lt"/>
            </a:endParaRPr>
          </a:p>
          <a:p>
            <a:r>
              <a:rPr lang="zh-CN" altLang="en-US" dirty="0">
                <a:cs typeface="+mn-ea"/>
                <a:sym typeface="+mn-lt"/>
              </a:rPr>
              <a:t>每个恒定高度小片的水平条带</a:t>
            </a:r>
            <a:r>
              <a:rPr lang="en-US" altLang="zh-CN" dirty="0">
                <a:cs typeface="+mn-ea"/>
                <a:sym typeface="+mn-lt"/>
              </a:rPr>
              <a:t>(</a:t>
            </a:r>
            <a:r>
              <a:rPr lang="zh-CN" altLang="en-US" dirty="0">
                <a:cs typeface="+mn-ea"/>
                <a:sym typeface="+mn-lt"/>
              </a:rPr>
              <a:t>单个 </a:t>
            </a:r>
            <a:r>
              <a:rPr lang="en-US" altLang="zh-CN" dirty="0">
                <a:cs typeface="+mn-ea"/>
                <a:sym typeface="+mn-lt"/>
              </a:rPr>
              <a:t>FWT </a:t>
            </a:r>
            <a:r>
              <a:rPr lang="zh-CN" altLang="en-US" dirty="0">
                <a:cs typeface="+mn-ea"/>
                <a:sym typeface="+mn-lt"/>
              </a:rPr>
              <a:t>尺度的基函数沿频率轴上移时，其高度以对数方式增加。要更好地控制时间</a:t>
            </a:r>
            <a:r>
              <a:rPr lang="en-US" altLang="zh-CN" dirty="0">
                <a:cs typeface="+mn-ea"/>
                <a:sym typeface="+mn-lt"/>
              </a:rPr>
              <a:t>-</a:t>
            </a:r>
            <a:r>
              <a:rPr lang="zh-CN" altLang="en-US" dirty="0">
                <a:cs typeface="+mn-ea"/>
                <a:sym typeface="+mn-lt"/>
              </a:rPr>
              <a:t>频率平面的划分</a:t>
            </a:r>
            <a:r>
              <a:rPr lang="en-US" altLang="zh-CN" dirty="0">
                <a:cs typeface="+mn-ea"/>
                <a:sym typeface="+mn-lt"/>
              </a:rPr>
              <a:t>(</a:t>
            </a:r>
            <a:r>
              <a:rPr lang="zh-CN" altLang="en-US" dirty="0">
                <a:cs typeface="+mn-ea"/>
                <a:sym typeface="+mn-lt"/>
              </a:rPr>
              <a:t>即得到更小的高频带宽</a:t>
            </a:r>
            <a:r>
              <a:rPr lang="en-US" altLang="zh-CN" dirty="0">
                <a:cs typeface="+mn-ea"/>
                <a:sym typeface="+mn-lt"/>
              </a:rPr>
              <a:t>)</a:t>
            </a:r>
            <a:r>
              <a:rPr lang="zh-CN" altLang="en-US" dirty="0">
                <a:cs typeface="+mn-ea"/>
                <a:sym typeface="+mn-lt"/>
              </a:rPr>
              <a:t>，必须将</a:t>
            </a:r>
            <a:r>
              <a:rPr lang="en-US" altLang="zh-CN" dirty="0">
                <a:cs typeface="+mn-ea"/>
                <a:sym typeface="+mn-lt"/>
              </a:rPr>
              <a:t>FWT</a:t>
            </a:r>
            <a:r>
              <a:rPr lang="zh-CN" altLang="en-US" dirty="0">
                <a:cs typeface="+mn-ea"/>
                <a:sym typeface="+mn-lt"/>
              </a:rPr>
              <a:t>推广到称为小波包的更灵活的分解</a:t>
            </a:r>
            <a:r>
              <a:rPr lang="en-US" altLang="zh-CN" dirty="0">
                <a:cs typeface="+mn-ea"/>
                <a:sym typeface="+mn-lt"/>
              </a:rPr>
              <a:t>(</a:t>
            </a:r>
            <a:r>
              <a:rPr lang="en-US" altLang="zh-CN" dirty="0" err="1">
                <a:cs typeface="+mn-ea"/>
                <a:sym typeface="+mn-lt"/>
              </a:rPr>
              <a:t>Coifmanand</a:t>
            </a:r>
            <a:r>
              <a:rPr lang="en-US" altLang="zh-CN" dirty="0">
                <a:cs typeface="+mn-ea"/>
                <a:sym typeface="+mn-lt"/>
              </a:rPr>
              <a:t> Wickerhauser【1992】)</a:t>
            </a:r>
            <a:r>
              <a:rPr lang="zh-CN" altLang="en-US" dirty="0">
                <a:cs typeface="+mn-ea"/>
                <a:sym typeface="+mn-lt"/>
              </a:rPr>
              <a:t>。这一推广的代价是计算复杂度从</a:t>
            </a:r>
            <a:r>
              <a:rPr lang="en-US" altLang="zh-CN" dirty="0">
                <a:cs typeface="+mn-ea"/>
                <a:sym typeface="+mn-lt"/>
              </a:rPr>
              <a:t>FWT</a:t>
            </a:r>
            <a:r>
              <a:rPr lang="zh-CN" altLang="en-US" dirty="0">
                <a:cs typeface="+mn-ea"/>
                <a:sym typeface="+mn-lt"/>
              </a:rPr>
              <a:t>的</a:t>
            </a:r>
            <a:r>
              <a:rPr lang="en-US" altLang="zh-CN" dirty="0">
                <a:cs typeface="+mn-ea"/>
                <a:sym typeface="+mn-lt"/>
              </a:rPr>
              <a:t>O(N</a:t>
            </a:r>
            <a:r>
              <a:rPr lang="zh-CN" altLang="en-US" dirty="0">
                <a:cs typeface="+mn-ea"/>
                <a:sym typeface="+mn-lt"/>
              </a:rPr>
              <a:t>增加到小波包的</a:t>
            </a:r>
            <a:r>
              <a:rPr lang="en-US" altLang="zh-CN" dirty="0">
                <a:cs typeface="+mn-ea"/>
                <a:sym typeface="+mn-lt"/>
              </a:rPr>
              <a:t>O(Nlog</a:t>
            </a:r>
            <a:r>
              <a:rPr lang="en-US" altLang="zh-CN" sz="1100" dirty="0">
                <a:cs typeface="+mn-ea"/>
                <a:sym typeface="+mn-lt"/>
              </a:rPr>
              <a:t>2</a:t>
            </a:r>
            <a:r>
              <a:rPr lang="en-US" altLang="zh-CN" dirty="0">
                <a:cs typeface="+mn-ea"/>
                <a:sym typeface="+mn-lt"/>
              </a:rPr>
              <a:t>N)</a:t>
            </a:r>
            <a:r>
              <a:rPr lang="zh-CN" altLang="en-US" dirty="0">
                <a:cs typeface="+mn-ea"/>
                <a:sym typeface="+mn-lt"/>
              </a:rPr>
              <a:t>。</a:t>
            </a:r>
          </a:p>
        </p:txBody>
      </p:sp>
      <p:sp>
        <p:nvSpPr>
          <p:cNvPr id="4" name="矩形 3">
            <a:extLst>
              <a:ext uri="{FF2B5EF4-FFF2-40B4-BE49-F238E27FC236}">
                <a16:creationId xmlns:a16="http://schemas.microsoft.com/office/drawing/2014/main" id="{8F1CD66B-20D7-F973-E023-1B4B8FC9C6F9}"/>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417829997"/>
      </p:ext>
    </p:extLst>
  </p:cSld>
  <p:clrMapOvr>
    <a:masterClrMapping/>
  </p:clrMapOvr>
  <p:transition spd="slow" advTm="0">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cs typeface="+mn-ea"/>
                  <a:sym typeface="+mn-lt"/>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cs typeface="+mn-ea"/>
                <a:sym typeface="+mn-lt"/>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cs typeface="+mn-ea"/>
                  <a:sym typeface="+mn-lt"/>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cs typeface="+mn-ea"/>
              <a:sym typeface="+mn-lt"/>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mn-lt"/>
                <a:cs typeface="+mn-ea"/>
                <a:sym typeface="+mn-lt"/>
              </a:rPr>
              <a:t>国外电子与通信教材系列</a:t>
            </a:r>
          </a:p>
        </p:txBody>
      </p:sp>
    </p:spTree>
    <p:extLst>
      <p:ext uri="{BB962C8B-B14F-4D97-AF65-F5344CB8AC3E}">
        <p14:creationId xmlns:p14="http://schemas.microsoft.com/office/powerpoint/2010/main" val="18363291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jexjup2">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【ch02】数字图像基础</Template>
  <TotalTime>94</TotalTime>
  <Words>1490</Words>
  <Application>Microsoft Office PowerPoint</Application>
  <PresentationFormat>宽屏</PresentationFormat>
  <Paragraphs>93</Paragraphs>
  <Slides>28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28</vt:i4>
      </vt:variant>
    </vt:vector>
  </HeadingPairs>
  <TitlesOfParts>
    <vt:vector size="33" baseType="lpstr">
      <vt:lpstr>阿里巴巴普惠体</vt:lpstr>
      <vt:lpstr>Arial</vt:lpstr>
      <vt:lpstr>Cambria Math</vt:lpstr>
      <vt:lpstr>Wingdings</vt:lpstr>
      <vt:lpstr>Office 主题</vt:lpstr>
      <vt:lpstr>PowerPoint 演示文稿</vt:lpstr>
      <vt:lpstr>PowerPoint 演示文稿</vt:lpstr>
      <vt:lpstr>背景</vt:lpstr>
      <vt:lpstr>PowerPoint 演示文稿</vt:lpstr>
      <vt:lpstr>变换</vt:lpstr>
      <vt:lpstr>PowerPoint 演示文稿</vt:lpstr>
      <vt:lpstr>概述</vt:lpstr>
      <vt:lpstr>PowerPoint 演示文稿</vt:lpstr>
      <vt:lpstr>基函数</vt:lpstr>
      <vt:lpstr>PowerPoint 演示文稿</vt:lpstr>
      <vt:lpstr>PowerPoint 演示文稿</vt:lpstr>
      <vt:lpstr>变换</vt:lpstr>
      <vt:lpstr>离散余弦变换</vt:lpstr>
      <vt:lpstr>离散正弦变换</vt:lpstr>
      <vt:lpstr>PowerPoint 演示文稿</vt:lpstr>
      <vt:lpstr>变换</vt:lpstr>
      <vt:lpstr>PowerPoint 演示文稿</vt:lpstr>
      <vt:lpstr>概述</vt:lpstr>
      <vt:lpstr>PowerPoint 演示文稿</vt:lpstr>
      <vt:lpstr>概述</vt:lpstr>
      <vt:lpstr>PowerPoint 演示文稿</vt:lpstr>
      <vt:lpstr>尺度函数</vt:lpstr>
      <vt:lpstr>小波函数</vt:lpstr>
      <vt:lpstr>小波级数展开</vt:lpstr>
      <vt:lpstr>一 维离散小波变换</vt:lpstr>
      <vt:lpstr>二维小波变换</vt:lpstr>
      <vt:lpstr>小波包</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7 章 小波变换和其他图像变换</dc:title>
  <dc:creator>娜 王</dc:creator>
  <cp:lastModifiedBy>娜 王</cp:lastModifiedBy>
  <cp:revision>6</cp:revision>
  <dcterms:created xsi:type="dcterms:W3CDTF">2023-10-12T13:24:35Z</dcterms:created>
  <dcterms:modified xsi:type="dcterms:W3CDTF">2023-10-19T07:15:40Z</dcterms:modified>
</cp:coreProperties>
</file>